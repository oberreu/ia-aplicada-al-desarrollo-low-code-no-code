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5" r:id="rId2"/>
  </p:sldMasterIdLst>
  <p:notesMasterIdLst>
    <p:notesMasterId r:id="rId20"/>
  </p:notesMasterIdLst>
  <p:sldIdLst>
    <p:sldId id="256" r:id="rId3"/>
    <p:sldId id="257" r:id="rId4"/>
    <p:sldId id="258" r:id="rId5"/>
    <p:sldId id="637" r:id="rId6"/>
    <p:sldId id="259" r:id="rId7"/>
    <p:sldId id="260" r:id="rId8"/>
    <p:sldId id="61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</p:sldIdLst>
  <p:sldSz cx="12192000" cy="6858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DM Sans" pitchFamily="2" charset="77"/>
      <p:regular r:id="rId25"/>
      <p:bold r:id="rId26"/>
      <p:italic r:id="rId27"/>
      <p:boldItalic r:id="rId28"/>
    </p:embeddedFont>
    <p:embeddedFont>
      <p:font typeface="Plus Jakarta Sans ExtraBold" pitchFamily="2" charset="77"/>
      <p:bold r:id="rId29"/>
      <p:italic r:id="rId30"/>
      <p:bold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  <p:embeddedFont>
      <p:font typeface="Segoe UI Semibold" panose="020B0702040204020203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26"/>
    <p:restoredTop sz="94712"/>
  </p:normalViewPr>
  <p:slideViewPr>
    <p:cSldViewPr snapToGrid="0" showGuides="1">
      <p:cViewPr varScale="1">
        <p:scale>
          <a:sx n="196" d="100"/>
          <a:sy n="196" d="100"/>
        </p:scale>
        <p:origin x="5296" y="4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CL" sz="1200" spc="-50" dirty="0">
                <a:solidFill>
                  <a:prstClr val="white"/>
                </a:solidFill>
                <a:latin typeface="Arial"/>
              </a:rPr>
              <a:t>En general, el mercado en Colombia presenta oportunidades para empresas especializadas en este campo. Sin embargo, es fundamental mantenerse actualizado sobre los cambios en el entorno empresarial y desarrollar estrategias efectivas para diferenciarse y mantener una ventaja competitiva en un mercado dinámico y en constante evolución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95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base al diagnóstico 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12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>
  <p:cSld name="Layout 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>
            <a:spLocks noGrp="1"/>
          </p:cNvSpPr>
          <p:nvPr>
            <p:ph type="pic" idx="2"/>
          </p:nvPr>
        </p:nvSpPr>
        <p:spPr>
          <a:xfrm>
            <a:off x="5926667" y="1"/>
            <a:ext cx="626533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Layout 2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>
            <a:spLocks noGrp="1"/>
          </p:cNvSpPr>
          <p:nvPr>
            <p:ph type="pic" idx="2"/>
          </p:nvPr>
        </p:nvSpPr>
        <p:spPr>
          <a:xfrm>
            <a:off x="7897092" y="1"/>
            <a:ext cx="429490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Layout 3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>
            <a:spLocks noGrp="1"/>
          </p:cNvSpPr>
          <p:nvPr>
            <p:ph type="pic" idx="2"/>
          </p:nvPr>
        </p:nvSpPr>
        <p:spPr>
          <a:xfrm>
            <a:off x="4659029" y="742775"/>
            <a:ext cx="2873943" cy="48029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Layout 4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>
            <a:spLocks noGrp="1"/>
          </p:cNvSpPr>
          <p:nvPr>
            <p:ph type="pic" idx="2"/>
          </p:nvPr>
        </p:nvSpPr>
        <p:spPr>
          <a:xfrm>
            <a:off x="6840186" y="717162"/>
            <a:ext cx="4759569" cy="47964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5">
  <p:cSld name="Layout 5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>
            <a:spLocks noGrp="1"/>
          </p:cNvSpPr>
          <p:nvPr>
            <p:ph type="pic" idx="2"/>
          </p:nvPr>
        </p:nvSpPr>
        <p:spPr>
          <a:xfrm>
            <a:off x="5696198" y="3429000"/>
            <a:ext cx="6495803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6">
  <p:cSld name="Layout 6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>
            <a:spLocks noGrp="1"/>
          </p:cNvSpPr>
          <p:nvPr>
            <p:ph type="pic" idx="2"/>
          </p:nvPr>
        </p:nvSpPr>
        <p:spPr>
          <a:xfrm>
            <a:off x="592244" y="477725"/>
            <a:ext cx="2807156" cy="28071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7"/>
          <p:cNvSpPr>
            <a:spLocks noGrp="1"/>
          </p:cNvSpPr>
          <p:nvPr>
            <p:ph type="pic" idx="3"/>
          </p:nvPr>
        </p:nvSpPr>
        <p:spPr>
          <a:xfrm>
            <a:off x="3399400" y="3284881"/>
            <a:ext cx="2807156" cy="28071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7">
  <p:cSld name="Layout 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>
            <a:spLocks noGrp="1"/>
          </p:cNvSpPr>
          <p:nvPr>
            <p:ph type="pic" idx="2"/>
          </p:nvPr>
        </p:nvSpPr>
        <p:spPr>
          <a:xfrm>
            <a:off x="0" y="1"/>
            <a:ext cx="429490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8">
  <p:cSld name="Layout 8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>
            <a:spLocks noGrp="1"/>
          </p:cNvSpPr>
          <p:nvPr>
            <p:ph type="pic" idx="2"/>
          </p:nvPr>
        </p:nvSpPr>
        <p:spPr>
          <a:xfrm>
            <a:off x="8366214" y="787813"/>
            <a:ext cx="3825787" cy="26521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9"/>
          <p:cNvSpPr>
            <a:spLocks noGrp="1"/>
          </p:cNvSpPr>
          <p:nvPr>
            <p:ph type="pic" idx="3"/>
          </p:nvPr>
        </p:nvSpPr>
        <p:spPr>
          <a:xfrm>
            <a:off x="4540427" y="3439928"/>
            <a:ext cx="3825787" cy="26521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9">
  <p:cSld name="Layout 9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>
            <a:spLocks noGrp="1"/>
          </p:cNvSpPr>
          <p:nvPr>
            <p:ph type="pic" idx="2"/>
          </p:nvPr>
        </p:nvSpPr>
        <p:spPr>
          <a:xfrm>
            <a:off x="592244" y="3238424"/>
            <a:ext cx="2523148" cy="25231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26;p10"/>
          <p:cNvSpPr>
            <a:spLocks noGrp="1"/>
          </p:cNvSpPr>
          <p:nvPr>
            <p:ph type="pic" idx="3"/>
          </p:nvPr>
        </p:nvSpPr>
        <p:spPr>
          <a:xfrm>
            <a:off x="3420365" y="3238424"/>
            <a:ext cx="2523148" cy="25231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oogle Shape;27;p10"/>
          <p:cNvSpPr>
            <a:spLocks noGrp="1"/>
          </p:cNvSpPr>
          <p:nvPr>
            <p:ph type="pic" idx="4"/>
          </p:nvPr>
        </p:nvSpPr>
        <p:spPr>
          <a:xfrm>
            <a:off x="6248487" y="3238424"/>
            <a:ext cx="2523148" cy="25231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0"/>
          <p:cNvSpPr>
            <a:spLocks noGrp="1"/>
          </p:cNvSpPr>
          <p:nvPr>
            <p:ph type="pic" idx="5"/>
          </p:nvPr>
        </p:nvSpPr>
        <p:spPr>
          <a:xfrm>
            <a:off x="9076608" y="3238424"/>
            <a:ext cx="2523148" cy="25231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0">
  <p:cSld name="Layout 10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>
            <a:spLocks noGrp="1"/>
          </p:cNvSpPr>
          <p:nvPr>
            <p:ph type="pic" idx="2"/>
          </p:nvPr>
        </p:nvSpPr>
        <p:spPr>
          <a:xfrm>
            <a:off x="0" y="2980267"/>
            <a:ext cx="3048000" cy="31411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Google Shape;31;p11"/>
          <p:cNvSpPr>
            <a:spLocks noGrp="1"/>
          </p:cNvSpPr>
          <p:nvPr>
            <p:ph type="pic" idx="3"/>
          </p:nvPr>
        </p:nvSpPr>
        <p:spPr>
          <a:xfrm>
            <a:off x="3048000" y="2980267"/>
            <a:ext cx="3048000" cy="31411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Google Shape;32;p11"/>
          <p:cNvSpPr>
            <a:spLocks noGrp="1"/>
          </p:cNvSpPr>
          <p:nvPr>
            <p:ph type="pic" idx="4"/>
          </p:nvPr>
        </p:nvSpPr>
        <p:spPr>
          <a:xfrm>
            <a:off x="6096000" y="2980267"/>
            <a:ext cx="3048000" cy="31411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Google Shape;33;p11"/>
          <p:cNvSpPr>
            <a:spLocks noGrp="1"/>
          </p:cNvSpPr>
          <p:nvPr>
            <p:ph type="pic" idx="5"/>
          </p:nvPr>
        </p:nvSpPr>
        <p:spPr>
          <a:xfrm>
            <a:off x="9144000" y="2980267"/>
            <a:ext cx="3048000" cy="31411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1">
  <p:cSld name="Layout 1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>
            <a:spLocks noGrp="1"/>
          </p:cNvSpPr>
          <p:nvPr>
            <p:ph type="pic" idx="2"/>
          </p:nvPr>
        </p:nvSpPr>
        <p:spPr>
          <a:xfrm>
            <a:off x="592243" y="2034386"/>
            <a:ext cx="1134958" cy="11349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2">
  <p:cSld name="Layout 1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42254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3">
  <p:cSld name="Layout 13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>
            <a:spLocks noGrp="1"/>
          </p:cNvSpPr>
          <p:nvPr>
            <p:ph type="pic" idx="2"/>
          </p:nvPr>
        </p:nvSpPr>
        <p:spPr>
          <a:xfrm>
            <a:off x="0" y="-1"/>
            <a:ext cx="4933244" cy="51765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age">
  <p:cSld name="Blank Pag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4">
  <p:cSld name="Layout 14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>
            <a:spLocks noGrp="1"/>
          </p:cNvSpPr>
          <p:nvPr>
            <p:ph type="pic" idx="2"/>
          </p:nvPr>
        </p:nvSpPr>
        <p:spPr>
          <a:xfrm>
            <a:off x="-1" y="10157"/>
            <a:ext cx="5554133" cy="6857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5">
  <p:cSld name="Layout 15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>
            <a:spLocks noGrp="1"/>
          </p:cNvSpPr>
          <p:nvPr>
            <p:ph type="pic" idx="2"/>
          </p:nvPr>
        </p:nvSpPr>
        <p:spPr>
          <a:xfrm>
            <a:off x="6795911" y="10157"/>
            <a:ext cx="4803844" cy="55287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6">
  <p:cSld name="Layout 16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>
            <a:spLocks noGrp="1"/>
          </p:cNvSpPr>
          <p:nvPr>
            <p:ph type="pic" idx="2"/>
          </p:nvPr>
        </p:nvSpPr>
        <p:spPr>
          <a:xfrm>
            <a:off x="4547338" y="372532"/>
            <a:ext cx="3296357" cy="27206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" name="Google Shape;48;p19"/>
          <p:cNvSpPr>
            <a:spLocks noGrp="1"/>
          </p:cNvSpPr>
          <p:nvPr>
            <p:ph type="pic" idx="3"/>
          </p:nvPr>
        </p:nvSpPr>
        <p:spPr>
          <a:xfrm>
            <a:off x="590162" y="372532"/>
            <a:ext cx="3800176" cy="27206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" name="Google Shape;49;p19"/>
          <p:cNvSpPr>
            <a:spLocks noGrp="1"/>
          </p:cNvSpPr>
          <p:nvPr>
            <p:ph type="pic" idx="4"/>
          </p:nvPr>
        </p:nvSpPr>
        <p:spPr>
          <a:xfrm>
            <a:off x="590161" y="3228628"/>
            <a:ext cx="7253533" cy="2552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" name="Google Shape;50;p19"/>
          <p:cNvSpPr>
            <a:spLocks noGrp="1"/>
          </p:cNvSpPr>
          <p:nvPr>
            <p:ph type="pic" idx="5"/>
          </p:nvPr>
        </p:nvSpPr>
        <p:spPr>
          <a:xfrm>
            <a:off x="8001738" y="372532"/>
            <a:ext cx="3598019" cy="54090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7">
  <p:cSld name="Layout 17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>
            <a:spLocks noGrp="1"/>
          </p:cNvSpPr>
          <p:nvPr>
            <p:ph type="pic" idx="2"/>
          </p:nvPr>
        </p:nvSpPr>
        <p:spPr>
          <a:xfrm>
            <a:off x="5554133" y="496712"/>
            <a:ext cx="6045622" cy="293228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" name="Google Shape;53;p20"/>
          <p:cNvSpPr>
            <a:spLocks noGrp="1"/>
          </p:cNvSpPr>
          <p:nvPr>
            <p:ph type="pic" idx="3"/>
          </p:nvPr>
        </p:nvSpPr>
        <p:spPr>
          <a:xfrm>
            <a:off x="592245" y="496711"/>
            <a:ext cx="4769978" cy="51590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8">
  <p:cSld name="Layout 18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>
            <a:spLocks noGrp="1"/>
          </p:cNvSpPr>
          <p:nvPr>
            <p:ph type="pic" idx="2"/>
          </p:nvPr>
        </p:nvSpPr>
        <p:spPr>
          <a:xfrm>
            <a:off x="8051721" y="541870"/>
            <a:ext cx="3548037" cy="35480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21"/>
          <p:cNvSpPr>
            <a:spLocks noGrp="1"/>
          </p:cNvSpPr>
          <p:nvPr>
            <p:ph type="pic" idx="3"/>
          </p:nvPr>
        </p:nvSpPr>
        <p:spPr>
          <a:xfrm>
            <a:off x="4319679" y="541870"/>
            <a:ext cx="3548037" cy="35480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21"/>
          <p:cNvSpPr>
            <a:spLocks noGrp="1"/>
          </p:cNvSpPr>
          <p:nvPr>
            <p:ph type="pic" idx="4"/>
          </p:nvPr>
        </p:nvSpPr>
        <p:spPr>
          <a:xfrm>
            <a:off x="592246" y="541870"/>
            <a:ext cx="3548037" cy="35480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9">
  <p:cSld name="Layout 19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>
            <a:spLocks noGrp="1"/>
          </p:cNvSpPr>
          <p:nvPr>
            <p:ph type="pic" idx="2"/>
          </p:nvPr>
        </p:nvSpPr>
        <p:spPr>
          <a:xfrm>
            <a:off x="4583290" y="1"/>
            <a:ext cx="3698139" cy="53747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0">
  <p:cSld name="Layout 20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>
            <a:spLocks noGrp="1"/>
          </p:cNvSpPr>
          <p:nvPr>
            <p:ph type="pic" idx="2"/>
          </p:nvPr>
        </p:nvSpPr>
        <p:spPr>
          <a:xfrm>
            <a:off x="1" y="0"/>
            <a:ext cx="309133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1">
  <p:cSld name="Layout 2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4899376" y="2923822"/>
            <a:ext cx="6700379" cy="39341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2">
  <p:cSld name="Layout 22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>
            <a:spLocks noGrp="1"/>
          </p:cNvSpPr>
          <p:nvPr>
            <p:ph type="pic" idx="2"/>
          </p:nvPr>
        </p:nvSpPr>
        <p:spPr>
          <a:xfrm>
            <a:off x="7247467" y="587022"/>
            <a:ext cx="3443111" cy="62709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3">
  <p:cSld name="Layout 23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92244" y="0"/>
            <a:ext cx="11007512" cy="2923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Title Slide with White Signature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55792" y="2670048"/>
            <a:ext cx="3801960" cy="463550"/>
          </a:xfrm>
        </p:spPr>
        <p:txBody>
          <a:bodyPr/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2268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84000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8967" y="1910922"/>
            <a:ext cx="4025884" cy="75925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 sz="24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4389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2_16x9_pool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80"/>
            <a:ext cx="12192000" cy="6855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164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2_16x9_aqua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80"/>
            <a:ext cx="12192000" cy="6855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5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Divider Slide 1">
    <p:bg>
      <p:bgPr>
        <a:blipFill rotWithShape="1">
          <a:blip r:embed="rId2" cstate="email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8078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der Slide 1">
    <p:bg>
      <p:bgPr>
        <a:blipFill rotWithShape="1">
          <a:blip r:embed="rId2" cstate="email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507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Divider Slide 1">
    <p:bg>
      <p:bgPr>
        <a:blipFill rotWithShape="1">
          <a:blip r:embed="rId2" cstate="email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32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Slide 1">
    <p:bg>
      <p:bgPr>
        <a:blipFill rotWithShape="1">
          <a:blip r:embed="rId2" cstate="email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567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Slide 1">
    <p:bg>
      <p:bgPr>
        <a:blipFill rotWithShape="1">
          <a:blip r:embed="rId2" cstate="email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5768"/>
            <a:ext cx="11261360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2834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1970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18421"/>
            <a:ext cx="11261360" cy="1161492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489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5320" y="2728163"/>
            <a:ext cx="11261360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dirty="0"/>
              <a:t>Master Divider Slide Headline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567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6" name="Group 5" hidden="1"/>
          <p:cNvGrpSpPr/>
          <p:nvPr userDrawn="1"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55613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8688388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1284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2364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907088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016625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180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6260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0" y="388938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0" y="1055688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0" y="1162050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0" y="1278439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0" y="3427413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0" y="3890963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0" y="6492875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0" y="6575425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0" y="6704013"/>
              <a:ext cx="9144000" cy="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5720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8737600" y="0"/>
              <a:ext cx="0" cy="6858000"/>
            </a:xfrm>
            <a:prstGeom prst="line">
              <a:avLst/>
            </a:prstGeom>
            <a:ln w="6350">
              <a:solidFill>
                <a:srgbClr val="CBCC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40526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5320" y="1157725"/>
            <a:ext cx="11261361" cy="53351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1337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465320" y="1162050"/>
            <a:ext cx="11261361" cy="5329056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993399"/>
                </a:solidFill>
              </a:defRPr>
            </a:lvl1pPr>
            <a:lvl2pPr marL="0" indent="-230400">
              <a:buFont typeface="Arial" pitchFamily="34" charset="0"/>
              <a:buChar char="•"/>
              <a:defRPr/>
            </a:lvl2pPr>
            <a:lvl3pPr marL="457200" indent="-230400">
              <a:buFont typeface="Arial" pitchFamily="34" charset="0"/>
              <a:buChar char="–"/>
              <a:defRPr/>
            </a:lvl3pPr>
            <a:lvl4pPr marL="687600" indent="-226800">
              <a:buFont typeface="Arial" pitchFamily="34" charset="0"/>
              <a:buChar char="•"/>
              <a:defRPr/>
            </a:lvl4pPr>
            <a:lvl5pPr marL="914400" indent="-230400"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746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465320" y="1180210"/>
            <a:ext cx="5523482" cy="5292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7"/>
          </p:nvPr>
        </p:nvSpPr>
        <p:spPr>
          <a:xfrm>
            <a:off x="6203199" y="1180210"/>
            <a:ext cx="5523482" cy="5292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342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6"/>
          </p:nvPr>
        </p:nvSpPr>
        <p:spPr>
          <a:xfrm>
            <a:off x="465320" y="1180210"/>
            <a:ext cx="5523482" cy="5292000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993399"/>
                </a:solidFill>
              </a:defRPr>
            </a:lvl1pPr>
            <a:lvl2pPr marL="0" indent="-230400">
              <a:buFont typeface="Arial" pitchFamily="34" charset="0"/>
              <a:buChar char="•"/>
              <a:defRPr sz="2000"/>
            </a:lvl2pPr>
            <a:lvl3pPr marL="457200" indent="-230400">
              <a:buFont typeface="Arial" pitchFamily="34" charset="0"/>
              <a:buChar char="–"/>
              <a:defRPr sz="1800"/>
            </a:lvl3pPr>
            <a:lvl4pPr marL="687600" indent="-226800">
              <a:buFont typeface="Arial" pitchFamily="34" charset="0"/>
              <a:buChar char="•"/>
              <a:defRPr sz="1600"/>
            </a:lvl4pPr>
            <a:lvl5pPr marL="914400" indent="-230400">
              <a:buFont typeface="Arial" pitchFamily="34" charset="0"/>
              <a:buChar char="–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9"/>
          </p:nvPr>
        </p:nvSpPr>
        <p:spPr>
          <a:xfrm>
            <a:off x="6203198" y="1180210"/>
            <a:ext cx="5523482" cy="5292000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993399"/>
                </a:solidFill>
              </a:defRPr>
            </a:lvl1pPr>
            <a:lvl2pPr marL="0" indent="-230400">
              <a:buFont typeface="Arial" pitchFamily="34" charset="0"/>
              <a:buChar char="•"/>
              <a:defRPr sz="2000"/>
            </a:lvl2pPr>
            <a:lvl3pPr marL="457200" indent="-230400">
              <a:buFont typeface="Arial" pitchFamily="34" charset="0"/>
              <a:buChar char="–"/>
              <a:defRPr sz="1800"/>
            </a:lvl3pPr>
            <a:lvl4pPr marL="687600" indent="-226800">
              <a:buFont typeface="Arial" pitchFamily="34" charset="0"/>
              <a:buChar char="•"/>
              <a:defRPr sz="1600"/>
            </a:lvl4pPr>
            <a:lvl5pPr marL="914400" indent="-230400">
              <a:buFont typeface="Arial" pitchFamily="34" charset="0"/>
              <a:buChar char="–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8076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2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with White Signa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" y="-27"/>
            <a:ext cx="12189174" cy="685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1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4108410523"/>
              </p:ext>
            </p:extLst>
          </p:nvPr>
        </p:nvGraphicFramePr>
        <p:xfrm>
          <a:off x="1589" y="1589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270" imgH="270" progId="TCLayout.ActiveDocument.1">
                  <p:embed/>
                </p:oleObj>
              </mc:Choice>
              <mc:Fallback>
                <p:oleObj name="think-cell Slide" r:id="rId22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320" y="1157320"/>
            <a:ext cx="11261361" cy="5335557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5320" y="123701"/>
            <a:ext cx="11261361" cy="1002979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95971" y="6575425"/>
            <a:ext cx="730710" cy="128588"/>
          </a:xfrm>
          <a:prstGeom prst="rect">
            <a:avLst/>
          </a:prstGeom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9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5320" y="1159234"/>
            <a:ext cx="1172668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93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defRPr lang="en-AU" sz="2600" b="1" kern="1200" spc="0" baseline="0" dirty="0" smtClean="0">
          <a:solidFill>
            <a:srgbClr val="000000"/>
          </a:solidFill>
          <a:latin typeface="+mj-lt"/>
          <a:ea typeface="Arial" pitchFamily="-105" charset="-52"/>
          <a:cs typeface="Arial" pitchFamily="34" charset="0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defRPr sz="24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defRPr sz="24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defRPr sz="24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defRPr sz="24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26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26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26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26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230400" indent="-230400" algn="l" rtl="0" eaLnBrk="1" fontAlgn="base" hangingPunct="1">
        <a:spcBef>
          <a:spcPts val="1200"/>
        </a:spcBef>
        <a:spcAft>
          <a:spcPct val="0"/>
        </a:spcAft>
        <a:buSzPct val="80000"/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Arial" pitchFamily="-105" charset="-52"/>
          <a:cs typeface="Arial" pitchFamily="34" charset="0"/>
        </a:defRPr>
      </a:lvl1pPr>
      <a:lvl2pPr marL="457200" indent="-230400" algn="l" rtl="0" eaLnBrk="1" fontAlgn="base" hangingPunct="1">
        <a:spcBef>
          <a:spcPts val="624"/>
        </a:spcBef>
        <a:spcAft>
          <a:spcPct val="0"/>
        </a:spcAft>
        <a:buSzPct val="80000"/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Arial" pitchFamily="-105" charset="-52"/>
          <a:cs typeface="Arial" pitchFamily="34" charset="0"/>
        </a:defRPr>
      </a:lvl2pPr>
      <a:lvl3pPr marL="687600" indent="-230400" algn="l" rtl="0" eaLnBrk="1" fontAlgn="base" hangingPunct="1">
        <a:spcBef>
          <a:spcPts val="576"/>
        </a:spcBef>
        <a:spcAft>
          <a:spcPct val="0"/>
        </a:spcAft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Arial" pitchFamily="-105" charset="-52"/>
          <a:cs typeface="Arial" pitchFamily="34" charset="0"/>
        </a:defRPr>
      </a:lvl3pPr>
      <a:lvl4pPr marL="910800" indent="-226800" algn="l" rtl="0" eaLnBrk="1" fontAlgn="base" hangingPunct="1">
        <a:spcBef>
          <a:spcPts val="528"/>
        </a:spcBef>
        <a:spcAft>
          <a:spcPct val="0"/>
        </a:spcAft>
        <a:buSzPct val="8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Arial" pitchFamily="-105" charset="-52"/>
          <a:cs typeface="Arial" pitchFamily="34" charset="0"/>
        </a:defRPr>
      </a:lvl4pPr>
      <a:lvl5pPr marL="1144800" indent="-230400" algn="l" rtl="0" eaLnBrk="1" fontAlgn="base" hangingPunct="1">
        <a:spcBef>
          <a:spcPts val="480"/>
        </a:spcBef>
        <a:spcAft>
          <a:spcPct val="0"/>
        </a:spcAft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Arial" pitchFamily="-105" charset="-52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7"/>
          <p:cNvSpPr/>
          <p:nvPr/>
        </p:nvSpPr>
        <p:spPr>
          <a:xfrm>
            <a:off x="0" y="0"/>
            <a:ext cx="26667" cy="6858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7"/>
          <p:cNvSpPr/>
          <p:nvPr/>
        </p:nvSpPr>
        <p:spPr>
          <a:xfrm>
            <a:off x="609600" y="2000000"/>
            <a:ext cx="10970880" cy="133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7"/>
          <p:cNvSpPr/>
          <p:nvPr/>
        </p:nvSpPr>
        <p:spPr>
          <a:xfrm>
            <a:off x="609600" y="2000000"/>
            <a:ext cx="10970880" cy="133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lus Jakarta Sans ExtraBold"/>
              <a:buNone/>
            </a:pPr>
            <a:r>
              <a:rPr lang="es-CL" sz="5200" b="1" i="0" u="none" strike="noStrike" cap="none" dirty="0" err="1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Anepsis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600"/>
              <a:buFont typeface="DM Sans"/>
              <a:buNone/>
            </a:pPr>
            <a:r>
              <a:rPr lang="es-CL" sz="16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Plataforma IA de Ciberseguridad Cloud</a:t>
            </a:r>
            <a:endParaRPr dirty="0"/>
          </a:p>
        </p:txBody>
      </p:sp>
      <p:sp>
        <p:nvSpPr>
          <p:cNvPr id="76" name="Google Shape;76;p27"/>
          <p:cNvSpPr/>
          <p:nvPr/>
        </p:nvSpPr>
        <p:spPr>
          <a:xfrm>
            <a:off x="609600" y="3413333"/>
            <a:ext cx="10970880" cy="4533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7"/>
          <p:cNvSpPr/>
          <p:nvPr/>
        </p:nvSpPr>
        <p:spPr>
          <a:xfrm>
            <a:off x="609600" y="3413333"/>
            <a:ext cx="10970880" cy="45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500"/>
              <a:buFont typeface="DM Sans"/>
              <a:buNone/>
            </a:pPr>
            <a:r>
              <a:rPr lang="es-CL" sz="15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Identificando Oportunidades de Negocio con IA</a:t>
            </a:r>
            <a:endParaRPr dirty="0"/>
          </a:p>
        </p:txBody>
      </p:sp>
      <p:sp>
        <p:nvSpPr>
          <p:cNvPr id="78" name="Google Shape;78;p27"/>
          <p:cNvSpPr/>
          <p:nvPr/>
        </p:nvSpPr>
        <p:spPr>
          <a:xfrm>
            <a:off x="609600" y="3946667"/>
            <a:ext cx="1097088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Evaluación 1  |  Grupo 10  |  FEN </a:t>
            </a:r>
            <a:r>
              <a:rPr lang="es-CL" sz="900" b="0" i="0" u="none" strike="noStrike" cap="none" dirty="0" err="1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UChile</a:t>
            </a:r>
            <a:r>
              <a:rPr lang="es-CL" sz="900" b="0" i="0" u="none" strike="noStrike" cap="none" dirty="0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s-CL" sz="900" b="0" i="0" u="none" strike="noStrike" cap="none" dirty="0" err="1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UEjecutivos</a:t>
            </a:r>
            <a:r>
              <a:rPr lang="es-CL" sz="900" b="0" i="0" u="none" strike="noStrike" cap="none" dirty="0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  |  2026</a:t>
            </a:r>
            <a:endParaRPr dirty="0"/>
          </a:p>
        </p:txBody>
      </p:sp>
      <p:sp>
        <p:nvSpPr>
          <p:cNvPr id="79" name="Google Shape;79;p27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2A58F-127B-B06D-1A93-2778D632319F}"/>
              </a:ext>
            </a:extLst>
          </p:cNvPr>
          <p:cNvSpPr txBox="1"/>
          <p:nvPr/>
        </p:nvSpPr>
        <p:spPr>
          <a:xfrm>
            <a:off x="673769" y="4681671"/>
            <a:ext cx="57828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n-US" dirty="0" err="1"/>
              <a:t>Integrantes</a:t>
            </a:r>
            <a:r>
              <a:rPr lang="en-US" dirty="0"/>
              <a:t>: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Fernando Goler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Nelson García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Gustavo Soto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Francisco Ojeda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Carlos Oberreuter 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8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/>
          </a:p>
        </p:txBody>
      </p:sp>
      <p:sp>
        <p:nvSpPr>
          <p:cNvPr id="86" name="Google Shape;86;p28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Estructura de la Presentación</a:t>
            </a:r>
            <a:endParaRPr/>
          </a:p>
        </p:txBody>
      </p:sp>
      <p:sp>
        <p:nvSpPr>
          <p:cNvPr id="87" name="Google Shape;87;p28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8"/>
          <p:cNvSpPr/>
          <p:nvPr/>
        </p:nvSpPr>
        <p:spPr>
          <a:xfrm>
            <a:off x="609600" y="140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8"/>
          <p:cNvSpPr/>
          <p:nvPr/>
        </p:nvSpPr>
        <p:spPr>
          <a:xfrm>
            <a:off x="853440" y="140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01  Contexto de Negocio</a:t>
            </a:r>
            <a:endParaRPr/>
          </a:p>
        </p:txBody>
      </p:sp>
      <p:sp>
        <p:nvSpPr>
          <p:cNvPr id="90" name="Google Shape;90;p28"/>
          <p:cNvSpPr/>
          <p:nvPr/>
        </p:nvSpPr>
        <p:spPr>
          <a:xfrm>
            <a:off x="609600" y="188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8"/>
          <p:cNvSpPr/>
          <p:nvPr/>
        </p:nvSpPr>
        <p:spPr>
          <a:xfrm>
            <a:off x="853440" y="188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02  Segmento de Clientes</a:t>
            </a:r>
            <a:endParaRPr/>
          </a:p>
        </p:txBody>
      </p:sp>
      <p:sp>
        <p:nvSpPr>
          <p:cNvPr id="92" name="Google Shape;92;p28"/>
          <p:cNvSpPr/>
          <p:nvPr/>
        </p:nvSpPr>
        <p:spPr>
          <a:xfrm>
            <a:off x="609600" y="236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8"/>
          <p:cNvSpPr/>
          <p:nvPr/>
        </p:nvSpPr>
        <p:spPr>
          <a:xfrm>
            <a:off x="853440" y="236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03  Viaje del Cliente (JTBD)</a:t>
            </a:r>
            <a:endParaRPr/>
          </a:p>
        </p:txBody>
      </p:sp>
      <p:sp>
        <p:nvSpPr>
          <p:cNvPr id="94" name="Google Shape;94;p28"/>
          <p:cNvSpPr/>
          <p:nvPr/>
        </p:nvSpPr>
        <p:spPr>
          <a:xfrm>
            <a:off x="609600" y="284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8"/>
          <p:cNvSpPr/>
          <p:nvPr/>
        </p:nvSpPr>
        <p:spPr>
          <a:xfrm>
            <a:off x="853440" y="284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04  Acciones Organizacionales (JTBD)</a:t>
            </a:r>
            <a:endParaRPr/>
          </a:p>
        </p:txBody>
      </p:sp>
      <p:sp>
        <p:nvSpPr>
          <p:cNvPr id="96" name="Google Shape;96;p28"/>
          <p:cNvSpPr/>
          <p:nvPr/>
        </p:nvSpPr>
        <p:spPr>
          <a:xfrm>
            <a:off x="609600" y="332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8"/>
          <p:cNvSpPr/>
          <p:nvPr/>
        </p:nvSpPr>
        <p:spPr>
          <a:xfrm>
            <a:off x="853440" y="332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05  Dolores del Cliente</a:t>
            </a:r>
            <a:endParaRPr/>
          </a:p>
        </p:txBody>
      </p:sp>
      <p:sp>
        <p:nvSpPr>
          <p:cNvPr id="98" name="Google Shape;98;p28"/>
          <p:cNvSpPr/>
          <p:nvPr/>
        </p:nvSpPr>
        <p:spPr>
          <a:xfrm>
            <a:off x="609600" y="3800000"/>
            <a:ext cx="5200000" cy="41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8"/>
          <p:cNvSpPr/>
          <p:nvPr/>
        </p:nvSpPr>
        <p:spPr>
          <a:xfrm>
            <a:off x="853440" y="380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06  Definición del Problema</a:t>
            </a:r>
            <a:endParaRPr/>
          </a:p>
        </p:txBody>
      </p:sp>
      <p:sp>
        <p:nvSpPr>
          <p:cNvPr id="100" name="Google Shape;100;p28"/>
          <p:cNvSpPr/>
          <p:nvPr/>
        </p:nvSpPr>
        <p:spPr>
          <a:xfrm>
            <a:off x="5931520" y="140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8"/>
          <p:cNvSpPr/>
          <p:nvPr/>
        </p:nvSpPr>
        <p:spPr>
          <a:xfrm>
            <a:off x="6175360" y="140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07  Procesos Críticos + Iniciativas IA</a:t>
            </a:r>
            <a:endParaRPr/>
          </a:p>
        </p:txBody>
      </p:sp>
      <p:sp>
        <p:nvSpPr>
          <p:cNvPr id="102" name="Google Shape;102;p28"/>
          <p:cNvSpPr/>
          <p:nvPr/>
        </p:nvSpPr>
        <p:spPr>
          <a:xfrm>
            <a:off x="5931520" y="188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8"/>
          <p:cNvSpPr/>
          <p:nvPr/>
        </p:nvSpPr>
        <p:spPr>
          <a:xfrm>
            <a:off x="6175360" y="188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08  Dato Maestro + Data Flywheel</a:t>
            </a:r>
            <a:endParaRPr/>
          </a:p>
        </p:txBody>
      </p:sp>
      <p:sp>
        <p:nvSpPr>
          <p:cNvPr id="104" name="Google Shape;104;p28"/>
          <p:cNvSpPr/>
          <p:nvPr/>
        </p:nvSpPr>
        <p:spPr>
          <a:xfrm>
            <a:off x="5931520" y="236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8"/>
          <p:cNvSpPr/>
          <p:nvPr/>
        </p:nvSpPr>
        <p:spPr>
          <a:xfrm>
            <a:off x="6175360" y="236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09  Foso de Datos (Data Moat)</a:t>
            </a:r>
            <a:endParaRPr/>
          </a:p>
        </p:txBody>
      </p:sp>
      <p:sp>
        <p:nvSpPr>
          <p:cNvPr id="106" name="Google Shape;106;p28"/>
          <p:cNvSpPr/>
          <p:nvPr/>
        </p:nvSpPr>
        <p:spPr>
          <a:xfrm>
            <a:off x="5931520" y="284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8"/>
          <p:cNvSpPr/>
          <p:nvPr/>
        </p:nvSpPr>
        <p:spPr>
          <a:xfrm>
            <a:off x="6175360" y="284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10  Impacto Financiero y KPIs</a:t>
            </a:r>
            <a:endParaRPr/>
          </a:p>
        </p:txBody>
      </p:sp>
      <p:sp>
        <p:nvSpPr>
          <p:cNvPr id="108" name="Google Shape;108;p28"/>
          <p:cNvSpPr/>
          <p:nvPr/>
        </p:nvSpPr>
        <p:spPr>
          <a:xfrm>
            <a:off x="5931520" y="332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6175360" y="332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11  Gobernanza y Gestión del Cambio</a:t>
            </a:r>
            <a:endParaRPr/>
          </a:p>
        </p:txBody>
      </p:sp>
      <p:sp>
        <p:nvSpPr>
          <p:cNvPr id="110" name="Google Shape;110;p28"/>
          <p:cNvSpPr/>
          <p:nvPr/>
        </p:nvSpPr>
        <p:spPr>
          <a:xfrm>
            <a:off x="5931520" y="3800000"/>
            <a:ext cx="5200000" cy="413333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8"/>
          <p:cNvSpPr/>
          <p:nvPr/>
        </p:nvSpPr>
        <p:spPr>
          <a:xfrm>
            <a:off x="6175360" y="3800000"/>
            <a:ext cx="4956160" cy="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12  Síntesis Ejecutiva</a:t>
            </a:r>
            <a:endParaRPr/>
          </a:p>
        </p:txBody>
      </p:sp>
      <p:sp>
        <p:nvSpPr>
          <p:cNvPr id="112" name="Google Shape;112;p28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/>
          <p:nvPr/>
        </p:nvSpPr>
        <p:spPr>
          <a:xfrm>
            <a:off x="0" y="-2272"/>
            <a:ext cx="3600000" cy="6858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9"/>
          <p:cNvSpPr/>
          <p:nvPr/>
        </p:nvSpPr>
        <p:spPr>
          <a:xfrm>
            <a:off x="240000" y="266667"/>
            <a:ext cx="3146667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01  CONTEXTO DE NEGOCIO</a:t>
            </a:r>
            <a:endParaRPr/>
          </a:p>
        </p:txBody>
      </p:sp>
      <p:sp>
        <p:nvSpPr>
          <p:cNvPr id="119" name="Google Shape;119;p29"/>
          <p:cNvSpPr/>
          <p:nvPr/>
        </p:nvSpPr>
        <p:spPr>
          <a:xfrm>
            <a:off x="240000" y="626667"/>
            <a:ext cx="3146667" cy="5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 ExtraBold"/>
              <a:buNone/>
            </a:pPr>
            <a:r>
              <a:rPr lang="es-CL" sz="32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Anepsis</a:t>
            </a:r>
            <a:endParaRPr/>
          </a:p>
        </p:txBody>
      </p:sp>
      <p:sp>
        <p:nvSpPr>
          <p:cNvPr id="120" name="Google Shape;120;p29"/>
          <p:cNvSpPr/>
          <p:nvPr/>
        </p:nvSpPr>
        <p:spPr>
          <a:xfrm>
            <a:off x="240000" y="1173333"/>
            <a:ext cx="3229341" cy="3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DM Sans"/>
              <a:buNone/>
            </a:pPr>
            <a:r>
              <a:rPr lang="es-CL" sz="11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Servicios de Consultoría de Ciberseguridad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1" name="Google Shape;121;p29"/>
          <p:cNvSpPr/>
          <p:nvPr/>
        </p:nvSpPr>
        <p:spPr>
          <a:xfrm>
            <a:off x="240000" y="1626667"/>
            <a:ext cx="3229341" cy="474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Principales Servicios: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endParaRPr lang="es-CL" sz="1200" b="0" i="0" u="none" strike="noStrike" cap="non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Servicios de Evaluación de Adopción y </a:t>
            </a:r>
            <a:r>
              <a:rPr lang="es-CL" sz="12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Roadmap</a:t>
            </a: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de Procesos, Prácticas y Soluciones de Ciberseguridad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endParaRPr lang="es-CL" sz="1200" b="0" i="0" u="none" strike="noStrike" cap="non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Evaluación de Riesgos de Ciberseguridad basado en Prácticas de Industria como Nist / CIS / CSA (CCM &amp; TAISE)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</a:pPr>
            <a:endParaRPr lang="es-CL" sz="1200" b="0" i="0" u="none" strike="noStrike" cap="non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Modelo Actual de Evaluaciones por Entrevistas realizadas por Especialistas a través de artefactos &amp; Software propietario.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endParaRPr lang="es-CL" sz="1200" b="0" i="0" u="none" strike="noStrike" cap="non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Adicionalmente, se encuentra en plan de internacionalización de Servicios en Colombia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endParaRPr sz="1200" dirty="0">
              <a:solidFill>
                <a:schemeClr val="bg1"/>
              </a:solidFill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Arial" panose="020B0604020202020204" pitchFamily="34" charset="0"/>
              <a:buChar char="•"/>
            </a:pPr>
            <a:r>
              <a:rPr lang="es-CL" sz="1200" b="1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Oportunidad</a:t>
            </a: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: Proyecto </a:t>
            </a:r>
            <a:r>
              <a:rPr lang="es-CL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Pl</a:t>
            </a:r>
            <a:r>
              <a:rPr lang="es-CL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ataforma SaaS co</a:t>
            </a:r>
            <a:r>
              <a:rPr lang="es-CL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n IA , especializada en controles de AI para los procesos de evaluación / diagnóstico y recomendaciones de hallazgos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22" name="Google Shape;122;p29"/>
          <p:cNvSpPr/>
          <p:nvPr/>
        </p:nvSpPr>
        <p:spPr>
          <a:xfrm>
            <a:off x="3813333" y="266667"/>
            <a:ext cx="7786667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El Momento de Transformación</a:t>
            </a:r>
            <a:endParaRPr/>
          </a:p>
        </p:txBody>
      </p:sp>
      <p:sp>
        <p:nvSpPr>
          <p:cNvPr id="123" name="Google Shape;123;p29"/>
          <p:cNvSpPr/>
          <p:nvPr/>
        </p:nvSpPr>
        <p:spPr>
          <a:xfrm>
            <a:off x="3840000" y="626668"/>
            <a:ext cx="7786667" cy="1282138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900"/>
              <a:buFont typeface="Plus Jakarta Sans ExtraBold"/>
              <a:buNone/>
            </a:pPr>
            <a:r>
              <a:rPr lang="es-ES" sz="1800" b="1" i="0" u="none" strike="noStrike" cap="none" dirty="0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problema no es adoptar Cloud + IA, es hacerlo de forma segura, gobernada y escalable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900"/>
              <a:buFont typeface="Plus Jakarta Sans ExtraBold"/>
              <a:buNone/>
            </a:pPr>
            <a:endParaRPr lang="es-ES" sz="1200" i="1" dirty="0">
              <a:solidFill>
                <a:srgbClr val="323F50"/>
              </a:solidFill>
              <a:latin typeface="DM Sans"/>
            </a:endParaRPr>
          </a:p>
          <a:p>
            <a:pPr lvl="0">
              <a:buClr>
                <a:srgbClr val="323F50"/>
              </a:buClr>
              <a:buSzPts val="1900"/>
            </a:pPr>
            <a:r>
              <a:rPr lang="es-ES" sz="1200" i="1" dirty="0">
                <a:solidFill>
                  <a:srgbClr val="323F50"/>
                </a:solidFill>
                <a:latin typeface="DM Sans"/>
              </a:rPr>
              <a:t>“El crecimiento acelerado de Cloud e IA en LATAM está generando valor, pero también exponiendo a las organizaciones a riesgos no gestionados (seguridad, cumplimiento y confianza), debido a la falta de marcos integrados, talento especializado y modelos de operación maduros.”</a:t>
            </a:r>
            <a:endParaRPr sz="1200" i="1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24" name="Google Shape;124;p29"/>
          <p:cNvSpPr/>
          <p:nvPr/>
        </p:nvSpPr>
        <p:spPr>
          <a:xfrm>
            <a:off x="3979443" y="2108494"/>
            <a:ext cx="7514957" cy="321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171450" lvl="0" indent="-171450">
              <a:buClr>
                <a:srgbClr val="323F50"/>
              </a:buClr>
              <a:buSzPts val="10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DM Sans"/>
              </a:rPr>
              <a:t>Colombia es uno de los países de Latinoamérica en pleno crecimiento de la transformación digital y con un nivel de ataques cibernéticos que ha crecido considerablemente en las grandes empresas, gobierno y negocios en desarrollo con el aumento de la digitalización</a:t>
            </a:r>
            <a:r>
              <a:rPr lang="en-CL" sz="1200" dirty="0">
                <a:solidFill>
                  <a:schemeClr val="tx1"/>
                </a:solidFill>
                <a:latin typeface="DM Sans"/>
              </a:rPr>
              <a:t> </a:t>
            </a:r>
            <a:endParaRPr lang="es-CL" sz="1200" dirty="0">
              <a:solidFill>
                <a:schemeClr val="tx1"/>
              </a:solidFill>
              <a:latin typeface="DM Sans"/>
            </a:endParaRPr>
          </a:p>
          <a:p>
            <a:pPr lvl="0">
              <a:buClr>
                <a:srgbClr val="323F50"/>
              </a:buClr>
              <a:buSzPts val="1000"/>
            </a:pPr>
            <a:endParaRPr lang="en-CL" sz="1200" dirty="0">
              <a:solidFill>
                <a:schemeClr val="tx1"/>
              </a:solidFill>
              <a:latin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DM Sans"/>
              </a:rPr>
              <a:t>Colombia, hoy es el segundo país de la región con más incidentes de ciberseguridad el año 2025 según el informe de Seguridad de IBM; mismo año en el en que se invirtió en ciberseguridad más de 240 millones de USD</a:t>
            </a:r>
          </a:p>
          <a:p>
            <a:endParaRPr lang="es-ES" sz="1200" dirty="0">
              <a:solidFill>
                <a:schemeClr val="tx1"/>
              </a:solidFill>
              <a:latin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DM Sans"/>
              </a:rPr>
              <a:t>Este creciente desarrollo de negocios está conectado también el crecimiento de las soluciones y la demanda creciente de servicios de Ciberseguridad con la necesidad de profesionales acreditados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b="1" dirty="0">
                <a:solidFill>
                  <a:schemeClr val="tx1"/>
                </a:solidFill>
                <a:latin typeface="DM Sans"/>
                <a:sym typeface="DM Sans"/>
              </a:rPr>
              <a:t>Empresas adoptan IA sin gobierno </a:t>
            </a:r>
            <a:r>
              <a:rPr lang="es-CL" sz="1200" dirty="0">
                <a:solidFill>
                  <a:schemeClr val="tx1"/>
                </a:solidFill>
                <a:latin typeface="DM Sans"/>
                <a:sym typeface="DM Sans"/>
              </a:rPr>
              <a:t>ni seguridad / Riesgos de Seguridad. </a:t>
            </a:r>
            <a:r>
              <a:rPr lang="es-ES" sz="1200" dirty="0">
                <a:solidFill>
                  <a:schemeClr val="tx1"/>
                </a:solidFill>
                <a:latin typeface="DM Sans"/>
              </a:rPr>
              <a:t>La adopción de IA está generando nuevos riesgos: uso de datos sensibles en modelos , decisiones no confiables , Shadow AI  , ataques adversariales a modelos , falta de trazabilidad y auditoría</a:t>
            </a:r>
          </a:p>
          <a:p>
            <a:endParaRPr lang="es-CL" sz="120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Regulación </a:t>
            </a:r>
            <a:r>
              <a:rPr lang="es-CL" sz="1200" b="0" i="0" u="none" strike="noStrike" cap="none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12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+ AI se endurece en Chile &amp; en general en la región(Ley 21.719)</a:t>
            </a:r>
            <a:endParaRPr lang="es-CL" sz="1200" dirty="0">
              <a:solidFill>
                <a:schemeClr val="tx1"/>
              </a:solidFill>
              <a:ea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Brecha de talento en </a:t>
            </a:r>
            <a:r>
              <a:rPr lang="es-CL" sz="1200" b="0" i="0" u="none" strike="noStrike" cap="none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12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+ seguridad + IA</a:t>
            </a:r>
            <a:endParaRPr sz="1200"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endParaRPr dirty="0"/>
          </a:p>
        </p:txBody>
      </p:sp>
      <p:sp>
        <p:nvSpPr>
          <p:cNvPr id="125" name="Google Shape;125;p29"/>
          <p:cNvSpPr/>
          <p:nvPr/>
        </p:nvSpPr>
        <p:spPr>
          <a:xfrm>
            <a:off x="3800864" y="5949320"/>
            <a:ext cx="7786667" cy="480000"/>
          </a:xfrm>
          <a:prstGeom prst="rect">
            <a:avLst/>
          </a:prstGeom>
          <a:solidFill>
            <a:srgbClr val="EFEBEA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¿Alineada a la estrategia? Sí. La transformación de consultoría a SaaS es el eje central de </a:t>
            </a:r>
            <a:r>
              <a:rPr lang="es-CL" sz="1000" b="0" i="1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Anepsis</a:t>
            </a:r>
            <a:r>
              <a:rPr lang="es-CL" sz="100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26" name="Google Shape;126;p29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3</a:t>
            </a:r>
            <a:endParaRPr/>
          </a:p>
        </p:txBody>
      </p:sp>
      <p:grpSp>
        <p:nvGrpSpPr>
          <p:cNvPr id="26" name="Group 6">
            <a:extLst>
              <a:ext uri="{FF2B5EF4-FFF2-40B4-BE49-F238E27FC236}">
                <a16:creationId xmlns:a16="http://schemas.microsoft.com/office/drawing/2014/main" id="{C0F29D62-DC7F-95A6-26A7-DE78BEB332FA}"/>
              </a:ext>
            </a:extLst>
          </p:cNvPr>
          <p:cNvGrpSpPr/>
          <p:nvPr/>
        </p:nvGrpSpPr>
        <p:grpSpPr bwMode="auto">
          <a:xfrm>
            <a:off x="10003397" y="2054577"/>
            <a:ext cx="3246540" cy="4726881"/>
            <a:chOff x="2909636" y="1656420"/>
            <a:chExt cx="3246540" cy="4726881"/>
          </a:xfrm>
          <a:solidFill>
            <a:schemeClr val="tx2">
              <a:alpha val="16000"/>
            </a:schemeClr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A1E8E27-F9A0-0010-BF6B-10F1B2D1A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178" y="1656420"/>
              <a:ext cx="854174" cy="1146839"/>
            </a:xfrm>
            <a:custGeom>
              <a:avLst/>
              <a:gdLst/>
              <a:ahLst/>
              <a:cxnLst>
                <a:cxn ang="0">
                  <a:pos x="117" y="445"/>
                </a:cxn>
                <a:cxn ang="0">
                  <a:pos x="159" y="409"/>
                </a:cxn>
                <a:cxn ang="0">
                  <a:pos x="196" y="420"/>
                </a:cxn>
                <a:cxn ang="0">
                  <a:pos x="242" y="319"/>
                </a:cxn>
                <a:cxn ang="0">
                  <a:pos x="299" y="271"/>
                </a:cxn>
                <a:cxn ang="0">
                  <a:pos x="330" y="159"/>
                </a:cxn>
                <a:cxn ang="0">
                  <a:pos x="400" y="145"/>
                </a:cxn>
                <a:cxn ang="0">
                  <a:pos x="475" y="117"/>
                </a:cxn>
                <a:cxn ang="0">
                  <a:pos x="629" y="0"/>
                </a:cxn>
                <a:cxn ang="0">
                  <a:pos x="667" y="24"/>
                </a:cxn>
                <a:cxn ang="0">
                  <a:pos x="653" y="46"/>
                </a:cxn>
                <a:cxn ang="0">
                  <a:pos x="554" y="128"/>
                </a:cxn>
                <a:cxn ang="0">
                  <a:pos x="506" y="236"/>
                </a:cxn>
                <a:cxn ang="0">
                  <a:pos x="526" y="302"/>
                </a:cxn>
                <a:cxn ang="0">
                  <a:pos x="557" y="414"/>
                </a:cxn>
                <a:cxn ang="0">
                  <a:pos x="634" y="442"/>
                </a:cxn>
                <a:cxn ang="0">
                  <a:pos x="742" y="438"/>
                </a:cxn>
                <a:cxn ang="0">
                  <a:pos x="812" y="506"/>
                </a:cxn>
                <a:cxn ang="0">
                  <a:pos x="885" y="502"/>
                </a:cxn>
                <a:cxn ang="0">
                  <a:pos x="957" y="491"/>
                </a:cxn>
                <a:cxn ang="0">
                  <a:pos x="931" y="667"/>
                </a:cxn>
                <a:cxn ang="0">
                  <a:pos x="962" y="726"/>
                </a:cxn>
                <a:cxn ang="0">
                  <a:pos x="968" y="805"/>
                </a:cxn>
                <a:cxn ang="0">
                  <a:pos x="1003" y="887"/>
                </a:cxn>
                <a:cxn ang="0">
                  <a:pos x="973" y="852"/>
                </a:cxn>
                <a:cxn ang="0">
                  <a:pos x="904" y="845"/>
                </a:cxn>
                <a:cxn ang="0">
                  <a:pos x="768" y="867"/>
                </a:cxn>
                <a:cxn ang="0">
                  <a:pos x="757" y="916"/>
                </a:cxn>
                <a:cxn ang="0">
                  <a:pos x="814" y="953"/>
                </a:cxn>
                <a:cxn ang="0">
                  <a:pos x="761" y="960"/>
                </a:cxn>
                <a:cxn ang="0">
                  <a:pos x="744" y="1028"/>
                </a:cxn>
                <a:cxn ang="0">
                  <a:pos x="792" y="1118"/>
                </a:cxn>
                <a:cxn ang="0">
                  <a:pos x="704" y="1327"/>
                </a:cxn>
                <a:cxn ang="0">
                  <a:pos x="737" y="1252"/>
                </a:cxn>
                <a:cxn ang="0">
                  <a:pos x="673" y="1202"/>
                </a:cxn>
                <a:cxn ang="0">
                  <a:pos x="590" y="1208"/>
                </a:cxn>
                <a:cxn ang="0">
                  <a:pos x="544" y="1230"/>
                </a:cxn>
                <a:cxn ang="0">
                  <a:pos x="467" y="1180"/>
                </a:cxn>
                <a:cxn ang="0">
                  <a:pos x="442" y="1140"/>
                </a:cxn>
                <a:cxn ang="0">
                  <a:pos x="350" y="1063"/>
                </a:cxn>
                <a:cxn ang="0">
                  <a:pos x="257" y="1032"/>
                </a:cxn>
                <a:cxn ang="0">
                  <a:pos x="119" y="1017"/>
                </a:cxn>
                <a:cxn ang="0">
                  <a:pos x="15" y="977"/>
                </a:cxn>
                <a:cxn ang="0">
                  <a:pos x="35" y="935"/>
                </a:cxn>
                <a:cxn ang="0">
                  <a:pos x="57" y="856"/>
                </a:cxn>
                <a:cxn ang="0">
                  <a:pos x="126" y="801"/>
                </a:cxn>
                <a:cxn ang="0">
                  <a:pos x="126" y="740"/>
                </a:cxn>
                <a:cxn ang="0">
                  <a:pos x="130" y="563"/>
                </a:cxn>
                <a:cxn ang="0">
                  <a:pos x="99" y="476"/>
                </a:cxn>
              </a:cxnLst>
              <a:rect l="0" t="0" r="r" b="b"/>
              <a:pathLst>
                <a:path w="1003" h="1349">
                  <a:moveTo>
                    <a:pt x="99" y="476"/>
                  </a:moveTo>
                  <a:lnTo>
                    <a:pt x="117" y="445"/>
                  </a:lnTo>
                  <a:lnTo>
                    <a:pt x="139" y="434"/>
                  </a:lnTo>
                  <a:lnTo>
                    <a:pt x="159" y="409"/>
                  </a:lnTo>
                  <a:lnTo>
                    <a:pt x="147" y="361"/>
                  </a:lnTo>
                  <a:lnTo>
                    <a:pt x="196" y="420"/>
                  </a:lnTo>
                  <a:lnTo>
                    <a:pt x="200" y="357"/>
                  </a:lnTo>
                  <a:lnTo>
                    <a:pt x="242" y="319"/>
                  </a:lnTo>
                  <a:lnTo>
                    <a:pt x="264" y="282"/>
                  </a:lnTo>
                  <a:lnTo>
                    <a:pt x="299" y="271"/>
                  </a:lnTo>
                  <a:lnTo>
                    <a:pt x="308" y="189"/>
                  </a:lnTo>
                  <a:lnTo>
                    <a:pt x="330" y="159"/>
                  </a:lnTo>
                  <a:lnTo>
                    <a:pt x="365" y="143"/>
                  </a:lnTo>
                  <a:lnTo>
                    <a:pt x="400" y="145"/>
                  </a:lnTo>
                  <a:lnTo>
                    <a:pt x="420" y="115"/>
                  </a:lnTo>
                  <a:lnTo>
                    <a:pt x="475" y="117"/>
                  </a:lnTo>
                  <a:lnTo>
                    <a:pt x="579" y="53"/>
                  </a:lnTo>
                  <a:lnTo>
                    <a:pt x="629" y="0"/>
                  </a:lnTo>
                  <a:lnTo>
                    <a:pt x="656" y="5"/>
                  </a:lnTo>
                  <a:lnTo>
                    <a:pt x="667" y="24"/>
                  </a:lnTo>
                  <a:lnTo>
                    <a:pt x="653" y="47"/>
                  </a:lnTo>
                  <a:lnTo>
                    <a:pt x="653" y="46"/>
                  </a:lnTo>
                  <a:lnTo>
                    <a:pt x="614" y="57"/>
                  </a:lnTo>
                  <a:lnTo>
                    <a:pt x="554" y="128"/>
                  </a:lnTo>
                  <a:lnTo>
                    <a:pt x="528" y="163"/>
                  </a:lnTo>
                  <a:lnTo>
                    <a:pt x="506" y="236"/>
                  </a:lnTo>
                  <a:lnTo>
                    <a:pt x="491" y="258"/>
                  </a:lnTo>
                  <a:lnTo>
                    <a:pt x="526" y="302"/>
                  </a:lnTo>
                  <a:lnTo>
                    <a:pt x="557" y="363"/>
                  </a:lnTo>
                  <a:lnTo>
                    <a:pt x="557" y="414"/>
                  </a:lnTo>
                  <a:lnTo>
                    <a:pt x="603" y="440"/>
                  </a:lnTo>
                  <a:lnTo>
                    <a:pt x="634" y="442"/>
                  </a:lnTo>
                  <a:lnTo>
                    <a:pt x="691" y="427"/>
                  </a:lnTo>
                  <a:lnTo>
                    <a:pt x="742" y="438"/>
                  </a:lnTo>
                  <a:lnTo>
                    <a:pt x="790" y="498"/>
                  </a:lnTo>
                  <a:lnTo>
                    <a:pt x="812" y="506"/>
                  </a:lnTo>
                  <a:lnTo>
                    <a:pt x="834" y="495"/>
                  </a:lnTo>
                  <a:lnTo>
                    <a:pt x="885" y="502"/>
                  </a:lnTo>
                  <a:lnTo>
                    <a:pt x="933" y="484"/>
                  </a:lnTo>
                  <a:lnTo>
                    <a:pt x="957" y="491"/>
                  </a:lnTo>
                  <a:lnTo>
                    <a:pt x="920" y="619"/>
                  </a:lnTo>
                  <a:lnTo>
                    <a:pt x="931" y="667"/>
                  </a:lnTo>
                  <a:lnTo>
                    <a:pt x="962" y="702"/>
                  </a:lnTo>
                  <a:lnTo>
                    <a:pt x="962" y="726"/>
                  </a:lnTo>
                  <a:lnTo>
                    <a:pt x="927" y="762"/>
                  </a:lnTo>
                  <a:lnTo>
                    <a:pt x="968" y="805"/>
                  </a:lnTo>
                  <a:lnTo>
                    <a:pt x="1001" y="887"/>
                  </a:lnTo>
                  <a:lnTo>
                    <a:pt x="1003" y="887"/>
                  </a:lnTo>
                  <a:lnTo>
                    <a:pt x="979" y="876"/>
                  </a:lnTo>
                  <a:lnTo>
                    <a:pt x="973" y="852"/>
                  </a:lnTo>
                  <a:lnTo>
                    <a:pt x="955" y="832"/>
                  </a:lnTo>
                  <a:lnTo>
                    <a:pt x="904" y="845"/>
                  </a:lnTo>
                  <a:lnTo>
                    <a:pt x="882" y="858"/>
                  </a:lnTo>
                  <a:lnTo>
                    <a:pt x="768" y="867"/>
                  </a:lnTo>
                  <a:lnTo>
                    <a:pt x="757" y="891"/>
                  </a:lnTo>
                  <a:lnTo>
                    <a:pt x="757" y="916"/>
                  </a:lnTo>
                  <a:lnTo>
                    <a:pt x="806" y="931"/>
                  </a:lnTo>
                  <a:lnTo>
                    <a:pt x="814" y="953"/>
                  </a:lnTo>
                  <a:lnTo>
                    <a:pt x="784" y="951"/>
                  </a:lnTo>
                  <a:lnTo>
                    <a:pt x="761" y="960"/>
                  </a:lnTo>
                  <a:lnTo>
                    <a:pt x="739" y="979"/>
                  </a:lnTo>
                  <a:lnTo>
                    <a:pt x="744" y="1028"/>
                  </a:lnTo>
                  <a:lnTo>
                    <a:pt x="781" y="1069"/>
                  </a:lnTo>
                  <a:lnTo>
                    <a:pt x="792" y="1118"/>
                  </a:lnTo>
                  <a:lnTo>
                    <a:pt x="748" y="1349"/>
                  </a:lnTo>
                  <a:lnTo>
                    <a:pt x="704" y="1327"/>
                  </a:lnTo>
                  <a:lnTo>
                    <a:pt x="698" y="1301"/>
                  </a:lnTo>
                  <a:lnTo>
                    <a:pt x="737" y="1252"/>
                  </a:lnTo>
                  <a:lnTo>
                    <a:pt x="724" y="1226"/>
                  </a:lnTo>
                  <a:lnTo>
                    <a:pt x="673" y="1202"/>
                  </a:lnTo>
                  <a:lnTo>
                    <a:pt x="621" y="1213"/>
                  </a:lnTo>
                  <a:lnTo>
                    <a:pt x="590" y="1208"/>
                  </a:lnTo>
                  <a:lnTo>
                    <a:pt x="570" y="1224"/>
                  </a:lnTo>
                  <a:lnTo>
                    <a:pt x="544" y="1230"/>
                  </a:lnTo>
                  <a:lnTo>
                    <a:pt x="493" y="1228"/>
                  </a:lnTo>
                  <a:lnTo>
                    <a:pt x="467" y="1180"/>
                  </a:lnTo>
                  <a:lnTo>
                    <a:pt x="445" y="1166"/>
                  </a:lnTo>
                  <a:lnTo>
                    <a:pt x="442" y="1140"/>
                  </a:lnTo>
                  <a:lnTo>
                    <a:pt x="396" y="1116"/>
                  </a:lnTo>
                  <a:lnTo>
                    <a:pt x="350" y="1063"/>
                  </a:lnTo>
                  <a:lnTo>
                    <a:pt x="304" y="1054"/>
                  </a:lnTo>
                  <a:lnTo>
                    <a:pt x="257" y="1032"/>
                  </a:lnTo>
                  <a:lnTo>
                    <a:pt x="150" y="1048"/>
                  </a:lnTo>
                  <a:lnTo>
                    <a:pt x="119" y="1017"/>
                  </a:lnTo>
                  <a:lnTo>
                    <a:pt x="13" y="979"/>
                  </a:lnTo>
                  <a:lnTo>
                    <a:pt x="15" y="977"/>
                  </a:lnTo>
                  <a:lnTo>
                    <a:pt x="0" y="946"/>
                  </a:lnTo>
                  <a:lnTo>
                    <a:pt x="35" y="935"/>
                  </a:lnTo>
                  <a:lnTo>
                    <a:pt x="27" y="902"/>
                  </a:lnTo>
                  <a:lnTo>
                    <a:pt x="57" y="856"/>
                  </a:lnTo>
                  <a:lnTo>
                    <a:pt x="104" y="850"/>
                  </a:lnTo>
                  <a:lnTo>
                    <a:pt x="126" y="801"/>
                  </a:lnTo>
                  <a:lnTo>
                    <a:pt x="154" y="762"/>
                  </a:lnTo>
                  <a:lnTo>
                    <a:pt x="126" y="740"/>
                  </a:lnTo>
                  <a:lnTo>
                    <a:pt x="141" y="696"/>
                  </a:lnTo>
                  <a:lnTo>
                    <a:pt x="130" y="563"/>
                  </a:lnTo>
                  <a:lnTo>
                    <a:pt x="139" y="528"/>
                  </a:lnTo>
                  <a:lnTo>
                    <a:pt x="99" y="476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5917468E-6DBB-1428-0F72-8FEF6DB85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757" y="1663226"/>
              <a:ext cx="930743" cy="781008"/>
            </a:xfrm>
            <a:custGeom>
              <a:avLst/>
              <a:gdLst/>
              <a:ahLst/>
              <a:cxnLst>
                <a:cxn ang="0">
                  <a:pos x="1091" y="304"/>
                </a:cxn>
                <a:cxn ang="0">
                  <a:pos x="1010" y="357"/>
                </a:cxn>
                <a:cxn ang="0">
                  <a:pos x="1034" y="398"/>
                </a:cxn>
                <a:cxn ang="0">
                  <a:pos x="977" y="480"/>
                </a:cxn>
                <a:cxn ang="0">
                  <a:pos x="1027" y="566"/>
                </a:cxn>
                <a:cxn ang="0">
                  <a:pos x="957" y="607"/>
                </a:cxn>
                <a:cxn ang="0">
                  <a:pos x="856" y="640"/>
                </a:cxn>
                <a:cxn ang="0">
                  <a:pos x="796" y="654"/>
                </a:cxn>
                <a:cxn ang="0">
                  <a:pos x="711" y="627"/>
                </a:cxn>
                <a:cxn ang="0">
                  <a:pos x="730" y="680"/>
                </a:cxn>
                <a:cxn ang="0">
                  <a:pos x="732" y="757"/>
                </a:cxn>
                <a:cxn ang="0">
                  <a:pos x="774" y="781"/>
                </a:cxn>
                <a:cxn ang="0">
                  <a:pos x="739" y="827"/>
                </a:cxn>
                <a:cxn ang="0">
                  <a:pos x="605" y="915"/>
                </a:cxn>
                <a:cxn ang="0">
                  <a:pos x="512" y="878"/>
                </a:cxn>
                <a:cxn ang="0">
                  <a:pos x="477" y="796"/>
                </a:cxn>
                <a:cxn ang="0">
                  <a:pos x="471" y="717"/>
                </a:cxn>
                <a:cxn ang="0">
                  <a:pos x="440" y="658"/>
                </a:cxn>
                <a:cxn ang="0">
                  <a:pos x="466" y="482"/>
                </a:cxn>
                <a:cxn ang="0">
                  <a:pos x="394" y="493"/>
                </a:cxn>
                <a:cxn ang="0">
                  <a:pos x="321" y="497"/>
                </a:cxn>
                <a:cxn ang="0">
                  <a:pos x="251" y="429"/>
                </a:cxn>
                <a:cxn ang="0">
                  <a:pos x="143" y="433"/>
                </a:cxn>
                <a:cxn ang="0">
                  <a:pos x="66" y="405"/>
                </a:cxn>
                <a:cxn ang="0">
                  <a:pos x="35" y="293"/>
                </a:cxn>
                <a:cxn ang="0">
                  <a:pos x="15" y="227"/>
                </a:cxn>
                <a:cxn ang="0">
                  <a:pos x="63" y="119"/>
                </a:cxn>
                <a:cxn ang="0">
                  <a:pos x="162" y="37"/>
                </a:cxn>
                <a:cxn ang="0">
                  <a:pos x="154" y="51"/>
                </a:cxn>
                <a:cxn ang="0">
                  <a:pos x="145" y="141"/>
                </a:cxn>
                <a:cxn ang="0">
                  <a:pos x="121" y="238"/>
                </a:cxn>
                <a:cxn ang="0">
                  <a:pos x="176" y="253"/>
                </a:cxn>
                <a:cxn ang="0">
                  <a:pos x="151" y="159"/>
                </a:cxn>
                <a:cxn ang="0">
                  <a:pos x="255" y="55"/>
                </a:cxn>
                <a:cxn ang="0">
                  <a:pos x="279" y="0"/>
                </a:cxn>
                <a:cxn ang="0">
                  <a:pos x="363" y="55"/>
                </a:cxn>
                <a:cxn ang="0">
                  <a:pos x="414" y="134"/>
                </a:cxn>
                <a:cxn ang="0">
                  <a:pos x="590" y="130"/>
                </a:cxn>
                <a:cxn ang="0">
                  <a:pos x="713" y="132"/>
                </a:cxn>
                <a:cxn ang="0">
                  <a:pos x="902" y="93"/>
                </a:cxn>
                <a:cxn ang="0">
                  <a:pos x="889" y="169"/>
                </a:cxn>
                <a:cxn ang="0">
                  <a:pos x="997" y="189"/>
                </a:cxn>
                <a:cxn ang="0">
                  <a:pos x="996" y="277"/>
                </a:cxn>
                <a:cxn ang="0">
                  <a:pos x="1095" y="288"/>
                </a:cxn>
              </a:cxnLst>
              <a:rect l="0" t="0" r="r" b="b"/>
              <a:pathLst>
                <a:path w="1095" h="917">
                  <a:moveTo>
                    <a:pt x="1095" y="288"/>
                  </a:moveTo>
                  <a:lnTo>
                    <a:pt x="1091" y="304"/>
                  </a:lnTo>
                  <a:lnTo>
                    <a:pt x="1023" y="335"/>
                  </a:lnTo>
                  <a:lnTo>
                    <a:pt x="1010" y="357"/>
                  </a:lnTo>
                  <a:lnTo>
                    <a:pt x="1014" y="381"/>
                  </a:lnTo>
                  <a:lnTo>
                    <a:pt x="1034" y="398"/>
                  </a:lnTo>
                  <a:lnTo>
                    <a:pt x="990" y="425"/>
                  </a:lnTo>
                  <a:lnTo>
                    <a:pt x="977" y="480"/>
                  </a:lnTo>
                  <a:lnTo>
                    <a:pt x="1027" y="544"/>
                  </a:lnTo>
                  <a:lnTo>
                    <a:pt x="1027" y="566"/>
                  </a:lnTo>
                  <a:lnTo>
                    <a:pt x="1005" y="590"/>
                  </a:lnTo>
                  <a:lnTo>
                    <a:pt x="957" y="607"/>
                  </a:lnTo>
                  <a:lnTo>
                    <a:pt x="939" y="623"/>
                  </a:lnTo>
                  <a:lnTo>
                    <a:pt x="856" y="640"/>
                  </a:lnTo>
                  <a:lnTo>
                    <a:pt x="825" y="654"/>
                  </a:lnTo>
                  <a:lnTo>
                    <a:pt x="796" y="654"/>
                  </a:lnTo>
                  <a:lnTo>
                    <a:pt x="735" y="631"/>
                  </a:lnTo>
                  <a:lnTo>
                    <a:pt x="711" y="627"/>
                  </a:lnTo>
                  <a:lnTo>
                    <a:pt x="686" y="640"/>
                  </a:lnTo>
                  <a:lnTo>
                    <a:pt x="730" y="680"/>
                  </a:lnTo>
                  <a:lnTo>
                    <a:pt x="724" y="706"/>
                  </a:lnTo>
                  <a:lnTo>
                    <a:pt x="732" y="757"/>
                  </a:lnTo>
                  <a:lnTo>
                    <a:pt x="746" y="777"/>
                  </a:lnTo>
                  <a:lnTo>
                    <a:pt x="774" y="781"/>
                  </a:lnTo>
                  <a:lnTo>
                    <a:pt x="790" y="799"/>
                  </a:lnTo>
                  <a:lnTo>
                    <a:pt x="739" y="827"/>
                  </a:lnTo>
                  <a:lnTo>
                    <a:pt x="724" y="856"/>
                  </a:lnTo>
                  <a:lnTo>
                    <a:pt x="605" y="915"/>
                  </a:lnTo>
                  <a:lnTo>
                    <a:pt x="548" y="917"/>
                  </a:lnTo>
                  <a:lnTo>
                    <a:pt x="512" y="878"/>
                  </a:lnTo>
                  <a:lnTo>
                    <a:pt x="510" y="878"/>
                  </a:lnTo>
                  <a:lnTo>
                    <a:pt x="477" y="796"/>
                  </a:lnTo>
                  <a:lnTo>
                    <a:pt x="436" y="753"/>
                  </a:lnTo>
                  <a:lnTo>
                    <a:pt x="471" y="717"/>
                  </a:lnTo>
                  <a:lnTo>
                    <a:pt x="471" y="693"/>
                  </a:lnTo>
                  <a:lnTo>
                    <a:pt x="440" y="658"/>
                  </a:lnTo>
                  <a:lnTo>
                    <a:pt x="429" y="610"/>
                  </a:lnTo>
                  <a:lnTo>
                    <a:pt x="466" y="482"/>
                  </a:lnTo>
                  <a:lnTo>
                    <a:pt x="442" y="475"/>
                  </a:lnTo>
                  <a:lnTo>
                    <a:pt x="394" y="493"/>
                  </a:lnTo>
                  <a:lnTo>
                    <a:pt x="343" y="486"/>
                  </a:lnTo>
                  <a:lnTo>
                    <a:pt x="321" y="497"/>
                  </a:lnTo>
                  <a:lnTo>
                    <a:pt x="299" y="489"/>
                  </a:lnTo>
                  <a:lnTo>
                    <a:pt x="251" y="429"/>
                  </a:lnTo>
                  <a:lnTo>
                    <a:pt x="200" y="418"/>
                  </a:lnTo>
                  <a:lnTo>
                    <a:pt x="143" y="433"/>
                  </a:lnTo>
                  <a:lnTo>
                    <a:pt x="112" y="431"/>
                  </a:lnTo>
                  <a:lnTo>
                    <a:pt x="66" y="405"/>
                  </a:lnTo>
                  <a:lnTo>
                    <a:pt x="66" y="354"/>
                  </a:lnTo>
                  <a:lnTo>
                    <a:pt x="35" y="293"/>
                  </a:lnTo>
                  <a:lnTo>
                    <a:pt x="0" y="249"/>
                  </a:lnTo>
                  <a:lnTo>
                    <a:pt x="15" y="227"/>
                  </a:lnTo>
                  <a:lnTo>
                    <a:pt x="37" y="154"/>
                  </a:lnTo>
                  <a:lnTo>
                    <a:pt x="63" y="119"/>
                  </a:lnTo>
                  <a:lnTo>
                    <a:pt x="123" y="48"/>
                  </a:lnTo>
                  <a:lnTo>
                    <a:pt x="162" y="37"/>
                  </a:lnTo>
                  <a:lnTo>
                    <a:pt x="162" y="38"/>
                  </a:lnTo>
                  <a:lnTo>
                    <a:pt x="154" y="51"/>
                  </a:lnTo>
                  <a:lnTo>
                    <a:pt x="116" y="70"/>
                  </a:lnTo>
                  <a:lnTo>
                    <a:pt x="145" y="141"/>
                  </a:lnTo>
                  <a:lnTo>
                    <a:pt x="101" y="213"/>
                  </a:lnTo>
                  <a:lnTo>
                    <a:pt x="121" y="238"/>
                  </a:lnTo>
                  <a:lnTo>
                    <a:pt x="127" y="271"/>
                  </a:lnTo>
                  <a:lnTo>
                    <a:pt x="176" y="253"/>
                  </a:lnTo>
                  <a:lnTo>
                    <a:pt x="176" y="205"/>
                  </a:lnTo>
                  <a:lnTo>
                    <a:pt x="151" y="159"/>
                  </a:lnTo>
                  <a:lnTo>
                    <a:pt x="152" y="112"/>
                  </a:lnTo>
                  <a:lnTo>
                    <a:pt x="255" y="55"/>
                  </a:lnTo>
                  <a:lnTo>
                    <a:pt x="244" y="22"/>
                  </a:lnTo>
                  <a:lnTo>
                    <a:pt x="279" y="0"/>
                  </a:lnTo>
                  <a:lnTo>
                    <a:pt x="290" y="53"/>
                  </a:lnTo>
                  <a:lnTo>
                    <a:pt x="363" y="55"/>
                  </a:lnTo>
                  <a:lnTo>
                    <a:pt x="396" y="73"/>
                  </a:lnTo>
                  <a:lnTo>
                    <a:pt x="414" y="134"/>
                  </a:lnTo>
                  <a:lnTo>
                    <a:pt x="579" y="112"/>
                  </a:lnTo>
                  <a:lnTo>
                    <a:pt x="590" y="130"/>
                  </a:lnTo>
                  <a:lnTo>
                    <a:pt x="673" y="148"/>
                  </a:lnTo>
                  <a:lnTo>
                    <a:pt x="713" y="132"/>
                  </a:lnTo>
                  <a:lnTo>
                    <a:pt x="754" y="97"/>
                  </a:lnTo>
                  <a:lnTo>
                    <a:pt x="902" y="93"/>
                  </a:lnTo>
                  <a:lnTo>
                    <a:pt x="834" y="108"/>
                  </a:lnTo>
                  <a:lnTo>
                    <a:pt x="889" y="169"/>
                  </a:lnTo>
                  <a:lnTo>
                    <a:pt x="915" y="161"/>
                  </a:lnTo>
                  <a:lnTo>
                    <a:pt x="997" y="189"/>
                  </a:lnTo>
                  <a:lnTo>
                    <a:pt x="1008" y="229"/>
                  </a:lnTo>
                  <a:lnTo>
                    <a:pt x="996" y="277"/>
                  </a:lnTo>
                  <a:lnTo>
                    <a:pt x="1058" y="264"/>
                  </a:lnTo>
                  <a:lnTo>
                    <a:pt x="1095" y="288"/>
                  </a:lnTo>
                  <a:lnTo>
                    <a:pt x="1095" y="288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5371AC8F-AE70-0EAB-ACA1-4E0E6A02D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810" y="1908248"/>
              <a:ext cx="335204" cy="491746"/>
            </a:xfrm>
            <a:custGeom>
              <a:avLst/>
              <a:gdLst/>
              <a:ahLst/>
              <a:cxnLst>
                <a:cxn ang="0">
                  <a:pos x="50" y="256"/>
                </a:cxn>
                <a:cxn ang="0">
                  <a:pos x="0" y="192"/>
                </a:cxn>
                <a:cxn ang="0">
                  <a:pos x="13" y="137"/>
                </a:cxn>
                <a:cxn ang="0">
                  <a:pos x="57" y="110"/>
                </a:cxn>
                <a:cxn ang="0">
                  <a:pos x="37" y="93"/>
                </a:cxn>
                <a:cxn ang="0">
                  <a:pos x="33" y="69"/>
                </a:cxn>
                <a:cxn ang="0">
                  <a:pos x="46" y="47"/>
                </a:cxn>
                <a:cxn ang="0">
                  <a:pos x="114" y="16"/>
                </a:cxn>
                <a:cxn ang="0">
                  <a:pos x="118" y="0"/>
                </a:cxn>
                <a:cxn ang="0">
                  <a:pos x="118" y="0"/>
                </a:cxn>
                <a:cxn ang="0">
                  <a:pos x="209" y="58"/>
                </a:cxn>
                <a:cxn ang="0">
                  <a:pos x="222" y="93"/>
                </a:cxn>
                <a:cxn ang="0">
                  <a:pos x="217" y="126"/>
                </a:cxn>
                <a:cxn ang="0">
                  <a:pos x="250" y="121"/>
                </a:cxn>
                <a:cxn ang="0">
                  <a:pos x="319" y="168"/>
                </a:cxn>
                <a:cxn ang="0">
                  <a:pos x="343" y="209"/>
                </a:cxn>
                <a:cxn ang="0">
                  <a:pos x="345" y="209"/>
                </a:cxn>
                <a:cxn ang="0">
                  <a:pos x="314" y="271"/>
                </a:cxn>
                <a:cxn ang="0">
                  <a:pos x="271" y="288"/>
                </a:cxn>
                <a:cxn ang="0">
                  <a:pos x="259" y="335"/>
                </a:cxn>
                <a:cxn ang="0">
                  <a:pos x="266" y="359"/>
                </a:cxn>
                <a:cxn ang="0">
                  <a:pos x="301" y="407"/>
                </a:cxn>
                <a:cxn ang="0">
                  <a:pos x="326" y="418"/>
                </a:cxn>
                <a:cxn ang="0">
                  <a:pos x="361" y="489"/>
                </a:cxn>
                <a:cxn ang="0">
                  <a:pos x="394" y="524"/>
                </a:cxn>
                <a:cxn ang="0">
                  <a:pos x="365" y="528"/>
                </a:cxn>
                <a:cxn ang="0">
                  <a:pos x="341" y="519"/>
                </a:cxn>
                <a:cxn ang="0">
                  <a:pos x="204" y="577"/>
                </a:cxn>
                <a:cxn ang="0">
                  <a:pos x="158" y="559"/>
                </a:cxn>
                <a:cxn ang="0">
                  <a:pos x="140" y="541"/>
                </a:cxn>
                <a:cxn ang="0">
                  <a:pos x="112" y="464"/>
                </a:cxn>
                <a:cxn ang="0">
                  <a:pos x="125" y="383"/>
                </a:cxn>
                <a:cxn ang="0">
                  <a:pos x="140" y="363"/>
                </a:cxn>
                <a:cxn ang="0">
                  <a:pos x="132" y="339"/>
                </a:cxn>
                <a:cxn ang="0">
                  <a:pos x="119" y="313"/>
                </a:cxn>
                <a:cxn ang="0">
                  <a:pos x="99" y="299"/>
                </a:cxn>
                <a:cxn ang="0">
                  <a:pos x="105" y="266"/>
                </a:cxn>
                <a:cxn ang="0">
                  <a:pos x="81" y="255"/>
                </a:cxn>
                <a:cxn ang="0">
                  <a:pos x="50" y="256"/>
                </a:cxn>
              </a:cxnLst>
              <a:rect l="0" t="0" r="r" b="b"/>
              <a:pathLst>
                <a:path w="394" h="577">
                  <a:moveTo>
                    <a:pt x="50" y="256"/>
                  </a:moveTo>
                  <a:lnTo>
                    <a:pt x="0" y="192"/>
                  </a:lnTo>
                  <a:lnTo>
                    <a:pt x="13" y="137"/>
                  </a:lnTo>
                  <a:lnTo>
                    <a:pt x="57" y="110"/>
                  </a:lnTo>
                  <a:lnTo>
                    <a:pt x="37" y="93"/>
                  </a:lnTo>
                  <a:lnTo>
                    <a:pt x="33" y="69"/>
                  </a:lnTo>
                  <a:lnTo>
                    <a:pt x="46" y="47"/>
                  </a:lnTo>
                  <a:lnTo>
                    <a:pt x="114" y="16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209" y="58"/>
                  </a:lnTo>
                  <a:lnTo>
                    <a:pt x="222" y="93"/>
                  </a:lnTo>
                  <a:lnTo>
                    <a:pt x="217" y="126"/>
                  </a:lnTo>
                  <a:lnTo>
                    <a:pt x="250" y="121"/>
                  </a:lnTo>
                  <a:lnTo>
                    <a:pt x="319" y="168"/>
                  </a:lnTo>
                  <a:lnTo>
                    <a:pt x="343" y="209"/>
                  </a:lnTo>
                  <a:lnTo>
                    <a:pt x="345" y="209"/>
                  </a:lnTo>
                  <a:lnTo>
                    <a:pt x="314" y="271"/>
                  </a:lnTo>
                  <a:lnTo>
                    <a:pt x="271" y="288"/>
                  </a:lnTo>
                  <a:lnTo>
                    <a:pt x="259" y="335"/>
                  </a:lnTo>
                  <a:lnTo>
                    <a:pt x="266" y="359"/>
                  </a:lnTo>
                  <a:lnTo>
                    <a:pt x="301" y="407"/>
                  </a:lnTo>
                  <a:lnTo>
                    <a:pt x="326" y="418"/>
                  </a:lnTo>
                  <a:lnTo>
                    <a:pt x="361" y="489"/>
                  </a:lnTo>
                  <a:lnTo>
                    <a:pt x="394" y="524"/>
                  </a:lnTo>
                  <a:lnTo>
                    <a:pt x="365" y="528"/>
                  </a:lnTo>
                  <a:lnTo>
                    <a:pt x="341" y="519"/>
                  </a:lnTo>
                  <a:lnTo>
                    <a:pt x="204" y="577"/>
                  </a:lnTo>
                  <a:lnTo>
                    <a:pt x="158" y="559"/>
                  </a:lnTo>
                  <a:lnTo>
                    <a:pt x="140" y="541"/>
                  </a:lnTo>
                  <a:lnTo>
                    <a:pt x="112" y="464"/>
                  </a:lnTo>
                  <a:lnTo>
                    <a:pt x="125" y="383"/>
                  </a:lnTo>
                  <a:lnTo>
                    <a:pt x="140" y="363"/>
                  </a:lnTo>
                  <a:lnTo>
                    <a:pt x="132" y="339"/>
                  </a:lnTo>
                  <a:lnTo>
                    <a:pt x="119" y="313"/>
                  </a:lnTo>
                  <a:lnTo>
                    <a:pt x="99" y="299"/>
                  </a:lnTo>
                  <a:lnTo>
                    <a:pt x="105" y="266"/>
                  </a:lnTo>
                  <a:lnTo>
                    <a:pt x="81" y="255"/>
                  </a:lnTo>
                  <a:lnTo>
                    <a:pt x="50" y="256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7650468D-DDE5-BE6C-2173-7B46FDED8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309" y="2083506"/>
              <a:ext cx="287561" cy="279053"/>
            </a:xfrm>
            <a:custGeom>
              <a:avLst/>
              <a:gdLst/>
              <a:ahLst/>
              <a:cxnLst>
                <a:cxn ang="0">
                  <a:pos x="304" y="297"/>
                </a:cxn>
                <a:cxn ang="0">
                  <a:pos x="322" y="279"/>
                </a:cxn>
                <a:cxn ang="0">
                  <a:pos x="339" y="191"/>
                </a:cxn>
                <a:cxn ang="0">
                  <a:pos x="311" y="141"/>
                </a:cxn>
                <a:cxn ang="0">
                  <a:pos x="308" y="83"/>
                </a:cxn>
                <a:cxn ang="0">
                  <a:pos x="313" y="59"/>
                </a:cxn>
                <a:cxn ang="0">
                  <a:pos x="335" y="35"/>
                </a:cxn>
                <a:cxn ang="0">
                  <a:pos x="335" y="33"/>
                </a:cxn>
                <a:cxn ang="0">
                  <a:pos x="251" y="0"/>
                </a:cxn>
                <a:cxn ang="0">
                  <a:pos x="128" y="0"/>
                </a:cxn>
                <a:cxn ang="0">
                  <a:pos x="84" y="4"/>
                </a:cxn>
                <a:cxn ang="0">
                  <a:pos x="86" y="4"/>
                </a:cxn>
                <a:cxn ang="0">
                  <a:pos x="55" y="66"/>
                </a:cxn>
                <a:cxn ang="0">
                  <a:pos x="12" y="83"/>
                </a:cxn>
                <a:cxn ang="0">
                  <a:pos x="0" y="130"/>
                </a:cxn>
                <a:cxn ang="0">
                  <a:pos x="7" y="154"/>
                </a:cxn>
                <a:cxn ang="0">
                  <a:pos x="42" y="202"/>
                </a:cxn>
                <a:cxn ang="0">
                  <a:pos x="67" y="213"/>
                </a:cxn>
                <a:cxn ang="0">
                  <a:pos x="102" y="284"/>
                </a:cxn>
                <a:cxn ang="0">
                  <a:pos x="135" y="319"/>
                </a:cxn>
                <a:cxn ang="0">
                  <a:pos x="170" y="328"/>
                </a:cxn>
                <a:cxn ang="0">
                  <a:pos x="192" y="282"/>
                </a:cxn>
                <a:cxn ang="0">
                  <a:pos x="218" y="288"/>
                </a:cxn>
                <a:cxn ang="0">
                  <a:pos x="247" y="281"/>
                </a:cxn>
                <a:cxn ang="0">
                  <a:pos x="304" y="297"/>
                </a:cxn>
              </a:cxnLst>
              <a:rect l="0" t="0" r="r" b="b"/>
              <a:pathLst>
                <a:path w="339" h="328">
                  <a:moveTo>
                    <a:pt x="304" y="297"/>
                  </a:moveTo>
                  <a:lnTo>
                    <a:pt x="322" y="279"/>
                  </a:lnTo>
                  <a:lnTo>
                    <a:pt x="339" y="191"/>
                  </a:lnTo>
                  <a:lnTo>
                    <a:pt x="311" y="141"/>
                  </a:lnTo>
                  <a:lnTo>
                    <a:pt x="308" y="83"/>
                  </a:lnTo>
                  <a:lnTo>
                    <a:pt x="313" y="59"/>
                  </a:lnTo>
                  <a:lnTo>
                    <a:pt x="335" y="35"/>
                  </a:lnTo>
                  <a:lnTo>
                    <a:pt x="335" y="33"/>
                  </a:lnTo>
                  <a:lnTo>
                    <a:pt x="251" y="0"/>
                  </a:lnTo>
                  <a:lnTo>
                    <a:pt x="128" y="0"/>
                  </a:lnTo>
                  <a:lnTo>
                    <a:pt x="84" y="4"/>
                  </a:lnTo>
                  <a:lnTo>
                    <a:pt x="86" y="4"/>
                  </a:lnTo>
                  <a:lnTo>
                    <a:pt x="55" y="66"/>
                  </a:lnTo>
                  <a:lnTo>
                    <a:pt x="12" y="83"/>
                  </a:lnTo>
                  <a:lnTo>
                    <a:pt x="0" y="130"/>
                  </a:lnTo>
                  <a:lnTo>
                    <a:pt x="7" y="154"/>
                  </a:lnTo>
                  <a:lnTo>
                    <a:pt x="42" y="202"/>
                  </a:lnTo>
                  <a:lnTo>
                    <a:pt x="67" y="213"/>
                  </a:lnTo>
                  <a:lnTo>
                    <a:pt x="102" y="284"/>
                  </a:lnTo>
                  <a:lnTo>
                    <a:pt x="135" y="319"/>
                  </a:lnTo>
                  <a:lnTo>
                    <a:pt x="170" y="328"/>
                  </a:lnTo>
                  <a:lnTo>
                    <a:pt x="192" y="282"/>
                  </a:lnTo>
                  <a:lnTo>
                    <a:pt x="218" y="288"/>
                  </a:lnTo>
                  <a:lnTo>
                    <a:pt x="247" y="281"/>
                  </a:lnTo>
                  <a:lnTo>
                    <a:pt x="304" y="297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E926A364-DEBB-4731-3C26-C1220E8F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43" y="2112433"/>
              <a:ext cx="195678" cy="246724"/>
            </a:xfrm>
            <a:custGeom>
              <a:avLst/>
              <a:gdLst/>
              <a:ahLst/>
              <a:cxnLst>
                <a:cxn ang="0">
                  <a:pos x="0" y="264"/>
                </a:cxn>
                <a:cxn ang="0">
                  <a:pos x="18" y="284"/>
                </a:cxn>
                <a:cxn ang="0">
                  <a:pos x="42" y="292"/>
                </a:cxn>
                <a:cxn ang="0">
                  <a:pos x="66" y="282"/>
                </a:cxn>
                <a:cxn ang="0">
                  <a:pos x="90" y="288"/>
                </a:cxn>
                <a:cxn ang="0">
                  <a:pos x="117" y="281"/>
                </a:cxn>
                <a:cxn ang="0">
                  <a:pos x="156" y="249"/>
                </a:cxn>
                <a:cxn ang="0">
                  <a:pos x="167" y="220"/>
                </a:cxn>
                <a:cxn ang="0">
                  <a:pos x="229" y="136"/>
                </a:cxn>
                <a:cxn ang="0">
                  <a:pos x="231" y="136"/>
                </a:cxn>
                <a:cxn ang="0">
                  <a:pos x="132" y="35"/>
                </a:cxn>
                <a:cxn ang="0">
                  <a:pos x="31" y="0"/>
                </a:cxn>
                <a:cxn ang="0">
                  <a:pos x="31" y="2"/>
                </a:cxn>
                <a:cxn ang="0">
                  <a:pos x="9" y="26"/>
                </a:cxn>
                <a:cxn ang="0">
                  <a:pos x="4" y="50"/>
                </a:cxn>
                <a:cxn ang="0">
                  <a:pos x="7" y="108"/>
                </a:cxn>
                <a:cxn ang="0">
                  <a:pos x="35" y="158"/>
                </a:cxn>
                <a:cxn ang="0">
                  <a:pos x="18" y="246"/>
                </a:cxn>
                <a:cxn ang="0">
                  <a:pos x="0" y="264"/>
                </a:cxn>
              </a:cxnLst>
              <a:rect l="0" t="0" r="r" b="b"/>
              <a:pathLst>
                <a:path w="231" h="292">
                  <a:moveTo>
                    <a:pt x="0" y="264"/>
                  </a:moveTo>
                  <a:lnTo>
                    <a:pt x="18" y="284"/>
                  </a:lnTo>
                  <a:lnTo>
                    <a:pt x="42" y="292"/>
                  </a:lnTo>
                  <a:lnTo>
                    <a:pt x="66" y="282"/>
                  </a:lnTo>
                  <a:lnTo>
                    <a:pt x="90" y="288"/>
                  </a:lnTo>
                  <a:lnTo>
                    <a:pt x="117" y="281"/>
                  </a:lnTo>
                  <a:lnTo>
                    <a:pt x="156" y="249"/>
                  </a:lnTo>
                  <a:lnTo>
                    <a:pt x="167" y="220"/>
                  </a:lnTo>
                  <a:lnTo>
                    <a:pt x="229" y="136"/>
                  </a:lnTo>
                  <a:lnTo>
                    <a:pt x="231" y="136"/>
                  </a:lnTo>
                  <a:lnTo>
                    <a:pt x="132" y="35"/>
                  </a:lnTo>
                  <a:lnTo>
                    <a:pt x="31" y="0"/>
                  </a:lnTo>
                  <a:lnTo>
                    <a:pt x="31" y="2"/>
                  </a:lnTo>
                  <a:lnTo>
                    <a:pt x="9" y="26"/>
                  </a:lnTo>
                  <a:lnTo>
                    <a:pt x="4" y="50"/>
                  </a:lnTo>
                  <a:lnTo>
                    <a:pt x="7" y="108"/>
                  </a:lnTo>
                  <a:lnTo>
                    <a:pt x="35" y="158"/>
                  </a:lnTo>
                  <a:lnTo>
                    <a:pt x="18" y="246"/>
                  </a:lnTo>
                  <a:lnTo>
                    <a:pt x="0" y="264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1F7F8FD1-D4F6-A8DC-7169-7B8F1FA70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621" y="2126045"/>
              <a:ext cx="2710555" cy="2732675"/>
            </a:xfrm>
            <a:custGeom>
              <a:avLst/>
              <a:gdLst/>
              <a:ahLst/>
              <a:cxnLst>
                <a:cxn ang="0">
                  <a:pos x="1648" y="3110"/>
                </a:cxn>
                <a:cxn ang="0">
                  <a:pos x="1936" y="2799"/>
                </a:cxn>
                <a:cxn ang="0">
                  <a:pos x="2196" y="2421"/>
                </a:cxn>
                <a:cxn ang="0">
                  <a:pos x="2282" y="2373"/>
                </a:cxn>
                <a:cxn ang="0">
                  <a:pos x="2490" y="2355"/>
                </a:cxn>
                <a:cxn ang="0">
                  <a:pos x="2634" y="2207"/>
                </a:cxn>
                <a:cxn ang="0">
                  <a:pos x="2754" y="1988"/>
                </a:cxn>
                <a:cxn ang="0">
                  <a:pos x="2810" y="1638"/>
                </a:cxn>
                <a:cxn ang="0">
                  <a:pos x="3069" y="1400"/>
                </a:cxn>
                <a:cxn ang="0">
                  <a:pos x="3183" y="1173"/>
                </a:cxn>
                <a:cxn ang="0">
                  <a:pos x="3012" y="989"/>
                </a:cxn>
                <a:cxn ang="0">
                  <a:pos x="2770" y="771"/>
                </a:cxn>
                <a:cxn ang="0">
                  <a:pos x="2523" y="713"/>
                </a:cxn>
                <a:cxn ang="0">
                  <a:pos x="2372" y="615"/>
                </a:cxn>
                <a:cxn ang="0">
                  <a:pos x="2174" y="528"/>
                </a:cxn>
                <a:cxn ang="0">
                  <a:pos x="2050" y="579"/>
                </a:cxn>
                <a:cxn ang="0">
                  <a:pos x="1947" y="469"/>
                </a:cxn>
                <a:cxn ang="0">
                  <a:pos x="1877" y="533"/>
                </a:cxn>
                <a:cxn ang="0">
                  <a:pos x="1954" y="313"/>
                </a:cxn>
                <a:cxn ang="0">
                  <a:pos x="1855" y="148"/>
                </a:cxn>
                <a:cxn ang="0">
                  <a:pos x="1742" y="232"/>
                </a:cxn>
                <a:cxn ang="0">
                  <a:pos x="1628" y="275"/>
                </a:cxn>
                <a:cxn ang="0">
                  <a:pos x="1500" y="238"/>
                </a:cxn>
                <a:cxn ang="0">
                  <a:pos x="1388" y="273"/>
                </a:cxn>
                <a:cxn ang="0">
                  <a:pos x="1163" y="286"/>
                </a:cxn>
                <a:cxn ang="0">
                  <a:pos x="1155" y="84"/>
                </a:cxn>
                <a:cxn ang="0">
                  <a:pos x="1104" y="0"/>
                </a:cxn>
                <a:cxn ang="0">
                  <a:pos x="1003" y="64"/>
                </a:cxn>
                <a:cxn ang="0">
                  <a:pos x="842" y="111"/>
                </a:cxn>
                <a:cxn ang="0">
                  <a:pos x="776" y="137"/>
                </a:cxn>
                <a:cxn ang="0">
                  <a:pos x="820" y="238"/>
                </a:cxn>
                <a:cxn ang="0">
                  <a:pos x="651" y="372"/>
                </a:cxn>
                <a:cxn ang="0">
                  <a:pos x="528" y="300"/>
                </a:cxn>
                <a:cxn ang="0">
                  <a:pos x="323" y="315"/>
                </a:cxn>
                <a:cxn ang="0">
                  <a:pos x="369" y="401"/>
                </a:cxn>
                <a:cxn ang="0">
                  <a:pos x="299" y="476"/>
                </a:cxn>
                <a:cxn ang="0">
                  <a:pos x="165" y="843"/>
                </a:cxn>
                <a:cxn ang="0">
                  <a:pos x="24" y="1022"/>
                </a:cxn>
                <a:cxn ang="0">
                  <a:pos x="72" y="1209"/>
                </a:cxn>
                <a:cxn ang="0">
                  <a:pos x="158" y="1283"/>
                </a:cxn>
                <a:cxn ang="0">
                  <a:pos x="274" y="1352"/>
                </a:cxn>
                <a:cxn ang="0">
                  <a:pos x="453" y="1345"/>
                </a:cxn>
                <a:cxn ang="0">
                  <a:pos x="680" y="1231"/>
                </a:cxn>
                <a:cxn ang="0">
                  <a:pos x="701" y="1404"/>
                </a:cxn>
                <a:cxn ang="0">
                  <a:pos x="893" y="1492"/>
                </a:cxn>
                <a:cxn ang="0">
                  <a:pos x="1049" y="1543"/>
                </a:cxn>
                <a:cxn ang="0">
                  <a:pos x="1084" y="1682"/>
                </a:cxn>
                <a:cxn ang="0">
                  <a:pos x="1245" y="1825"/>
                </a:cxn>
                <a:cxn ang="0">
                  <a:pos x="1282" y="2043"/>
                </a:cxn>
                <a:cxn ang="0">
                  <a:pos x="1278" y="2227"/>
                </a:cxn>
                <a:cxn ang="0">
                  <a:pos x="1425" y="2262"/>
                </a:cxn>
                <a:cxn ang="0">
                  <a:pos x="1547" y="2428"/>
                </a:cxn>
                <a:cxn ang="0">
                  <a:pos x="1588" y="2592"/>
                </a:cxn>
                <a:cxn ang="0">
                  <a:pos x="1423" y="2771"/>
                </a:cxn>
                <a:cxn ang="0">
                  <a:pos x="1335" y="2901"/>
                </a:cxn>
                <a:cxn ang="0">
                  <a:pos x="1461" y="3002"/>
                </a:cxn>
                <a:cxn ang="0">
                  <a:pos x="1562" y="3094"/>
                </a:cxn>
                <a:cxn ang="0">
                  <a:pos x="1573" y="3211"/>
                </a:cxn>
              </a:cxnLst>
              <a:rect l="0" t="0" r="r" b="b"/>
              <a:pathLst>
                <a:path w="3186" h="3211">
                  <a:moveTo>
                    <a:pt x="1573" y="3211"/>
                  </a:moveTo>
                  <a:lnTo>
                    <a:pt x="1604" y="3191"/>
                  </a:lnTo>
                  <a:lnTo>
                    <a:pt x="1635" y="3151"/>
                  </a:lnTo>
                  <a:lnTo>
                    <a:pt x="1648" y="3110"/>
                  </a:lnTo>
                  <a:lnTo>
                    <a:pt x="1755" y="3033"/>
                  </a:lnTo>
                  <a:lnTo>
                    <a:pt x="1850" y="2874"/>
                  </a:lnTo>
                  <a:lnTo>
                    <a:pt x="1885" y="2837"/>
                  </a:lnTo>
                  <a:lnTo>
                    <a:pt x="1936" y="2799"/>
                  </a:lnTo>
                  <a:lnTo>
                    <a:pt x="1962" y="2718"/>
                  </a:lnTo>
                  <a:lnTo>
                    <a:pt x="1967" y="2581"/>
                  </a:lnTo>
                  <a:lnTo>
                    <a:pt x="2110" y="2454"/>
                  </a:lnTo>
                  <a:lnTo>
                    <a:pt x="2196" y="2421"/>
                  </a:lnTo>
                  <a:lnTo>
                    <a:pt x="2220" y="2438"/>
                  </a:lnTo>
                  <a:lnTo>
                    <a:pt x="2255" y="2399"/>
                  </a:lnTo>
                  <a:lnTo>
                    <a:pt x="2292" y="2403"/>
                  </a:lnTo>
                  <a:lnTo>
                    <a:pt x="2282" y="2373"/>
                  </a:lnTo>
                  <a:lnTo>
                    <a:pt x="2334" y="2373"/>
                  </a:lnTo>
                  <a:lnTo>
                    <a:pt x="2370" y="2383"/>
                  </a:lnTo>
                  <a:lnTo>
                    <a:pt x="2484" y="2390"/>
                  </a:lnTo>
                  <a:lnTo>
                    <a:pt x="2490" y="2355"/>
                  </a:lnTo>
                  <a:lnTo>
                    <a:pt x="2568" y="2324"/>
                  </a:lnTo>
                  <a:lnTo>
                    <a:pt x="2576" y="2282"/>
                  </a:lnTo>
                  <a:lnTo>
                    <a:pt x="2592" y="2243"/>
                  </a:lnTo>
                  <a:lnTo>
                    <a:pt x="2634" y="2207"/>
                  </a:lnTo>
                  <a:lnTo>
                    <a:pt x="2653" y="2168"/>
                  </a:lnTo>
                  <a:lnTo>
                    <a:pt x="2697" y="2131"/>
                  </a:lnTo>
                  <a:lnTo>
                    <a:pt x="2724" y="2012"/>
                  </a:lnTo>
                  <a:lnTo>
                    <a:pt x="2754" y="1988"/>
                  </a:lnTo>
                  <a:lnTo>
                    <a:pt x="2770" y="1900"/>
                  </a:lnTo>
                  <a:lnTo>
                    <a:pt x="2788" y="1855"/>
                  </a:lnTo>
                  <a:lnTo>
                    <a:pt x="2788" y="1732"/>
                  </a:lnTo>
                  <a:lnTo>
                    <a:pt x="2810" y="1638"/>
                  </a:lnTo>
                  <a:lnTo>
                    <a:pt x="2889" y="1587"/>
                  </a:lnTo>
                  <a:lnTo>
                    <a:pt x="2981" y="1470"/>
                  </a:lnTo>
                  <a:lnTo>
                    <a:pt x="3045" y="1431"/>
                  </a:lnTo>
                  <a:lnTo>
                    <a:pt x="3069" y="1400"/>
                  </a:lnTo>
                  <a:lnTo>
                    <a:pt x="3106" y="1373"/>
                  </a:lnTo>
                  <a:lnTo>
                    <a:pt x="3175" y="1268"/>
                  </a:lnTo>
                  <a:lnTo>
                    <a:pt x="3186" y="1215"/>
                  </a:lnTo>
                  <a:lnTo>
                    <a:pt x="3183" y="1173"/>
                  </a:lnTo>
                  <a:lnTo>
                    <a:pt x="3142" y="1022"/>
                  </a:lnTo>
                  <a:lnTo>
                    <a:pt x="3095" y="1002"/>
                  </a:lnTo>
                  <a:lnTo>
                    <a:pt x="3052" y="1002"/>
                  </a:lnTo>
                  <a:lnTo>
                    <a:pt x="3012" y="989"/>
                  </a:lnTo>
                  <a:lnTo>
                    <a:pt x="2986" y="958"/>
                  </a:lnTo>
                  <a:lnTo>
                    <a:pt x="2946" y="933"/>
                  </a:lnTo>
                  <a:lnTo>
                    <a:pt x="2893" y="868"/>
                  </a:lnTo>
                  <a:lnTo>
                    <a:pt x="2770" y="771"/>
                  </a:lnTo>
                  <a:lnTo>
                    <a:pt x="2645" y="768"/>
                  </a:lnTo>
                  <a:lnTo>
                    <a:pt x="2605" y="742"/>
                  </a:lnTo>
                  <a:lnTo>
                    <a:pt x="2563" y="738"/>
                  </a:lnTo>
                  <a:lnTo>
                    <a:pt x="2523" y="713"/>
                  </a:lnTo>
                  <a:lnTo>
                    <a:pt x="2482" y="702"/>
                  </a:lnTo>
                  <a:lnTo>
                    <a:pt x="2392" y="725"/>
                  </a:lnTo>
                  <a:lnTo>
                    <a:pt x="2407" y="685"/>
                  </a:lnTo>
                  <a:lnTo>
                    <a:pt x="2372" y="615"/>
                  </a:lnTo>
                  <a:lnTo>
                    <a:pt x="2332" y="625"/>
                  </a:lnTo>
                  <a:lnTo>
                    <a:pt x="2317" y="595"/>
                  </a:lnTo>
                  <a:lnTo>
                    <a:pt x="2222" y="559"/>
                  </a:lnTo>
                  <a:lnTo>
                    <a:pt x="2174" y="528"/>
                  </a:lnTo>
                  <a:lnTo>
                    <a:pt x="2127" y="524"/>
                  </a:lnTo>
                  <a:lnTo>
                    <a:pt x="2097" y="535"/>
                  </a:lnTo>
                  <a:lnTo>
                    <a:pt x="2070" y="593"/>
                  </a:lnTo>
                  <a:lnTo>
                    <a:pt x="2050" y="579"/>
                  </a:lnTo>
                  <a:lnTo>
                    <a:pt x="2079" y="491"/>
                  </a:lnTo>
                  <a:lnTo>
                    <a:pt x="2030" y="474"/>
                  </a:lnTo>
                  <a:lnTo>
                    <a:pt x="1989" y="478"/>
                  </a:lnTo>
                  <a:lnTo>
                    <a:pt x="1947" y="469"/>
                  </a:lnTo>
                  <a:lnTo>
                    <a:pt x="1912" y="487"/>
                  </a:lnTo>
                  <a:lnTo>
                    <a:pt x="1912" y="535"/>
                  </a:lnTo>
                  <a:lnTo>
                    <a:pt x="1899" y="588"/>
                  </a:lnTo>
                  <a:lnTo>
                    <a:pt x="1877" y="533"/>
                  </a:lnTo>
                  <a:lnTo>
                    <a:pt x="1830" y="550"/>
                  </a:lnTo>
                  <a:lnTo>
                    <a:pt x="1850" y="462"/>
                  </a:lnTo>
                  <a:lnTo>
                    <a:pt x="1947" y="372"/>
                  </a:lnTo>
                  <a:lnTo>
                    <a:pt x="1954" y="313"/>
                  </a:lnTo>
                  <a:lnTo>
                    <a:pt x="1907" y="300"/>
                  </a:lnTo>
                  <a:lnTo>
                    <a:pt x="1892" y="245"/>
                  </a:lnTo>
                  <a:lnTo>
                    <a:pt x="1865" y="188"/>
                  </a:lnTo>
                  <a:lnTo>
                    <a:pt x="1855" y="148"/>
                  </a:lnTo>
                  <a:lnTo>
                    <a:pt x="1817" y="119"/>
                  </a:lnTo>
                  <a:lnTo>
                    <a:pt x="1815" y="119"/>
                  </a:lnTo>
                  <a:lnTo>
                    <a:pt x="1753" y="203"/>
                  </a:lnTo>
                  <a:lnTo>
                    <a:pt x="1742" y="232"/>
                  </a:lnTo>
                  <a:lnTo>
                    <a:pt x="1703" y="264"/>
                  </a:lnTo>
                  <a:lnTo>
                    <a:pt x="1676" y="271"/>
                  </a:lnTo>
                  <a:lnTo>
                    <a:pt x="1652" y="265"/>
                  </a:lnTo>
                  <a:lnTo>
                    <a:pt x="1628" y="275"/>
                  </a:lnTo>
                  <a:lnTo>
                    <a:pt x="1604" y="267"/>
                  </a:lnTo>
                  <a:lnTo>
                    <a:pt x="1586" y="247"/>
                  </a:lnTo>
                  <a:lnTo>
                    <a:pt x="1529" y="231"/>
                  </a:lnTo>
                  <a:lnTo>
                    <a:pt x="1500" y="238"/>
                  </a:lnTo>
                  <a:lnTo>
                    <a:pt x="1474" y="232"/>
                  </a:lnTo>
                  <a:lnTo>
                    <a:pt x="1452" y="278"/>
                  </a:lnTo>
                  <a:lnTo>
                    <a:pt x="1417" y="269"/>
                  </a:lnTo>
                  <a:lnTo>
                    <a:pt x="1388" y="273"/>
                  </a:lnTo>
                  <a:lnTo>
                    <a:pt x="1364" y="264"/>
                  </a:lnTo>
                  <a:lnTo>
                    <a:pt x="1227" y="322"/>
                  </a:lnTo>
                  <a:lnTo>
                    <a:pt x="1181" y="304"/>
                  </a:lnTo>
                  <a:lnTo>
                    <a:pt x="1163" y="286"/>
                  </a:lnTo>
                  <a:lnTo>
                    <a:pt x="1135" y="209"/>
                  </a:lnTo>
                  <a:lnTo>
                    <a:pt x="1148" y="128"/>
                  </a:lnTo>
                  <a:lnTo>
                    <a:pt x="1163" y="108"/>
                  </a:lnTo>
                  <a:lnTo>
                    <a:pt x="1155" y="84"/>
                  </a:lnTo>
                  <a:lnTo>
                    <a:pt x="1142" y="58"/>
                  </a:lnTo>
                  <a:lnTo>
                    <a:pt x="1122" y="44"/>
                  </a:lnTo>
                  <a:lnTo>
                    <a:pt x="1128" y="11"/>
                  </a:lnTo>
                  <a:lnTo>
                    <a:pt x="1104" y="0"/>
                  </a:lnTo>
                  <a:lnTo>
                    <a:pt x="1073" y="1"/>
                  </a:lnTo>
                  <a:lnTo>
                    <a:pt x="1073" y="23"/>
                  </a:lnTo>
                  <a:lnTo>
                    <a:pt x="1051" y="47"/>
                  </a:lnTo>
                  <a:lnTo>
                    <a:pt x="1003" y="64"/>
                  </a:lnTo>
                  <a:lnTo>
                    <a:pt x="985" y="80"/>
                  </a:lnTo>
                  <a:lnTo>
                    <a:pt x="902" y="97"/>
                  </a:lnTo>
                  <a:lnTo>
                    <a:pt x="871" y="111"/>
                  </a:lnTo>
                  <a:lnTo>
                    <a:pt x="842" y="111"/>
                  </a:lnTo>
                  <a:lnTo>
                    <a:pt x="781" y="88"/>
                  </a:lnTo>
                  <a:lnTo>
                    <a:pt x="757" y="84"/>
                  </a:lnTo>
                  <a:lnTo>
                    <a:pt x="732" y="97"/>
                  </a:lnTo>
                  <a:lnTo>
                    <a:pt x="776" y="137"/>
                  </a:lnTo>
                  <a:lnTo>
                    <a:pt x="770" y="163"/>
                  </a:lnTo>
                  <a:lnTo>
                    <a:pt x="778" y="214"/>
                  </a:lnTo>
                  <a:lnTo>
                    <a:pt x="792" y="234"/>
                  </a:lnTo>
                  <a:lnTo>
                    <a:pt x="820" y="238"/>
                  </a:lnTo>
                  <a:lnTo>
                    <a:pt x="836" y="256"/>
                  </a:lnTo>
                  <a:lnTo>
                    <a:pt x="785" y="284"/>
                  </a:lnTo>
                  <a:lnTo>
                    <a:pt x="770" y="313"/>
                  </a:lnTo>
                  <a:lnTo>
                    <a:pt x="651" y="372"/>
                  </a:lnTo>
                  <a:lnTo>
                    <a:pt x="594" y="374"/>
                  </a:lnTo>
                  <a:lnTo>
                    <a:pt x="558" y="335"/>
                  </a:lnTo>
                  <a:lnTo>
                    <a:pt x="534" y="324"/>
                  </a:lnTo>
                  <a:lnTo>
                    <a:pt x="528" y="300"/>
                  </a:lnTo>
                  <a:lnTo>
                    <a:pt x="510" y="280"/>
                  </a:lnTo>
                  <a:lnTo>
                    <a:pt x="459" y="293"/>
                  </a:lnTo>
                  <a:lnTo>
                    <a:pt x="437" y="306"/>
                  </a:lnTo>
                  <a:lnTo>
                    <a:pt x="323" y="315"/>
                  </a:lnTo>
                  <a:lnTo>
                    <a:pt x="312" y="339"/>
                  </a:lnTo>
                  <a:lnTo>
                    <a:pt x="312" y="364"/>
                  </a:lnTo>
                  <a:lnTo>
                    <a:pt x="361" y="379"/>
                  </a:lnTo>
                  <a:lnTo>
                    <a:pt x="369" y="401"/>
                  </a:lnTo>
                  <a:lnTo>
                    <a:pt x="339" y="399"/>
                  </a:lnTo>
                  <a:lnTo>
                    <a:pt x="316" y="408"/>
                  </a:lnTo>
                  <a:lnTo>
                    <a:pt x="294" y="427"/>
                  </a:lnTo>
                  <a:lnTo>
                    <a:pt x="299" y="476"/>
                  </a:lnTo>
                  <a:lnTo>
                    <a:pt x="336" y="517"/>
                  </a:lnTo>
                  <a:lnTo>
                    <a:pt x="347" y="566"/>
                  </a:lnTo>
                  <a:lnTo>
                    <a:pt x="303" y="797"/>
                  </a:lnTo>
                  <a:lnTo>
                    <a:pt x="165" y="843"/>
                  </a:lnTo>
                  <a:lnTo>
                    <a:pt x="114" y="876"/>
                  </a:lnTo>
                  <a:lnTo>
                    <a:pt x="57" y="953"/>
                  </a:lnTo>
                  <a:lnTo>
                    <a:pt x="54" y="1013"/>
                  </a:lnTo>
                  <a:lnTo>
                    <a:pt x="24" y="1022"/>
                  </a:lnTo>
                  <a:lnTo>
                    <a:pt x="0" y="1083"/>
                  </a:lnTo>
                  <a:lnTo>
                    <a:pt x="0" y="1109"/>
                  </a:lnTo>
                  <a:lnTo>
                    <a:pt x="28" y="1167"/>
                  </a:lnTo>
                  <a:lnTo>
                    <a:pt x="72" y="1209"/>
                  </a:lnTo>
                  <a:lnTo>
                    <a:pt x="66" y="1237"/>
                  </a:lnTo>
                  <a:lnTo>
                    <a:pt x="118" y="1246"/>
                  </a:lnTo>
                  <a:lnTo>
                    <a:pt x="132" y="1270"/>
                  </a:lnTo>
                  <a:lnTo>
                    <a:pt x="158" y="1283"/>
                  </a:lnTo>
                  <a:lnTo>
                    <a:pt x="193" y="1279"/>
                  </a:lnTo>
                  <a:lnTo>
                    <a:pt x="257" y="1228"/>
                  </a:lnTo>
                  <a:lnTo>
                    <a:pt x="270" y="1250"/>
                  </a:lnTo>
                  <a:lnTo>
                    <a:pt x="274" y="1352"/>
                  </a:lnTo>
                  <a:lnTo>
                    <a:pt x="301" y="1360"/>
                  </a:lnTo>
                  <a:lnTo>
                    <a:pt x="341" y="1347"/>
                  </a:lnTo>
                  <a:lnTo>
                    <a:pt x="393" y="1352"/>
                  </a:lnTo>
                  <a:lnTo>
                    <a:pt x="453" y="1345"/>
                  </a:lnTo>
                  <a:lnTo>
                    <a:pt x="510" y="1316"/>
                  </a:lnTo>
                  <a:lnTo>
                    <a:pt x="580" y="1242"/>
                  </a:lnTo>
                  <a:lnTo>
                    <a:pt x="655" y="1228"/>
                  </a:lnTo>
                  <a:lnTo>
                    <a:pt x="680" y="1231"/>
                  </a:lnTo>
                  <a:lnTo>
                    <a:pt x="693" y="1253"/>
                  </a:lnTo>
                  <a:lnTo>
                    <a:pt x="697" y="1286"/>
                  </a:lnTo>
                  <a:lnTo>
                    <a:pt x="684" y="1358"/>
                  </a:lnTo>
                  <a:lnTo>
                    <a:pt x="701" y="1404"/>
                  </a:lnTo>
                  <a:lnTo>
                    <a:pt x="719" y="1420"/>
                  </a:lnTo>
                  <a:lnTo>
                    <a:pt x="759" y="1448"/>
                  </a:lnTo>
                  <a:lnTo>
                    <a:pt x="853" y="1459"/>
                  </a:lnTo>
                  <a:lnTo>
                    <a:pt x="893" y="1492"/>
                  </a:lnTo>
                  <a:lnTo>
                    <a:pt x="946" y="1506"/>
                  </a:lnTo>
                  <a:lnTo>
                    <a:pt x="968" y="1527"/>
                  </a:lnTo>
                  <a:lnTo>
                    <a:pt x="1029" y="1530"/>
                  </a:lnTo>
                  <a:lnTo>
                    <a:pt x="1049" y="1543"/>
                  </a:lnTo>
                  <a:lnTo>
                    <a:pt x="1071" y="1560"/>
                  </a:lnTo>
                  <a:lnTo>
                    <a:pt x="1097" y="1635"/>
                  </a:lnTo>
                  <a:lnTo>
                    <a:pt x="1095" y="1660"/>
                  </a:lnTo>
                  <a:lnTo>
                    <a:pt x="1084" y="1682"/>
                  </a:lnTo>
                  <a:lnTo>
                    <a:pt x="1109" y="1756"/>
                  </a:lnTo>
                  <a:lnTo>
                    <a:pt x="1229" y="1767"/>
                  </a:lnTo>
                  <a:lnTo>
                    <a:pt x="1249" y="1776"/>
                  </a:lnTo>
                  <a:lnTo>
                    <a:pt x="1245" y="1825"/>
                  </a:lnTo>
                  <a:lnTo>
                    <a:pt x="1282" y="1866"/>
                  </a:lnTo>
                  <a:lnTo>
                    <a:pt x="1304" y="1922"/>
                  </a:lnTo>
                  <a:lnTo>
                    <a:pt x="1298" y="1999"/>
                  </a:lnTo>
                  <a:lnTo>
                    <a:pt x="1282" y="2043"/>
                  </a:lnTo>
                  <a:lnTo>
                    <a:pt x="1285" y="2073"/>
                  </a:lnTo>
                  <a:lnTo>
                    <a:pt x="1271" y="2080"/>
                  </a:lnTo>
                  <a:lnTo>
                    <a:pt x="1282" y="2131"/>
                  </a:lnTo>
                  <a:lnTo>
                    <a:pt x="1278" y="2227"/>
                  </a:lnTo>
                  <a:lnTo>
                    <a:pt x="1309" y="2247"/>
                  </a:lnTo>
                  <a:lnTo>
                    <a:pt x="1342" y="2256"/>
                  </a:lnTo>
                  <a:lnTo>
                    <a:pt x="1388" y="2254"/>
                  </a:lnTo>
                  <a:lnTo>
                    <a:pt x="1425" y="2262"/>
                  </a:lnTo>
                  <a:lnTo>
                    <a:pt x="1448" y="2278"/>
                  </a:lnTo>
                  <a:lnTo>
                    <a:pt x="1465" y="2388"/>
                  </a:lnTo>
                  <a:lnTo>
                    <a:pt x="1544" y="2405"/>
                  </a:lnTo>
                  <a:lnTo>
                    <a:pt x="1547" y="2428"/>
                  </a:lnTo>
                  <a:lnTo>
                    <a:pt x="1529" y="2535"/>
                  </a:lnTo>
                  <a:lnTo>
                    <a:pt x="1555" y="2535"/>
                  </a:lnTo>
                  <a:lnTo>
                    <a:pt x="1573" y="2542"/>
                  </a:lnTo>
                  <a:lnTo>
                    <a:pt x="1588" y="2592"/>
                  </a:lnTo>
                  <a:lnTo>
                    <a:pt x="1584" y="2656"/>
                  </a:lnTo>
                  <a:lnTo>
                    <a:pt x="1535" y="2691"/>
                  </a:lnTo>
                  <a:lnTo>
                    <a:pt x="1507" y="2696"/>
                  </a:lnTo>
                  <a:lnTo>
                    <a:pt x="1423" y="2771"/>
                  </a:lnTo>
                  <a:lnTo>
                    <a:pt x="1375" y="2835"/>
                  </a:lnTo>
                  <a:lnTo>
                    <a:pt x="1291" y="2914"/>
                  </a:lnTo>
                  <a:lnTo>
                    <a:pt x="1313" y="2916"/>
                  </a:lnTo>
                  <a:lnTo>
                    <a:pt x="1335" y="2901"/>
                  </a:lnTo>
                  <a:lnTo>
                    <a:pt x="1357" y="2912"/>
                  </a:lnTo>
                  <a:lnTo>
                    <a:pt x="1414" y="2980"/>
                  </a:lnTo>
                  <a:lnTo>
                    <a:pt x="1436" y="2965"/>
                  </a:lnTo>
                  <a:lnTo>
                    <a:pt x="1461" y="3002"/>
                  </a:lnTo>
                  <a:lnTo>
                    <a:pt x="1502" y="3019"/>
                  </a:lnTo>
                  <a:lnTo>
                    <a:pt x="1513" y="3039"/>
                  </a:lnTo>
                  <a:lnTo>
                    <a:pt x="1555" y="3063"/>
                  </a:lnTo>
                  <a:lnTo>
                    <a:pt x="1562" y="3094"/>
                  </a:lnTo>
                  <a:lnTo>
                    <a:pt x="1597" y="3130"/>
                  </a:lnTo>
                  <a:lnTo>
                    <a:pt x="1571" y="3169"/>
                  </a:lnTo>
                  <a:lnTo>
                    <a:pt x="1571" y="3211"/>
                  </a:lnTo>
                  <a:lnTo>
                    <a:pt x="1573" y="3211"/>
                  </a:lnTo>
                  <a:close/>
                </a:path>
              </a:pathLst>
            </a:custGeom>
            <a:grpFill/>
            <a:ln w="635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D577B4D4-1195-25D0-7ABA-B14697AC5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875" y="4594981"/>
              <a:ext cx="304576" cy="333502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3" y="288"/>
                </a:cxn>
                <a:cxn ang="0">
                  <a:pos x="14" y="231"/>
                </a:cxn>
                <a:cxn ang="0">
                  <a:pos x="36" y="30"/>
                </a:cxn>
                <a:cxn ang="0">
                  <a:pos x="53" y="13"/>
                </a:cxn>
                <a:cxn ang="0">
                  <a:pos x="75" y="15"/>
                </a:cxn>
                <a:cxn ang="0">
                  <a:pos x="97" y="0"/>
                </a:cxn>
                <a:cxn ang="0">
                  <a:pos x="119" y="11"/>
                </a:cxn>
                <a:cxn ang="0">
                  <a:pos x="176" y="79"/>
                </a:cxn>
                <a:cxn ang="0">
                  <a:pos x="198" y="64"/>
                </a:cxn>
                <a:cxn ang="0">
                  <a:pos x="223" y="101"/>
                </a:cxn>
                <a:cxn ang="0">
                  <a:pos x="264" y="118"/>
                </a:cxn>
                <a:cxn ang="0">
                  <a:pos x="275" y="138"/>
                </a:cxn>
                <a:cxn ang="0">
                  <a:pos x="317" y="162"/>
                </a:cxn>
                <a:cxn ang="0">
                  <a:pos x="324" y="193"/>
                </a:cxn>
                <a:cxn ang="0">
                  <a:pos x="359" y="229"/>
                </a:cxn>
                <a:cxn ang="0">
                  <a:pos x="333" y="268"/>
                </a:cxn>
                <a:cxn ang="0">
                  <a:pos x="333" y="310"/>
                </a:cxn>
                <a:cxn ang="0">
                  <a:pos x="335" y="310"/>
                </a:cxn>
                <a:cxn ang="0">
                  <a:pos x="322" y="343"/>
                </a:cxn>
                <a:cxn ang="0">
                  <a:pos x="258" y="389"/>
                </a:cxn>
                <a:cxn ang="0">
                  <a:pos x="139" y="393"/>
                </a:cxn>
                <a:cxn ang="0">
                  <a:pos x="100" y="378"/>
                </a:cxn>
                <a:cxn ang="0">
                  <a:pos x="78" y="356"/>
                </a:cxn>
                <a:cxn ang="0">
                  <a:pos x="33" y="354"/>
                </a:cxn>
                <a:cxn ang="0">
                  <a:pos x="0" y="321"/>
                </a:cxn>
                <a:cxn ang="0">
                  <a:pos x="0" y="321"/>
                </a:cxn>
              </a:cxnLst>
              <a:rect l="0" t="0" r="r" b="b"/>
              <a:pathLst>
                <a:path w="359" h="393">
                  <a:moveTo>
                    <a:pt x="0" y="321"/>
                  </a:moveTo>
                  <a:lnTo>
                    <a:pt x="3" y="288"/>
                  </a:lnTo>
                  <a:lnTo>
                    <a:pt x="14" y="231"/>
                  </a:lnTo>
                  <a:lnTo>
                    <a:pt x="36" y="30"/>
                  </a:lnTo>
                  <a:lnTo>
                    <a:pt x="53" y="13"/>
                  </a:lnTo>
                  <a:lnTo>
                    <a:pt x="75" y="15"/>
                  </a:lnTo>
                  <a:lnTo>
                    <a:pt x="97" y="0"/>
                  </a:lnTo>
                  <a:lnTo>
                    <a:pt x="119" y="11"/>
                  </a:lnTo>
                  <a:lnTo>
                    <a:pt x="176" y="79"/>
                  </a:lnTo>
                  <a:lnTo>
                    <a:pt x="198" y="64"/>
                  </a:lnTo>
                  <a:lnTo>
                    <a:pt x="223" y="101"/>
                  </a:lnTo>
                  <a:lnTo>
                    <a:pt x="264" y="118"/>
                  </a:lnTo>
                  <a:lnTo>
                    <a:pt x="275" y="138"/>
                  </a:lnTo>
                  <a:lnTo>
                    <a:pt x="317" y="162"/>
                  </a:lnTo>
                  <a:lnTo>
                    <a:pt x="324" y="193"/>
                  </a:lnTo>
                  <a:lnTo>
                    <a:pt x="359" y="229"/>
                  </a:lnTo>
                  <a:lnTo>
                    <a:pt x="333" y="268"/>
                  </a:lnTo>
                  <a:lnTo>
                    <a:pt x="333" y="310"/>
                  </a:lnTo>
                  <a:lnTo>
                    <a:pt x="335" y="310"/>
                  </a:lnTo>
                  <a:lnTo>
                    <a:pt x="322" y="343"/>
                  </a:lnTo>
                  <a:lnTo>
                    <a:pt x="258" y="389"/>
                  </a:lnTo>
                  <a:lnTo>
                    <a:pt x="139" y="393"/>
                  </a:lnTo>
                  <a:lnTo>
                    <a:pt x="100" y="378"/>
                  </a:lnTo>
                  <a:lnTo>
                    <a:pt x="78" y="356"/>
                  </a:lnTo>
                  <a:lnTo>
                    <a:pt x="33" y="354"/>
                  </a:lnTo>
                  <a:lnTo>
                    <a:pt x="0" y="321"/>
                  </a:lnTo>
                  <a:lnTo>
                    <a:pt x="0" y="321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E168A5D6-6ABD-CBFE-A477-F53E1AC3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927" y="3834393"/>
              <a:ext cx="537687" cy="578524"/>
            </a:xfrm>
            <a:custGeom>
              <a:avLst/>
              <a:gdLst/>
              <a:ahLst/>
              <a:cxnLst>
                <a:cxn ang="0">
                  <a:pos x="612" y="526"/>
                </a:cxn>
                <a:cxn ang="0">
                  <a:pos x="630" y="419"/>
                </a:cxn>
                <a:cxn ang="0">
                  <a:pos x="627" y="396"/>
                </a:cxn>
                <a:cxn ang="0">
                  <a:pos x="548" y="379"/>
                </a:cxn>
                <a:cxn ang="0">
                  <a:pos x="531" y="269"/>
                </a:cxn>
                <a:cxn ang="0">
                  <a:pos x="508" y="253"/>
                </a:cxn>
                <a:cxn ang="0">
                  <a:pos x="471" y="245"/>
                </a:cxn>
                <a:cxn ang="0">
                  <a:pos x="425" y="247"/>
                </a:cxn>
                <a:cxn ang="0">
                  <a:pos x="392" y="238"/>
                </a:cxn>
                <a:cxn ang="0">
                  <a:pos x="361" y="218"/>
                </a:cxn>
                <a:cxn ang="0">
                  <a:pos x="365" y="122"/>
                </a:cxn>
                <a:cxn ang="0">
                  <a:pos x="354" y="71"/>
                </a:cxn>
                <a:cxn ang="0">
                  <a:pos x="323" y="27"/>
                </a:cxn>
                <a:cxn ang="0">
                  <a:pos x="301" y="7"/>
                </a:cxn>
                <a:cxn ang="0">
                  <a:pos x="277" y="0"/>
                </a:cxn>
                <a:cxn ang="0">
                  <a:pos x="205" y="0"/>
                </a:cxn>
                <a:cxn ang="0">
                  <a:pos x="66" y="40"/>
                </a:cxn>
                <a:cxn ang="0">
                  <a:pos x="31" y="106"/>
                </a:cxn>
                <a:cxn ang="0">
                  <a:pos x="22" y="135"/>
                </a:cxn>
                <a:cxn ang="0">
                  <a:pos x="20" y="190"/>
                </a:cxn>
                <a:cxn ang="0">
                  <a:pos x="0" y="253"/>
                </a:cxn>
                <a:cxn ang="0">
                  <a:pos x="0" y="253"/>
                </a:cxn>
                <a:cxn ang="0">
                  <a:pos x="29" y="267"/>
                </a:cxn>
                <a:cxn ang="0">
                  <a:pos x="44" y="295"/>
                </a:cxn>
                <a:cxn ang="0">
                  <a:pos x="126" y="361"/>
                </a:cxn>
                <a:cxn ang="0">
                  <a:pos x="141" y="386"/>
                </a:cxn>
                <a:cxn ang="0">
                  <a:pos x="238" y="410"/>
                </a:cxn>
                <a:cxn ang="0">
                  <a:pos x="357" y="485"/>
                </a:cxn>
                <a:cxn ang="0">
                  <a:pos x="372" y="506"/>
                </a:cxn>
                <a:cxn ang="0">
                  <a:pos x="370" y="537"/>
                </a:cxn>
                <a:cxn ang="0">
                  <a:pos x="341" y="579"/>
                </a:cxn>
                <a:cxn ang="0">
                  <a:pos x="319" y="645"/>
                </a:cxn>
                <a:cxn ang="0">
                  <a:pos x="403" y="660"/>
                </a:cxn>
                <a:cxn ang="0">
                  <a:pos x="425" y="674"/>
                </a:cxn>
                <a:cxn ang="0">
                  <a:pos x="458" y="680"/>
                </a:cxn>
                <a:cxn ang="0">
                  <a:pos x="511" y="669"/>
                </a:cxn>
                <a:cxn ang="0">
                  <a:pos x="588" y="612"/>
                </a:cxn>
                <a:cxn ang="0">
                  <a:pos x="603" y="583"/>
                </a:cxn>
                <a:cxn ang="0">
                  <a:pos x="612" y="526"/>
                </a:cxn>
              </a:cxnLst>
              <a:rect l="0" t="0" r="r" b="b"/>
              <a:pathLst>
                <a:path w="630" h="680">
                  <a:moveTo>
                    <a:pt x="612" y="526"/>
                  </a:moveTo>
                  <a:lnTo>
                    <a:pt x="630" y="419"/>
                  </a:lnTo>
                  <a:lnTo>
                    <a:pt x="627" y="396"/>
                  </a:lnTo>
                  <a:lnTo>
                    <a:pt x="548" y="379"/>
                  </a:lnTo>
                  <a:lnTo>
                    <a:pt x="531" y="269"/>
                  </a:lnTo>
                  <a:lnTo>
                    <a:pt x="508" y="253"/>
                  </a:lnTo>
                  <a:lnTo>
                    <a:pt x="471" y="245"/>
                  </a:lnTo>
                  <a:lnTo>
                    <a:pt x="425" y="247"/>
                  </a:lnTo>
                  <a:lnTo>
                    <a:pt x="392" y="238"/>
                  </a:lnTo>
                  <a:lnTo>
                    <a:pt x="361" y="218"/>
                  </a:lnTo>
                  <a:lnTo>
                    <a:pt x="365" y="122"/>
                  </a:lnTo>
                  <a:lnTo>
                    <a:pt x="354" y="71"/>
                  </a:lnTo>
                  <a:lnTo>
                    <a:pt x="323" y="27"/>
                  </a:lnTo>
                  <a:lnTo>
                    <a:pt x="301" y="7"/>
                  </a:lnTo>
                  <a:lnTo>
                    <a:pt x="277" y="0"/>
                  </a:lnTo>
                  <a:lnTo>
                    <a:pt x="205" y="0"/>
                  </a:lnTo>
                  <a:lnTo>
                    <a:pt x="66" y="40"/>
                  </a:lnTo>
                  <a:lnTo>
                    <a:pt x="31" y="106"/>
                  </a:lnTo>
                  <a:lnTo>
                    <a:pt x="22" y="135"/>
                  </a:lnTo>
                  <a:lnTo>
                    <a:pt x="20" y="190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29" y="267"/>
                  </a:lnTo>
                  <a:lnTo>
                    <a:pt x="44" y="295"/>
                  </a:lnTo>
                  <a:lnTo>
                    <a:pt x="126" y="361"/>
                  </a:lnTo>
                  <a:lnTo>
                    <a:pt x="141" y="386"/>
                  </a:lnTo>
                  <a:lnTo>
                    <a:pt x="238" y="410"/>
                  </a:lnTo>
                  <a:lnTo>
                    <a:pt x="357" y="485"/>
                  </a:lnTo>
                  <a:lnTo>
                    <a:pt x="372" y="506"/>
                  </a:lnTo>
                  <a:lnTo>
                    <a:pt x="370" y="537"/>
                  </a:lnTo>
                  <a:lnTo>
                    <a:pt x="341" y="579"/>
                  </a:lnTo>
                  <a:lnTo>
                    <a:pt x="319" y="645"/>
                  </a:lnTo>
                  <a:lnTo>
                    <a:pt x="403" y="660"/>
                  </a:lnTo>
                  <a:lnTo>
                    <a:pt x="425" y="674"/>
                  </a:lnTo>
                  <a:lnTo>
                    <a:pt x="458" y="680"/>
                  </a:lnTo>
                  <a:lnTo>
                    <a:pt x="511" y="669"/>
                  </a:lnTo>
                  <a:lnTo>
                    <a:pt x="588" y="612"/>
                  </a:lnTo>
                  <a:lnTo>
                    <a:pt x="603" y="583"/>
                  </a:lnTo>
                  <a:lnTo>
                    <a:pt x="612" y="526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7DB4C02F-F3DF-B47E-27E3-3B6CB1D00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927" y="3834393"/>
              <a:ext cx="537687" cy="578524"/>
            </a:xfrm>
            <a:custGeom>
              <a:avLst/>
              <a:gdLst/>
              <a:ahLst/>
              <a:cxnLst>
                <a:cxn ang="0">
                  <a:pos x="612" y="526"/>
                </a:cxn>
                <a:cxn ang="0">
                  <a:pos x="630" y="419"/>
                </a:cxn>
                <a:cxn ang="0">
                  <a:pos x="627" y="396"/>
                </a:cxn>
                <a:cxn ang="0">
                  <a:pos x="548" y="379"/>
                </a:cxn>
                <a:cxn ang="0">
                  <a:pos x="531" y="269"/>
                </a:cxn>
                <a:cxn ang="0">
                  <a:pos x="508" y="253"/>
                </a:cxn>
                <a:cxn ang="0">
                  <a:pos x="471" y="245"/>
                </a:cxn>
                <a:cxn ang="0">
                  <a:pos x="425" y="247"/>
                </a:cxn>
                <a:cxn ang="0">
                  <a:pos x="392" y="238"/>
                </a:cxn>
                <a:cxn ang="0">
                  <a:pos x="361" y="218"/>
                </a:cxn>
                <a:cxn ang="0">
                  <a:pos x="365" y="122"/>
                </a:cxn>
                <a:cxn ang="0">
                  <a:pos x="354" y="71"/>
                </a:cxn>
                <a:cxn ang="0">
                  <a:pos x="323" y="27"/>
                </a:cxn>
                <a:cxn ang="0">
                  <a:pos x="301" y="7"/>
                </a:cxn>
                <a:cxn ang="0">
                  <a:pos x="277" y="0"/>
                </a:cxn>
                <a:cxn ang="0">
                  <a:pos x="205" y="0"/>
                </a:cxn>
                <a:cxn ang="0">
                  <a:pos x="66" y="40"/>
                </a:cxn>
                <a:cxn ang="0">
                  <a:pos x="31" y="106"/>
                </a:cxn>
                <a:cxn ang="0">
                  <a:pos x="22" y="135"/>
                </a:cxn>
                <a:cxn ang="0">
                  <a:pos x="20" y="190"/>
                </a:cxn>
                <a:cxn ang="0">
                  <a:pos x="0" y="253"/>
                </a:cxn>
                <a:cxn ang="0">
                  <a:pos x="0" y="253"/>
                </a:cxn>
                <a:cxn ang="0">
                  <a:pos x="29" y="267"/>
                </a:cxn>
                <a:cxn ang="0">
                  <a:pos x="44" y="295"/>
                </a:cxn>
                <a:cxn ang="0">
                  <a:pos x="126" y="361"/>
                </a:cxn>
                <a:cxn ang="0">
                  <a:pos x="141" y="386"/>
                </a:cxn>
                <a:cxn ang="0">
                  <a:pos x="238" y="410"/>
                </a:cxn>
                <a:cxn ang="0">
                  <a:pos x="357" y="485"/>
                </a:cxn>
                <a:cxn ang="0">
                  <a:pos x="372" y="506"/>
                </a:cxn>
                <a:cxn ang="0">
                  <a:pos x="370" y="537"/>
                </a:cxn>
                <a:cxn ang="0">
                  <a:pos x="341" y="579"/>
                </a:cxn>
                <a:cxn ang="0">
                  <a:pos x="319" y="645"/>
                </a:cxn>
                <a:cxn ang="0">
                  <a:pos x="403" y="660"/>
                </a:cxn>
                <a:cxn ang="0">
                  <a:pos x="425" y="674"/>
                </a:cxn>
                <a:cxn ang="0">
                  <a:pos x="458" y="680"/>
                </a:cxn>
                <a:cxn ang="0">
                  <a:pos x="511" y="669"/>
                </a:cxn>
                <a:cxn ang="0">
                  <a:pos x="588" y="612"/>
                </a:cxn>
                <a:cxn ang="0">
                  <a:pos x="603" y="583"/>
                </a:cxn>
                <a:cxn ang="0">
                  <a:pos x="612" y="526"/>
                </a:cxn>
              </a:cxnLst>
              <a:rect l="0" t="0" r="r" b="b"/>
              <a:pathLst>
                <a:path w="630" h="680">
                  <a:moveTo>
                    <a:pt x="612" y="526"/>
                  </a:moveTo>
                  <a:lnTo>
                    <a:pt x="630" y="419"/>
                  </a:lnTo>
                  <a:lnTo>
                    <a:pt x="627" y="396"/>
                  </a:lnTo>
                  <a:lnTo>
                    <a:pt x="548" y="379"/>
                  </a:lnTo>
                  <a:lnTo>
                    <a:pt x="531" y="269"/>
                  </a:lnTo>
                  <a:lnTo>
                    <a:pt x="508" y="253"/>
                  </a:lnTo>
                  <a:lnTo>
                    <a:pt x="471" y="245"/>
                  </a:lnTo>
                  <a:lnTo>
                    <a:pt x="425" y="247"/>
                  </a:lnTo>
                  <a:lnTo>
                    <a:pt x="392" y="238"/>
                  </a:lnTo>
                  <a:lnTo>
                    <a:pt x="361" y="218"/>
                  </a:lnTo>
                  <a:lnTo>
                    <a:pt x="365" y="122"/>
                  </a:lnTo>
                  <a:lnTo>
                    <a:pt x="354" y="71"/>
                  </a:lnTo>
                  <a:lnTo>
                    <a:pt x="323" y="27"/>
                  </a:lnTo>
                  <a:lnTo>
                    <a:pt x="301" y="7"/>
                  </a:lnTo>
                  <a:lnTo>
                    <a:pt x="277" y="0"/>
                  </a:lnTo>
                  <a:lnTo>
                    <a:pt x="205" y="0"/>
                  </a:lnTo>
                  <a:lnTo>
                    <a:pt x="66" y="40"/>
                  </a:lnTo>
                  <a:lnTo>
                    <a:pt x="31" y="106"/>
                  </a:lnTo>
                  <a:lnTo>
                    <a:pt x="22" y="135"/>
                  </a:lnTo>
                  <a:lnTo>
                    <a:pt x="20" y="190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29" y="267"/>
                  </a:lnTo>
                  <a:lnTo>
                    <a:pt x="44" y="295"/>
                  </a:lnTo>
                  <a:lnTo>
                    <a:pt x="126" y="361"/>
                  </a:lnTo>
                  <a:lnTo>
                    <a:pt x="141" y="386"/>
                  </a:lnTo>
                  <a:lnTo>
                    <a:pt x="238" y="410"/>
                  </a:lnTo>
                  <a:lnTo>
                    <a:pt x="357" y="485"/>
                  </a:lnTo>
                  <a:lnTo>
                    <a:pt x="372" y="506"/>
                  </a:lnTo>
                  <a:lnTo>
                    <a:pt x="370" y="537"/>
                  </a:lnTo>
                  <a:lnTo>
                    <a:pt x="341" y="579"/>
                  </a:lnTo>
                  <a:lnTo>
                    <a:pt x="319" y="645"/>
                  </a:lnTo>
                  <a:lnTo>
                    <a:pt x="403" y="660"/>
                  </a:lnTo>
                  <a:lnTo>
                    <a:pt x="425" y="674"/>
                  </a:lnTo>
                  <a:lnTo>
                    <a:pt x="458" y="680"/>
                  </a:lnTo>
                  <a:lnTo>
                    <a:pt x="511" y="669"/>
                  </a:lnTo>
                  <a:lnTo>
                    <a:pt x="588" y="612"/>
                  </a:lnTo>
                  <a:lnTo>
                    <a:pt x="603" y="583"/>
                  </a:lnTo>
                  <a:lnTo>
                    <a:pt x="612" y="526"/>
                  </a:lnTo>
                </a:path>
              </a:pathLst>
            </a:custGeom>
            <a:no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5440B9B0-B874-7C6F-A5CB-7B7FCAEA3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585" y="3170792"/>
              <a:ext cx="818442" cy="932445"/>
            </a:xfrm>
            <a:custGeom>
              <a:avLst/>
              <a:gdLst/>
              <a:ahLst/>
              <a:cxnLst>
                <a:cxn ang="0">
                  <a:pos x="52" y="124"/>
                </a:cxn>
                <a:cxn ang="0">
                  <a:pos x="169" y="88"/>
                </a:cxn>
                <a:cxn ang="0">
                  <a:pos x="314" y="0"/>
                </a:cxn>
                <a:cxn ang="0">
                  <a:pos x="352" y="25"/>
                </a:cxn>
                <a:cxn ang="0">
                  <a:pos x="343" y="130"/>
                </a:cxn>
                <a:cxn ang="0">
                  <a:pos x="378" y="192"/>
                </a:cxn>
                <a:cxn ang="0">
                  <a:pos x="512" y="231"/>
                </a:cxn>
                <a:cxn ang="0">
                  <a:pos x="605" y="278"/>
                </a:cxn>
                <a:cxn ang="0">
                  <a:pos x="688" y="302"/>
                </a:cxn>
                <a:cxn ang="0">
                  <a:pos x="730" y="332"/>
                </a:cxn>
                <a:cxn ang="0">
                  <a:pos x="754" y="432"/>
                </a:cxn>
                <a:cxn ang="0">
                  <a:pos x="768" y="528"/>
                </a:cxn>
                <a:cxn ang="0">
                  <a:pos x="908" y="548"/>
                </a:cxn>
                <a:cxn ang="0">
                  <a:pos x="941" y="638"/>
                </a:cxn>
                <a:cxn ang="0">
                  <a:pos x="957" y="771"/>
                </a:cxn>
                <a:cxn ang="0">
                  <a:pos x="944" y="845"/>
                </a:cxn>
                <a:cxn ang="0">
                  <a:pos x="899" y="808"/>
                </a:cxn>
                <a:cxn ang="0">
                  <a:pos x="853" y="781"/>
                </a:cxn>
                <a:cxn ang="0">
                  <a:pos x="642" y="821"/>
                </a:cxn>
                <a:cxn ang="0">
                  <a:pos x="598" y="916"/>
                </a:cxn>
                <a:cxn ang="0">
                  <a:pos x="576" y="1034"/>
                </a:cxn>
                <a:cxn ang="0">
                  <a:pos x="534" y="1013"/>
                </a:cxn>
                <a:cxn ang="0">
                  <a:pos x="464" y="1028"/>
                </a:cxn>
                <a:cxn ang="0">
                  <a:pos x="433" y="1046"/>
                </a:cxn>
                <a:cxn ang="0">
                  <a:pos x="350" y="1023"/>
                </a:cxn>
                <a:cxn ang="0">
                  <a:pos x="235" y="1090"/>
                </a:cxn>
                <a:cxn ang="0">
                  <a:pos x="178" y="1090"/>
                </a:cxn>
                <a:cxn ang="0">
                  <a:pos x="119" y="918"/>
                </a:cxn>
                <a:cxn ang="0">
                  <a:pos x="101" y="870"/>
                </a:cxn>
                <a:cxn ang="0">
                  <a:pos x="110" y="797"/>
                </a:cxn>
                <a:cxn ang="0">
                  <a:pos x="64" y="702"/>
                </a:cxn>
                <a:cxn ang="0">
                  <a:pos x="22" y="643"/>
                </a:cxn>
                <a:cxn ang="0">
                  <a:pos x="61" y="551"/>
                </a:cxn>
                <a:cxn ang="0">
                  <a:pos x="37" y="511"/>
                </a:cxn>
                <a:cxn ang="0">
                  <a:pos x="44" y="443"/>
                </a:cxn>
                <a:cxn ang="0">
                  <a:pos x="61" y="399"/>
                </a:cxn>
                <a:cxn ang="0">
                  <a:pos x="61" y="258"/>
                </a:cxn>
                <a:cxn ang="0">
                  <a:pos x="0" y="119"/>
                </a:cxn>
              </a:cxnLst>
              <a:rect l="0" t="0" r="r" b="b"/>
              <a:pathLst>
                <a:path w="963" h="1096">
                  <a:moveTo>
                    <a:pt x="0" y="119"/>
                  </a:moveTo>
                  <a:lnTo>
                    <a:pt x="52" y="124"/>
                  </a:lnTo>
                  <a:lnTo>
                    <a:pt x="112" y="117"/>
                  </a:lnTo>
                  <a:lnTo>
                    <a:pt x="169" y="88"/>
                  </a:lnTo>
                  <a:lnTo>
                    <a:pt x="239" y="14"/>
                  </a:lnTo>
                  <a:lnTo>
                    <a:pt x="314" y="0"/>
                  </a:lnTo>
                  <a:lnTo>
                    <a:pt x="339" y="3"/>
                  </a:lnTo>
                  <a:lnTo>
                    <a:pt x="352" y="25"/>
                  </a:lnTo>
                  <a:lnTo>
                    <a:pt x="356" y="58"/>
                  </a:lnTo>
                  <a:lnTo>
                    <a:pt x="343" y="130"/>
                  </a:lnTo>
                  <a:lnTo>
                    <a:pt x="360" y="176"/>
                  </a:lnTo>
                  <a:lnTo>
                    <a:pt x="378" y="192"/>
                  </a:lnTo>
                  <a:lnTo>
                    <a:pt x="418" y="220"/>
                  </a:lnTo>
                  <a:lnTo>
                    <a:pt x="512" y="231"/>
                  </a:lnTo>
                  <a:lnTo>
                    <a:pt x="552" y="264"/>
                  </a:lnTo>
                  <a:lnTo>
                    <a:pt x="605" y="278"/>
                  </a:lnTo>
                  <a:lnTo>
                    <a:pt x="627" y="299"/>
                  </a:lnTo>
                  <a:lnTo>
                    <a:pt x="688" y="302"/>
                  </a:lnTo>
                  <a:lnTo>
                    <a:pt x="708" y="315"/>
                  </a:lnTo>
                  <a:lnTo>
                    <a:pt x="730" y="332"/>
                  </a:lnTo>
                  <a:lnTo>
                    <a:pt x="756" y="407"/>
                  </a:lnTo>
                  <a:lnTo>
                    <a:pt x="754" y="432"/>
                  </a:lnTo>
                  <a:lnTo>
                    <a:pt x="743" y="454"/>
                  </a:lnTo>
                  <a:lnTo>
                    <a:pt x="768" y="528"/>
                  </a:lnTo>
                  <a:lnTo>
                    <a:pt x="888" y="539"/>
                  </a:lnTo>
                  <a:lnTo>
                    <a:pt x="908" y="548"/>
                  </a:lnTo>
                  <a:lnTo>
                    <a:pt x="904" y="597"/>
                  </a:lnTo>
                  <a:lnTo>
                    <a:pt x="941" y="638"/>
                  </a:lnTo>
                  <a:lnTo>
                    <a:pt x="963" y="694"/>
                  </a:lnTo>
                  <a:lnTo>
                    <a:pt x="957" y="771"/>
                  </a:lnTo>
                  <a:lnTo>
                    <a:pt x="941" y="815"/>
                  </a:lnTo>
                  <a:lnTo>
                    <a:pt x="944" y="845"/>
                  </a:lnTo>
                  <a:lnTo>
                    <a:pt x="930" y="852"/>
                  </a:lnTo>
                  <a:lnTo>
                    <a:pt x="899" y="808"/>
                  </a:lnTo>
                  <a:lnTo>
                    <a:pt x="877" y="788"/>
                  </a:lnTo>
                  <a:lnTo>
                    <a:pt x="853" y="781"/>
                  </a:lnTo>
                  <a:lnTo>
                    <a:pt x="781" y="781"/>
                  </a:lnTo>
                  <a:lnTo>
                    <a:pt x="642" y="821"/>
                  </a:lnTo>
                  <a:lnTo>
                    <a:pt x="607" y="887"/>
                  </a:lnTo>
                  <a:lnTo>
                    <a:pt x="598" y="916"/>
                  </a:lnTo>
                  <a:lnTo>
                    <a:pt x="596" y="971"/>
                  </a:lnTo>
                  <a:lnTo>
                    <a:pt x="576" y="1034"/>
                  </a:lnTo>
                  <a:lnTo>
                    <a:pt x="576" y="1034"/>
                  </a:lnTo>
                  <a:lnTo>
                    <a:pt x="534" y="1013"/>
                  </a:lnTo>
                  <a:lnTo>
                    <a:pt x="482" y="1012"/>
                  </a:lnTo>
                  <a:lnTo>
                    <a:pt x="464" y="1028"/>
                  </a:lnTo>
                  <a:lnTo>
                    <a:pt x="459" y="1050"/>
                  </a:lnTo>
                  <a:lnTo>
                    <a:pt x="433" y="1046"/>
                  </a:lnTo>
                  <a:lnTo>
                    <a:pt x="415" y="1030"/>
                  </a:lnTo>
                  <a:lnTo>
                    <a:pt x="350" y="1023"/>
                  </a:lnTo>
                  <a:lnTo>
                    <a:pt x="310" y="999"/>
                  </a:lnTo>
                  <a:lnTo>
                    <a:pt x="235" y="1090"/>
                  </a:lnTo>
                  <a:lnTo>
                    <a:pt x="202" y="1096"/>
                  </a:lnTo>
                  <a:lnTo>
                    <a:pt x="178" y="1090"/>
                  </a:lnTo>
                  <a:lnTo>
                    <a:pt x="138" y="931"/>
                  </a:lnTo>
                  <a:lnTo>
                    <a:pt x="119" y="918"/>
                  </a:lnTo>
                  <a:lnTo>
                    <a:pt x="116" y="892"/>
                  </a:lnTo>
                  <a:lnTo>
                    <a:pt x="101" y="870"/>
                  </a:lnTo>
                  <a:lnTo>
                    <a:pt x="116" y="847"/>
                  </a:lnTo>
                  <a:lnTo>
                    <a:pt x="110" y="797"/>
                  </a:lnTo>
                  <a:lnTo>
                    <a:pt x="74" y="760"/>
                  </a:lnTo>
                  <a:lnTo>
                    <a:pt x="64" y="702"/>
                  </a:lnTo>
                  <a:lnTo>
                    <a:pt x="28" y="663"/>
                  </a:lnTo>
                  <a:lnTo>
                    <a:pt x="22" y="643"/>
                  </a:lnTo>
                  <a:lnTo>
                    <a:pt x="68" y="575"/>
                  </a:lnTo>
                  <a:lnTo>
                    <a:pt x="61" y="551"/>
                  </a:lnTo>
                  <a:lnTo>
                    <a:pt x="41" y="537"/>
                  </a:lnTo>
                  <a:lnTo>
                    <a:pt x="37" y="511"/>
                  </a:lnTo>
                  <a:lnTo>
                    <a:pt x="53" y="467"/>
                  </a:lnTo>
                  <a:lnTo>
                    <a:pt x="44" y="443"/>
                  </a:lnTo>
                  <a:lnTo>
                    <a:pt x="46" y="418"/>
                  </a:lnTo>
                  <a:lnTo>
                    <a:pt x="61" y="399"/>
                  </a:lnTo>
                  <a:lnTo>
                    <a:pt x="55" y="297"/>
                  </a:lnTo>
                  <a:lnTo>
                    <a:pt x="61" y="258"/>
                  </a:lnTo>
                  <a:lnTo>
                    <a:pt x="74" y="236"/>
                  </a:lnTo>
                  <a:lnTo>
                    <a:pt x="0" y="119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750D3CC-058E-A696-9F2D-4293ED868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636" y="2553132"/>
              <a:ext cx="888204" cy="1233618"/>
            </a:xfrm>
            <a:custGeom>
              <a:avLst/>
              <a:gdLst/>
              <a:ahLst/>
              <a:cxnLst>
                <a:cxn ang="0">
                  <a:pos x="469" y="16"/>
                </a:cxn>
                <a:cxn ang="0">
                  <a:pos x="456" y="137"/>
                </a:cxn>
                <a:cxn ang="0">
                  <a:pos x="278" y="269"/>
                </a:cxn>
                <a:cxn ang="0">
                  <a:pos x="214" y="396"/>
                </a:cxn>
                <a:cxn ang="0">
                  <a:pos x="150" y="431"/>
                </a:cxn>
                <a:cxn ang="0">
                  <a:pos x="113" y="412"/>
                </a:cxn>
                <a:cxn ang="0">
                  <a:pos x="60" y="379"/>
                </a:cxn>
                <a:cxn ang="0">
                  <a:pos x="77" y="326"/>
                </a:cxn>
                <a:cxn ang="0">
                  <a:pos x="0" y="399"/>
                </a:cxn>
                <a:cxn ang="0">
                  <a:pos x="14" y="471"/>
                </a:cxn>
                <a:cxn ang="0">
                  <a:pos x="18" y="539"/>
                </a:cxn>
                <a:cxn ang="0">
                  <a:pos x="117" y="594"/>
                </a:cxn>
                <a:cxn ang="0">
                  <a:pos x="163" y="671"/>
                </a:cxn>
                <a:cxn ang="0">
                  <a:pos x="234" y="729"/>
                </a:cxn>
                <a:cxn ang="0">
                  <a:pos x="324" y="896"/>
                </a:cxn>
                <a:cxn ang="0">
                  <a:pos x="387" y="1001"/>
                </a:cxn>
                <a:cxn ang="0">
                  <a:pos x="462" y="1116"/>
                </a:cxn>
                <a:cxn ang="0">
                  <a:pos x="493" y="1195"/>
                </a:cxn>
                <a:cxn ang="0">
                  <a:pos x="605" y="1274"/>
                </a:cxn>
                <a:cxn ang="0">
                  <a:pos x="687" y="1307"/>
                </a:cxn>
                <a:cxn ang="0">
                  <a:pos x="850" y="1375"/>
                </a:cxn>
                <a:cxn ang="0">
                  <a:pos x="926" y="1450"/>
                </a:cxn>
                <a:cxn ang="0">
                  <a:pos x="942" y="1435"/>
                </a:cxn>
                <a:cxn ang="0">
                  <a:pos x="999" y="1389"/>
                </a:cxn>
                <a:cxn ang="0">
                  <a:pos x="1039" y="1301"/>
                </a:cxn>
                <a:cxn ang="0">
                  <a:pos x="1012" y="1263"/>
                </a:cxn>
                <a:cxn ang="0">
                  <a:pos x="1024" y="1193"/>
                </a:cxn>
                <a:cxn ang="0">
                  <a:pos x="1017" y="1144"/>
                </a:cxn>
                <a:cxn ang="0">
                  <a:pos x="1026" y="1023"/>
                </a:cxn>
                <a:cxn ang="0">
                  <a:pos x="1045" y="962"/>
                </a:cxn>
                <a:cxn ang="0">
                  <a:pos x="931" y="858"/>
                </a:cxn>
                <a:cxn ang="0">
                  <a:pos x="900" y="748"/>
                </a:cxn>
                <a:cxn ang="0">
                  <a:pos x="823" y="777"/>
                </a:cxn>
                <a:cxn ang="0">
                  <a:pos x="762" y="768"/>
                </a:cxn>
                <a:cxn ang="0">
                  <a:pos x="696" y="735"/>
                </a:cxn>
                <a:cxn ang="0">
                  <a:pos x="658" y="665"/>
                </a:cxn>
                <a:cxn ang="0">
                  <a:pos x="630" y="581"/>
                </a:cxn>
                <a:cxn ang="0">
                  <a:pos x="684" y="511"/>
                </a:cxn>
                <a:cxn ang="0">
                  <a:pos x="744" y="374"/>
                </a:cxn>
                <a:cxn ang="0">
                  <a:pos x="933" y="295"/>
                </a:cxn>
                <a:cxn ang="0">
                  <a:pos x="883" y="247"/>
                </a:cxn>
                <a:cxn ang="0">
                  <a:pos x="909" y="172"/>
                </a:cxn>
                <a:cxn ang="0">
                  <a:pos x="806" y="159"/>
                </a:cxn>
                <a:cxn ang="0">
                  <a:pos x="755" y="170"/>
                </a:cxn>
                <a:cxn ang="0">
                  <a:pos x="678" y="174"/>
                </a:cxn>
                <a:cxn ang="0">
                  <a:pos x="630" y="112"/>
                </a:cxn>
                <a:cxn ang="0">
                  <a:pos x="581" y="62"/>
                </a:cxn>
                <a:cxn ang="0">
                  <a:pos x="489" y="0"/>
                </a:cxn>
              </a:cxnLst>
              <a:rect l="0" t="0" r="r" b="b"/>
              <a:pathLst>
                <a:path w="1045" h="1450">
                  <a:moveTo>
                    <a:pt x="489" y="0"/>
                  </a:moveTo>
                  <a:lnTo>
                    <a:pt x="469" y="16"/>
                  </a:lnTo>
                  <a:lnTo>
                    <a:pt x="497" y="64"/>
                  </a:lnTo>
                  <a:lnTo>
                    <a:pt x="456" y="137"/>
                  </a:lnTo>
                  <a:lnTo>
                    <a:pt x="396" y="207"/>
                  </a:lnTo>
                  <a:lnTo>
                    <a:pt x="278" y="269"/>
                  </a:lnTo>
                  <a:lnTo>
                    <a:pt x="220" y="341"/>
                  </a:lnTo>
                  <a:lnTo>
                    <a:pt x="214" y="396"/>
                  </a:lnTo>
                  <a:lnTo>
                    <a:pt x="174" y="438"/>
                  </a:lnTo>
                  <a:lnTo>
                    <a:pt x="150" y="431"/>
                  </a:lnTo>
                  <a:lnTo>
                    <a:pt x="137" y="409"/>
                  </a:lnTo>
                  <a:lnTo>
                    <a:pt x="113" y="412"/>
                  </a:lnTo>
                  <a:lnTo>
                    <a:pt x="66" y="403"/>
                  </a:lnTo>
                  <a:lnTo>
                    <a:pt x="60" y="379"/>
                  </a:lnTo>
                  <a:lnTo>
                    <a:pt x="84" y="363"/>
                  </a:lnTo>
                  <a:lnTo>
                    <a:pt x="77" y="326"/>
                  </a:lnTo>
                  <a:lnTo>
                    <a:pt x="75" y="326"/>
                  </a:lnTo>
                  <a:lnTo>
                    <a:pt x="0" y="399"/>
                  </a:lnTo>
                  <a:lnTo>
                    <a:pt x="0" y="434"/>
                  </a:lnTo>
                  <a:lnTo>
                    <a:pt x="14" y="471"/>
                  </a:lnTo>
                  <a:lnTo>
                    <a:pt x="46" y="509"/>
                  </a:lnTo>
                  <a:lnTo>
                    <a:pt x="18" y="539"/>
                  </a:lnTo>
                  <a:lnTo>
                    <a:pt x="90" y="572"/>
                  </a:lnTo>
                  <a:lnTo>
                    <a:pt x="117" y="594"/>
                  </a:lnTo>
                  <a:lnTo>
                    <a:pt x="146" y="625"/>
                  </a:lnTo>
                  <a:lnTo>
                    <a:pt x="163" y="671"/>
                  </a:lnTo>
                  <a:lnTo>
                    <a:pt x="205" y="693"/>
                  </a:lnTo>
                  <a:lnTo>
                    <a:pt x="234" y="729"/>
                  </a:lnTo>
                  <a:lnTo>
                    <a:pt x="282" y="849"/>
                  </a:lnTo>
                  <a:lnTo>
                    <a:pt x="324" y="896"/>
                  </a:lnTo>
                  <a:lnTo>
                    <a:pt x="341" y="937"/>
                  </a:lnTo>
                  <a:lnTo>
                    <a:pt x="387" y="1001"/>
                  </a:lnTo>
                  <a:lnTo>
                    <a:pt x="414" y="1025"/>
                  </a:lnTo>
                  <a:lnTo>
                    <a:pt x="462" y="1116"/>
                  </a:lnTo>
                  <a:lnTo>
                    <a:pt x="458" y="1158"/>
                  </a:lnTo>
                  <a:lnTo>
                    <a:pt x="493" y="1195"/>
                  </a:lnTo>
                  <a:lnTo>
                    <a:pt x="550" y="1244"/>
                  </a:lnTo>
                  <a:lnTo>
                    <a:pt x="605" y="1274"/>
                  </a:lnTo>
                  <a:lnTo>
                    <a:pt x="647" y="1276"/>
                  </a:lnTo>
                  <a:lnTo>
                    <a:pt x="687" y="1307"/>
                  </a:lnTo>
                  <a:lnTo>
                    <a:pt x="770" y="1334"/>
                  </a:lnTo>
                  <a:lnTo>
                    <a:pt x="850" y="1375"/>
                  </a:lnTo>
                  <a:lnTo>
                    <a:pt x="878" y="1408"/>
                  </a:lnTo>
                  <a:lnTo>
                    <a:pt x="926" y="1450"/>
                  </a:lnTo>
                  <a:lnTo>
                    <a:pt x="926" y="1448"/>
                  </a:lnTo>
                  <a:lnTo>
                    <a:pt x="942" y="1435"/>
                  </a:lnTo>
                  <a:lnTo>
                    <a:pt x="966" y="1433"/>
                  </a:lnTo>
                  <a:lnTo>
                    <a:pt x="999" y="1389"/>
                  </a:lnTo>
                  <a:lnTo>
                    <a:pt x="993" y="1369"/>
                  </a:lnTo>
                  <a:lnTo>
                    <a:pt x="1039" y="1301"/>
                  </a:lnTo>
                  <a:lnTo>
                    <a:pt x="1032" y="1277"/>
                  </a:lnTo>
                  <a:lnTo>
                    <a:pt x="1012" y="1263"/>
                  </a:lnTo>
                  <a:lnTo>
                    <a:pt x="1008" y="1237"/>
                  </a:lnTo>
                  <a:lnTo>
                    <a:pt x="1024" y="1193"/>
                  </a:lnTo>
                  <a:lnTo>
                    <a:pt x="1015" y="1169"/>
                  </a:lnTo>
                  <a:lnTo>
                    <a:pt x="1017" y="1144"/>
                  </a:lnTo>
                  <a:lnTo>
                    <a:pt x="1032" y="1125"/>
                  </a:lnTo>
                  <a:lnTo>
                    <a:pt x="1026" y="1023"/>
                  </a:lnTo>
                  <a:lnTo>
                    <a:pt x="1032" y="984"/>
                  </a:lnTo>
                  <a:lnTo>
                    <a:pt x="1045" y="962"/>
                  </a:lnTo>
                  <a:lnTo>
                    <a:pt x="971" y="845"/>
                  </a:lnTo>
                  <a:lnTo>
                    <a:pt x="931" y="858"/>
                  </a:lnTo>
                  <a:lnTo>
                    <a:pt x="904" y="850"/>
                  </a:lnTo>
                  <a:lnTo>
                    <a:pt x="900" y="748"/>
                  </a:lnTo>
                  <a:lnTo>
                    <a:pt x="887" y="726"/>
                  </a:lnTo>
                  <a:lnTo>
                    <a:pt x="823" y="777"/>
                  </a:lnTo>
                  <a:lnTo>
                    <a:pt x="788" y="781"/>
                  </a:lnTo>
                  <a:lnTo>
                    <a:pt x="762" y="768"/>
                  </a:lnTo>
                  <a:lnTo>
                    <a:pt x="748" y="744"/>
                  </a:lnTo>
                  <a:lnTo>
                    <a:pt x="696" y="735"/>
                  </a:lnTo>
                  <a:lnTo>
                    <a:pt x="702" y="707"/>
                  </a:lnTo>
                  <a:lnTo>
                    <a:pt x="658" y="665"/>
                  </a:lnTo>
                  <a:lnTo>
                    <a:pt x="630" y="607"/>
                  </a:lnTo>
                  <a:lnTo>
                    <a:pt x="630" y="581"/>
                  </a:lnTo>
                  <a:lnTo>
                    <a:pt x="654" y="520"/>
                  </a:lnTo>
                  <a:lnTo>
                    <a:pt x="684" y="511"/>
                  </a:lnTo>
                  <a:lnTo>
                    <a:pt x="687" y="451"/>
                  </a:lnTo>
                  <a:lnTo>
                    <a:pt x="744" y="374"/>
                  </a:lnTo>
                  <a:lnTo>
                    <a:pt x="795" y="341"/>
                  </a:lnTo>
                  <a:lnTo>
                    <a:pt x="933" y="295"/>
                  </a:lnTo>
                  <a:lnTo>
                    <a:pt x="889" y="273"/>
                  </a:lnTo>
                  <a:lnTo>
                    <a:pt x="883" y="247"/>
                  </a:lnTo>
                  <a:lnTo>
                    <a:pt x="922" y="198"/>
                  </a:lnTo>
                  <a:lnTo>
                    <a:pt x="909" y="172"/>
                  </a:lnTo>
                  <a:lnTo>
                    <a:pt x="858" y="148"/>
                  </a:lnTo>
                  <a:lnTo>
                    <a:pt x="806" y="159"/>
                  </a:lnTo>
                  <a:lnTo>
                    <a:pt x="775" y="154"/>
                  </a:lnTo>
                  <a:lnTo>
                    <a:pt x="755" y="170"/>
                  </a:lnTo>
                  <a:lnTo>
                    <a:pt x="729" y="176"/>
                  </a:lnTo>
                  <a:lnTo>
                    <a:pt x="678" y="174"/>
                  </a:lnTo>
                  <a:lnTo>
                    <a:pt x="652" y="126"/>
                  </a:lnTo>
                  <a:lnTo>
                    <a:pt x="630" y="112"/>
                  </a:lnTo>
                  <a:lnTo>
                    <a:pt x="627" y="86"/>
                  </a:lnTo>
                  <a:lnTo>
                    <a:pt x="581" y="62"/>
                  </a:lnTo>
                  <a:lnTo>
                    <a:pt x="535" y="9"/>
                  </a:lnTo>
                  <a:lnTo>
                    <a:pt x="489" y="0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6E8979E-1C99-2201-7C15-B228BFE88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458" y="2486772"/>
              <a:ext cx="398161" cy="438998"/>
            </a:xfrm>
            <a:custGeom>
              <a:avLst/>
              <a:gdLst/>
              <a:ahLst/>
              <a:cxnLst>
                <a:cxn ang="0">
                  <a:pos x="50" y="403"/>
                </a:cxn>
                <a:cxn ang="0">
                  <a:pos x="57" y="440"/>
                </a:cxn>
                <a:cxn ang="0">
                  <a:pos x="33" y="456"/>
                </a:cxn>
                <a:cxn ang="0">
                  <a:pos x="39" y="480"/>
                </a:cxn>
                <a:cxn ang="0">
                  <a:pos x="86" y="489"/>
                </a:cxn>
                <a:cxn ang="0">
                  <a:pos x="110" y="486"/>
                </a:cxn>
                <a:cxn ang="0">
                  <a:pos x="123" y="508"/>
                </a:cxn>
                <a:cxn ang="0">
                  <a:pos x="147" y="515"/>
                </a:cxn>
                <a:cxn ang="0">
                  <a:pos x="187" y="473"/>
                </a:cxn>
                <a:cxn ang="0">
                  <a:pos x="193" y="418"/>
                </a:cxn>
                <a:cxn ang="0">
                  <a:pos x="251" y="346"/>
                </a:cxn>
                <a:cxn ang="0">
                  <a:pos x="369" y="284"/>
                </a:cxn>
                <a:cxn ang="0">
                  <a:pos x="429" y="214"/>
                </a:cxn>
                <a:cxn ang="0">
                  <a:pos x="470" y="141"/>
                </a:cxn>
                <a:cxn ang="0">
                  <a:pos x="442" y="93"/>
                </a:cxn>
                <a:cxn ang="0">
                  <a:pos x="462" y="77"/>
                </a:cxn>
                <a:cxn ang="0">
                  <a:pos x="415" y="55"/>
                </a:cxn>
                <a:cxn ang="0">
                  <a:pos x="308" y="71"/>
                </a:cxn>
                <a:cxn ang="0">
                  <a:pos x="277" y="40"/>
                </a:cxn>
                <a:cxn ang="0">
                  <a:pos x="171" y="2"/>
                </a:cxn>
                <a:cxn ang="0">
                  <a:pos x="173" y="0"/>
                </a:cxn>
                <a:cxn ang="0">
                  <a:pos x="75" y="60"/>
                </a:cxn>
                <a:cxn ang="0">
                  <a:pos x="68" y="115"/>
                </a:cxn>
                <a:cxn ang="0">
                  <a:pos x="33" y="148"/>
                </a:cxn>
                <a:cxn ang="0">
                  <a:pos x="35" y="189"/>
                </a:cxn>
                <a:cxn ang="0">
                  <a:pos x="0" y="207"/>
                </a:cxn>
                <a:cxn ang="0">
                  <a:pos x="15" y="260"/>
                </a:cxn>
                <a:cxn ang="0">
                  <a:pos x="15" y="300"/>
                </a:cxn>
                <a:cxn ang="0">
                  <a:pos x="2" y="315"/>
                </a:cxn>
                <a:cxn ang="0">
                  <a:pos x="30" y="324"/>
                </a:cxn>
                <a:cxn ang="0">
                  <a:pos x="66" y="361"/>
                </a:cxn>
                <a:cxn ang="0">
                  <a:pos x="72" y="321"/>
                </a:cxn>
                <a:cxn ang="0">
                  <a:pos x="107" y="315"/>
                </a:cxn>
                <a:cxn ang="0">
                  <a:pos x="81" y="387"/>
                </a:cxn>
                <a:cxn ang="0">
                  <a:pos x="48" y="403"/>
                </a:cxn>
                <a:cxn ang="0">
                  <a:pos x="50" y="403"/>
                </a:cxn>
              </a:cxnLst>
              <a:rect l="0" t="0" r="r" b="b"/>
              <a:pathLst>
                <a:path w="470" h="515">
                  <a:moveTo>
                    <a:pt x="50" y="403"/>
                  </a:moveTo>
                  <a:lnTo>
                    <a:pt x="57" y="440"/>
                  </a:lnTo>
                  <a:lnTo>
                    <a:pt x="33" y="456"/>
                  </a:lnTo>
                  <a:lnTo>
                    <a:pt x="39" y="480"/>
                  </a:lnTo>
                  <a:lnTo>
                    <a:pt x="86" y="489"/>
                  </a:lnTo>
                  <a:lnTo>
                    <a:pt x="110" y="486"/>
                  </a:lnTo>
                  <a:lnTo>
                    <a:pt x="123" y="508"/>
                  </a:lnTo>
                  <a:lnTo>
                    <a:pt x="147" y="515"/>
                  </a:lnTo>
                  <a:lnTo>
                    <a:pt x="187" y="473"/>
                  </a:lnTo>
                  <a:lnTo>
                    <a:pt x="193" y="418"/>
                  </a:lnTo>
                  <a:lnTo>
                    <a:pt x="251" y="346"/>
                  </a:lnTo>
                  <a:lnTo>
                    <a:pt x="369" y="284"/>
                  </a:lnTo>
                  <a:lnTo>
                    <a:pt x="429" y="214"/>
                  </a:lnTo>
                  <a:lnTo>
                    <a:pt x="470" y="141"/>
                  </a:lnTo>
                  <a:lnTo>
                    <a:pt x="442" y="93"/>
                  </a:lnTo>
                  <a:lnTo>
                    <a:pt x="462" y="77"/>
                  </a:lnTo>
                  <a:lnTo>
                    <a:pt x="415" y="55"/>
                  </a:lnTo>
                  <a:lnTo>
                    <a:pt x="308" y="71"/>
                  </a:lnTo>
                  <a:lnTo>
                    <a:pt x="277" y="40"/>
                  </a:lnTo>
                  <a:lnTo>
                    <a:pt x="171" y="2"/>
                  </a:lnTo>
                  <a:lnTo>
                    <a:pt x="173" y="0"/>
                  </a:lnTo>
                  <a:lnTo>
                    <a:pt x="75" y="60"/>
                  </a:lnTo>
                  <a:lnTo>
                    <a:pt x="68" y="115"/>
                  </a:lnTo>
                  <a:lnTo>
                    <a:pt x="33" y="148"/>
                  </a:lnTo>
                  <a:lnTo>
                    <a:pt x="35" y="189"/>
                  </a:lnTo>
                  <a:lnTo>
                    <a:pt x="0" y="207"/>
                  </a:lnTo>
                  <a:lnTo>
                    <a:pt x="15" y="260"/>
                  </a:lnTo>
                  <a:lnTo>
                    <a:pt x="15" y="300"/>
                  </a:lnTo>
                  <a:lnTo>
                    <a:pt x="2" y="315"/>
                  </a:lnTo>
                  <a:lnTo>
                    <a:pt x="30" y="324"/>
                  </a:lnTo>
                  <a:lnTo>
                    <a:pt x="66" y="361"/>
                  </a:lnTo>
                  <a:lnTo>
                    <a:pt x="72" y="321"/>
                  </a:lnTo>
                  <a:lnTo>
                    <a:pt x="107" y="315"/>
                  </a:lnTo>
                  <a:lnTo>
                    <a:pt x="81" y="387"/>
                  </a:lnTo>
                  <a:lnTo>
                    <a:pt x="48" y="403"/>
                  </a:lnTo>
                  <a:lnTo>
                    <a:pt x="50" y="403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06853249-9BE4-9D4E-C7B4-043DE78F9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317" y="4019860"/>
              <a:ext cx="1024328" cy="2138837"/>
            </a:xfrm>
            <a:custGeom>
              <a:avLst/>
              <a:gdLst/>
              <a:ahLst/>
              <a:cxnLst>
                <a:cxn ang="0">
                  <a:pos x="156" y="2504"/>
                </a:cxn>
                <a:cxn ang="0">
                  <a:pos x="48" y="2405"/>
                </a:cxn>
                <a:cxn ang="0">
                  <a:pos x="66" y="2201"/>
                </a:cxn>
                <a:cxn ang="0">
                  <a:pos x="74" y="1935"/>
                </a:cxn>
                <a:cxn ang="0">
                  <a:pos x="66" y="1880"/>
                </a:cxn>
                <a:cxn ang="0">
                  <a:pos x="10" y="1726"/>
                </a:cxn>
                <a:cxn ang="0">
                  <a:pos x="2" y="1510"/>
                </a:cxn>
                <a:cxn ang="0">
                  <a:pos x="13" y="1345"/>
                </a:cxn>
                <a:cxn ang="0">
                  <a:pos x="44" y="1189"/>
                </a:cxn>
                <a:cxn ang="0">
                  <a:pos x="66" y="1010"/>
                </a:cxn>
                <a:cxn ang="0">
                  <a:pos x="0" y="819"/>
                </a:cxn>
                <a:cxn ang="0">
                  <a:pos x="28" y="643"/>
                </a:cxn>
                <a:cxn ang="0">
                  <a:pos x="92" y="453"/>
                </a:cxn>
                <a:cxn ang="0">
                  <a:pos x="109" y="267"/>
                </a:cxn>
                <a:cxn ang="0">
                  <a:pos x="186" y="190"/>
                </a:cxn>
                <a:cxn ang="0">
                  <a:pos x="193" y="91"/>
                </a:cxn>
                <a:cxn ang="0">
                  <a:pos x="373" y="31"/>
                </a:cxn>
                <a:cxn ang="0">
                  <a:pos x="422" y="29"/>
                </a:cxn>
                <a:cxn ang="0">
                  <a:pos x="534" y="35"/>
                </a:cxn>
                <a:cxn ang="0">
                  <a:pos x="660" y="143"/>
                </a:cxn>
                <a:cxn ang="0">
                  <a:pos x="891" y="267"/>
                </a:cxn>
                <a:cxn ang="0">
                  <a:pos x="875" y="361"/>
                </a:cxn>
                <a:cxn ang="0">
                  <a:pos x="959" y="456"/>
                </a:cxn>
                <a:cxn ang="0">
                  <a:pos x="1122" y="394"/>
                </a:cxn>
                <a:cxn ang="0">
                  <a:pos x="1172" y="308"/>
                </a:cxn>
                <a:cxn ang="0">
                  <a:pos x="1201" y="429"/>
                </a:cxn>
                <a:cxn ang="0">
                  <a:pos x="1040" y="544"/>
                </a:cxn>
                <a:cxn ang="0">
                  <a:pos x="891" y="704"/>
                </a:cxn>
                <a:cxn ang="0">
                  <a:pos x="855" y="995"/>
                </a:cxn>
                <a:cxn ang="0">
                  <a:pos x="853" y="1048"/>
                </a:cxn>
                <a:cxn ang="0">
                  <a:pos x="913" y="1145"/>
                </a:cxn>
                <a:cxn ang="0">
                  <a:pos x="959" y="1230"/>
                </a:cxn>
                <a:cxn ang="0">
                  <a:pos x="825" y="1371"/>
                </a:cxn>
                <a:cxn ang="0">
                  <a:pos x="596" y="1386"/>
                </a:cxn>
                <a:cxn ang="0">
                  <a:pos x="589" y="1516"/>
                </a:cxn>
                <a:cxn ang="0">
                  <a:pos x="554" y="1585"/>
                </a:cxn>
                <a:cxn ang="0">
                  <a:pos x="420" y="1574"/>
                </a:cxn>
                <a:cxn ang="0">
                  <a:pos x="466" y="1683"/>
                </a:cxn>
                <a:cxn ang="0">
                  <a:pos x="519" y="1723"/>
                </a:cxn>
                <a:cxn ang="0">
                  <a:pos x="439" y="1725"/>
                </a:cxn>
                <a:cxn ang="0">
                  <a:pos x="429" y="1794"/>
                </a:cxn>
                <a:cxn ang="0">
                  <a:pos x="417" y="1904"/>
                </a:cxn>
                <a:cxn ang="0">
                  <a:pos x="329" y="1950"/>
                </a:cxn>
                <a:cxn ang="0">
                  <a:pos x="376" y="2084"/>
                </a:cxn>
                <a:cxn ang="0">
                  <a:pos x="420" y="2152"/>
                </a:cxn>
                <a:cxn ang="0">
                  <a:pos x="294" y="2337"/>
                </a:cxn>
                <a:cxn ang="0">
                  <a:pos x="292" y="2474"/>
                </a:cxn>
              </a:cxnLst>
              <a:rect l="0" t="0" r="r" b="b"/>
              <a:pathLst>
                <a:path w="1205" h="2513">
                  <a:moveTo>
                    <a:pt x="316" y="2513"/>
                  </a:moveTo>
                  <a:lnTo>
                    <a:pt x="246" y="2496"/>
                  </a:lnTo>
                  <a:lnTo>
                    <a:pt x="156" y="2504"/>
                  </a:lnTo>
                  <a:lnTo>
                    <a:pt x="125" y="2496"/>
                  </a:lnTo>
                  <a:lnTo>
                    <a:pt x="96" y="2394"/>
                  </a:lnTo>
                  <a:lnTo>
                    <a:pt x="48" y="2405"/>
                  </a:lnTo>
                  <a:lnTo>
                    <a:pt x="37" y="2324"/>
                  </a:lnTo>
                  <a:lnTo>
                    <a:pt x="65" y="2234"/>
                  </a:lnTo>
                  <a:lnTo>
                    <a:pt x="66" y="2201"/>
                  </a:lnTo>
                  <a:lnTo>
                    <a:pt x="55" y="2152"/>
                  </a:lnTo>
                  <a:lnTo>
                    <a:pt x="81" y="2066"/>
                  </a:lnTo>
                  <a:lnTo>
                    <a:pt x="74" y="1935"/>
                  </a:lnTo>
                  <a:lnTo>
                    <a:pt x="54" y="1910"/>
                  </a:lnTo>
                  <a:lnTo>
                    <a:pt x="77" y="1908"/>
                  </a:lnTo>
                  <a:lnTo>
                    <a:pt x="66" y="1880"/>
                  </a:lnTo>
                  <a:lnTo>
                    <a:pt x="44" y="1879"/>
                  </a:lnTo>
                  <a:lnTo>
                    <a:pt x="41" y="1831"/>
                  </a:lnTo>
                  <a:lnTo>
                    <a:pt x="10" y="1726"/>
                  </a:lnTo>
                  <a:lnTo>
                    <a:pt x="24" y="1677"/>
                  </a:lnTo>
                  <a:lnTo>
                    <a:pt x="4" y="1631"/>
                  </a:lnTo>
                  <a:lnTo>
                    <a:pt x="2" y="1510"/>
                  </a:lnTo>
                  <a:lnTo>
                    <a:pt x="11" y="1452"/>
                  </a:lnTo>
                  <a:lnTo>
                    <a:pt x="30" y="1398"/>
                  </a:lnTo>
                  <a:lnTo>
                    <a:pt x="13" y="1345"/>
                  </a:lnTo>
                  <a:lnTo>
                    <a:pt x="6" y="1254"/>
                  </a:lnTo>
                  <a:lnTo>
                    <a:pt x="10" y="1230"/>
                  </a:lnTo>
                  <a:lnTo>
                    <a:pt x="44" y="1189"/>
                  </a:lnTo>
                  <a:lnTo>
                    <a:pt x="33" y="1123"/>
                  </a:lnTo>
                  <a:lnTo>
                    <a:pt x="44" y="1100"/>
                  </a:lnTo>
                  <a:lnTo>
                    <a:pt x="66" y="1010"/>
                  </a:lnTo>
                  <a:lnTo>
                    <a:pt x="19" y="870"/>
                  </a:lnTo>
                  <a:lnTo>
                    <a:pt x="15" y="843"/>
                  </a:lnTo>
                  <a:lnTo>
                    <a:pt x="0" y="819"/>
                  </a:lnTo>
                  <a:lnTo>
                    <a:pt x="0" y="795"/>
                  </a:lnTo>
                  <a:lnTo>
                    <a:pt x="32" y="696"/>
                  </a:lnTo>
                  <a:lnTo>
                    <a:pt x="28" y="643"/>
                  </a:lnTo>
                  <a:lnTo>
                    <a:pt x="44" y="548"/>
                  </a:lnTo>
                  <a:lnTo>
                    <a:pt x="74" y="500"/>
                  </a:lnTo>
                  <a:lnTo>
                    <a:pt x="92" y="453"/>
                  </a:lnTo>
                  <a:lnTo>
                    <a:pt x="125" y="410"/>
                  </a:lnTo>
                  <a:lnTo>
                    <a:pt x="101" y="291"/>
                  </a:lnTo>
                  <a:lnTo>
                    <a:pt x="109" y="267"/>
                  </a:lnTo>
                  <a:lnTo>
                    <a:pt x="103" y="240"/>
                  </a:lnTo>
                  <a:lnTo>
                    <a:pt x="123" y="222"/>
                  </a:lnTo>
                  <a:lnTo>
                    <a:pt x="186" y="190"/>
                  </a:lnTo>
                  <a:lnTo>
                    <a:pt x="197" y="168"/>
                  </a:lnTo>
                  <a:lnTo>
                    <a:pt x="202" y="113"/>
                  </a:lnTo>
                  <a:lnTo>
                    <a:pt x="193" y="91"/>
                  </a:lnTo>
                  <a:lnTo>
                    <a:pt x="268" y="0"/>
                  </a:lnTo>
                  <a:lnTo>
                    <a:pt x="308" y="24"/>
                  </a:lnTo>
                  <a:lnTo>
                    <a:pt x="373" y="31"/>
                  </a:lnTo>
                  <a:lnTo>
                    <a:pt x="391" y="47"/>
                  </a:lnTo>
                  <a:lnTo>
                    <a:pt x="417" y="51"/>
                  </a:lnTo>
                  <a:lnTo>
                    <a:pt x="422" y="29"/>
                  </a:lnTo>
                  <a:lnTo>
                    <a:pt x="440" y="13"/>
                  </a:lnTo>
                  <a:lnTo>
                    <a:pt x="492" y="14"/>
                  </a:lnTo>
                  <a:lnTo>
                    <a:pt x="534" y="35"/>
                  </a:lnTo>
                  <a:lnTo>
                    <a:pt x="563" y="49"/>
                  </a:lnTo>
                  <a:lnTo>
                    <a:pt x="578" y="77"/>
                  </a:lnTo>
                  <a:lnTo>
                    <a:pt x="660" y="143"/>
                  </a:lnTo>
                  <a:lnTo>
                    <a:pt x="675" y="168"/>
                  </a:lnTo>
                  <a:lnTo>
                    <a:pt x="772" y="192"/>
                  </a:lnTo>
                  <a:lnTo>
                    <a:pt x="891" y="267"/>
                  </a:lnTo>
                  <a:lnTo>
                    <a:pt x="906" y="288"/>
                  </a:lnTo>
                  <a:lnTo>
                    <a:pt x="904" y="319"/>
                  </a:lnTo>
                  <a:lnTo>
                    <a:pt x="875" y="361"/>
                  </a:lnTo>
                  <a:lnTo>
                    <a:pt x="853" y="427"/>
                  </a:lnTo>
                  <a:lnTo>
                    <a:pt x="937" y="442"/>
                  </a:lnTo>
                  <a:lnTo>
                    <a:pt x="959" y="456"/>
                  </a:lnTo>
                  <a:lnTo>
                    <a:pt x="992" y="462"/>
                  </a:lnTo>
                  <a:lnTo>
                    <a:pt x="1045" y="451"/>
                  </a:lnTo>
                  <a:lnTo>
                    <a:pt x="1122" y="394"/>
                  </a:lnTo>
                  <a:lnTo>
                    <a:pt x="1137" y="365"/>
                  </a:lnTo>
                  <a:lnTo>
                    <a:pt x="1146" y="308"/>
                  </a:lnTo>
                  <a:lnTo>
                    <a:pt x="1172" y="308"/>
                  </a:lnTo>
                  <a:lnTo>
                    <a:pt x="1190" y="315"/>
                  </a:lnTo>
                  <a:lnTo>
                    <a:pt x="1205" y="365"/>
                  </a:lnTo>
                  <a:lnTo>
                    <a:pt x="1201" y="429"/>
                  </a:lnTo>
                  <a:lnTo>
                    <a:pt x="1152" y="464"/>
                  </a:lnTo>
                  <a:lnTo>
                    <a:pt x="1124" y="469"/>
                  </a:lnTo>
                  <a:lnTo>
                    <a:pt x="1040" y="544"/>
                  </a:lnTo>
                  <a:lnTo>
                    <a:pt x="992" y="608"/>
                  </a:lnTo>
                  <a:lnTo>
                    <a:pt x="908" y="687"/>
                  </a:lnTo>
                  <a:lnTo>
                    <a:pt x="891" y="704"/>
                  </a:lnTo>
                  <a:lnTo>
                    <a:pt x="869" y="905"/>
                  </a:lnTo>
                  <a:lnTo>
                    <a:pt x="858" y="962"/>
                  </a:lnTo>
                  <a:lnTo>
                    <a:pt x="855" y="995"/>
                  </a:lnTo>
                  <a:lnTo>
                    <a:pt x="855" y="995"/>
                  </a:lnTo>
                  <a:lnTo>
                    <a:pt x="842" y="1021"/>
                  </a:lnTo>
                  <a:lnTo>
                    <a:pt x="853" y="1048"/>
                  </a:lnTo>
                  <a:lnTo>
                    <a:pt x="910" y="1078"/>
                  </a:lnTo>
                  <a:lnTo>
                    <a:pt x="930" y="1105"/>
                  </a:lnTo>
                  <a:lnTo>
                    <a:pt x="913" y="1145"/>
                  </a:lnTo>
                  <a:lnTo>
                    <a:pt x="928" y="1180"/>
                  </a:lnTo>
                  <a:lnTo>
                    <a:pt x="955" y="1188"/>
                  </a:lnTo>
                  <a:lnTo>
                    <a:pt x="959" y="1230"/>
                  </a:lnTo>
                  <a:lnTo>
                    <a:pt x="908" y="1303"/>
                  </a:lnTo>
                  <a:lnTo>
                    <a:pt x="897" y="1338"/>
                  </a:lnTo>
                  <a:lnTo>
                    <a:pt x="825" y="1371"/>
                  </a:lnTo>
                  <a:lnTo>
                    <a:pt x="710" y="1398"/>
                  </a:lnTo>
                  <a:lnTo>
                    <a:pt x="613" y="1406"/>
                  </a:lnTo>
                  <a:lnTo>
                    <a:pt x="596" y="1386"/>
                  </a:lnTo>
                  <a:lnTo>
                    <a:pt x="591" y="1420"/>
                  </a:lnTo>
                  <a:lnTo>
                    <a:pt x="613" y="1448"/>
                  </a:lnTo>
                  <a:lnTo>
                    <a:pt x="589" y="1516"/>
                  </a:lnTo>
                  <a:lnTo>
                    <a:pt x="600" y="1536"/>
                  </a:lnTo>
                  <a:lnTo>
                    <a:pt x="596" y="1563"/>
                  </a:lnTo>
                  <a:lnTo>
                    <a:pt x="554" y="1585"/>
                  </a:lnTo>
                  <a:lnTo>
                    <a:pt x="503" y="1585"/>
                  </a:lnTo>
                  <a:lnTo>
                    <a:pt x="440" y="1554"/>
                  </a:lnTo>
                  <a:lnTo>
                    <a:pt x="420" y="1574"/>
                  </a:lnTo>
                  <a:lnTo>
                    <a:pt x="433" y="1615"/>
                  </a:lnTo>
                  <a:lnTo>
                    <a:pt x="435" y="1664"/>
                  </a:lnTo>
                  <a:lnTo>
                    <a:pt x="466" y="1683"/>
                  </a:lnTo>
                  <a:lnTo>
                    <a:pt x="512" y="1661"/>
                  </a:lnTo>
                  <a:lnTo>
                    <a:pt x="523" y="1701"/>
                  </a:lnTo>
                  <a:lnTo>
                    <a:pt x="519" y="1723"/>
                  </a:lnTo>
                  <a:lnTo>
                    <a:pt x="488" y="1723"/>
                  </a:lnTo>
                  <a:lnTo>
                    <a:pt x="468" y="1697"/>
                  </a:lnTo>
                  <a:lnTo>
                    <a:pt x="439" y="1725"/>
                  </a:lnTo>
                  <a:lnTo>
                    <a:pt x="481" y="1737"/>
                  </a:lnTo>
                  <a:lnTo>
                    <a:pt x="440" y="1765"/>
                  </a:lnTo>
                  <a:lnTo>
                    <a:pt x="429" y="1794"/>
                  </a:lnTo>
                  <a:lnTo>
                    <a:pt x="437" y="1862"/>
                  </a:lnTo>
                  <a:lnTo>
                    <a:pt x="415" y="1877"/>
                  </a:lnTo>
                  <a:lnTo>
                    <a:pt x="417" y="1904"/>
                  </a:lnTo>
                  <a:lnTo>
                    <a:pt x="382" y="1906"/>
                  </a:lnTo>
                  <a:lnTo>
                    <a:pt x="345" y="1928"/>
                  </a:lnTo>
                  <a:lnTo>
                    <a:pt x="329" y="1950"/>
                  </a:lnTo>
                  <a:lnTo>
                    <a:pt x="312" y="1992"/>
                  </a:lnTo>
                  <a:lnTo>
                    <a:pt x="321" y="2033"/>
                  </a:lnTo>
                  <a:lnTo>
                    <a:pt x="376" y="2084"/>
                  </a:lnTo>
                  <a:lnTo>
                    <a:pt x="418" y="2082"/>
                  </a:lnTo>
                  <a:lnTo>
                    <a:pt x="426" y="2110"/>
                  </a:lnTo>
                  <a:lnTo>
                    <a:pt x="420" y="2152"/>
                  </a:lnTo>
                  <a:lnTo>
                    <a:pt x="336" y="2238"/>
                  </a:lnTo>
                  <a:lnTo>
                    <a:pt x="327" y="2320"/>
                  </a:lnTo>
                  <a:lnTo>
                    <a:pt x="294" y="2337"/>
                  </a:lnTo>
                  <a:lnTo>
                    <a:pt x="270" y="2366"/>
                  </a:lnTo>
                  <a:lnTo>
                    <a:pt x="266" y="2407"/>
                  </a:lnTo>
                  <a:lnTo>
                    <a:pt x="292" y="2474"/>
                  </a:lnTo>
                  <a:lnTo>
                    <a:pt x="316" y="2513"/>
                  </a:lnTo>
                  <a:close/>
                </a:path>
              </a:pathLst>
            </a:custGeom>
            <a:grpFill/>
            <a:ln w="6350" cap="rnd" cmpd="sng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40" name="Gruppieren 5">
              <a:extLst>
                <a:ext uri="{FF2B5EF4-FFF2-40B4-BE49-F238E27FC236}">
                  <a16:creationId xmlns:a16="http://schemas.microsoft.com/office/drawing/2014/main" id="{ECF3E35F-FD22-3C49-E70C-156A746B6309}"/>
                </a:ext>
              </a:extLst>
            </p:cNvPr>
            <p:cNvGrpSpPr/>
            <p:nvPr/>
          </p:nvGrpSpPr>
          <p:grpSpPr bwMode="auto">
            <a:xfrm>
              <a:off x="3646403" y="3735703"/>
              <a:ext cx="411773" cy="2647598"/>
              <a:chOff x="3983038" y="3878263"/>
              <a:chExt cx="384175" cy="2470150"/>
            </a:xfrm>
            <a:grpFill/>
          </p:grpSpPr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E304B523-DD9C-6902-8AB6-850C4918F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438" y="5476875"/>
                <a:ext cx="38100" cy="101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24"/>
                  </a:cxn>
                  <a:cxn ang="0">
                    <a:pos x="37" y="128"/>
                  </a:cxn>
                  <a:cxn ang="0">
                    <a:pos x="46" y="93"/>
                  </a:cxn>
                  <a:cxn ang="0">
                    <a:pos x="31" y="68"/>
                  </a:cxn>
                  <a:cxn ang="0">
                    <a:pos x="48" y="36"/>
                  </a:cxn>
                  <a:cxn ang="0">
                    <a:pos x="39" y="11"/>
                  </a:cxn>
                  <a:cxn ang="0">
                    <a:pos x="0" y="0"/>
                  </a:cxn>
                </a:cxnLst>
                <a:rect l="0" t="0" r="r" b="b"/>
                <a:pathLst>
                  <a:path w="48" h="128">
                    <a:moveTo>
                      <a:pt x="0" y="0"/>
                    </a:moveTo>
                    <a:lnTo>
                      <a:pt x="2" y="124"/>
                    </a:lnTo>
                    <a:lnTo>
                      <a:pt x="37" y="128"/>
                    </a:lnTo>
                    <a:lnTo>
                      <a:pt x="46" y="93"/>
                    </a:lnTo>
                    <a:lnTo>
                      <a:pt x="31" y="68"/>
                    </a:lnTo>
                    <a:lnTo>
                      <a:pt x="48" y="36"/>
                    </a:lnTo>
                    <a:lnTo>
                      <a:pt x="39" y="11"/>
                    </a:lnTo>
                    <a:lnTo>
                      <a:pt x="0" y="0"/>
                    </a:lnTo>
                  </a:path>
                </a:pathLst>
              </a:custGeom>
              <a:grpFill/>
              <a:ln w="6350" cap="rnd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42" name="Gruppieren 4">
                <a:extLst>
                  <a:ext uri="{FF2B5EF4-FFF2-40B4-BE49-F238E27FC236}">
                    <a16:creationId xmlns:a16="http://schemas.microsoft.com/office/drawing/2014/main" id="{3F9C1A12-DB06-AAB6-BDE2-B3B12BD4375F}"/>
                  </a:ext>
                </a:extLst>
              </p:cNvPr>
              <p:cNvGrpSpPr/>
              <p:nvPr/>
            </p:nvGrpSpPr>
            <p:grpSpPr bwMode="auto">
              <a:xfrm>
                <a:off x="3983038" y="3878263"/>
                <a:ext cx="384175" cy="2470150"/>
                <a:chOff x="3983038" y="3878263"/>
                <a:chExt cx="384175" cy="2470150"/>
              </a:xfrm>
              <a:grpFill/>
            </p:grpSpPr>
            <p:sp>
              <p:nvSpPr>
                <p:cNvPr id="43" name="Freeform 38">
                  <a:extLst>
                    <a:ext uri="{FF2B5EF4-FFF2-40B4-BE49-F238E27FC236}">
                      <a16:creationId xmlns:a16="http://schemas.microsoft.com/office/drawing/2014/main" id="{FE41150A-0A9B-03E6-A05E-59748B1DC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3038" y="3878263"/>
                  <a:ext cx="366713" cy="2366963"/>
                </a:xfrm>
                <a:custGeom>
                  <a:avLst/>
                  <a:gdLst/>
                  <a:ahLst/>
                  <a:cxnLst>
                    <a:cxn ang="0">
                      <a:pos x="115" y="2389"/>
                    </a:cxn>
                    <a:cxn ang="0">
                      <a:pos x="90" y="2394"/>
                    </a:cxn>
                    <a:cxn ang="0">
                      <a:pos x="59" y="2345"/>
                    </a:cxn>
                    <a:cxn ang="0">
                      <a:pos x="15" y="2413"/>
                    </a:cxn>
                    <a:cxn ang="0">
                      <a:pos x="75" y="2427"/>
                    </a:cxn>
                    <a:cxn ang="0">
                      <a:pos x="97" y="2548"/>
                    </a:cxn>
                    <a:cxn ang="0">
                      <a:pos x="44" y="2541"/>
                    </a:cxn>
                    <a:cxn ang="0">
                      <a:pos x="68" y="2678"/>
                    </a:cxn>
                    <a:cxn ang="0">
                      <a:pos x="93" y="2724"/>
                    </a:cxn>
                    <a:cxn ang="0">
                      <a:pos x="135" y="2746"/>
                    </a:cxn>
                    <a:cxn ang="0">
                      <a:pos x="145" y="2796"/>
                    </a:cxn>
                    <a:cxn ang="0">
                      <a:pos x="161" y="2834"/>
                    </a:cxn>
                    <a:cxn ang="0">
                      <a:pos x="163" y="2854"/>
                    </a:cxn>
                    <a:cxn ang="0">
                      <a:pos x="216" y="2898"/>
                    </a:cxn>
                    <a:cxn ang="0">
                      <a:pos x="315" y="2897"/>
                    </a:cxn>
                    <a:cxn ang="0">
                      <a:pos x="288" y="2953"/>
                    </a:cxn>
                    <a:cxn ang="0">
                      <a:pos x="357" y="2975"/>
                    </a:cxn>
                    <a:cxn ang="0">
                      <a:pos x="407" y="2867"/>
                    </a:cxn>
                    <a:cxn ang="0">
                      <a:pos x="392" y="2832"/>
                    </a:cxn>
                    <a:cxn ang="0">
                      <a:pos x="242" y="2730"/>
                    </a:cxn>
                    <a:cxn ang="0">
                      <a:pos x="211" y="2570"/>
                    </a:cxn>
                    <a:cxn ang="0">
                      <a:pos x="227" y="2402"/>
                    </a:cxn>
                    <a:cxn ang="0">
                      <a:pos x="223" y="2244"/>
                    </a:cxn>
                    <a:cxn ang="0">
                      <a:pos x="187" y="2167"/>
                    </a:cxn>
                    <a:cxn ang="0">
                      <a:pos x="150" y="1967"/>
                    </a:cxn>
                    <a:cxn ang="0">
                      <a:pos x="176" y="1734"/>
                    </a:cxn>
                    <a:cxn ang="0">
                      <a:pos x="156" y="1566"/>
                    </a:cxn>
                    <a:cxn ang="0">
                      <a:pos x="190" y="1436"/>
                    </a:cxn>
                    <a:cxn ang="0">
                      <a:pos x="161" y="1179"/>
                    </a:cxn>
                    <a:cxn ang="0">
                      <a:pos x="178" y="1032"/>
                    </a:cxn>
                    <a:cxn ang="0">
                      <a:pos x="220" y="836"/>
                    </a:cxn>
                    <a:cxn ang="0">
                      <a:pos x="247" y="627"/>
                    </a:cxn>
                    <a:cxn ang="0">
                      <a:pos x="269" y="558"/>
                    </a:cxn>
                    <a:cxn ang="0">
                      <a:pos x="348" y="449"/>
                    </a:cxn>
                    <a:cxn ang="0">
                      <a:pos x="282" y="427"/>
                    </a:cxn>
                    <a:cxn ang="0">
                      <a:pos x="220" y="229"/>
                    </a:cxn>
                    <a:cxn ang="0">
                      <a:pos x="214" y="134"/>
                    </a:cxn>
                    <a:cxn ang="0">
                      <a:pos x="132" y="0"/>
                    </a:cxn>
                    <a:cxn ang="0">
                      <a:pos x="59" y="59"/>
                    </a:cxn>
                    <a:cxn ang="0">
                      <a:pos x="108" y="204"/>
                    </a:cxn>
                    <a:cxn ang="0">
                      <a:pos x="108" y="411"/>
                    </a:cxn>
                    <a:cxn ang="0">
                      <a:pos x="108" y="651"/>
                    </a:cxn>
                    <a:cxn ang="0">
                      <a:pos x="86" y="783"/>
                    </a:cxn>
                    <a:cxn ang="0">
                      <a:pos x="75" y="975"/>
                    </a:cxn>
                    <a:cxn ang="0">
                      <a:pos x="64" y="1095"/>
                    </a:cxn>
                    <a:cxn ang="0">
                      <a:pos x="84" y="1293"/>
                    </a:cxn>
                    <a:cxn ang="0">
                      <a:pos x="81" y="1403"/>
                    </a:cxn>
                    <a:cxn ang="0">
                      <a:pos x="26" y="1588"/>
                    </a:cxn>
                    <a:cxn ang="0">
                      <a:pos x="0" y="1678"/>
                    </a:cxn>
                    <a:cxn ang="0">
                      <a:pos x="27" y="1863"/>
                    </a:cxn>
                    <a:cxn ang="0">
                      <a:pos x="40" y="1980"/>
                    </a:cxn>
                    <a:cxn ang="0">
                      <a:pos x="88" y="1982"/>
                    </a:cxn>
                    <a:cxn ang="0">
                      <a:pos x="126" y="2033"/>
                    </a:cxn>
                    <a:cxn ang="0">
                      <a:pos x="112" y="2139"/>
                    </a:cxn>
                    <a:cxn ang="0">
                      <a:pos x="124" y="2220"/>
                    </a:cxn>
                    <a:cxn ang="0">
                      <a:pos x="115" y="2295"/>
                    </a:cxn>
                  </a:cxnLst>
                  <a:rect l="0" t="0" r="r" b="b"/>
                  <a:pathLst>
                    <a:path w="462" h="2983">
                      <a:moveTo>
                        <a:pt x="112" y="2325"/>
                      </a:moveTo>
                      <a:lnTo>
                        <a:pt x="119" y="2370"/>
                      </a:lnTo>
                      <a:lnTo>
                        <a:pt x="115" y="2389"/>
                      </a:lnTo>
                      <a:lnTo>
                        <a:pt x="106" y="2378"/>
                      </a:lnTo>
                      <a:lnTo>
                        <a:pt x="97" y="2394"/>
                      </a:lnTo>
                      <a:lnTo>
                        <a:pt x="90" y="2394"/>
                      </a:lnTo>
                      <a:lnTo>
                        <a:pt x="90" y="2372"/>
                      </a:lnTo>
                      <a:lnTo>
                        <a:pt x="82" y="2358"/>
                      </a:lnTo>
                      <a:lnTo>
                        <a:pt x="59" y="2345"/>
                      </a:lnTo>
                      <a:lnTo>
                        <a:pt x="31" y="2354"/>
                      </a:lnTo>
                      <a:lnTo>
                        <a:pt x="49" y="2374"/>
                      </a:lnTo>
                      <a:lnTo>
                        <a:pt x="15" y="2413"/>
                      </a:lnTo>
                      <a:lnTo>
                        <a:pt x="20" y="2440"/>
                      </a:lnTo>
                      <a:lnTo>
                        <a:pt x="44" y="2416"/>
                      </a:lnTo>
                      <a:lnTo>
                        <a:pt x="75" y="2427"/>
                      </a:lnTo>
                      <a:lnTo>
                        <a:pt x="101" y="2424"/>
                      </a:lnTo>
                      <a:lnTo>
                        <a:pt x="88" y="2475"/>
                      </a:lnTo>
                      <a:lnTo>
                        <a:pt x="97" y="2548"/>
                      </a:lnTo>
                      <a:lnTo>
                        <a:pt x="66" y="2504"/>
                      </a:lnTo>
                      <a:lnTo>
                        <a:pt x="44" y="2513"/>
                      </a:lnTo>
                      <a:lnTo>
                        <a:pt x="44" y="2541"/>
                      </a:lnTo>
                      <a:lnTo>
                        <a:pt x="75" y="2612"/>
                      </a:lnTo>
                      <a:lnTo>
                        <a:pt x="66" y="2644"/>
                      </a:lnTo>
                      <a:lnTo>
                        <a:pt x="68" y="2678"/>
                      </a:lnTo>
                      <a:lnTo>
                        <a:pt x="97" y="2682"/>
                      </a:lnTo>
                      <a:lnTo>
                        <a:pt x="82" y="2704"/>
                      </a:lnTo>
                      <a:lnTo>
                        <a:pt x="93" y="2724"/>
                      </a:lnTo>
                      <a:lnTo>
                        <a:pt x="123" y="2700"/>
                      </a:lnTo>
                      <a:lnTo>
                        <a:pt x="121" y="2721"/>
                      </a:lnTo>
                      <a:lnTo>
                        <a:pt x="135" y="2746"/>
                      </a:lnTo>
                      <a:lnTo>
                        <a:pt x="117" y="2743"/>
                      </a:lnTo>
                      <a:lnTo>
                        <a:pt x="121" y="2807"/>
                      </a:lnTo>
                      <a:lnTo>
                        <a:pt x="145" y="2796"/>
                      </a:lnTo>
                      <a:lnTo>
                        <a:pt x="148" y="2766"/>
                      </a:lnTo>
                      <a:lnTo>
                        <a:pt x="165" y="2807"/>
                      </a:lnTo>
                      <a:lnTo>
                        <a:pt x="161" y="2834"/>
                      </a:lnTo>
                      <a:lnTo>
                        <a:pt x="126" y="2832"/>
                      </a:lnTo>
                      <a:lnTo>
                        <a:pt x="134" y="2873"/>
                      </a:lnTo>
                      <a:lnTo>
                        <a:pt x="163" y="2854"/>
                      </a:lnTo>
                      <a:lnTo>
                        <a:pt x="203" y="2847"/>
                      </a:lnTo>
                      <a:lnTo>
                        <a:pt x="190" y="2895"/>
                      </a:lnTo>
                      <a:lnTo>
                        <a:pt x="216" y="2898"/>
                      </a:lnTo>
                      <a:lnTo>
                        <a:pt x="220" y="2919"/>
                      </a:lnTo>
                      <a:lnTo>
                        <a:pt x="277" y="2955"/>
                      </a:lnTo>
                      <a:lnTo>
                        <a:pt x="315" y="2897"/>
                      </a:lnTo>
                      <a:lnTo>
                        <a:pt x="337" y="2900"/>
                      </a:lnTo>
                      <a:lnTo>
                        <a:pt x="328" y="2930"/>
                      </a:lnTo>
                      <a:lnTo>
                        <a:pt x="288" y="2953"/>
                      </a:lnTo>
                      <a:lnTo>
                        <a:pt x="304" y="2974"/>
                      </a:lnTo>
                      <a:lnTo>
                        <a:pt x="343" y="2983"/>
                      </a:lnTo>
                      <a:lnTo>
                        <a:pt x="357" y="2975"/>
                      </a:lnTo>
                      <a:lnTo>
                        <a:pt x="352" y="2893"/>
                      </a:lnTo>
                      <a:lnTo>
                        <a:pt x="387" y="2869"/>
                      </a:lnTo>
                      <a:lnTo>
                        <a:pt x="407" y="2867"/>
                      </a:lnTo>
                      <a:lnTo>
                        <a:pt x="409" y="2847"/>
                      </a:lnTo>
                      <a:lnTo>
                        <a:pt x="462" y="2849"/>
                      </a:lnTo>
                      <a:lnTo>
                        <a:pt x="392" y="2832"/>
                      </a:lnTo>
                      <a:lnTo>
                        <a:pt x="302" y="2840"/>
                      </a:lnTo>
                      <a:lnTo>
                        <a:pt x="271" y="2832"/>
                      </a:lnTo>
                      <a:lnTo>
                        <a:pt x="242" y="2730"/>
                      </a:lnTo>
                      <a:lnTo>
                        <a:pt x="194" y="2741"/>
                      </a:lnTo>
                      <a:lnTo>
                        <a:pt x="183" y="2660"/>
                      </a:lnTo>
                      <a:lnTo>
                        <a:pt x="211" y="2570"/>
                      </a:lnTo>
                      <a:lnTo>
                        <a:pt x="212" y="2537"/>
                      </a:lnTo>
                      <a:lnTo>
                        <a:pt x="201" y="2488"/>
                      </a:lnTo>
                      <a:lnTo>
                        <a:pt x="227" y="2402"/>
                      </a:lnTo>
                      <a:lnTo>
                        <a:pt x="220" y="2271"/>
                      </a:lnTo>
                      <a:lnTo>
                        <a:pt x="200" y="2246"/>
                      </a:lnTo>
                      <a:lnTo>
                        <a:pt x="223" y="2244"/>
                      </a:lnTo>
                      <a:lnTo>
                        <a:pt x="212" y="2216"/>
                      </a:lnTo>
                      <a:lnTo>
                        <a:pt x="190" y="2215"/>
                      </a:lnTo>
                      <a:lnTo>
                        <a:pt x="187" y="2167"/>
                      </a:lnTo>
                      <a:lnTo>
                        <a:pt x="156" y="2062"/>
                      </a:lnTo>
                      <a:lnTo>
                        <a:pt x="170" y="2013"/>
                      </a:lnTo>
                      <a:lnTo>
                        <a:pt x="150" y="1967"/>
                      </a:lnTo>
                      <a:lnTo>
                        <a:pt x="148" y="1846"/>
                      </a:lnTo>
                      <a:lnTo>
                        <a:pt x="157" y="1788"/>
                      </a:lnTo>
                      <a:lnTo>
                        <a:pt x="176" y="1734"/>
                      </a:lnTo>
                      <a:lnTo>
                        <a:pt x="159" y="1681"/>
                      </a:lnTo>
                      <a:lnTo>
                        <a:pt x="152" y="1590"/>
                      </a:lnTo>
                      <a:lnTo>
                        <a:pt x="156" y="1566"/>
                      </a:lnTo>
                      <a:lnTo>
                        <a:pt x="190" y="1525"/>
                      </a:lnTo>
                      <a:lnTo>
                        <a:pt x="179" y="1459"/>
                      </a:lnTo>
                      <a:lnTo>
                        <a:pt x="190" y="1436"/>
                      </a:lnTo>
                      <a:lnTo>
                        <a:pt x="212" y="1346"/>
                      </a:lnTo>
                      <a:lnTo>
                        <a:pt x="165" y="1206"/>
                      </a:lnTo>
                      <a:lnTo>
                        <a:pt x="161" y="1179"/>
                      </a:lnTo>
                      <a:lnTo>
                        <a:pt x="146" y="1155"/>
                      </a:lnTo>
                      <a:lnTo>
                        <a:pt x="146" y="1131"/>
                      </a:lnTo>
                      <a:lnTo>
                        <a:pt x="178" y="1032"/>
                      </a:lnTo>
                      <a:lnTo>
                        <a:pt x="174" y="979"/>
                      </a:lnTo>
                      <a:lnTo>
                        <a:pt x="190" y="884"/>
                      </a:lnTo>
                      <a:lnTo>
                        <a:pt x="220" y="836"/>
                      </a:lnTo>
                      <a:lnTo>
                        <a:pt x="238" y="789"/>
                      </a:lnTo>
                      <a:lnTo>
                        <a:pt x="271" y="746"/>
                      </a:lnTo>
                      <a:lnTo>
                        <a:pt x="247" y="627"/>
                      </a:lnTo>
                      <a:lnTo>
                        <a:pt x="255" y="603"/>
                      </a:lnTo>
                      <a:lnTo>
                        <a:pt x="249" y="576"/>
                      </a:lnTo>
                      <a:lnTo>
                        <a:pt x="269" y="558"/>
                      </a:lnTo>
                      <a:lnTo>
                        <a:pt x="332" y="526"/>
                      </a:lnTo>
                      <a:lnTo>
                        <a:pt x="343" y="504"/>
                      </a:lnTo>
                      <a:lnTo>
                        <a:pt x="348" y="449"/>
                      </a:lnTo>
                      <a:lnTo>
                        <a:pt x="339" y="427"/>
                      </a:lnTo>
                      <a:lnTo>
                        <a:pt x="306" y="433"/>
                      </a:lnTo>
                      <a:lnTo>
                        <a:pt x="282" y="427"/>
                      </a:lnTo>
                      <a:lnTo>
                        <a:pt x="242" y="268"/>
                      </a:lnTo>
                      <a:lnTo>
                        <a:pt x="223" y="255"/>
                      </a:lnTo>
                      <a:lnTo>
                        <a:pt x="220" y="229"/>
                      </a:lnTo>
                      <a:lnTo>
                        <a:pt x="205" y="207"/>
                      </a:lnTo>
                      <a:lnTo>
                        <a:pt x="220" y="184"/>
                      </a:lnTo>
                      <a:lnTo>
                        <a:pt x="214" y="134"/>
                      </a:lnTo>
                      <a:lnTo>
                        <a:pt x="178" y="97"/>
                      </a:lnTo>
                      <a:lnTo>
                        <a:pt x="168" y="39"/>
                      </a:lnTo>
                      <a:lnTo>
                        <a:pt x="132" y="0"/>
                      </a:lnTo>
                      <a:lnTo>
                        <a:pt x="99" y="44"/>
                      </a:lnTo>
                      <a:lnTo>
                        <a:pt x="75" y="46"/>
                      </a:lnTo>
                      <a:lnTo>
                        <a:pt x="59" y="59"/>
                      </a:lnTo>
                      <a:lnTo>
                        <a:pt x="59" y="61"/>
                      </a:lnTo>
                      <a:lnTo>
                        <a:pt x="82" y="103"/>
                      </a:lnTo>
                      <a:lnTo>
                        <a:pt x="108" y="204"/>
                      </a:lnTo>
                      <a:lnTo>
                        <a:pt x="104" y="246"/>
                      </a:lnTo>
                      <a:lnTo>
                        <a:pt x="115" y="327"/>
                      </a:lnTo>
                      <a:lnTo>
                        <a:pt x="108" y="411"/>
                      </a:lnTo>
                      <a:lnTo>
                        <a:pt x="91" y="453"/>
                      </a:lnTo>
                      <a:lnTo>
                        <a:pt x="95" y="576"/>
                      </a:lnTo>
                      <a:lnTo>
                        <a:pt x="108" y="651"/>
                      </a:lnTo>
                      <a:lnTo>
                        <a:pt x="90" y="680"/>
                      </a:lnTo>
                      <a:lnTo>
                        <a:pt x="106" y="726"/>
                      </a:lnTo>
                      <a:lnTo>
                        <a:pt x="86" y="783"/>
                      </a:lnTo>
                      <a:lnTo>
                        <a:pt x="90" y="823"/>
                      </a:lnTo>
                      <a:lnTo>
                        <a:pt x="59" y="950"/>
                      </a:lnTo>
                      <a:lnTo>
                        <a:pt x="75" y="975"/>
                      </a:lnTo>
                      <a:lnTo>
                        <a:pt x="86" y="1030"/>
                      </a:lnTo>
                      <a:lnTo>
                        <a:pt x="64" y="1052"/>
                      </a:lnTo>
                      <a:lnTo>
                        <a:pt x="64" y="1095"/>
                      </a:lnTo>
                      <a:lnTo>
                        <a:pt x="86" y="1210"/>
                      </a:lnTo>
                      <a:lnTo>
                        <a:pt x="101" y="1236"/>
                      </a:lnTo>
                      <a:lnTo>
                        <a:pt x="84" y="1293"/>
                      </a:lnTo>
                      <a:lnTo>
                        <a:pt x="95" y="1333"/>
                      </a:lnTo>
                      <a:lnTo>
                        <a:pt x="81" y="1360"/>
                      </a:lnTo>
                      <a:lnTo>
                        <a:pt x="81" y="1403"/>
                      </a:lnTo>
                      <a:lnTo>
                        <a:pt x="51" y="1489"/>
                      </a:lnTo>
                      <a:lnTo>
                        <a:pt x="40" y="1571"/>
                      </a:lnTo>
                      <a:lnTo>
                        <a:pt x="26" y="1588"/>
                      </a:lnTo>
                      <a:lnTo>
                        <a:pt x="31" y="1628"/>
                      </a:lnTo>
                      <a:lnTo>
                        <a:pt x="4" y="1630"/>
                      </a:lnTo>
                      <a:lnTo>
                        <a:pt x="0" y="1678"/>
                      </a:lnTo>
                      <a:lnTo>
                        <a:pt x="22" y="1712"/>
                      </a:lnTo>
                      <a:lnTo>
                        <a:pt x="48" y="1821"/>
                      </a:lnTo>
                      <a:lnTo>
                        <a:pt x="27" y="1863"/>
                      </a:lnTo>
                      <a:lnTo>
                        <a:pt x="35" y="1910"/>
                      </a:lnTo>
                      <a:lnTo>
                        <a:pt x="29" y="1945"/>
                      </a:lnTo>
                      <a:lnTo>
                        <a:pt x="40" y="1980"/>
                      </a:lnTo>
                      <a:lnTo>
                        <a:pt x="55" y="2006"/>
                      </a:lnTo>
                      <a:lnTo>
                        <a:pt x="82" y="2011"/>
                      </a:lnTo>
                      <a:lnTo>
                        <a:pt x="88" y="1982"/>
                      </a:lnTo>
                      <a:lnTo>
                        <a:pt x="119" y="1993"/>
                      </a:lnTo>
                      <a:lnTo>
                        <a:pt x="108" y="2022"/>
                      </a:lnTo>
                      <a:lnTo>
                        <a:pt x="126" y="2033"/>
                      </a:lnTo>
                      <a:lnTo>
                        <a:pt x="113" y="2048"/>
                      </a:lnTo>
                      <a:lnTo>
                        <a:pt x="121" y="2105"/>
                      </a:lnTo>
                      <a:lnTo>
                        <a:pt x="112" y="2139"/>
                      </a:lnTo>
                      <a:lnTo>
                        <a:pt x="126" y="2165"/>
                      </a:lnTo>
                      <a:lnTo>
                        <a:pt x="112" y="2202"/>
                      </a:lnTo>
                      <a:lnTo>
                        <a:pt x="124" y="2220"/>
                      </a:lnTo>
                      <a:lnTo>
                        <a:pt x="104" y="2244"/>
                      </a:lnTo>
                      <a:lnTo>
                        <a:pt x="113" y="2270"/>
                      </a:lnTo>
                      <a:lnTo>
                        <a:pt x="115" y="2295"/>
                      </a:lnTo>
                      <a:lnTo>
                        <a:pt x="112" y="2325"/>
                      </a:lnTo>
                      <a:close/>
                    </a:path>
                  </a:pathLst>
                </a:custGeom>
                <a:grpFill/>
                <a:ln w="6350" cap="rnd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Freeform 40">
                  <a:extLst>
                    <a:ext uri="{FF2B5EF4-FFF2-40B4-BE49-F238E27FC236}">
                      <a16:creationId xmlns:a16="http://schemas.microsoft.com/office/drawing/2014/main" id="{1387611F-7EE3-6863-BB59-40E5A60E4C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0038" y="6156325"/>
                  <a:ext cx="257175" cy="192088"/>
                </a:xfrm>
                <a:custGeom>
                  <a:avLst/>
                  <a:gdLst/>
                  <a:ahLst/>
                  <a:cxnLst>
                    <a:cxn ang="0">
                      <a:pos x="295" y="7"/>
                    </a:cxn>
                    <a:cxn ang="0">
                      <a:pos x="325" y="233"/>
                    </a:cxn>
                    <a:cxn ang="0">
                      <a:pos x="323" y="233"/>
                    </a:cxn>
                    <a:cxn ang="0">
                      <a:pos x="294" y="242"/>
                    </a:cxn>
                    <a:cxn ang="0">
                      <a:pos x="268" y="231"/>
                    </a:cxn>
                    <a:cxn ang="0">
                      <a:pos x="257" y="203"/>
                    </a:cxn>
                    <a:cxn ang="0">
                      <a:pos x="250" y="233"/>
                    </a:cxn>
                    <a:cxn ang="0">
                      <a:pos x="217" y="222"/>
                    </a:cxn>
                    <a:cxn ang="0">
                      <a:pos x="187" y="183"/>
                    </a:cxn>
                    <a:cxn ang="0">
                      <a:pos x="184" y="163"/>
                    </a:cxn>
                    <a:cxn ang="0">
                      <a:pos x="145" y="152"/>
                    </a:cxn>
                    <a:cxn ang="0">
                      <a:pos x="118" y="139"/>
                    </a:cxn>
                    <a:cxn ang="0">
                      <a:pos x="86" y="143"/>
                    </a:cxn>
                    <a:cxn ang="0">
                      <a:pos x="83" y="123"/>
                    </a:cxn>
                    <a:cxn ang="0">
                      <a:pos x="55" y="104"/>
                    </a:cxn>
                    <a:cxn ang="0">
                      <a:pos x="68" y="82"/>
                    </a:cxn>
                    <a:cxn ang="0">
                      <a:pos x="42" y="77"/>
                    </a:cxn>
                    <a:cxn ang="0">
                      <a:pos x="13" y="60"/>
                    </a:cxn>
                    <a:cxn ang="0">
                      <a:pos x="0" y="40"/>
                    </a:cxn>
                    <a:cxn ang="0">
                      <a:pos x="198" y="139"/>
                    </a:cxn>
                    <a:cxn ang="0">
                      <a:pos x="217" y="97"/>
                    </a:cxn>
                    <a:cxn ang="0">
                      <a:pos x="231" y="136"/>
                    </a:cxn>
                    <a:cxn ang="0">
                      <a:pos x="248" y="141"/>
                    </a:cxn>
                    <a:cxn ang="0">
                      <a:pos x="239" y="101"/>
                    </a:cxn>
                    <a:cxn ang="0">
                      <a:pos x="272" y="77"/>
                    </a:cxn>
                    <a:cxn ang="0">
                      <a:pos x="266" y="64"/>
                    </a:cxn>
                    <a:cxn ang="0">
                      <a:pos x="231" y="81"/>
                    </a:cxn>
                    <a:cxn ang="0">
                      <a:pos x="217" y="68"/>
                    </a:cxn>
                    <a:cxn ang="0">
                      <a:pos x="218" y="26"/>
                    </a:cxn>
                    <a:cxn ang="0">
                      <a:pos x="244" y="26"/>
                    </a:cxn>
                    <a:cxn ang="0">
                      <a:pos x="253" y="4"/>
                    </a:cxn>
                    <a:cxn ang="0">
                      <a:pos x="270" y="9"/>
                    </a:cxn>
                    <a:cxn ang="0">
                      <a:pos x="290" y="0"/>
                    </a:cxn>
                    <a:cxn ang="0">
                      <a:pos x="295" y="7"/>
                    </a:cxn>
                  </a:cxnLst>
                  <a:rect l="0" t="0" r="r" b="b"/>
                  <a:pathLst>
                    <a:path w="325" h="242">
                      <a:moveTo>
                        <a:pt x="295" y="7"/>
                      </a:moveTo>
                      <a:lnTo>
                        <a:pt x="325" y="233"/>
                      </a:lnTo>
                      <a:lnTo>
                        <a:pt x="323" y="233"/>
                      </a:lnTo>
                      <a:lnTo>
                        <a:pt x="294" y="242"/>
                      </a:lnTo>
                      <a:lnTo>
                        <a:pt x="268" y="231"/>
                      </a:lnTo>
                      <a:lnTo>
                        <a:pt x="257" y="203"/>
                      </a:lnTo>
                      <a:lnTo>
                        <a:pt x="250" y="233"/>
                      </a:lnTo>
                      <a:lnTo>
                        <a:pt x="217" y="222"/>
                      </a:lnTo>
                      <a:lnTo>
                        <a:pt x="187" y="183"/>
                      </a:lnTo>
                      <a:lnTo>
                        <a:pt x="184" y="163"/>
                      </a:lnTo>
                      <a:lnTo>
                        <a:pt x="145" y="152"/>
                      </a:lnTo>
                      <a:lnTo>
                        <a:pt x="118" y="139"/>
                      </a:lnTo>
                      <a:lnTo>
                        <a:pt x="86" y="143"/>
                      </a:lnTo>
                      <a:lnTo>
                        <a:pt x="83" y="123"/>
                      </a:lnTo>
                      <a:lnTo>
                        <a:pt x="55" y="104"/>
                      </a:lnTo>
                      <a:lnTo>
                        <a:pt x="68" y="82"/>
                      </a:lnTo>
                      <a:lnTo>
                        <a:pt x="42" y="77"/>
                      </a:lnTo>
                      <a:lnTo>
                        <a:pt x="13" y="60"/>
                      </a:lnTo>
                      <a:lnTo>
                        <a:pt x="0" y="40"/>
                      </a:lnTo>
                      <a:lnTo>
                        <a:pt x="198" y="139"/>
                      </a:lnTo>
                      <a:lnTo>
                        <a:pt x="217" y="97"/>
                      </a:lnTo>
                      <a:lnTo>
                        <a:pt x="231" y="136"/>
                      </a:lnTo>
                      <a:lnTo>
                        <a:pt x="248" y="141"/>
                      </a:lnTo>
                      <a:lnTo>
                        <a:pt x="239" y="101"/>
                      </a:lnTo>
                      <a:lnTo>
                        <a:pt x="272" y="77"/>
                      </a:lnTo>
                      <a:lnTo>
                        <a:pt x="266" y="64"/>
                      </a:lnTo>
                      <a:lnTo>
                        <a:pt x="231" y="81"/>
                      </a:lnTo>
                      <a:lnTo>
                        <a:pt x="217" y="68"/>
                      </a:lnTo>
                      <a:lnTo>
                        <a:pt x="218" y="26"/>
                      </a:lnTo>
                      <a:lnTo>
                        <a:pt x="244" y="26"/>
                      </a:lnTo>
                      <a:lnTo>
                        <a:pt x="253" y="4"/>
                      </a:lnTo>
                      <a:lnTo>
                        <a:pt x="270" y="9"/>
                      </a:lnTo>
                      <a:lnTo>
                        <a:pt x="290" y="0"/>
                      </a:lnTo>
                      <a:lnTo>
                        <a:pt x="295" y="7"/>
                      </a:lnTo>
                      <a:close/>
                    </a:path>
                  </a:pathLst>
                </a:custGeom>
                <a:grpFill/>
                <a:ln w="6350" cap="rnd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pic>
        <p:nvPicPr>
          <p:cNvPr id="45" name="Picture 31">
            <a:extLst>
              <a:ext uri="{FF2B5EF4-FFF2-40B4-BE49-F238E27FC236}">
                <a16:creationId xmlns:a16="http://schemas.microsoft.com/office/drawing/2014/main" id="{B2B403DB-4AB2-2A5B-AD49-3941FBF8F7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701" y="2567236"/>
            <a:ext cx="260525" cy="269740"/>
          </a:xfrm>
          <a:prstGeom prst="rect">
            <a:avLst/>
          </a:prstGeom>
          <a:ln>
            <a:noFill/>
          </a:ln>
        </p:spPr>
      </p:pic>
      <p:pic>
        <p:nvPicPr>
          <p:cNvPr id="46" name="Picture 30">
            <a:extLst>
              <a:ext uri="{FF2B5EF4-FFF2-40B4-BE49-F238E27FC236}">
                <a16:creationId xmlns:a16="http://schemas.microsoft.com/office/drawing/2014/main" id="{7547D314-C54A-971A-3468-5AB3A0A2CB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870" y="5109642"/>
            <a:ext cx="289640" cy="299885"/>
          </a:xfrm>
          <a:prstGeom prst="ellipse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73818D-5476-654F-7710-CECC70E76556}"/>
              </a:ext>
            </a:extLst>
          </p:cNvPr>
          <p:cNvSpPr txBox="1"/>
          <p:nvPr/>
        </p:nvSpPr>
        <p:spPr>
          <a:xfrm>
            <a:off x="365574" y="218847"/>
            <a:ext cx="782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9">
              <a:buClrTx/>
              <a:defRPr/>
            </a:pPr>
            <a:r>
              <a:rPr lang="es-ES" sz="2400" b="1" dirty="0">
                <a:solidFill>
                  <a:srgbClr val="323F50"/>
                </a:solidFill>
                <a:latin typeface="Plus Jakarta Sans ExtraBold"/>
                <a:cs typeface="Plus Jakarta Sans ExtraBold"/>
              </a:rPr>
              <a:t>Colombia busca impulsar la inversión en tecnología</a:t>
            </a:r>
            <a:endParaRPr lang="en-US" sz="2400" b="1" dirty="0">
              <a:solidFill>
                <a:srgbClr val="323F50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F1E881-EC6D-C5BD-59A2-413FF35563C5}"/>
              </a:ext>
            </a:extLst>
          </p:cNvPr>
          <p:cNvSpPr/>
          <p:nvPr/>
        </p:nvSpPr>
        <p:spPr bwMode="auto">
          <a:xfrm>
            <a:off x="441939" y="2491002"/>
            <a:ext cx="4057164" cy="73866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s-ES" sz="1600" dirty="0">
                <a:solidFill>
                  <a:srgbClr val="323F50"/>
                </a:solidFill>
                <a:latin typeface="DM Sans"/>
              </a:rPr>
              <a:t>El gobierno ha establecido un marco normativo que promueve la masificación de las Tecnologías</a:t>
            </a:r>
            <a:endParaRPr lang="en-US" sz="16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3DDB6-AD44-53E4-BA8C-47E2BD63486F}"/>
              </a:ext>
            </a:extLst>
          </p:cNvPr>
          <p:cNvSpPr/>
          <p:nvPr/>
        </p:nvSpPr>
        <p:spPr bwMode="auto">
          <a:xfrm>
            <a:off x="477622" y="4945578"/>
            <a:ext cx="4144445" cy="1323439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n-US" sz="36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90% 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son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pequeñas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y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medianas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donde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destacan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las </a:t>
            </a:r>
            <a:r>
              <a:rPr lang="es-CL" sz="1600" dirty="0">
                <a:solidFill>
                  <a:srgbClr val="323F50"/>
                </a:solidFill>
                <a:latin typeface="DM Sans"/>
              </a:rPr>
              <a:t>Nativas Digitales y empresas en proceso de digitalización </a:t>
            </a:r>
            <a:endParaRPr lang="en-US" sz="1600" dirty="0">
              <a:solidFill>
                <a:srgbClr val="323F50"/>
              </a:solidFill>
              <a:latin typeface="DM Sans"/>
            </a:endParaRPr>
          </a:p>
          <a:p>
            <a:pPr defTabSz="914102">
              <a:buClrTx/>
              <a:defRPr/>
            </a:pPr>
            <a:endParaRPr lang="en-US" sz="1800" dirty="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BBB922-11D5-D7CA-F9A5-724D56F6BE69}"/>
              </a:ext>
            </a:extLst>
          </p:cNvPr>
          <p:cNvSpPr/>
          <p:nvPr/>
        </p:nvSpPr>
        <p:spPr bwMode="auto">
          <a:xfrm flipH="1">
            <a:off x="8110938" y="3812476"/>
            <a:ext cx="3823210" cy="76944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n-US" sz="32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USD 300MM </a:t>
            </a:r>
            <a:br>
              <a:rPr lang="en-US" sz="44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</a:br>
            <a:r>
              <a:rPr lang="en-US" sz="18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+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para Desarrollo e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Innovación</a:t>
            </a:r>
            <a:endParaRPr lang="en-US" sz="16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DF32E5-2027-B5FF-3DD7-183325C86209}"/>
              </a:ext>
            </a:extLst>
          </p:cNvPr>
          <p:cNvSpPr/>
          <p:nvPr/>
        </p:nvSpPr>
        <p:spPr bwMode="auto">
          <a:xfrm flipH="1">
            <a:off x="8078208" y="4987037"/>
            <a:ext cx="3627239" cy="984885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s-CL" sz="1600" dirty="0">
                <a:solidFill>
                  <a:srgbClr val="323F50"/>
                </a:solidFill>
                <a:latin typeface="DM Sans"/>
              </a:rPr>
              <a:t>Estas empresas se caracterizan en el uso soluciones de “nube” o debido a las capacidades de estas para poder acelerar la Transformación </a:t>
            </a:r>
            <a:endParaRPr lang="en-US" sz="16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7DF38-0C5B-A078-507A-752A55EA22FE}"/>
              </a:ext>
            </a:extLst>
          </p:cNvPr>
          <p:cNvSpPr/>
          <p:nvPr/>
        </p:nvSpPr>
        <p:spPr bwMode="auto">
          <a:xfrm flipH="1">
            <a:off x="8110939" y="2352359"/>
            <a:ext cx="3627239" cy="73866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n-US" sz="32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80%</a:t>
            </a:r>
            <a:r>
              <a:rPr lang="es-CL" sz="18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  </a:t>
            </a:r>
            <a:r>
              <a:rPr lang="es-CL" sz="1600" dirty="0" err="1">
                <a:solidFill>
                  <a:srgbClr val="323F50"/>
                </a:solidFill>
                <a:latin typeface="DM Sans"/>
              </a:rPr>
              <a:t>Foodtech</a:t>
            </a:r>
            <a:r>
              <a:rPr lang="es-CL" sz="1600" dirty="0">
                <a:solidFill>
                  <a:srgbClr val="323F50"/>
                </a:solidFill>
                <a:latin typeface="DM Sans"/>
              </a:rPr>
              <a:t>, Real Estate, Fintech, </a:t>
            </a:r>
            <a:r>
              <a:rPr lang="es-CL" sz="1600" dirty="0" err="1">
                <a:solidFill>
                  <a:srgbClr val="323F50"/>
                </a:solidFill>
                <a:latin typeface="DM Sans"/>
              </a:rPr>
              <a:t>Retailtech</a:t>
            </a:r>
            <a:r>
              <a:rPr lang="es-CL" sz="1600" dirty="0">
                <a:solidFill>
                  <a:srgbClr val="323F50"/>
                </a:solidFill>
                <a:latin typeface="DM Sans"/>
              </a:rPr>
              <a:t>, </a:t>
            </a:r>
            <a:r>
              <a:rPr lang="es-CL" sz="1600" dirty="0" err="1">
                <a:solidFill>
                  <a:srgbClr val="323F50"/>
                </a:solidFill>
                <a:latin typeface="DM Sans"/>
              </a:rPr>
              <a:t>LogTech</a:t>
            </a:r>
            <a:r>
              <a:rPr lang="es-CL" sz="1600" dirty="0">
                <a:solidFill>
                  <a:srgbClr val="323F50"/>
                </a:solidFill>
                <a:latin typeface="DM Sans"/>
              </a:rPr>
              <a:t> </a:t>
            </a:r>
            <a:endParaRPr lang="en-US" sz="16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021BF-66CE-1E28-8506-BC3EF5993413}"/>
              </a:ext>
            </a:extLst>
          </p:cNvPr>
          <p:cNvSpPr/>
          <p:nvPr/>
        </p:nvSpPr>
        <p:spPr bwMode="auto">
          <a:xfrm>
            <a:off x="4699718" y="2269132"/>
            <a:ext cx="2687372" cy="2687374"/>
          </a:xfrm>
          <a:prstGeom prst="ellipse">
            <a:avLst/>
          </a:prstGeom>
          <a:noFill/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73152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>
              <a:buClrTx/>
              <a:defRPr/>
            </a:pPr>
            <a:r>
              <a:rPr lang="en-US" sz="32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1,6M</a:t>
            </a:r>
            <a:r>
              <a:rPr lang="en-US" sz="28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 </a:t>
            </a:r>
          </a:p>
          <a:p>
            <a:pPr algn="ctr" defTabSz="914102">
              <a:buClrTx/>
              <a:defRPr/>
            </a:pPr>
            <a:r>
              <a:rPr lang="en-US" sz="2000" kern="1200" spc="-50" dirty="0" err="1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Empresas</a:t>
            </a:r>
            <a:endParaRPr lang="en-US" sz="2000" kern="1200" spc="-50" dirty="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823DBB7-F7D2-FBB3-E120-B81B56BAF67F}"/>
              </a:ext>
            </a:extLst>
          </p:cNvPr>
          <p:cNvSpPr>
            <a:spLocks/>
          </p:cNvSpPr>
          <p:nvPr/>
        </p:nvSpPr>
        <p:spPr bwMode="auto">
          <a:xfrm>
            <a:off x="6951700" y="2640380"/>
            <a:ext cx="979571" cy="1111113"/>
          </a:xfrm>
          <a:custGeom>
            <a:avLst/>
            <a:gdLst>
              <a:gd name="T0" fmla="*/ 793 w 2753"/>
              <a:gd name="T1" fmla="*/ 0 h 3115"/>
              <a:gd name="T2" fmla="*/ 2753 w 2753"/>
              <a:gd name="T3" fmla="*/ 2698 h 3115"/>
              <a:gd name="T4" fmla="*/ 1470 w 2753"/>
              <a:gd name="T5" fmla="*/ 3115 h 3115"/>
              <a:gd name="T6" fmla="*/ 0 w 2753"/>
              <a:gd name="T7" fmla="*/ 1092 h 3115"/>
              <a:gd name="T8" fmla="*/ 793 w 2753"/>
              <a:gd name="T9" fmla="*/ 0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3" h="3115">
                <a:moveTo>
                  <a:pt x="793" y="0"/>
                </a:moveTo>
                <a:cubicBezTo>
                  <a:pt x="1715" y="670"/>
                  <a:pt x="2401" y="1615"/>
                  <a:pt x="2753" y="2698"/>
                </a:cubicBezTo>
                <a:lnTo>
                  <a:pt x="1470" y="3115"/>
                </a:lnTo>
                <a:cubicBezTo>
                  <a:pt x="1206" y="2302"/>
                  <a:pt x="691" y="1594"/>
                  <a:pt x="0" y="1092"/>
                </a:cubicBezTo>
                <a:lnTo>
                  <a:pt x="793" y="0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IN" sz="180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90A3885E-3D2D-909D-5CF5-DB98BE03E50E}"/>
              </a:ext>
            </a:extLst>
          </p:cNvPr>
          <p:cNvSpPr>
            <a:spLocks/>
          </p:cNvSpPr>
          <p:nvPr/>
        </p:nvSpPr>
        <p:spPr bwMode="auto">
          <a:xfrm>
            <a:off x="6951700" y="4644302"/>
            <a:ext cx="979571" cy="1111113"/>
          </a:xfrm>
          <a:custGeom>
            <a:avLst/>
            <a:gdLst>
              <a:gd name="T0" fmla="*/ 2753 w 2753"/>
              <a:gd name="T1" fmla="*/ 417 h 3115"/>
              <a:gd name="T2" fmla="*/ 793 w 2753"/>
              <a:gd name="T3" fmla="*/ 3115 h 3115"/>
              <a:gd name="T4" fmla="*/ 0 w 2753"/>
              <a:gd name="T5" fmla="*/ 2023 h 3115"/>
              <a:gd name="T6" fmla="*/ 1470 w 2753"/>
              <a:gd name="T7" fmla="*/ 0 h 3115"/>
              <a:gd name="T8" fmla="*/ 2753 w 2753"/>
              <a:gd name="T9" fmla="*/ 417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3" h="3115">
                <a:moveTo>
                  <a:pt x="2753" y="417"/>
                </a:moveTo>
                <a:cubicBezTo>
                  <a:pt x="2401" y="1501"/>
                  <a:pt x="1715" y="2445"/>
                  <a:pt x="793" y="3115"/>
                </a:cubicBezTo>
                <a:lnTo>
                  <a:pt x="0" y="2023"/>
                </a:lnTo>
                <a:cubicBezTo>
                  <a:pt x="691" y="1521"/>
                  <a:pt x="1206" y="813"/>
                  <a:pt x="1470" y="0"/>
                </a:cubicBezTo>
                <a:lnTo>
                  <a:pt x="2753" y="417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IN" sz="180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F4AD80-E693-24AD-4C06-44E381675B85}"/>
              </a:ext>
            </a:extLst>
          </p:cNvPr>
          <p:cNvGrpSpPr/>
          <p:nvPr/>
        </p:nvGrpSpPr>
        <p:grpSpPr>
          <a:xfrm>
            <a:off x="7475070" y="3603158"/>
            <a:ext cx="580746" cy="1189479"/>
            <a:chOff x="7466001" y="3184683"/>
            <a:chExt cx="580746" cy="1189479"/>
          </a:xfrm>
          <a:solidFill>
            <a:schemeClr val="accent2"/>
          </a:solidFill>
        </p:grpSpPr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15659DA-BDEF-AAA0-A476-87D49C834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6001" y="3184683"/>
              <a:ext cx="580746" cy="1189479"/>
            </a:xfrm>
            <a:custGeom>
              <a:avLst/>
              <a:gdLst>
                <a:gd name="T0" fmla="*/ 1283 w 1635"/>
                <a:gd name="T1" fmla="*/ 0 h 3335"/>
                <a:gd name="T2" fmla="*/ 1283 w 1635"/>
                <a:gd name="T3" fmla="*/ 3335 h 3335"/>
                <a:gd name="T4" fmla="*/ 0 w 1635"/>
                <a:gd name="T5" fmla="*/ 2918 h 3335"/>
                <a:gd name="T6" fmla="*/ 0 w 1635"/>
                <a:gd name="T7" fmla="*/ 417 h 3335"/>
                <a:gd name="T8" fmla="*/ 1283 w 1635"/>
                <a:gd name="T9" fmla="*/ 0 h 3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5" h="3335">
                  <a:moveTo>
                    <a:pt x="1283" y="0"/>
                  </a:moveTo>
                  <a:cubicBezTo>
                    <a:pt x="1635" y="1084"/>
                    <a:pt x="1635" y="2251"/>
                    <a:pt x="1283" y="3335"/>
                  </a:cubicBezTo>
                  <a:lnTo>
                    <a:pt x="0" y="2918"/>
                  </a:lnTo>
                  <a:cubicBezTo>
                    <a:pt x="264" y="2105"/>
                    <a:pt x="264" y="1230"/>
                    <a:pt x="0" y="417"/>
                  </a:cubicBezTo>
                  <a:lnTo>
                    <a:pt x="128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13" name="money_2" title="Icon of a dollar sign with an arrow around it pointing clockwise">
              <a:extLst>
                <a:ext uri="{FF2B5EF4-FFF2-40B4-BE49-F238E27FC236}">
                  <a16:creationId xmlns:a16="http://schemas.microsoft.com/office/drawing/2014/main" id="{134B4032-4076-A9B3-4FD4-CD9619093EF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620775" y="3642570"/>
              <a:ext cx="300962" cy="317328"/>
            </a:xfrm>
            <a:custGeom>
              <a:avLst/>
              <a:gdLst>
                <a:gd name="T0" fmla="*/ 307 w 307"/>
                <a:gd name="T1" fmla="*/ 163 h 326"/>
                <a:gd name="T2" fmla="*/ 282 w 307"/>
                <a:gd name="T3" fmla="*/ 244 h 326"/>
                <a:gd name="T4" fmla="*/ 82 w 307"/>
                <a:gd name="T5" fmla="*/ 281 h 326"/>
                <a:gd name="T6" fmla="*/ 45 w 307"/>
                <a:gd name="T7" fmla="*/ 82 h 326"/>
                <a:gd name="T8" fmla="*/ 245 w 307"/>
                <a:gd name="T9" fmla="*/ 45 h 326"/>
                <a:gd name="T10" fmla="*/ 297 w 307"/>
                <a:gd name="T11" fmla="*/ 110 h 326"/>
                <a:gd name="T12" fmla="*/ 257 w 307"/>
                <a:gd name="T13" fmla="*/ 99 h 326"/>
                <a:gd name="T14" fmla="*/ 297 w 307"/>
                <a:gd name="T15" fmla="*/ 109 h 326"/>
                <a:gd name="T16" fmla="*/ 307 w 307"/>
                <a:gd name="T17" fmla="*/ 70 h 326"/>
                <a:gd name="T18" fmla="*/ 126 w 307"/>
                <a:gd name="T19" fmla="*/ 199 h 326"/>
                <a:gd name="T20" fmla="*/ 182 w 307"/>
                <a:gd name="T21" fmla="*/ 199 h 326"/>
                <a:gd name="T22" fmla="*/ 202 w 307"/>
                <a:gd name="T23" fmla="*/ 179 h 326"/>
                <a:gd name="T24" fmla="*/ 182 w 307"/>
                <a:gd name="T25" fmla="*/ 158 h 326"/>
                <a:gd name="T26" fmla="*/ 147 w 307"/>
                <a:gd name="T27" fmla="*/ 158 h 326"/>
                <a:gd name="T28" fmla="*/ 126 w 307"/>
                <a:gd name="T29" fmla="*/ 137 h 326"/>
                <a:gd name="T30" fmla="*/ 147 w 307"/>
                <a:gd name="T31" fmla="*/ 117 h 326"/>
                <a:gd name="T32" fmla="*/ 201 w 307"/>
                <a:gd name="T33" fmla="*/ 117 h 326"/>
                <a:gd name="T34" fmla="*/ 164 w 307"/>
                <a:gd name="T35" fmla="*/ 88 h 326"/>
                <a:gd name="T36" fmla="*/ 164 w 307"/>
                <a:gd name="T37" fmla="*/ 2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7" h="326">
                  <a:moveTo>
                    <a:pt x="307" y="163"/>
                  </a:moveTo>
                  <a:cubicBezTo>
                    <a:pt x="307" y="191"/>
                    <a:pt x="299" y="219"/>
                    <a:pt x="282" y="244"/>
                  </a:cubicBezTo>
                  <a:cubicBezTo>
                    <a:pt x="237" y="310"/>
                    <a:pt x="148" y="326"/>
                    <a:pt x="82" y="281"/>
                  </a:cubicBezTo>
                  <a:cubicBezTo>
                    <a:pt x="17" y="236"/>
                    <a:pt x="0" y="147"/>
                    <a:pt x="45" y="82"/>
                  </a:cubicBezTo>
                  <a:cubicBezTo>
                    <a:pt x="90" y="16"/>
                    <a:pt x="179" y="0"/>
                    <a:pt x="245" y="45"/>
                  </a:cubicBezTo>
                  <a:cubicBezTo>
                    <a:pt x="269" y="61"/>
                    <a:pt x="287" y="84"/>
                    <a:pt x="297" y="110"/>
                  </a:cubicBezTo>
                  <a:moveTo>
                    <a:pt x="257" y="99"/>
                  </a:moveTo>
                  <a:cubicBezTo>
                    <a:pt x="297" y="109"/>
                    <a:pt x="297" y="109"/>
                    <a:pt x="297" y="109"/>
                  </a:cubicBezTo>
                  <a:cubicBezTo>
                    <a:pt x="307" y="70"/>
                    <a:pt x="307" y="70"/>
                    <a:pt x="307" y="70"/>
                  </a:cubicBezTo>
                  <a:moveTo>
                    <a:pt x="126" y="199"/>
                  </a:moveTo>
                  <a:cubicBezTo>
                    <a:pt x="182" y="199"/>
                    <a:pt x="182" y="199"/>
                    <a:pt x="182" y="199"/>
                  </a:cubicBezTo>
                  <a:cubicBezTo>
                    <a:pt x="193" y="199"/>
                    <a:pt x="202" y="190"/>
                    <a:pt x="202" y="179"/>
                  </a:cubicBezTo>
                  <a:cubicBezTo>
                    <a:pt x="202" y="168"/>
                    <a:pt x="193" y="158"/>
                    <a:pt x="182" y="158"/>
                  </a:cubicBezTo>
                  <a:cubicBezTo>
                    <a:pt x="147" y="158"/>
                    <a:pt x="147" y="158"/>
                    <a:pt x="147" y="158"/>
                  </a:cubicBezTo>
                  <a:cubicBezTo>
                    <a:pt x="136" y="158"/>
                    <a:pt x="126" y="148"/>
                    <a:pt x="126" y="137"/>
                  </a:cubicBezTo>
                  <a:cubicBezTo>
                    <a:pt x="126" y="126"/>
                    <a:pt x="136" y="117"/>
                    <a:pt x="147" y="117"/>
                  </a:cubicBezTo>
                  <a:cubicBezTo>
                    <a:pt x="201" y="117"/>
                    <a:pt x="201" y="117"/>
                    <a:pt x="201" y="117"/>
                  </a:cubicBezTo>
                  <a:moveTo>
                    <a:pt x="164" y="88"/>
                  </a:moveTo>
                  <a:cubicBezTo>
                    <a:pt x="164" y="226"/>
                    <a:pt x="164" y="226"/>
                    <a:pt x="164" y="226"/>
                  </a:cubicBezTo>
                </a:path>
              </a:pathLst>
            </a:custGeom>
            <a:grp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67"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708CB31E-8E0F-ABD9-71B7-ED1F5B33BB11}"/>
              </a:ext>
            </a:extLst>
          </p:cNvPr>
          <p:cNvSpPr>
            <a:spLocks/>
          </p:cNvSpPr>
          <p:nvPr/>
        </p:nvSpPr>
        <p:spPr bwMode="auto">
          <a:xfrm>
            <a:off x="4280268" y="2640380"/>
            <a:ext cx="979571" cy="1111113"/>
          </a:xfrm>
          <a:custGeom>
            <a:avLst/>
            <a:gdLst>
              <a:gd name="T0" fmla="*/ 0 w 2753"/>
              <a:gd name="T1" fmla="*/ 2698 h 3115"/>
              <a:gd name="T2" fmla="*/ 1960 w 2753"/>
              <a:gd name="T3" fmla="*/ 0 h 3115"/>
              <a:gd name="T4" fmla="*/ 2753 w 2753"/>
              <a:gd name="T5" fmla="*/ 1092 h 3115"/>
              <a:gd name="T6" fmla="*/ 1283 w 2753"/>
              <a:gd name="T7" fmla="*/ 3115 h 3115"/>
              <a:gd name="T8" fmla="*/ 0 w 2753"/>
              <a:gd name="T9" fmla="*/ 2698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3" h="3115">
                <a:moveTo>
                  <a:pt x="0" y="2698"/>
                </a:moveTo>
                <a:cubicBezTo>
                  <a:pt x="352" y="1615"/>
                  <a:pt x="1038" y="670"/>
                  <a:pt x="1960" y="0"/>
                </a:cubicBezTo>
                <a:lnTo>
                  <a:pt x="2753" y="1092"/>
                </a:lnTo>
                <a:cubicBezTo>
                  <a:pt x="2062" y="1594"/>
                  <a:pt x="1547" y="2302"/>
                  <a:pt x="1283" y="3115"/>
                </a:cubicBezTo>
                <a:lnTo>
                  <a:pt x="0" y="2698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IN" sz="180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42D411-38F2-2748-ABA0-3819B55F7084}"/>
              </a:ext>
            </a:extLst>
          </p:cNvPr>
          <p:cNvGrpSpPr/>
          <p:nvPr/>
        </p:nvGrpSpPr>
        <p:grpSpPr>
          <a:xfrm>
            <a:off x="4154323" y="3603158"/>
            <a:ext cx="582145" cy="1189479"/>
            <a:chOff x="4145253" y="3184683"/>
            <a:chExt cx="582145" cy="1189479"/>
          </a:xfrm>
          <a:solidFill>
            <a:schemeClr val="accent2"/>
          </a:solidFill>
        </p:grpSpPr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2E65398C-21A7-884A-4025-D0112E94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253" y="3184683"/>
              <a:ext cx="582145" cy="1189479"/>
            </a:xfrm>
            <a:custGeom>
              <a:avLst/>
              <a:gdLst>
                <a:gd name="T0" fmla="*/ 352 w 1635"/>
                <a:gd name="T1" fmla="*/ 3335 h 3335"/>
                <a:gd name="T2" fmla="*/ 352 w 1635"/>
                <a:gd name="T3" fmla="*/ 0 h 3335"/>
                <a:gd name="T4" fmla="*/ 1635 w 1635"/>
                <a:gd name="T5" fmla="*/ 417 h 3335"/>
                <a:gd name="T6" fmla="*/ 1635 w 1635"/>
                <a:gd name="T7" fmla="*/ 2918 h 3335"/>
                <a:gd name="T8" fmla="*/ 352 w 1635"/>
                <a:gd name="T9" fmla="*/ 3335 h 3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5" h="3335">
                  <a:moveTo>
                    <a:pt x="352" y="3335"/>
                  </a:moveTo>
                  <a:cubicBezTo>
                    <a:pt x="0" y="2251"/>
                    <a:pt x="0" y="1084"/>
                    <a:pt x="352" y="0"/>
                  </a:cubicBezTo>
                  <a:lnTo>
                    <a:pt x="1635" y="417"/>
                  </a:lnTo>
                  <a:cubicBezTo>
                    <a:pt x="1371" y="1230"/>
                    <a:pt x="1371" y="2105"/>
                    <a:pt x="1635" y="2918"/>
                  </a:cubicBezTo>
                  <a:lnTo>
                    <a:pt x="352" y="3335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17" name="arrow_11" title="Icon of a circle made of two curved arrows">
              <a:extLst>
                <a:ext uri="{FF2B5EF4-FFF2-40B4-BE49-F238E27FC236}">
                  <a16:creationId xmlns:a16="http://schemas.microsoft.com/office/drawing/2014/main" id="{E431C262-A426-9A88-EC35-3A97AF56C39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283573" y="3612090"/>
              <a:ext cx="286409" cy="299193"/>
            </a:xfrm>
            <a:custGeom>
              <a:avLst/>
              <a:gdLst>
                <a:gd name="T0" fmla="*/ 310 w 310"/>
                <a:gd name="T1" fmla="*/ 199 h 322"/>
                <a:gd name="T2" fmla="*/ 154 w 310"/>
                <a:gd name="T3" fmla="*/ 322 h 322"/>
                <a:gd name="T4" fmla="*/ 1 w 310"/>
                <a:gd name="T5" fmla="*/ 211 h 322"/>
                <a:gd name="T6" fmla="*/ 304 w 310"/>
                <a:gd name="T7" fmla="*/ 104 h 322"/>
                <a:gd name="T8" fmla="*/ 154 w 310"/>
                <a:gd name="T9" fmla="*/ 0 h 322"/>
                <a:gd name="T10" fmla="*/ 0 w 310"/>
                <a:gd name="T11" fmla="*/ 114 h 322"/>
                <a:gd name="T12" fmla="*/ 299 w 310"/>
                <a:gd name="T13" fmla="*/ 104 h 322"/>
                <a:gd name="T14" fmla="*/ 230 w 310"/>
                <a:gd name="T15" fmla="*/ 104 h 322"/>
                <a:gd name="T16" fmla="*/ 295 w 310"/>
                <a:gd name="T17" fmla="*/ 104 h 322"/>
                <a:gd name="T18" fmla="*/ 304 w 310"/>
                <a:gd name="T19" fmla="*/ 104 h 322"/>
                <a:gd name="T20" fmla="*/ 304 w 310"/>
                <a:gd name="T21" fmla="*/ 29 h 322"/>
                <a:gd name="T22" fmla="*/ 9 w 310"/>
                <a:gd name="T23" fmla="*/ 211 h 322"/>
                <a:gd name="T24" fmla="*/ 75 w 310"/>
                <a:gd name="T25" fmla="*/ 211 h 322"/>
                <a:gd name="T26" fmla="*/ 9 w 310"/>
                <a:gd name="T27" fmla="*/ 211 h 322"/>
                <a:gd name="T28" fmla="*/ 1 w 310"/>
                <a:gd name="T29" fmla="*/ 211 h 322"/>
                <a:gd name="T30" fmla="*/ 1 w 310"/>
                <a:gd name="T31" fmla="*/ 286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0" h="322">
                  <a:moveTo>
                    <a:pt x="310" y="199"/>
                  </a:moveTo>
                  <a:cubicBezTo>
                    <a:pt x="293" y="270"/>
                    <a:pt x="229" y="322"/>
                    <a:pt x="154" y="322"/>
                  </a:cubicBezTo>
                  <a:cubicBezTo>
                    <a:pt x="83" y="322"/>
                    <a:pt x="22" y="275"/>
                    <a:pt x="1" y="211"/>
                  </a:cubicBezTo>
                  <a:moveTo>
                    <a:pt x="304" y="104"/>
                  </a:moveTo>
                  <a:cubicBezTo>
                    <a:pt x="281" y="43"/>
                    <a:pt x="223" y="0"/>
                    <a:pt x="154" y="0"/>
                  </a:cubicBezTo>
                  <a:cubicBezTo>
                    <a:pt x="82" y="0"/>
                    <a:pt x="20" y="48"/>
                    <a:pt x="0" y="114"/>
                  </a:cubicBezTo>
                  <a:moveTo>
                    <a:pt x="299" y="104"/>
                  </a:moveTo>
                  <a:cubicBezTo>
                    <a:pt x="230" y="104"/>
                    <a:pt x="230" y="104"/>
                    <a:pt x="230" y="104"/>
                  </a:cubicBezTo>
                  <a:moveTo>
                    <a:pt x="295" y="104"/>
                  </a:moveTo>
                  <a:cubicBezTo>
                    <a:pt x="304" y="104"/>
                    <a:pt x="304" y="104"/>
                    <a:pt x="304" y="104"/>
                  </a:cubicBezTo>
                  <a:cubicBezTo>
                    <a:pt x="304" y="29"/>
                    <a:pt x="304" y="29"/>
                    <a:pt x="304" y="29"/>
                  </a:cubicBezTo>
                  <a:moveTo>
                    <a:pt x="9" y="211"/>
                  </a:moveTo>
                  <a:cubicBezTo>
                    <a:pt x="75" y="211"/>
                    <a:pt x="75" y="211"/>
                    <a:pt x="75" y="211"/>
                  </a:cubicBezTo>
                  <a:moveTo>
                    <a:pt x="9" y="211"/>
                  </a:moveTo>
                  <a:cubicBezTo>
                    <a:pt x="1" y="211"/>
                    <a:pt x="1" y="211"/>
                    <a:pt x="1" y="211"/>
                  </a:cubicBezTo>
                  <a:cubicBezTo>
                    <a:pt x="1" y="286"/>
                    <a:pt x="1" y="286"/>
                    <a:pt x="1" y="286"/>
                  </a:cubicBezTo>
                </a:path>
              </a:pathLst>
            </a:custGeom>
            <a:grp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67"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</p:grpSp>
      <p:sp>
        <p:nvSpPr>
          <p:cNvPr id="18" name="Freeform 11">
            <a:extLst>
              <a:ext uri="{FF2B5EF4-FFF2-40B4-BE49-F238E27FC236}">
                <a16:creationId xmlns:a16="http://schemas.microsoft.com/office/drawing/2014/main" id="{16666150-63A3-2028-580C-F48BF51FD9F0}"/>
              </a:ext>
            </a:extLst>
          </p:cNvPr>
          <p:cNvSpPr>
            <a:spLocks/>
          </p:cNvSpPr>
          <p:nvPr/>
        </p:nvSpPr>
        <p:spPr bwMode="auto">
          <a:xfrm>
            <a:off x="4280268" y="4644302"/>
            <a:ext cx="979571" cy="1111113"/>
          </a:xfrm>
          <a:custGeom>
            <a:avLst/>
            <a:gdLst>
              <a:gd name="T0" fmla="*/ 1960 w 2753"/>
              <a:gd name="T1" fmla="*/ 3115 h 3115"/>
              <a:gd name="T2" fmla="*/ 0 w 2753"/>
              <a:gd name="T3" fmla="*/ 417 h 3115"/>
              <a:gd name="T4" fmla="*/ 1283 w 2753"/>
              <a:gd name="T5" fmla="*/ 0 h 3115"/>
              <a:gd name="T6" fmla="*/ 2753 w 2753"/>
              <a:gd name="T7" fmla="*/ 2023 h 3115"/>
              <a:gd name="T8" fmla="*/ 1960 w 2753"/>
              <a:gd name="T9" fmla="*/ 3115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3" h="3115">
                <a:moveTo>
                  <a:pt x="1960" y="3115"/>
                </a:moveTo>
                <a:cubicBezTo>
                  <a:pt x="1038" y="2445"/>
                  <a:pt x="352" y="1501"/>
                  <a:pt x="0" y="417"/>
                </a:cubicBezTo>
                <a:lnTo>
                  <a:pt x="1283" y="0"/>
                </a:lnTo>
                <a:cubicBezTo>
                  <a:pt x="1547" y="813"/>
                  <a:pt x="2062" y="1521"/>
                  <a:pt x="2753" y="2023"/>
                </a:cubicBezTo>
                <a:lnTo>
                  <a:pt x="1960" y="3115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IN" sz="1800">
              <a:solidFill>
                <a:schemeClr val="tx1"/>
              </a:solidFill>
              <a:latin typeface="Plus Jakarta Sans "/>
              <a:ea typeface="+mn-ea"/>
              <a:cs typeface="Plus Jakarta Sans ExtraBold" panose="020B060402020202020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A2CBDB-A90B-3C92-69FE-CFAD5625EC8A}"/>
              </a:ext>
            </a:extLst>
          </p:cNvPr>
          <p:cNvSpPr/>
          <p:nvPr/>
        </p:nvSpPr>
        <p:spPr bwMode="auto">
          <a:xfrm>
            <a:off x="504846" y="3741656"/>
            <a:ext cx="3627239" cy="1138773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102">
              <a:buClrTx/>
              <a:defRPr/>
            </a:pPr>
            <a:r>
              <a:rPr lang="en-US" sz="3600" dirty="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rPr>
              <a:t>60% 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de las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empresas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Post-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Pandemia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aceleraron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</a:t>
            </a:r>
            <a:r>
              <a:rPr lang="en-US" sz="1600" dirty="0" err="1">
                <a:solidFill>
                  <a:srgbClr val="323F50"/>
                </a:solidFill>
                <a:latin typeface="DM Sans"/>
              </a:rPr>
              <a:t>Transformación</a:t>
            </a:r>
            <a:r>
              <a:rPr lang="en-US" sz="1600" dirty="0">
                <a:solidFill>
                  <a:srgbClr val="323F50"/>
                </a:solidFill>
                <a:latin typeface="DM Sans"/>
              </a:rPr>
              <a:t> </a:t>
            </a:r>
          </a:p>
          <a:p>
            <a:pPr defTabSz="914102">
              <a:buClrTx/>
              <a:defRPr/>
            </a:pPr>
            <a:endParaRPr lang="en-US" sz="2000" dirty="0">
              <a:solidFill>
                <a:schemeClr val="tx1"/>
              </a:solidFill>
              <a:latin typeface="Plus Jakarta Sans "/>
              <a:ea typeface="Segoe UI" pitchFamily="34" charset="0"/>
              <a:cs typeface="Plus Jakarta Sans ExtraBold" panose="020B060402020202020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D1E276-E1A3-900E-5636-555D17FF4134}"/>
              </a:ext>
            </a:extLst>
          </p:cNvPr>
          <p:cNvGrpSpPr/>
          <p:nvPr/>
        </p:nvGrpSpPr>
        <p:grpSpPr>
          <a:xfrm>
            <a:off x="472604" y="2275214"/>
            <a:ext cx="11273195" cy="3843386"/>
            <a:chOff x="463534" y="1856740"/>
            <a:chExt cx="11273195" cy="384338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C3FFAA0-4C49-1A5D-4715-95280D79C59C}"/>
                </a:ext>
              </a:extLst>
            </p:cNvPr>
            <p:cNvSpPr/>
            <p:nvPr/>
          </p:nvSpPr>
          <p:spPr bwMode="auto">
            <a:xfrm flipH="1">
              <a:off x="463534" y="1857375"/>
              <a:ext cx="4503030" cy="367085"/>
            </a:xfrm>
            <a:custGeom>
              <a:avLst/>
              <a:gdLst>
                <a:gd name="connsiteX0" fmla="*/ 0 w 4641574"/>
                <a:gd name="connsiteY0" fmla="*/ 417443 h 417443"/>
                <a:gd name="connsiteX1" fmla="*/ 258418 w 4641574"/>
                <a:gd name="connsiteY1" fmla="*/ 0 h 417443"/>
                <a:gd name="connsiteX2" fmla="*/ 4641574 w 4641574"/>
                <a:gd name="connsiteY2" fmla="*/ 0 h 41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1574" h="417443">
                  <a:moveTo>
                    <a:pt x="0" y="417443"/>
                  </a:moveTo>
                  <a:lnTo>
                    <a:pt x="258418" y="0"/>
                  </a:lnTo>
                  <a:lnTo>
                    <a:pt x="4641574" y="0"/>
                  </a:lnTo>
                </a:path>
              </a:pathLst>
            </a:cu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  <p:txBody>
            <a:bodyPr rtlCol="0" anchor="ctr"/>
            <a:lstStyle/>
            <a:p>
              <a:pPr algn="ctr"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EE7717-44AD-6767-373F-A7476B14AB41}"/>
                </a:ext>
              </a:extLst>
            </p:cNvPr>
            <p:cNvSpPr/>
            <p:nvPr/>
          </p:nvSpPr>
          <p:spPr bwMode="auto">
            <a:xfrm flipH="1" flipV="1">
              <a:off x="469884" y="5327961"/>
              <a:ext cx="4503030" cy="367085"/>
            </a:xfrm>
            <a:custGeom>
              <a:avLst/>
              <a:gdLst>
                <a:gd name="connsiteX0" fmla="*/ 0 w 4641574"/>
                <a:gd name="connsiteY0" fmla="*/ 417443 h 417443"/>
                <a:gd name="connsiteX1" fmla="*/ 258418 w 4641574"/>
                <a:gd name="connsiteY1" fmla="*/ 0 h 417443"/>
                <a:gd name="connsiteX2" fmla="*/ 4641574 w 4641574"/>
                <a:gd name="connsiteY2" fmla="*/ 0 h 41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1574" h="417443">
                  <a:moveTo>
                    <a:pt x="0" y="417443"/>
                  </a:moveTo>
                  <a:lnTo>
                    <a:pt x="258418" y="0"/>
                  </a:lnTo>
                  <a:lnTo>
                    <a:pt x="4641574" y="0"/>
                  </a:lnTo>
                </a:path>
              </a:pathLst>
            </a:cu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  <p:txBody>
            <a:bodyPr rtlCol="0" anchor="ctr"/>
            <a:lstStyle/>
            <a:p>
              <a:pPr algn="ctr"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DD4ADB-6DAA-701A-01DE-D3C910F9B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9845" y="3184870"/>
              <a:ext cx="3826884" cy="0"/>
            </a:xfrm>
            <a:prstGeom prst="line">
              <a:avLst/>
            </a:pr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B6B69C-50C7-28B6-ED3D-DE80152ECC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9845" y="4374162"/>
              <a:ext cx="3826884" cy="0"/>
            </a:xfrm>
            <a:prstGeom prst="line">
              <a:avLst/>
            </a:pr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14CDF5-341C-1D5C-FF5F-0F47856916DB}"/>
                </a:ext>
              </a:extLst>
            </p:cNvPr>
            <p:cNvSpPr/>
            <p:nvPr/>
          </p:nvSpPr>
          <p:spPr bwMode="auto">
            <a:xfrm flipV="1">
              <a:off x="7226079" y="5333041"/>
              <a:ext cx="4503030" cy="367085"/>
            </a:xfrm>
            <a:custGeom>
              <a:avLst/>
              <a:gdLst>
                <a:gd name="connsiteX0" fmla="*/ 0 w 4641574"/>
                <a:gd name="connsiteY0" fmla="*/ 417443 h 417443"/>
                <a:gd name="connsiteX1" fmla="*/ 258418 w 4641574"/>
                <a:gd name="connsiteY1" fmla="*/ 0 h 417443"/>
                <a:gd name="connsiteX2" fmla="*/ 4641574 w 4641574"/>
                <a:gd name="connsiteY2" fmla="*/ 0 h 41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1574" h="417443">
                  <a:moveTo>
                    <a:pt x="0" y="417443"/>
                  </a:moveTo>
                  <a:lnTo>
                    <a:pt x="258418" y="0"/>
                  </a:lnTo>
                  <a:lnTo>
                    <a:pt x="4641574" y="0"/>
                  </a:lnTo>
                </a:path>
              </a:pathLst>
            </a:cu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  <p:txBody>
            <a:bodyPr rtlCol="0" anchor="ctr"/>
            <a:lstStyle/>
            <a:p>
              <a:pPr algn="ctr"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15A5E1-4293-1467-29D9-5B6AB884795A}"/>
                </a:ext>
              </a:extLst>
            </p:cNvPr>
            <p:cNvSpPr/>
            <p:nvPr/>
          </p:nvSpPr>
          <p:spPr bwMode="auto">
            <a:xfrm>
              <a:off x="7226079" y="1856740"/>
              <a:ext cx="4503030" cy="367085"/>
            </a:xfrm>
            <a:custGeom>
              <a:avLst/>
              <a:gdLst>
                <a:gd name="connsiteX0" fmla="*/ 0 w 4641574"/>
                <a:gd name="connsiteY0" fmla="*/ 417443 h 417443"/>
                <a:gd name="connsiteX1" fmla="*/ 258418 w 4641574"/>
                <a:gd name="connsiteY1" fmla="*/ 0 h 417443"/>
                <a:gd name="connsiteX2" fmla="*/ 4641574 w 4641574"/>
                <a:gd name="connsiteY2" fmla="*/ 0 h 41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1574" h="417443">
                  <a:moveTo>
                    <a:pt x="0" y="417443"/>
                  </a:moveTo>
                  <a:lnTo>
                    <a:pt x="258418" y="0"/>
                  </a:lnTo>
                  <a:lnTo>
                    <a:pt x="4641574" y="0"/>
                  </a:lnTo>
                </a:path>
              </a:pathLst>
            </a:cu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  <p:txBody>
            <a:bodyPr rtlCol="0" anchor="ctr"/>
            <a:lstStyle/>
            <a:p>
              <a:pPr algn="ctr">
                <a:buClrTx/>
                <a:defRPr/>
              </a:pPr>
              <a:endParaRPr lang="en-IN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AE0ACB1-4827-245F-344C-E525EF031F02}"/>
                </a:ext>
              </a:extLst>
            </p:cNvPr>
            <p:cNvCxnSpPr>
              <a:cxnSpLocks/>
            </p:cNvCxnSpPr>
            <p:nvPr/>
          </p:nvCxnSpPr>
          <p:spPr>
            <a:xfrm>
              <a:off x="467344" y="3184870"/>
              <a:ext cx="3826884" cy="0"/>
            </a:xfrm>
            <a:prstGeom prst="line">
              <a:avLst/>
            </a:pr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01851A3-CDB2-CBCF-62EA-5DF3F9D7DE46}"/>
                </a:ext>
              </a:extLst>
            </p:cNvPr>
            <p:cNvCxnSpPr>
              <a:cxnSpLocks/>
            </p:cNvCxnSpPr>
            <p:nvPr/>
          </p:nvCxnSpPr>
          <p:spPr>
            <a:xfrm>
              <a:off x="467344" y="4374162"/>
              <a:ext cx="3826884" cy="0"/>
            </a:xfrm>
            <a:prstGeom prst="line">
              <a:avLst/>
            </a:prstGeom>
            <a:noFill/>
            <a:ln w="6350" cap="flat" cmpd="sng" algn="ctr">
              <a:solidFill>
                <a:schemeClr val="accent2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1BEB495-DF8C-8738-CE5D-A99825D8EFDC}"/>
              </a:ext>
            </a:extLst>
          </p:cNvPr>
          <p:cNvSpPr txBox="1"/>
          <p:nvPr/>
        </p:nvSpPr>
        <p:spPr>
          <a:xfrm>
            <a:off x="407013" y="1222175"/>
            <a:ext cx="11377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buClrTx/>
            </a:pPr>
            <a:r>
              <a:rPr lang="es-ES" sz="1800" dirty="0">
                <a:solidFill>
                  <a:srgbClr val="323F50"/>
                </a:solidFill>
                <a:latin typeface="DM Sans"/>
              </a:rPr>
              <a:t>El Marco de Desarrollo Tecnológico en Colombia busca impulsar la inversión en tecnología e innovación para mejorar la competitividad y el desarrollo económico del país</a:t>
            </a:r>
            <a:endParaRPr lang="en-US" sz="1800" dirty="0">
              <a:solidFill>
                <a:srgbClr val="323F50"/>
              </a:solidFill>
              <a:latin typeface="DM San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82C9C5-C13F-8AB9-EB96-D877C072F0DA}"/>
              </a:ext>
            </a:extLst>
          </p:cNvPr>
          <p:cNvGrpSpPr/>
          <p:nvPr/>
        </p:nvGrpSpPr>
        <p:grpSpPr>
          <a:xfrm>
            <a:off x="7228155" y="5029162"/>
            <a:ext cx="551185" cy="344644"/>
            <a:chOff x="7267499" y="3676650"/>
            <a:chExt cx="822868" cy="520700"/>
          </a:xfrm>
        </p:grpSpPr>
        <p:sp>
          <p:nvSpPr>
            <p:cNvPr id="31" name="cloud" title="Icon of a cloud">
              <a:extLst>
                <a:ext uri="{FF2B5EF4-FFF2-40B4-BE49-F238E27FC236}">
                  <a16:creationId xmlns:a16="http://schemas.microsoft.com/office/drawing/2014/main" id="{2AAABAA4-E0E8-7AD5-D078-7D1EADF46A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67499" y="3676650"/>
              <a:ext cx="822868" cy="520700"/>
            </a:xfrm>
            <a:custGeom>
              <a:avLst/>
              <a:gdLst>
                <a:gd name="T0" fmla="*/ 281 w 344"/>
                <a:gd name="T1" fmla="*/ 216 h 217"/>
                <a:gd name="T2" fmla="*/ 281 w 344"/>
                <a:gd name="T3" fmla="*/ 217 h 217"/>
                <a:gd name="T4" fmla="*/ 88 w 344"/>
                <a:gd name="T5" fmla="*/ 217 h 217"/>
                <a:gd name="T6" fmla="*/ 88 w 344"/>
                <a:gd name="T7" fmla="*/ 217 h 217"/>
                <a:gd name="T8" fmla="*/ 86 w 344"/>
                <a:gd name="T9" fmla="*/ 217 h 217"/>
                <a:gd name="T10" fmla="*/ 0 w 344"/>
                <a:gd name="T11" fmla="*/ 130 h 217"/>
                <a:gd name="T12" fmla="*/ 86 w 344"/>
                <a:gd name="T13" fmla="*/ 44 h 217"/>
                <a:gd name="T14" fmla="*/ 104 w 344"/>
                <a:gd name="T15" fmla="*/ 45 h 217"/>
                <a:gd name="T16" fmla="*/ 184 w 344"/>
                <a:gd name="T17" fmla="*/ 0 h 217"/>
                <a:gd name="T18" fmla="*/ 278 w 344"/>
                <a:gd name="T19" fmla="*/ 85 h 217"/>
                <a:gd name="T20" fmla="*/ 278 w 344"/>
                <a:gd name="T21" fmla="*/ 85 h 217"/>
                <a:gd name="T22" fmla="*/ 344 w 344"/>
                <a:gd name="T23" fmla="*/ 151 h 217"/>
                <a:gd name="T24" fmla="*/ 281 w 344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4" h="217">
                  <a:moveTo>
                    <a:pt x="281" y="216"/>
                  </a:moveTo>
                  <a:cubicBezTo>
                    <a:pt x="281" y="217"/>
                    <a:pt x="281" y="217"/>
                    <a:pt x="281" y="217"/>
                  </a:cubicBezTo>
                  <a:cubicBezTo>
                    <a:pt x="88" y="217"/>
                    <a:pt x="88" y="217"/>
                    <a:pt x="88" y="217"/>
                  </a:cubicBezTo>
                  <a:cubicBezTo>
                    <a:pt x="88" y="217"/>
                    <a:pt x="88" y="217"/>
                    <a:pt x="88" y="217"/>
                  </a:cubicBezTo>
                  <a:cubicBezTo>
                    <a:pt x="87" y="217"/>
                    <a:pt x="87" y="217"/>
                    <a:pt x="86" y="217"/>
                  </a:cubicBezTo>
                  <a:cubicBezTo>
                    <a:pt x="39" y="217"/>
                    <a:pt x="0" y="178"/>
                    <a:pt x="0" y="130"/>
                  </a:cubicBezTo>
                  <a:cubicBezTo>
                    <a:pt x="0" y="82"/>
                    <a:pt x="39" y="44"/>
                    <a:pt x="86" y="44"/>
                  </a:cubicBezTo>
                  <a:cubicBezTo>
                    <a:pt x="92" y="44"/>
                    <a:pt x="98" y="44"/>
                    <a:pt x="104" y="45"/>
                  </a:cubicBezTo>
                  <a:cubicBezTo>
                    <a:pt x="121" y="18"/>
                    <a:pt x="150" y="0"/>
                    <a:pt x="184" y="0"/>
                  </a:cubicBezTo>
                  <a:cubicBezTo>
                    <a:pt x="233" y="0"/>
                    <a:pt x="273" y="37"/>
                    <a:pt x="278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315" y="85"/>
                    <a:pt x="344" y="114"/>
                    <a:pt x="344" y="151"/>
                  </a:cubicBezTo>
                  <a:cubicBezTo>
                    <a:pt x="344" y="186"/>
                    <a:pt x="316" y="215"/>
                    <a:pt x="281" y="216"/>
                  </a:cubicBez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279C95A-FD72-4313-A2FE-79F2DE8EFB7E}"/>
                </a:ext>
              </a:extLst>
            </p:cNvPr>
            <p:cNvSpPr/>
            <p:nvPr/>
          </p:nvSpPr>
          <p:spPr>
            <a:xfrm>
              <a:off x="7620051" y="3752850"/>
              <a:ext cx="207346" cy="207344"/>
            </a:xfrm>
            <a:custGeom>
              <a:avLst/>
              <a:gdLst>
                <a:gd name="connsiteX0" fmla="*/ 41638 w 238125"/>
                <a:gd name="connsiteY0" fmla="*/ 121648 h 238125"/>
                <a:gd name="connsiteX1" fmla="*/ 121648 w 238125"/>
                <a:gd name="connsiteY1" fmla="*/ 41638 h 238125"/>
                <a:gd name="connsiteX2" fmla="*/ 201658 w 238125"/>
                <a:gd name="connsiteY2" fmla="*/ 121648 h 238125"/>
                <a:gd name="connsiteX3" fmla="*/ 121648 w 238125"/>
                <a:gd name="connsiteY3" fmla="*/ 201658 h 238125"/>
                <a:gd name="connsiteX4" fmla="*/ 41638 w 238125"/>
                <a:gd name="connsiteY4" fmla="*/ 121648 h 238125"/>
                <a:gd name="connsiteX5" fmla="*/ 41638 w 238125"/>
                <a:gd name="connsiteY5" fmla="*/ 121648 h 238125"/>
                <a:gd name="connsiteX6" fmla="*/ 74975 w 238125"/>
                <a:gd name="connsiteY6" fmla="*/ 7348 h 238125"/>
                <a:gd name="connsiteX7" fmla="*/ 91168 w 238125"/>
                <a:gd name="connsiteY7" fmla="*/ 47353 h 238125"/>
                <a:gd name="connsiteX8" fmla="*/ 47353 w 238125"/>
                <a:gd name="connsiteY8" fmla="*/ 90216 h 238125"/>
                <a:gd name="connsiteX9" fmla="*/ 7348 w 238125"/>
                <a:gd name="connsiteY9" fmla="*/ 74023 h 238125"/>
                <a:gd name="connsiteX10" fmla="*/ 47353 w 238125"/>
                <a:gd name="connsiteY10" fmla="*/ 152128 h 238125"/>
                <a:gd name="connsiteX11" fmla="*/ 7348 w 238125"/>
                <a:gd name="connsiteY11" fmla="*/ 168321 h 238125"/>
                <a:gd name="connsiteX12" fmla="*/ 91168 w 238125"/>
                <a:gd name="connsiteY12" fmla="*/ 194991 h 238125"/>
                <a:gd name="connsiteX13" fmla="*/ 74975 w 238125"/>
                <a:gd name="connsiteY13" fmla="*/ 234996 h 238125"/>
                <a:gd name="connsiteX14" fmla="*/ 152128 w 238125"/>
                <a:gd name="connsiteY14" fmla="*/ 194991 h 238125"/>
                <a:gd name="connsiteX15" fmla="*/ 168321 w 238125"/>
                <a:gd name="connsiteY15" fmla="*/ 234996 h 238125"/>
                <a:gd name="connsiteX16" fmla="*/ 195943 w 238125"/>
                <a:gd name="connsiteY16" fmla="*/ 152128 h 238125"/>
                <a:gd name="connsiteX17" fmla="*/ 235948 w 238125"/>
                <a:gd name="connsiteY17" fmla="*/ 168321 h 238125"/>
                <a:gd name="connsiteX18" fmla="*/ 195943 w 238125"/>
                <a:gd name="connsiteY18" fmla="*/ 90216 h 238125"/>
                <a:gd name="connsiteX19" fmla="*/ 235948 w 238125"/>
                <a:gd name="connsiteY19" fmla="*/ 74023 h 238125"/>
                <a:gd name="connsiteX20" fmla="*/ 152128 w 238125"/>
                <a:gd name="connsiteY20" fmla="*/ 47353 h 238125"/>
                <a:gd name="connsiteX21" fmla="*/ 168321 w 238125"/>
                <a:gd name="connsiteY21" fmla="*/ 7348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8125" h="238125">
                  <a:moveTo>
                    <a:pt x="41638" y="121648"/>
                  </a:moveTo>
                  <a:cubicBezTo>
                    <a:pt x="41638" y="77833"/>
                    <a:pt x="77833" y="41638"/>
                    <a:pt x="121648" y="41638"/>
                  </a:cubicBezTo>
                  <a:cubicBezTo>
                    <a:pt x="165463" y="41638"/>
                    <a:pt x="201658" y="77833"/>
                    <a:pt x="201658" y="121648"/>
                  </a:cubicBezTo>
                  <a:cubicBezTo>
                    <a:pt x="201658" y="165463"/>
                    <a:pt x="165463" y="201658"/>
                    <a:pt x="121648" y="201658"/>
                  </a:cubicBezTo>
                  <a:cubicBezTo>
                    <a:pt x="77833" y="201658"/>
                    <a:pt x="41638" y="165463"/>
                    <a:pt x="41638" y="121648"/>
                  </a:cubicBezTo>
                  <a:lnTo>
                    <a:pt x="41638" y="121648"/>
                  </a:lnTo>
                  <a:close/>
                  <a:moveTo>
                    <a:pt x="74975" y="7348"/>
                  </a:moveTo>
                  <a:cubicBezTo>
                    <a:pt x="91168" y="47353"/>
                    <a:pt x="91168" y="47353"/>
                    <a:pt x="91168" y="47353"/>
                  </a:cubicBezTo>
                  <a:moveTo>
                    <a:pt x="47353" y="90216"/>
                  </a:moveTo>
                  <a:cubicBezTo>
                    <a:pt x="7348" y="74023"/>
                    <a:pt x="7348" y="74023"/>
                    <a:pt x="7348" y="74023"/>
                  </a:cubicBezTo>
                  <a:moveTo>
                    <a:pt x="47353" y="152128"/>
                  </a:moveTo>
                  <a:cubicBezTo>
                    <a:pt x="7348" y="168321"/>
                    <a:pt x="7348" y="168321"/>
                    <a:pt x="7348" y="168321"/>
                  </a:cubicBezTo>
                  <a:moveTo>
                    <a:pt x="91168" y="194991"/>
                  </a:moveTo>
                  <a:cubicBezTo>
                    <a:pt x="74975" y="234996"/>
                    <a:pt x="74975" y="234996"/>
                    <a:pt x="74975" y="234996"/>
                  </a:cubicBezTo>
                  <a:moveTo>
                    <a:pt x="152128" y="194991"/>
                  </a:moveTo>
                  <a:cubicBezTo>
                    <a:pt x="168321" y="234996"/>
                    <a:pt x="168321" y="234996"/>
                    <a:pt x="168321" y="234996"/>
                  </a:cubicBezTo>
                  <a:moveTo>
                    <a:pt x="195943" y="152128"/>
                  </a:moveTo>
                  <a:cubicBezTo>
                    <a:pt x="235948" y="168321"/>
                    <a:pt x="235948" y="168321"/>
                    <a:pt x="235948" y="168321"/>
                  </a:cubicBezTo>
                  <a:moveTo>
                    <a:pt x="195943" y="90216"/>
                  </a:moveTo>
                  <a:cubicBezTo>
                    <a:pt x="235948" y="74023"/>
                    <a:pt x="235948" y="74023"/>
                    <a:pt x="235948" y="74023"/>
                  </a:cubicBezTo>
                  <a:moveTo>
                    <a:pt x="152128" y="47353"/>
                  </a:moveTo>
                  <a:cubicBezTo>
                    <a:pt x="168321" y="7348"/>
                    <a:pt x="168321" y="7348"/>
                    <a:pt x="168321" y="7348"/>
                  </a:cubicBezTo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9F75A8-F207-CDB9-09E6-9BE68E62DBA6}"/>
                </a:ext>
              </a:extLst>
            </p:cNvPr>
            <p:cNvSpPr/>
            <p:nvPr/>
          </p:nvSpPr>
          <p:spPr>
            <a:xfrm rot="20399111">
              <a:off x="7348154" y="3859571"/>
              <a:ext cx="265365" cy="265364"/>
            </a:xfrm>
            <a:custGeom>
              <a:avLst/>
              <a:gdLst>
                <a:gd name="connsiteX0" fmla="*/ 41638 w 238125"/>
                <a:gd name="connsiteY0" fmla="*/ 121648 h 238125"/>
                <a:gd name="connsiteX1" fmla="*/ 121648 w 238125"/>
                <a:gd name="connsiteY1" fmla="*/ 41638 h 238125"/>
                <a:gd name="connsiteX2" fmla="*/ 201658 w 238125"/>
                <a:gd name="connsiteY2" fmla="*/ 121648 h 238125"/>
                <a:gd name="connsiteX3" fmla="*/ 121648 w 238125"/>
                <a:gd name="connsiteY3" fmla="*/ 201658 h 238125"/>
                <a:gd name="connsiteX4" fmla="*/ 41638 w 238125"/>
                <a:gd name="connsiteY4" fmla="*/ 121648 h 238125"/>
                <a:gd name="connsiteX5" fmla="*/ 41638 w 238125"/>
                <a:gd name="connsiteY5" fmla="*/ 121648 h 238125"/>
                <a:gd name="connsiteX6" fmla="*/ 74975 w 238125"/>
                <a:gd name="connsiteY6" fmla="*/ 7348 h 238125"/>
                <a:gd name="connsiteX7" fmla="*/ 91168 w 238125"/>
                <a:gd name="connsiteY7" fmla="*/ 47353 h 238125"/>
                <a:gd name="connsiteX8" fmla="*/ 47353 w 238125"/>
                <a:gd name="connsiteY8" fmla="*/ 90216 h 238125"/>
                <a:gd name="connsiteX9" fmla="*/ 7348 w 238125"/>
                <a:gd name="connsiteY9" fmla="*/ 74023 h 238125"/>
                <a:gd name="connsiteX10" fmla="*/ 47353 w 238125"/>
                <a:gd name="connsiteY10" fmla="*/ 152128 h 238125"/>
                <a:gd name="connsiteX11" fmla="*/ 7348 w 238125"/>
                <a:gd name="connsiteY11" fmla="*/ 168321 h 238125"/>
                <a:gd name="connsiteX12" fmla="*/ 91168 w 238125"/>
                <a:gd name="connsiteY12" fmla="*/ 194991 h 238125"/>
                <a:gd name="connsiteX13" fmla="*/ 74975 w 238125"/>
                <a:gd name="connsiteY13" fmla="*/ 234996 h 238125"/>
                <a:gd name="connsiteX14" fmla="*/ 152128 w 238125"/>
                <a:gd name="connsiteY14" fmla="*/ 194991 h 238125"/>
                <a:gd name="connsiteX15" fmla="*/ 168321 w 238125"/>
                <a:gd name="connsiteY15" fmla="*/ 234996 h 238125"/>
                <a:gd name="connsiteX16" fmla="*/ 195943 w 238125"/>
                <a:gd name="connsiteY16" fmla="*/ 152128 h 238125"/>
                <a:gd name="connsiteX17" fmla="*/ 235948 w 238125"/>
                <a:gd name="connsiteY17" fmla="*/ 168321 h 238125"/>
                <a:gd name="connsiteX18" fmla="*/ 195943 w 238125"/>
                <a:gd name="connsiteY18" fmla="*/ 90216 h 238125"/>
                <a:gd name="connsiteX19" fmla="*/ 235948 w 238125"/>
                <a:gd name="connsiteY19" fmla="*/ 74023 h 238125"/>
                <a:gd name="connsiteX20" fmla="*/ 152128 w 238125"/>
                <a:gd name="connsiteY20" fmla="*/ 47353 h 238125"/>
                <a:gd name="connsiteX21" fmla="*/ 168321 w 238125"/>
                <a:gd name="connsiteY21" fmla="*/ 7348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8125" h="238125">
                  <a:moveTo>
                    <a:pt x="41638" y="121648"/>
                  </a:moveTo>
                  <a:cubicBezTo>
                    <a:pt x="41638" y="77833"/>
                    <a:pt x="77833" y="41638"/>
                    <a:pt x="121648" y="41638"/>
                  </a:cubicBezTo>
                  <a:cubicBezTo>
                    <a:pt x="165463" y="41638"/>
                    <a:pt x="201658" y="77833"/>
                    <a:pt x="201658" y="121648"/>
                  </a:cubicBezTo>
                  <a:cubicBezTo>
                    <a:pt x="201658" y="165463"/>
                    <a:pt x="165463" y="201658"/>
                    <a:pt x="121648" y="201658"/>
                  </a:cubicBezTo>
                  <a:cubicBezTo>
                    <a:pt x="77833" y="201658"/>
                    <a:pt x="41638" y="165463"/>
                    <a:pt x="41638" y="121648"/>
                  </a:cubicBezTo>
                  <a:lnTo>
                    <a:pt x="41638" y="121648"/>
                  </a:lnTo>
                  <a:close/>
                  <a:moveTo>
                    <a:pt x="74975" y="7348"/>
                  </a:moveTo>
                  <a:cubicBezTo>
                    <a:pt x="91168" y="47353"/>
                    <a:pt x="91168" y="47353"/>
                    <a:pt x="91168" y="47353"/>
                  </a:cubicBezTo>
                  <a:moveTo>
                    <a:pt x="47353" y="90216"/>
                  </a:moveTo>
                  <a:cubicBezTo>
                    <a:pt x="7348" y="74023"/>
                    <a:pt x="7348" y="74023"/>
                    <a:pt x="7348" y="74023"/>
                  </a:cubicBezTo>
                  <a:moveTo>
                    <a:pt x="47353" y="152128"/>
                  </a:moveTo>
                  <a:cubicBezTo>
                    <a:pt x="7348" y="168321"/>
                    <a:pt x="7348" y="168321"/>
                    <a:pt x="7348" y="168321"/>
                  </a:cubicBezTo>
                  <a:moveTo>
                    <a:pt x="91168" y="194991"/>
                  </a:moveTo>
                  <a:cubicBezTo>
                    <a:pt x="74975" y="234996"/>
                    <a:pt x="74975" y="234996"/>
                    <a:pt x="74975" y="234996"/>
                  </a:cubicBezTo>
                  <a:moveTo>
                    <a:pt x="152128" y="194991"/>
                  </a:moveTo>
                  <a:cubicBezTo>
                    <a:pt x="168321" y="234996"/>
                    <a:pt x="168321" y="234996"/>
                    <a:pt x="168321" y="234996"/>
                  </a:cubicBezTo>
                  <a:moveTo>
                    <a:pt x="195943" y="152128"/>
                  </a:moveTo>
                  <a:cubicBezTo>
                    <a:pt x="235948" y="168321"/>
                    <a:pt x="235948" y="168321"/>
                    <a:pt x="235948" y="168321"/>
                  </a:cubicBezTo>
                  <a:moveTo>
                    <a:pt x="195943" y="90216"/>
                  </a:moveTo>
                  <a:cubicBezTo>
                    <a:pt x="235948" y="74023"/>
                    <a:pt x="235948" y="74023"/>
                    <a:pt x="235948" y="74023"/>
                  </a:cubicBezTo>
                  <a:moveTo>
                    <a:pt x="152128" y="47353"/>
                  </a:moveTo>
                  <a:cubicBezTo>
                    <a:pt x="168321" y="7348"/>
                    <a:pt x="168321" y="7348"/>
                    <a:pt x="168321" y="7348"/>
                  </a:cubicBezTo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C6447CF-FD95-3A61-164D-B9E922653011}"/>
              </a:ext>
            </a:extLst>
          </p:cNvPr>
          <p:cNvGrpSpPr/>
          <p:nvPr/>
        </p:nvGrpSpPr>
        <p:grpSpPr>
          <a:xfrm>
            <a:off x="7333544" y="3067675"/>
            <a:ext cx="316740" cy="311589"/>
            <a:chOff x="8800729" y="3349889"/>
            <a:chExt cx="305759" cy="30385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FF2C69-62A7-0549-D357-9BE8A5736C9E}"/>
                </a:ext>
              </a:extLst>
            </p:cNvPr>
            <p:cNvSpPr/>
            <p:nvPr/>
          </p:nvSpPr>
          <p:spPr>
            <a:xfrm>
              <a:off x="8800729" y="3349889"/>
              <a:ext cx="209550" cy="238125"/>
            </a:xfrm>
            <a:custGeom>
              <a:avLst/>
              <a:gdLst>
                <a:gd name="connsiteX0" fmla="*/ 98795 w 209550"/>
                <a:gd name="connsiteY0" fmla="*/ 238813 h 238125"/>
                <a:gd name="connsiteX1" fmla="*/ 7355 w 209550"/>
                <a:gd name="connsiteY1" fmla="*/ 238813 h 238125"/>
                <a:gd name="connsiteX2" fmla="*/ 7355 w 209550"/>
                <a:gd name="connsiteY2" fmla="*/ 7355 h 238125"/>
                <a:gd name="connsiteX3" fmla="*/ 211190 w 209550"/>
                <a:gd name="connsiteY3" fmla="*/ 7355 h 238125"/>
                <a:gd name="connsiteX4" fmla="*/ 211190 w 209550"/>
                <a:gd name="connsiteY4" fmla="*/ 7974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38125">
                  <a:moveTo>
                    <a:pt x="98795" y="238813"/>
                  </a:moveTo>
                  <a:lnTo>
                    <a:pt x="7355" y="238813"/>
                  </a:lnTo>
                  <a:lnTo>
                    <a:pt x="7355" y="7355"/>
                  </a:lnTo>
                  <a:lnTo>
                    <a:pt x="211190" y="7355"/>
                  </a:lnTo>
                  <a:lnTo>
                    <a:pt x="211190" y="79745"/>
                  </a:lnTo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2B260D8-B79B-7D6C-F348-D9299CBAB087}"/>
                </a:ext>
              </a:extLst>
            </p:cNvPr>
            <p:cNvSpPr/>
            <p:nvPr/>
          </p:nvSpPr>
          <p:spPr>
            <a:xfrm>
              <a:off x="8825494" y="3382274"/>
              <a:ext cx="161925" cy="171450"/>
            </a:xfrm>
            <a:custGeom>
              <a:avLst/>
              <a:gdLst>
                <a:gd name="connsiteX0" fmla="*/ 38788 w 161925"/>
                <a:gd name="connsiteY0" fmla="*/ 7355 h 171450"/>
                <a:gd name="connsiteX1" fmla="*/ 129275 w 161925"/>
                <a:gd name="connsiteY1" fmla="*/ 7355 h 171450"/>
                <a:gd name="connsiteX2" fmla="*/ 7355 w 161925"/>
                <a:gd name="connsiteY2" fmla="*/ 34025 h 171450"/>
                <a:gd name="connsiteX3" fmla="*/ 161660 w 161925"/>
                <a:gd name="connsiteY3" fmla="*/ 34025 h 171450"/>
                <a:gd name="connsiteX4" fmla="*/ 7355 w 161925"/>
                <a:gd name="connsiteY4" fmla="*/ 61648 h 171450"/>
                <a:gd name="connsiteX5" fmla="*/ 92128 w 161925"/>
                <a:gd name="connsiteY5" fmla="*/ 61648 h 171450"/>
                <a:gd name="connsiteX6" fmla="*/ 7355 w 161925"/>
                <a:gd name="connsiteY6" fmla="*/ 88318 h 171450"/>
                <a:gd name="connsiteX7" fmla="*/ 67363 w 161925"/>
                <a:gd name="connsiteY7" fmla="*/ 88318 h 171450"/>
                <a:gd name="connsiteX8" fmla="*/ 7355 w 161925"/>
                <a:gd name="connsiteY8" fmla="*/ 115940 h 171450"/>
                <a:gd name="connsiteX9" fmla="*/ 54980 w 161925"/>
                <a:gd name="connsiteY9" fmla="*/ 115940 h 171450"/>
                <a:gd name="connsiteX10" fmla="*/ 7355 w 161925"/>
                <a:gd name="connsiteY10" fmla="*/ 142610 h 171450"/>
                <a:gd name="connsiteX11" fmla="*/ 54980 w 161925"/>
                <a:gd name="connsiteY11" fmla="*/ 142610 h 171450"/>
                <a:gd name="connsiteX12" fmla="*/ 7355 w 161925"/>
                <a:gd name="connsiteY12" fmla="*/ 169280 h 171450"/>
                <a:gd name="connsiteX13" fmla="*/ 54028 w 161925"/>
                <a:gd name="connsiteY13" fmla="*/ 16928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71450">
                  <a:moveTo>
                    <a:pt x="38788" y="7355"/>
                  </a:moveTo>
                  <a:lnTo>
                    <a:pt x="129275" y="7355"/>
                  </a:lnTo>
                  <a:moveTo>
                    <a:pt x="7355" y="34025"/>
                  </a:moveTo>
                  <a:lnTo>
                    <a:pt x="161660" y="34025"/>
                  </a:lnTo>
                  <a:moveTo>
                    <a:pt x="7355" y="61648"/>
                  </a:moveTo>
                  <a:lnTo>
                    <a:pt x="92128" y="61648"/>
                  </a:lnTo>
                  <a:moveTo>
                    <a:pt x="7355" y="88318"/>
                  </a:moveTo>
                  <a:lnTo>
                    <a:pt x="67363" y="88318"/>
                  </a:lnTo>
                  <a:moveTo>
                    <a:pt x="7355" y="115940"/>
                  </a:moveTo>
                  <a:lnTo>
                    <a:pt x="54980" y="115940"/>
                  </a:lnTo>
                  <a:moveTo>
                    <a:pt x="7355" y="142610"/>
                  </a:moveTo>
                  <a:lnTo>
                    <a:pt x="54980" y="142610"/>
                  </a:lnTo>
                  <a:moveTo>
                    <a:pt x="7355" y="169280"/>
                  </a:moveTo>
                  <a:lnTo>
                    <a:pt x="54028" y="169280"/>
                  </a:lnTo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9E19ED1-0A22-8DAB-A532-AECF33012476}"/>
                </a:ext>
              </a:extLst>
            </p:cNvPr>
            <p:cNvSpPr/>
            <p:nvPr/>
          </p:nvSpPr>
          <p:spPr>
            <a:xfrm>
              <a:off x="8892176" y="3435621"/>
              <a:ext cx="171450" cy="171450"/>
            </a:xfrm>
            <a:custGeom>
              <a:avLst/>
              <a:gdLst>
                <a:gd name="connsiteX0" fmla="*/ 169273 w 171450"/>
                <a:gd name="connsiteY0" fmla="*/ 88311 h 171450"/>
                <a:gd name="connsiteX1" fmla="*/ 88311 w 171450"/>
                <a:gd name="connsiteY1" fmla="*/ 169273 h 171450"/>
                <a:gd name="connsiteX2" fmla="*/ 7348 w 171450"/>
                <a:gd name="connsiteY2" fmla="*/ 88311 h 171450"/>
                <a:gd name="connsiteX3" fmla="*/ 88311 w 171450"/>
                <a:gd name="connsiteY3" fmla="*/ 7348 h 171450"/>
                <a:gd name="connsiteX4" fmla="*/ 169273 w 171450"/>
                <a:gd name="connsiteY4" fmla="*/ 8831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69273" y="88311"/>
                  </a:moveTo>
                  <a:cubicBezTo>
                    <a:pt x="169273" y="133025"/>
                    <a:pt x="133025" y="169273"/>
                    <a:pt x="88311" y="169273"/>
                  </a:cubicBezTo>
                  <a:cubicBezTo>
                    <a:pt x="43596" y="169273"/>
                    <a:pt x="7348" y="133025"/>
                    <a:pt x="7348" y="88311"/>
                  </a:cubicBezTo>
                  <a:cubicBezTo>
                    <a:pt x="7348" y="43596"/>
                    <a:pt x="43596" y="7348"/>
                    <a:pt x="88311" y="7348"/>
                  </a:cubicBezTo>
                  <a:cubicBezTo>
                    <a:pt x="133025" y="7348"/>
                    <a:pt x="169273" y="43596"/>
                    <a:pt x="169273" y="88311"/>
                  </a:cubicBezTo>
                  <a:close/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92A368F-D344-21FC-21A2-6C1AAA3A5455}"/>
                </a:ext>
              </a:extLst>
            </p:cNvPr>
            <p:cNvSpPr/>
            <p:nvPr/>
          </p:nvSpPr>
          <p:spPr>
            <a:xfrm>
              <a:off x="9030288" y="3577543"/>
              <a:ext cx="76200" cy="76200"/>
            </a:xfrm>
            <a:custGeom>
              <a:avLst/>
              <a:gdLst>
                <a:gd name="connsiteX0" fmla="*/ 70213 w 76200"/>
                <a:gd name="connsiteY0" fmla="*/ 76881 h 76200"/>
                <a:gd name="connsiteX1" fmla="*/ 7348 w 76200"/>
                <a:gd name="connsiteY1" fmla="*/ 7348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0" h="76200">
                  <a:moveTo>
                    <a:pt x="70213" y="76881"/>
                  </a:moveTo>
                  <a:lnTo>
                    <a:pt x="7348" y="7348"/>
                  </a:lnTo>
                </a:path>
              </a:pathLst>
            </a:custGeom>
            <a:noFill/>
            <a:ln w="12700" cap="sq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Tx/>
                <a:defRPr/>
              </a:pPr>
              <a:endParaRPr lang="en-US" sz="9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0F4531-C9CE-FA6E-1674-5CAF40898569}"/>
              </a:ext>
            </a:extLst>
          </p:cNvPr>
          <p:cNvGrpSpPr/>
          <p:nvPr/>
        </p:nvGrpSpPr>
        <p:grpSpPr>
          <a:xfrm>
            <a:off x="4501037" y="4868346"/>
            <a:ext cx="401396" cy="449699"/>
            <a:chOff x="5548134" y="3722592"/>
            <a:chExt cx="1334254" cy="1429167"/>
          </a:xfrm>
        </p:grpSpPr>
        <p:sp>
          <p:nvSpPr>
            <p:cNvPr id="40" name="building_7">
              <a:extLst>
                <a:ext uri="{FF2B5EF4-FFF2-40B4-BE49-F238E27FC236}">
                  <a16:creationId xmlns:a16="http://schemas.microsoft.com/office/drawing/2014/main" id="{1B23B75C-FCDB-F175-5F71-674C1A63B63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548134" y="3759745"/>
              <a:ext cx="1334254" cy="1392014"/>
            </a:xfrm>
            <a:custGeom>
              <a:avLst/>
              <a:gdLst>
                <a:gd name="T0" fmla="*/ 231 w 231"/>
                <a:gd name="T1" fmla="*/ 241 h 241"/>
                <a:gd name="T2" fmla="*/ 0 w 231"/>
                <a:gd name="T3" fmla="*/ 241 h 241"/>
                <a:gd name="T4" fmla="*/ 135 w 231"/>
                <a:gd name="T5" fmla="*/ 241 h 241"/>
                <a:gd name="T6" fmla="*/ 135 w 231"/>
                <a:gd name="T7" fmla="*/ 111 h 241"/>
                <a:gd name="T8" fmla="*/ 14 w 231"/>
                <a:gd name="T9" fmla="*/ 111 h 241"/>
                <a:gd name="T10" fmla="*/ 14 w 231"/>
                <a:gd name="T11" fmla="*/ 241 h 241"/>
                <a:gd name="T12" fmla="*/ 217 w 231"/>
                <a:gd name="T13" fmla="*/ 241 h 241"/>
                <a:gd name="T14" fmla="*/ 217 w 231"/>
                <a:gd name="T15" fmla="*/ 58 h 241"/>
                <a:gd name="T16" fmla="*/ 101 w 231"/>
                <a:gd name="T17" fmla="*/ 58 h 241"/>
                <a:gd name="T18" fmla="*/ 101 w 231"/>
                <a:gd name="T19" fmla="*/ 97 h 241"/>
                <a:gd name="T20" fmla="*/ 140 w 231"/>
                <a:gd name="T21" fmla="*/ 44 h 241"/>
                <a:gd name="T22" fmla="*/ 140 w 231"/>
                <a:gd name="T23" fmla="*/ 0 h 241"/>
                <a:gd name="T24" fmla="*/ 82 w 231"/>
                <a:gd name="T25" fmla="*/ 44 h 241"/>
                <a:gd name="T26" fmla="*/ 82 w 231"/>
                <a:gd name="T27" fmla="*/ 92 h 241"/>
                <a:gd name="T28" fmla="*/ 178 w 231"/>
                <a:gd name="T29" fmla="*/ 241 h 241"/>
                <a:gd name="T30" fmla="*/ 178 w 231"/>
                <a:gd name="T31" fmla="*/ 198 h 241"/>
                <a:gd name="T32" fmla="*/ 150 w 231"/>
                <a:gd name="T33" fmla="*/ 198 h 241"/>
                <a:gd name="T34" fmla="*/ 97 w 231"/>
                <a:gd name="T35" fmla="*/ 241 h 241"/>
                <a:gd name="T36" fmla="*/ 97 w 231"/>
                <a:gd name="T37" fmla="*/ 198 h 241"/>
                <a:gd name="T38" fmla="*/ 58 w 231"/>
                <a:gd name="T39" fmla="*/ 198 h 241"/>
                <a:gd name="T40" fmla="*/ 58 w 231"/>
                <a:gd name="T41" fmla="*/ 239 h 241"/>
                <a:gd name="T42" fmla="*/ 97 w 231"/>
                <a:gd name="T43" fmla="*/ 241 h 241"/>
                <a:gd name="T44" fmla="*/ 97 w 231"/>
                <a:gd name="T45" fmla="*/ 198 h 241"/>
                <a:gd name="T46" fmla="*/ 58 w 231"/>
                <a:gd name="T47" fmla="*/ 198 h 241"/>
                <a:gd name="T48" fmla="*/ 58 w 231"/>
                <a:gd name="T49" fmla="*/ 239 h 241"/>
                <a:gd name="T50" fmla="*/ 227 w 231"/>
                <a:gd name="T51" fmla="*/ 164 h 241"/>
                <a:gd name="T52" fmla="*/ 227 w 231"/>
                <a:gd name="T53" fmla="*/ 164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1" h="241">
                  <a:moveTo>
                    <a:pt x="231" y="241"/>
                  </a:moveTo>
                  <a:lnTo>
                    <a:pt x="0" y="241"/>
                  </a:lnTo>
                  <a:moveTo>
                    <a:pt x="135" y="241"/>
                  </a:moveTo>
                  <a:lnTo>
                    <a:pt x="135" y="111"/>
                  </a:lnTo>
                  <a:lnTo>
                    <a:pt x="14" y="111"/>
                  </a:lnTo>
                  <a:lnTo>
                    <a:pt x="14" y="241"/>
                  </a:lnTo>
                  <a:moveTo>
                    <a:pt x="217" y="241"/>
                  </a:moveTo>
                  <a:lnTo>
                    <a:pt x="217" y="58"/>
                  </a:lnTo>
                  <a:lnTo>
                    <a:pt x="101" y="58"/>
                  </a:lnTo>
                  <a:lnTo>
                    <a:pt x="101" y="97"/>
                  </a:lnTo>
                  <a:moveTo>
                    <a:pt x="140" y="44"/>
                  </a:moveTo>
                  <a:lnTo>
                    <a:pt x="140" y="0"/>
                  </a:lnTo>
                  <a:lnTo>
                    <a:pt x="82" y="44"/>
                  </a:lnTo>
                  <a:lnTo>
                    <a:pt x="82" y="92"/>
                  </a:lnTo>
                  <a:moveTo>
                    <a:pt x="178" y="241"/>
                  </a:moveTo>
                  <a:lnTo>
                    <a:pt x="178" y="198"/>
                  </a:lnTo>
                  <a:lnTo>
                    <a:pt x="150" y="198"/>
                  </a:lnTo>
                  <a:moveTo>
                    <a:pt x="97" y="241"/>
                  </a:moveTo>
                  <a:lnTo>
                    <a:pt x="97" y="198"/>
                  </a:lnTo>
                  <a:lnTo>
                    <a:pt x="58" y="198"/>
                  </a:lnTo>
                  <a:lnTo>
                    <a:pt x="58" y="239"/>
                  </a:lnTo>
                  <a:moveTo>
                    <a:pt x="97" y="241"/>
                  </a:moveTo>
                  <a:lnTo>
                    <a:pt x="97" y="198"/>
                  </a:lnTo>
                  <a:lnTo>
                    <a:pt x="58" y="198"/>
                  </a:lnTo>
                  <a:lnTo>
                    <a:pt x="58" y="239"/>
                  </a:lnTo>
                  <a:moveTo>
                    <a:pt x="227" y="164"/>
                  </a:moveTo>
                  <a:lnTo>
                    <a:pt x="227" y="164"/>
                  </a:lnTo>
                </a:path>
              </a:pathLst>
            </a:custGeom>
            <a:noFill/>
            <a:ln w="12700" cap="flat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10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FE46962-C259-9251-AB02-70FEA0476365}"/>
                </a:ext>
              </a:extLst>
            </p:cNvPr>
            <p:cNvSpPr/>
            <p:nvPr/>
          </p:nvSpPr>
          <p:spPr bwMode="auto">
            <a:xfrm>
              <a:off x="5548136" y="3722592"/>
              <a:ext cx="1117503" cy="34326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>
                <a:lnSpc>
                  <a:spcPct val="90000"/>
                </a:lnSpc>
                <a:buClrTx/>
                <a:defRPr/>
              </a:pPr>
              <a:endParaRPr lang="en-US" sz="2400">
                <a:solidFill>
                  <a:schemeClr val="tx1"/>
                </a:solidFill>
                <a:latin typeface="Plus Jakarta Sans "/>
                <a:ea typeface="Segoe UI" pitchFamily="34" charset="0"/>
                <a:cs typeface="Plus Jakarta Sans ExtraBold" panose="020B060402020202020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7D7EFC-BA16-1DBB-8CDD-157F8E793506}"/>
                </a:ext>
              </a:extLst>
            </p:cNvPr>
            <p:cNvSpPr/>
            <p:nvPr/>
          </p:nvSpPr>
          <p:spPr bwMode="auto">
            <a:xfrm>
              <a:off x="5617712" y="3861970"/>
              <a:ext cx="486601" cy="51164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>
                <a:lnSpc>
                  <a:spcPct val="90000"/>
                </a:lnSpc>
                <a:buClrTx/>
                <a:defRPr/>
              </a:pPr>
              <a:endParaRPr lang="en-US" sz="2400">
                <a:solidFill>
                  <a:schemeClr val="tx1"/>
                </a:solidFill>
                <a:latin typeface="Plus Jakarta Sans "/>
                <a:ea typeface="Segoe UI" pitchFamily="34" charset="0"/>
                <a:cs typeface="Plus Jakarta Sans ExtraBold" panose="020B060402020202020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2E433F-9E74-7B1D-17A2-94BD7C3BD8C2}"/>
              </a:ext>
            </a:extLst>
          </p:cNvPr>
          <p:cNvGrpSpPr/>
          <p:nvPr/>
        </p:nvGrpSpPr>
        <p:grpSpPr>
          <a:xfrm>
            <a:off x="4589912" y="3021216"/>
            <a:ext cx="325649" cy="344644"/>
            <a:chOff x="8321442" y="3347044"/>
            <a:chExt cx="548721" cy="54188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9D79C1E-40A7-E7F5-F03E-3AE5E2B7E879}"/>
                </a:ext>
              </a:extLst>
            </p:cNvPr>
            <p:cNvSpPr/>
            <p:nvPr/>
          </p:nvSpPr>
          <p:spPr bwMode="auto">
            <a:xfrm>
              <a:off x="8426277" y="3472887"/>
              <a:ext cx="422818" cy="338508"/>
            </a:xfrm>
            <a:custGeom>
              <a:avLst/>
              <a:gdLst>
                <a:gd name="connsiteX0" fmla="*/ 0 w 1470991"/>
                <a:gd name="connsiteY0" fmla="*/ 1152939 h 1152939"/>
                <a:gd name="connsiteX1" fmla="*/ 1013791 w 1470991"/>
                <a:gd name="connsiteY1" fmla="*/ 1152939 h 1152939"/>
                <a:gd name="connsiteX2" fmla="*/ 1470991 w 1470991"/>
                <a:gd name="connsiteY2" fmla="*/ 636105 h 1152939"/>
                <a:gd name="connsiteX3" fmla="*/ 1242391 w 1470991"/>
                <a:gd name="connsiteY3" fmla="*/ 89452 h 1152939"/>
                <a:gd name="connsiteX4" fmla="*/ 606287 w 1470991"/>
                <a:gd name="connsiteY4" fmla="*/ 0 h 1152939"/>
                <a:gd name="connsiteX5" fmla="*/ 308113 w 1470991"/>
                <a:gd name="connsiteY5" fmla="*/ 318052 h 1152939"/>
                <a:gd name="connsiteX6" fmla="*/ 327991 w 1470991"/>
                <a:gd name="connsiteY6" fmla="*/ 596348 h 1152939"/>
                <a:gd name="connsiteX0" fmla="*/ 0 w 1470991"/>
                <a:gd name="connsiteY0" fmla="*/ 1152939 h 1152939"/>
                <a:gd name="connsiteX1" fmla="*/ 1013791 w 1470991"/>
                <a:gd name="connsiteY1" fmla="*/ 1152939 h 1152939"/>
                <a:gd name="connsiteX2" fmla="*/ 1470991 w 1470991"/>
                <a:gd name="connsiteY2" fmla="*/ 636105 h 1152939"/>
                <a:gd name="connsiteX3" fmla="*/ 1242391 w 1470991"/>
                <a:gd name="connsiteY3" fmla="*/ 89452 h 1152939"/>
                <a:gd name="connsiteX4" fmla="*/ 606287 w 1470991"/>
                <a:gd name="connsiteY4" fmla="*/ 0 h 1152939"/>
                <a:gd name="connsiteX5" fmla="*/ 308113 w 1470991"/>
                <a:gd name="connsiteY5" fmla="*/ 318052 h 1152939"/>
                <a:gd name="connsiteX6" fmla="*/ 327991 w 1470991"/>
                <a:gd name="connsiteY6" fmla="*/ 596348 h 1152939"/>
                <a:gd name="connsiteX0" fmla="*/ 0 w 1478018"/>
                <a:gd name="connsiteY0" fmla="*/ 1152939 h 1152939"/>
                <a:gd name="connsiteX1" fmla="*/ 1013791 w 1478018"/>
                <a:gd name="connsiteY1" fmla="*/ 1152939 h 1152939"/>
                <a:gd name="connsiteX2" fmla="*/ 1470991 w 1478018"/>
                <a:gd name="connsiteY2" fmla="*/ 636105 h 1152939"/>
                <a:gd name="connsiteX3" fmla="*/ 1242391 w 1478018"/>
                <a:gd name="connsiteY3" fmla="*/ 89452 h 1152939"/>
                <a:gd name="connsiteX4" fmla="*/ 606287 w 1478018"/>
                <a:gd name="connsiteY4" fmla="*/ 0 h 1152939"/>
                <a:gd name="connsiteX5" fmla="*/ 308113 w 1478018"/>
                <a:gd name="connsiteY5" fmla="*/ 318052 h 1152939"/>
                <a:gd name="connsiteX6" fmla="*/ 327991 w 1478018"/>
                <a:gd name="connsiteY6" fmla="*/ 596348 h 1152939"/>
                <a:gd name="connsiteX0" fmla="*/ 0 w 1478018"/>
                <a:gd name="connsiteY0" fmla="*/ 1170456 h 1170456"/>
                <a:gd name="connsiteX1" fmla="*/ 1013791 w 1478018"/>
                <a:gd name="connsiteY1" fmla="*/ 1170456 h 1170456"/>
                <a:gd name="connsiteX2" fmla="*/ 1470991 w 1478018"/>
                <a:gd name="connsiteY2" fmla="*/ 653622 h 1170456"/>
                <a:gd name="connsiteX3" fmla="*/ 1242391 w 1478018"/>
                <a:gd name="connsiteY3" fmla="*/ 106969 h 1170456"/>
                <a:gd name="connsiteX4" fmla="*/ 606287 w 1478018"/>
                <a:gd name="connsiteY4" fmla="*/ 17517 h 1170456"/>
                <a:gd name="connsiteX5" fmla="*/ 308113 w 1478018"/>
                <a:gd name="connsiteY5" fmla="*/ 335569 h 1170456"/>
                <a:gd name="connsiteX6" fmla="*/ 327991 w 1478018"/>
                <a:gd name="connsiteY6" fmla="*/ 613865 h 1170456"/>
                <a:gd name="connsiteX0" fmla="*/ 0 w 1478018"/>
                <a:gd name="connsiteY0" fmla="*/ 1170456 h 1170456"/>
                <a:gd name="connsiteX1" fmla="*/ 1013791 w 1478018"/>
                <a:gd name="connsiteY1" fmla="*/ 1170456 h 1170456"/>
                <a:gd name="connsiteX2" fmla="*/ 1470991 w 1478018"/>
                <a:gd name="connsiteY2" fmla="*/ 653622 h 1170456"/>
                <a:gd name="connsiteX3" fmla="*/ 1242391 w 1478018"/>
                <a:gd name="connsiteY3" fmla="*/ 106969 h 1170456"/>
                <a:gd name="connsiteX4" fmla="*/ 606287 w 1478018"/>
                <a:gd name="connsiteY4" fmla="*/ 17517 h 1170456"/>
                <a:gd name="connsiteX5" fmla="*/ 308113 w 1478018"/>
                <a:gd name="connsiteY5" fmla="*/ 335569 h 1170456"/>
                <a:gd name="connsiteX6" fmla="*/ 327991 w 1478018"/>
                <a:gd name="connsiteY6" fmla="*/ 613865 h 1170456"/>
                <a:gd name="connsiteX0" fmla="*/ 0 w 1478018"/>
                <a:gd name="connsiteY0" fmla="*/ 1170456 h 1170456"/>
                <a:gd name="connsiteX1" fmla="*/ 1013791 w 1478018"/>
                <a:gd name="connsiteY1" fmla="*/ 1170456 h 1170456"/>
                <a:gd name="connsiteX2" fmla="*/ 1470991 w 1478018"/>
                <a:gd name="connsiteY2" fmla="*/ 653622 h 1170456"/>
                <a:gd name="connsiteX3" fmla="*/ 1242391 w 1478018"/>
                <a:gd name="connsiteY3" fmla="*/ 106969 h 1170456"/>
                <a:gd name="connsiteX4" fmla="*/ 606287 w 1478018"/>
                <a:gd name="connsiteY4" fmla="*/ 17517 h 1170456"/>
                <a:gd name="connsiteX5" fmla="*/ 308113 w 1478018"/>
                <a:gd name="connsiteY5" fmla="*/ 335569 h 1170456"/>
                <a:gd name="connsiteX0" fmla="*/ 0 w 1478018"/>
                <a:gd name="connsiteY0" fmla="*/ 1170456 h 1170456"/>
                <a:gd name="connsiteX1" fmla="*/ 1013791 w 1478018"/>
                <a:gd name="connsiteY1" fmla="*/ 1170456 h 1170456"/>
                <a:gd name="connsiteX2" fmla="*/ 1470991 w 1478018"/>
                <a:gd name="connsiteY2" fmla="*/ 653622 h 1170456"/>
                <a:gd name="connsiteX3" fmla="*/ 1242391 w 1478018"/>
                <a:gd name="connsiteY3" fmla="*/ 106969 h 1170456"/>
                <a:gd name="connsiteX4" fmla="*/ 606287 w 1478018"/>
                <a:gd name="connsiteY4" fmla="*/ 17517 h 1170456"/>
                <a:gd name="connsiteX5" fmla="*/ 318052 w 1478018"/>
                <a:gd name="connsiteY5" fmla="*/ 504534 h 1170456"/>
                <a:gd name="connsiteX0" fmla="*/ 0 w 1478018"/>
                <a:gd name="connsiteY0" fmla="*/ 1170456 h 1170456"/>
                <a:gd name="connsiteX1" fmla="*/ 1013791 w 1478018"/>
                <a:gd name="connsiteY1" fmla="*/ 1170456 h 1170456"/>
                <a:gd name="connsiteX2" fmla="*/ 1470991 w 1478018"/>
                <a:gd name="connsiteY2" fmla="*/ 653622 h 1170456"/>
                <a:gd name="connsiteX3" fmla="*/ 1242391 w 1478018"/>
                <a:gd name="connsiteY3" fmla="*/ 106969 h 1170456"/>
                <a:gd name="connsiteX4" fmla="*/ 606287 w 1478018"/>
                <a:gd name="connsiteY4" fmla="*/ 17517 h 1170456"/>
                <a:gd name="connsiteX5" fmla="*/ 318052 w 1478018"/>
                <a:gd name="connsiteY5" fmla="*/ 504534 h 1170456"/>
                <a:gd name="connsiteX0" fmla="*/ 0 w 1478018"/>
                <a:gd name="connsiteY0" fmla="*/ 1149129 h 1149129"/>
                <a:gd name="connsiteX1" fmla="*/ 1013791 w 1478018"/>
                <a:gd name="connsiteY1" fmla="*/ 1149129 h 1149129"/>
                <a:gd name="connsiteX2" fmla="*/ 1470991 w 1478018"/>
                <a:gd name="connsiteY2" fmla="*/ 632295 h 1149129"/>
                <a:gd name="connsiteX3" fmla="*/ 1242391 w 1478018"/>
                <a:gd name="connsiteY3" fmla="*/ 85642 h 1149129"/>
                <a:gd name="connsiteX4" fmla="*/ 715617 w 1478018"/>
                <a:gd name="connsiteY4" fmla="*/ 26008 h 1149129"/>
                <a:gd name="connsiteX5" fmla="*/ 318052 w 1478018"/>
                <a:gd name="connsiteY5" fmla="*/ 483207 h 114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8018" h="1149129">
                  <a:moveTo>
                    <a:pt x="0" y="1149129"/>
                  </a:moveTo>
                  <a:lnTo>
                    <a:pt x="1013791" y="1149129"/>
                  </a:lnTo>
                  <a:cubicBezTo>
                    <a:pt x="1258956" y="1062990"/>
                    <a:pt x="1432891" y="809543"/>
                    <a:pt x="1470991" y="632295"/>
                  </a:cubicBezTo>
                  <a:cubicBezTo>
                    <a:pt x="1509091" y="455047"/>
                    <a:pt x="1386508" y="191659"/>
                    <a:pt x="1242391" y="85642"/>
                  </a:cubicBezTo>
                  <a:cubicBezTo>
                    <a:pt x="1098274" y="-20375"/>
                    <a:pt x="871330" y="-12092"/>
                    <a:pt x="715617" y="26008"/>
                  </a:cubicBezTo>
                  <a:cubicBezTo>
                    <a:pt x="559904" y="64108"/>
                    <a:pt x="384313" y="204911"/>
                    <a:pt x="318052" y="483207"/>
                  </a:cubicBezTo>
                </a:path>
              </a:pathLst>
            </a:custGeom>
            <a:noFill/>
            <a:ln w="28575" cap="flat" cmpd="sng" algn="ctr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914367">
                <a:buClrTx/>
                <a:defRPr/>
              </a:pPr>
              <a:endParaRPr lang="en-US" sz="1765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0DA43E21-88BE-C358-17B8-8FFC9A1225AE}"/>
                </a:ext>
              </a:extLst>
            </p:cNvPr>
            <p:cNvSpPr/>
            <p:nvPr/>
          </p:nvSpPr>
          <p:spPr>
            <a:xfrm rot="14400000">
              <a:off x="8355456" y="3313030"/>
              <a:ext cx="217801" cy="285830"/>
            </a:xfrm>
            <a:prstGeom prst="arc">
              <a:avLst>
                <a:gd name="adj1" fmla="val 16200000"/>
                <a:gd name="adj2" fmla="val 6889205"/>
              </a:avLst>
            </a:prstGeom>
            <a:noFill/>
            <a:ln w="28575" cap="flat" cmpd="sng" algn="ctr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914367">
                <a:buClrTx/>
                <a:defRPr/>
              </a:pPr>
              <a:endParaRPr lang="en-US" sz="1765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CCCF314-22AD-AD4A-1F7C-37D6F7D41924}"/>
                </a:ext>
              </a:extLst>
            </p:cNvPr>
            <p:cNvCxnSpPr/>
            <p:nvPr/>
          </p:nvCxnSpPr>
          <p:spPr>
            <a:xfrm>
              <a:off x="8671262" y="3888933"/>
              <a:ext cx="198901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2E57113-88A8-AC65-8FBE-B54AB6C283DB}"/>
              </a:ext>
            </a:extLst>
          </p:cNvPr>
          <p:cNvGrpSpPr/>
          <p:nvPr/>
        </p:nvGrpSpPr>
        <p:grpSpPr>
          <a:xfrm>
            <a:off x="5788053" y="4687815"/>
            <a:ext cx="631823" cy="822448"/>
            <a:chOff x="5831706" y="3230896"/>
            <a:chExt cx="427037" cy="563563"/>
          </a:xfrm>
        </p:grpSpPr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3C600637-4643-E53F-667C-EABF9E7CE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1868" y="3369009"/>
              <a:ext cx="396875" cy="425450"/>
            </a:xfrm>
            <a:custGeom>
              <a:avLst/>
              <a:gdLst>
                <a:gd name="T0" fmla="*/ 96 w 106"/>
                <a:gd name="T1" fmla="*/ 56 h 113"/>
                <a:gd name="T2" fmla="*/ 87 w 106"/>
                <a:gd name="T3" fmla="*/ 66 h 113"/>
                <a:gd name="T4" fmla="*/ 87 w 106"/>
                <a:gd name="T5" fmla="*/ 57 h 113"/>
                <a:gd name="T6" fmla="*/ 77 w 106"/>
                <a:gd name="T7" fmla="*/ 47 h 113"/>
                <a:gd name="T8" fmla="*/ 68 w 106"/>
                <a:gd name="T9" fmla="*/ 53 h 113"/>
                <a:gd name="T10" fmla="*/ 68 w 106"/>
                <a:gd name="T11" fmla="*/ 48 h 113"/>
                <a:gd name="T12" fmla="*/ 58 w 106"/>
                <a:gd name="T13" fmla="*/ 38 h 113"/>
                <a:gd name="T14" fmla="*/ 50 w 106"/>
                <a:gd name="T15" fmla="*/ 44 h 113"/>
                <a:gd name="T16" fmla="*/ 50 w 106"/>
                <a:gd name="T17" fmla="*/ 10 h 113"/>
                <a:gd name="T18" fmla="*/ 40 w 106"/>
                <a:gd name="T19" fmla="*/ 0 h 113"/>
                <a:gd name="T20" fmla="*/ 31 w 106"/>
                <a:gd name="T21" fmla="*/ 10 h 113"/>
                <a:gd name="T22" fmla="*/ 31 w 106"/>
                <a:gd name="T23" fmla="*/ 90 h 113"/>
                <a:gd name="T24" fmla="*/ 18 w 106"/>
                <a:gd name="T25" fmla="*/ 74 h 113"/>
                <a:gd name="T26" fmla="*/ 5 w 106"/>
                <a:gd name="T27" fmla="*/ 72 h 113"/>
                <a:gd name="T28" fmla="*/ 3 w 106"/>
                <a:gd name="T29" fmla="*/ 85 h 113"/>
                <a:gd name="T30" fmla="*/ 19 w 106"/>
                <a:gd name="T31" fmla="*/ 105 h 113"/>
                <a:gd name="T32" fmla="*/ 35 w 106"/>
                <a:gd name="T33" fmla="*/ 113 h 113"/>
                <a:gd name="T34" fmla="*/ 96 w 106"/>
                <a:gd name="T35" fmla="*/ 113 h 113"/>
                <a:gd name="T36" fmla="*/ 106 w 106"/>
                <a:gd name="T37" fmla="*/ 103 h 113"/>
                <a:gd name="T38" fmla="*/ 106 w 106"/>
                <a:gd name="T39" fmla="*/ 66 h 113"/>
                <a:gd name="T40" fmla="*/ 96 w 106"/>
                <a:gd name="T41" fmla="*/ 5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6" h="113">
                  <a:moveTo>
                    <a:pt x="96" y="56"/>
                  </a:moveTo>
                  <a:cubicBezTo>
                    <a:pt x="91" y="56"/>
                    <a:pt x="87" y="61"/>
                    <a:pt x="87" y="66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2"/>
                    <a:pt x="83" y="47"/>
                    <a:pt x="77" y="47"/>
                  </a:cubicBezTo>
                  <a:cubicBezTo>
                    <a:pt x="73" y="47"/>
                    <a:pt x="70" y="50"/>
                    <a:pt x="68" y="53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2"/>
                    <a:pt x="64" y="38"/>
                    <a:pt x="58" y="38"/>
                  </a:cubicBezTo>
                  <a:cubicBezTo>
                    <a:pt x="55" y="38"/>
                    <a:pt x="51" y="40"/>
                    <a:pt x="50" y="4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5"/>
                    <a:pt x="45" y="0"/>
                    <a:pt x="40" y="0"/>
                  </a:cubicBezTo>
                  <a:cubicBezTo>
                    <a:pt x="35" y="0"/>
                    <a:pt x="31" y="5"/>
                    <a:pt x="31" y="10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4" y="70"/>
                    <a:pt x="9" y="69"/>
                    <a:pt x="5" y="72"/>
                  </a:cubicBezTo>
                  <a:cubicBezTo>
                    <a:pt x="1" y="75"/>
                    <a:pt x="0" y="81"/>
                    <a:pt x="3" y="85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23" y="109"/>
                    <a:pt x="29" y="113"/>
                    <a:pt x="35" y="113"/>
                  </a:cubicBezTo>
                  <a:cubicBezTo>
                    <a:pt x="96" y="113"/>
                    <a:pt x="96" y="113"/>
                    <a:pt x="96" y="113"/>
                  </a:cubicBezTo>
                  <a:cubicBezTo>
                    <a:pt x="102" y="113"/>
                    <a:pt x="106" y="108"/>
                    <a:pt x="106" y="103"/>
                  </a:cubicBezTo>
                  <a:cubicBezTo>
                    <a:pt x="106" y="66"/>
                    <a:pt x="106" y="66"/>
                    <a:pt x="106" y="66"/>
                  </a:cubicBezTo>
                  <a:cubicBezTo>
                    <a:pt x="106" y="61"/>
                    <a:pt x="102" y="56"/>
                    <a:pt x="96" y="56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9068BC20-4885-6FCF-893A-219FC0882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4743" y="3230896"/>
              <a:ext cx="36513" cy="71438"/>
            </a:xfrm>
            <a:custGeom>
              <a:avLst/>
              <a:gdLst>
                <a:gd name="T0" fmla="*/ 5 w 10"/>
                <a:gd name="T1" fmla="*/ 19 h 19"/>
                <a:gd name="T2" fmla="*/ 10 w 10"/>
                <a:gd name="T3" fmla="*/ 14 h 19"/>
                <a:gd name="T4" fmla="*/ 10 w 10"/>
                <a:gd name="T5" fmla="*/ 5 h 19"/>
                <a:gd name="T6" fmla="*/ 5 w 10"/>
                <a:gd name="T7" fmla="*/ 0 h 19"/>
                <a:gd name="T8" fmla="*/ 0 w 10"/>
                <a:gd name="T9" fmla="*/ 5 h 19"/>
                <a:gd name="T10" fmla="*/ 0 w 10"/>
                <a:gd name="T11" fmla="*/ 14 h 19"/>
                <a:gd name="T12" fmla="*/ 5 w 10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9">
                  <a:moveTo>
                    <a:pt x="5" y="19"/>
                  </a:moveTo>
                  <a:cubicBezTo>
                    <a:pt x="8" y="19"/>
                    <a:pt x="10" y="17"/>
                    <a:pt x="10" y="1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7"/>
                    <a:pt x="3" y="19"/>
                    <a:pt x="5" y="1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2F8CA349-C1F6-6E61-645C-EC51ABB4E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1706" y="3369009"/>
              <a:ext cx="104775" cy="38100"/>
            </a:xfrm>
            <a:custGeom>
              <a:avLst/>
              <a:gdLst>
                <a:gd name="T0" fmla="*/ 28 w 28"/>
                <a:gd name="T1" fmla="*/ 5 h 10"/>
                <a:gd name="T2" fmla="*/ 23 w 28"/>
                <a:gd name="T3" fmla="*/ 0 h 10"/>
                <a:gd name="T4" fmla="*/ 4 w 28"/>
                <a:gd name="T5" fmla="*/ 0 h 10"/>
                <a:gd name="T6" fmla="*/ 0 w 28"/>
                <a:gd name="T7" fmla="*/ 5 h 10"/>
                <a:gd name="T8" fmla="*/ 4 w 28"/>
                <a:gd name="T9" fmla="*/ 10 h 10"/>
                <a:gd name="T10" fmla="*/ 23 w 28"/>
                <a:gd name="T11" fmla="*/ 10 h 10"/>
                <a:gd name="T12" fmla="*/ 28 w 28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0">
                  <a:moveTo>
                    <a:pt x="28" y="5"/>
                  </a:moveTo>
                  <a:cubicBezTo>
                    <a:pt x="28" y="2"/>
                    <a:pt x="26" y="0"/>
                    <a:pt x="2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8"/>
                    <a:pt x="2" y="10"/>
                    <a:pt x="4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6" y="10"/>
                    <a:pt x="28" y="8"/>
                    <a:pt x="28" y="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514956D8-A6B9-BA53-0B1B-E890F35ED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9518" y="3369009"/>
              <a:ext cx="107950" cy="38100"/>
            </a:xfrm>
            <a:custGeom>
              <a:avLst/>
              <a:gdLst>
                <a:gd name="T0" fmla="*/ 0 w 29"/>
                <a:gd name="T1" fmla="*/ 5 h 10"/>
                <a:gd name="T2" fmla="*/ 5 w 29"/>
                <a:gd name="T3" fmla="*/ 10 h 10"/>
                <a:gd name="T4" fmla="*/ 24 w 29"/>
                <a:gd name="T5" fmla="*/ 10 h 10"/>
                <a:gd name="T6" fmla="*/ 29 w 29"/>
                <a:gd name="T7" fmla="*/ 5 h 10"/>
                <a:gd name="T8" fmla="*/ 24 w 29"/>
                <a:gd name="T9" fmla="*/ 0 h 10"/>
                <a:gd name="T10" fmla="*/ 5 w 29"/>
                <a:gd name="T11" fmla="*/ 0 h 10"/>
                <a:gd name="T12" fmla="*/ 0 w 29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0">
                  <a:moveTo>
                    <a:pt x="0" y="5"/>
                  </a:moveTo>
                  <a:cubicBezTo>
                    <a:pt x="0" y="8"/>
                    <a:pt x="3" y="10"/>
                    <a:pt x="5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6" y="10"/>
                    <a:pt x="29" y="8"/>
                    <a:pt x="29" y="5"/>
                  </a:cubicBezTo>
                  <a:cubicBezTo>
                    <a:pt x="29" y="2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395B6EE0-9CAE-2597-ADEE-EC5020561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356" y="3249946"/>
              <a:ext cx="96838" cy="82550"/>
            </a:xfrm>
            <a:custGeom>
              <a:avLst/>
              <a:gdLst>
                <a:gd name="T0" fmla="*/ 8 w 26"/>
                <a:gd name="T1" fmla="*/ 20 h 22"/>
                <a:gd name="T2" fmla="*/ 23 w 26"/>
                <a:gd name="T3" fmla="*/ 9 h 22"/>
                <a:gd name="T4" fmla="*/ 24 w 26"/>
                <a:gd name="T5" fmla="*/ 2 h 22"/>
                <a:gd name="T6" fmla="*/ 18 w 26"/>
                <a:gd name="T7" fmla="*/ 1 h 22"/>
                <a:gd name="T8" fmla="*/ 3 w 26"/>
                <a:gd name="T9" fmla="*/ 13 h 22"/>
                <a:gd name="T10" fmla="*/ 2 w 26"/>
                <a:gd name="T11" fmla="*/ 19 h 22"/>
                <a:gd name="T12" fmla="*/ 8 w 26"/>
                <a:gd name="T13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2">
                  <a:moveTo>
                    <a:pt x="8" y="20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5" y="7"/>
                    <a:pt x="26" y="4"/>
                    <a:pt x="24" y="2"/>
                  </a:cubicBezTo>
                  <a:cubicBezTo>
                    <a:pt x="23" y="0"/>
                    <a:pt x="20" y="0"/>
                    <a:pt x="18" y="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14"/>
                    <a:pt x="0" y="17"/>
                    <a:pt x="2" y="19"/>
                  </a:cubicBezTo>
                  <a:cubicBezTo>
                    <a:pt x="3" y="21"/>
                    <a:pt x="6" y="22"/>
                    <a:pt x="8" y="2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7A2D3FB8-3BDC-009C-B331-4CCAAD506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218" y="3249946"/>
              <a:ext cx="98425" cy="82550"/>
            </a:xfrm>
            <a:custGeom>
              <a:avLst/>
              <a:gdLst>
                <a:gd name="T0" fmla="*/ 18 w 26"/>
                <a:gd name="T1" fmla="*/ 20 h 22"/>
                <a:gd name="T2" fmla="*/ 24 w 26"/>
                <a:gd name="T3" fmla="*/ 19 h 22"/>
                <a:gd name="T4" fmla="*/ 23 w 26"/>
                <a:gd name="T5" fmla="*/ 13 h 22"/>
                <a:gd name="T6" fmla="*/ 8 w 26"/>
                <a:gd name="T7" fmla="*/ 1 h 22"/>
                <a:gd name="T8" fmla="*/ 2 w 26"/>
                <a:gd name="T9" fmla="*/ 2 h 22"/>
                <a:gd name="T10" fmla="*/ 3 w 26"/>
                <a:gd name="T11" fmla="*/ 9 h 22"/>
                <a:gd name="T12" fmla="*/ 18 w 26"/>
                <a:gd name="T13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2">
                  <a:moveTo>
                    <a:pt x="18" y="20"/>
                  </a:moveTo>
                  <a:cubicBezTo>
                    <a:pt x="20" y="22"/>
                    <a:pt x="23" y="21"/>
                    <a:pt x="24" y="19"/>
                  </a:cubicBezTo>
                  <a:cubicBezTo>
                    <a:pt x="26" y="17"/>
                    <a:pt x="25" y="14"/>
                    <a:pt x="23" y="13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6" y="0"/>
                    <a:pt x="3" y="0"/>
                    <a:pt x="2" y="2"/>
                  </a:cubicBezTo>
                  <a:cubicBezTo>
                    <a:pt x="0" y="4"/>
                    <a:pt x="1" y="7"/>
                    <a:pt x="3" y="9"/>
                  </a:cubicBezTo>
                  <a:lnTo>
                    <a:pt x="18" y="2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IE" sz="1800">
                <a:solidFill>
                  <a:schemeClr val="tx1"/>
                </a:solidFill>
                <a:latin typeface="Plus Jakarta Sans "/>
                <a:ea typeface="+mn-ea"/>
                <a:cs typeface="Plus Jakarta Sans ExtraBold" panose="020B060402020202020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68698626-CFEC-CB8A-F520-8C27620538FF}"/>
              </a:ext>
            </a:extLst>
          </p:cNvPr>
          <p:cNvSpPr txBox="1"/>
          <p:nvPr/>
        </p:nvSpPr>
        <p:spPr>
          <a:xfrm>
            <a:off x="5004125" y="5837877"/>
            <a:ext cx="2183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0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L" spc="-50" dirty="0">
                <a:solidFill>
                  <a:schemeClr val="tx1"/>
                </a:solidFill>
                <a:latin typeface="Arial"/>
              </a:rPr>
              <a:t>E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mpresas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en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colombia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están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dispuesta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a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invertir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en</a:t>
            </a:r>
            <a:r>
              <a:rPr lang="en-US" spc="-50" dirty="0">
                <a:solidFill>
                  <a:schemeClr val="tx1"/>
                </a:solidFill>
                <a:latin typeface="Arial"/>
              </a:rPr>
              <a:t> </a:t>
            </a:r>
            <a:r>
              <a:rPr lang="en-US" spc="-50" dirty="0" err="1">
                <a:solidFill>
                  <a:schemeClr val="tx1"/>
                </a:solidFill>
                <a:latin typeface="Arial"/>
              </a:rPr>
              <a:t>Cibserseguridad</a:t>
            </a:r>
            <a:endParaRPr lang="en-US" sz="2000" spc="-50" dirty="0">
              <a:solidFill>
                <a:schemeClr val="tx1"/>
              </a:solidFill>
              <a:latin typeface="Arial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41BC74F-B173-7725-E696-5DF8DC81D63D}"/>
              </a:ext>
            </a:extLst>
          </p:cNvPr>
          <p:cNvGrpSpPr/>
          <p:nvPr/>
        </p:nvGrpSpPr>
        <p:grpSpPr>
          <a:xfrm>
            <a:off x="5342827" y="4790507"/>
            <a:ext cx="1454784" cy="926951"/>
            <a:chOff x="109910" y="4658493"/>
            <a:chExt cx="1454784" cy="926951"/>
          </a:xfrm>
          <a:solidFill>
            <a:srgbClr val="666666"/>
          </a:solidFill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DB23516-0070-16AF-01AB-22D11B388EB5}"/>
                </a:ext>
              </a:extLst>
            </p:cNvPr>
            <p:cNvSpPr/>
            <p:nvPr/>
          </p:nvSpPr>
          <p:spPr>
            <a:xfrm>
              <a:off x="347951" y="4658493"/>
              <a:ext cx="926951" cy="926951"/>
            </a:xfrm>
            <a:prstGeom prst="ellipse">
              <a:avLst/>
            </a:prstGeom>
            <a:solidFill>
              <a:schemeClr val="accent2"/>
            </a:solidFill>
            <a:ln w="3175" cap="flat" cmpd="sng" algn="ctr">
              <a:solidFill>
                <a:sysClr val="window" lastClr="FFFFFF"/>
              </a:solidFill>
              <a:prstDash val="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3875453-2790-EA15-C712-0254FAE33291}"/>
                </a:ext>
              </a:extLst>
            </p:cNvPr>
            <p:cNvSpPr txBox="1"/>
            <p:nvPr/>
          </p:nvSpPr>
          <p:spPr>
            <a:xfrm>
              <a:off x="109910" y="4877913"/>
              <a:ext cx="145478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1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55%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958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02  SEGMENTO DE CLIENTES</a:t>
            </a:r>
            <a:endParaRPr/>
          </a:p>
        </p:txBody>
      </p:sp>
      <p:sp>
        <p:nvSpPr>
          <p:cNvPr id="133" name="Google Shape;133;p30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200"/>
              <a:buFont typeface="Plus Jakarta Sans ExtraBold"/>
              <a:buNone/>
            </a:pPr>
            <a:r>
              <a:rPr lang="es-CL" sz="2200" b="1" i="0" u="none" strike="noStrike" cap="none" dirty="0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Empresas medianas y grandes en Chile &amp; Colombia</a:t>
            </a:r>
            <a:endParaRPr dirty="0"/>
          </a:p>
        </p:txBody>
      </p:sp>
      <p:sp>
        <p:nvSpPr>
          <p:cNvPr id="134" name="Google Shape;134;p30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0"/>
          <p:cNvSpPr/>
          <p:nvPr/>
        </p:nvSpPr>
        <p:spPr>
          <a:xfrm>
            <a:off x="609600" y="1426667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0"/>
          <p:cNvSpPr/>
          <p:nvPr/>
        </p:nvSpPr>
        <p:spPr>
          <a:xfrm>
            <a:off x="695037" y="1540462"/>
            <a:ext cx="3016320" cy="141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dirty="0">
                <a:solidFill>
                  <a:srgbClr val="323F50"/>
                </a:solidFill>
                <a:latin typeface="DM Sans"/>
                <a:sym typeface="DM Sans"/>
              </a:rPr>
              <a:t>Industrias</a:t>
            </a:r>
            <a:endParaRPr b="1" dirty="0">
              <a:solidFill>
                <a:srgbClr val="323F50"/>
              </a:solidFill>
              <a:latin typeface="DM Sans"/>
            </a:endParaRPr>
          </a:p>
          <a:p>
            <a:pPr>
              <a:buClr>
                <a:srgbClr val="323F50"/>
              </a:buClr>
              <a:buSzPts val="950"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Banca · </a:t>
            </a:r>
            <a:r>
              <a:rPr lang="es-CL" sz="1100" dirty="0" err="1">
                <a:solidFill>
                  <a:srgbClr val="323F50"/>
                </a:solidFill>
                <a:latin typeface="DM Sans"/>
                <a:sym typeface="DM Sans"/>
              </a:rPr>
              <a:t>Retail</a:t>
            </a: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 · Salud</a:t>
            </a:r>
            <a:endParaRPr sz="1100" dirty="0">
              <a:solidFill>
                <a:srgbClr val="323F50"/>
              </a:solidFill>
              <a:latin typeface="DM Sans"/>
            </a:endParaRPr>
          </a:p>
          <a:p>
            <a:pPr>
              <a:buClr>
                <a:srgbClr val="323F50"/>
              </a:buClr>
              <a:buSzPts val="950"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Gobierno · Energía</a:t>
            </a:r>
            <a:endParaRPr sz="11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4235520" y="1358080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4293111" y="1453902"/>
            <a:ext cx="3016320" cy="141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Tamaño</a:t>
            </a:r>
            <a:endParaRPr sz="1800" dirty="0"/>
          </a:p>
          <a:p>
            <a:pPr marL="0" lvl="0" indent="0">
              <a:buClr>
                <a:srgbClr val="323F50"/>
              </a:buClr>
              <a:buSzPts val="950"/>
              <a:buFont typeface="Arial"/>
              <a:buNone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100–5.000 empleados</a:t>
            </a:r>
            <a:endParaRPr sz="1100" dirty="0">
              <a:solidFill>
                <a:srgbClr val="323F50"/>
              </a:solidFill>
              <a:latin typeface="DM Sans"/>
            </a:endParaRPr>
          </a:p>
          <a:p>
            <a:pPr marL="0" lvl="0" indent="0">
              <a:buClr>
                <a:srgbClr val="323F50"/>
              </a:buClr>
              <a:buSzPts val="950"/>
              <a:buFont typeface="Arial"/>
              <a:buNone/>
            </a:pPr>
            <a:r>
              <a:rPr lang="es-CL" sz="1100" dirty="0" err="1">
                <a:solidFill>
                  <a:srgbClr val="323F50"/>
                </a:solidFill>
                <a:latin typeface="DM Sans"/>
                <a:sym typeface="DM Sans"/>
              </a:rPr>
              <a:t>Multi-cloud</a:t>
            </a:r>
            <a:endParaRPr lang="es-CL" sz="1100" dirty="0">
              <a:solidFill>
                <a:srgbClr val="323F50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endParaRPr lang="es-CL" sz="1050" dirty="0">
              <a:solidFill>
                <a:srgbClr val="323F50"/>
              </a:solidFill>
              <a:latin typeface="DM Sans"/>
              <a:sym typeface="DM Sans"/>
            </a:endParaRPr>
          </a:p>
          <a:p>
            <a:pPr lvl="0">
              <a:buClr>
                <a:srgbClr val="323F50"/>
              </a:buClr>
              <a:buSzPts val="950"/>
            </a:pPr>
            <a:endParaRPr lang="es-CL" sz="1200" kern="1200" dirty="0">
              <a:solidFill>
                <a:schemeClr val="tx1"/>
              </a:solidFill>
              <a:latin typeface="Arial" panose="020B0604020202020204" pitchFamily="34" charset="0"/>
              <a:cs typeface="Arial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SzPts val="950"/>
            </a:pPr>
            <a:r>
              <a:rPr lang="es-CL" sz="1050" dirty="0">
                <a:solidFill>
                  <a:srgbClr val="323F50"/>
                </a:solidFill>
                <a:latin typeface="DM Sans"/>
              </a:rPr>
              <a:t>Empresas en proceso de digitalización y transformación, que utilicen tecnologías de Nube y sus soluciones de Seguridad</a:t>
            </a:r>
            <a:endParaRPr sz="105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7861440" y="1426667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7898889" y="1474346"/>
            <a:ext cx="3016320" cy="141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Decisores</a:t>
            </a:r>
            <a:endParaRPr sz="1800" dirty="0"/>
          </a:p>
          <a:p>
            <a:pPr>
              <a:buClr>
                <a:srgbClr val="323F50"/>
              </a:buClr>
              <a:buSzPts val="950"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CISO · CTO · CDO</a:t>
            </a:r>
            <a:endParaRPr sz="1100" dirty="0">
              <a:solidFill>
                <a:srgbClr val="323F50"/>
              </a:solidFill>
              <a:latin typeface="DM Sans"/>
            </a:endParaRPr>
          </a:p>
          <a:p>
            <a:pPr>
              <a:buClr>
                <a:srgbClr val="323F50"/>
              </a:buClr>
              <a:buSzPts val="950"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IT Manager  ·  Comité Riesgos</a:t>
            </a:r>
            <a:endParaRPr sz="11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41" name="Google Shape;141;p30"/>
          <p:cNvSpPr/>
          <p:nvPr/>
        </p:nvSpPr>
        <p:spPr>
          <a:xfrm>
            <a:off x="609600" y="3440000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695037" y="3480001"/>
            <a:ext cx="3016320" cy="141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dirty="0">
                <a:solidFill>
                  <a:srgbClr val="323F50"/>
                </a:solidFill>
                <a:latin typeface="DM Sans"/>
                <a:sym typeface="DM Sans"/>
              </a:rPr>
              <a:t>Geografía</a:t>
            </a:r>
            <a:endParaRPr b="1" dirty="0">
              <a:solidFill>
                <a:srgbClr val="323F50"/>
              </a:solidFill>
              <a:latin typeface="DM Sans"/>
            </a:endParaRPr>
          </a:p>
          <a:p>
            <a:pPr marL="0" lvl="0" indent="0">
              <a:buClr>
                <a:srgbClr val="323F50"/>
              </a:buClr>
              <a:buSzPts val="950"/>
              <a:buFont typeface="Arial"/>
              <a:buNone/>
            </a:pPr>
            <a:r>
              <a:rPr lang="es-CL" sz="1100" dirty="0">
                <a:solidFill>
                  <a:srgbClr val="323F50"/>
                </a:solidFill>
                <a:latin typeface="DM Sans"/>
                <a:sym typeface="DM Sans"/>
              </a:rPr>
              <a:t>Chile · Colombia </a:t>
            </a:r>
          </a:p>
        </p:txBody>
      </p:sp>
      <p:sp>
        <p:nvSpPr>
          <p:cNvPr id="143" name="Google Shape;143;p30"/>
          <p:cNvSpPr/>
          <p:nvPr/>
        </p:nvSpPr>
        <p:spPr>
          <a:xfrm>
            <a:off x="4235520" y="3440000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0"/>
          <p:cNvSpPr/>
          <p:nvPr/>
        </p:nvSpPr>
        <p:spPr>
          <a:xfrm>
            <a:off x="4357439" y="3480001"/>
            <a:ext cx="3419529" cy="18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dirty="0">
                <a:solidFill>
                  <a:srgbClr val="323F50"/>
                </a:solidFill>
                <a:latin typeface="DM Sans"/>
                <a:sym typeface="DM Sans"/>
              </a:rPr>
              <a:t>Adopción Soluciones de Nube &amp; IA</a:t>
            </a:r>
            <a:endParaRPr b="1" dirty="0">
              <a:solidFill>
                <a:srgbClr val="323F50"/>
              </a:solidFill>
              <a:latin typeface="DM Sans"/>
            </a:endParaRPr>
          </a:p>
          <a:p>
            <a:endParaRPr lang="es-ES" sz="1100" dirty="0">
              <a:solidFill>
                <a:srgbClr val="323F50"/>
              </a:solidFill>
              <a:latin typeface="DM Sans"/>
            </a:endParaRPr>
          </a:p>
          <a:p>
            <a:r>
              <a:rPr lang="es-ES" sz="1100" dirty="0">
                <a:solidFill>
                  <a:srgbClr val="323F50"/>
                </a:solidFill>
                <a:latin typeface="DM Sans"/>
              </a:rPr>
              <a:t>La adopción de IA está generando nuevos riesgos: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solidFill>
                  <a:srgbClr val="323F50"/>
                </a:solidFill>
                <a:latin typeface="DM Sans"/>
              </a:rPr>
              <a:t>uso de datos sensibles en modelos 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solidFill>
                  <a:srgbClr val="323F50"/>
                </a:solidFill>
                <a:latin typeface="DM Sans"/>
              </a:rPr>
              <a:t>decisiones no confiables 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solidFill>
                  <a:srgbClr val="323F50"/>
                </a:solidFill>
                <a:latin typeface="DM Sans"/>
              </a:rPr>
              <a:t>Shadow AI  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solidFill>
                  <a:srgbClr val="323F50"/>
                </a:solidFill>
                <a:latin typeface="DM Sans"/>
              </a:rPr>
              <a:t>Ataques adversariales a modelos 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solidFill>
                  <a:srgbClr val="323F50"/>
                </a:solidFill>
                <a:latin typeface="DM Sans"/>
              </a:rPr>
              <a:t>Falta de trazabilidad y auditoría</a:t>
            </a:r>
          </a:p>
          <a:p>
            <a:pPr>
              <a:buClr>
                <a:srgbClr val="323F50"/>
              </a:buClr>
              <a:buSzPts val="950"/>
            </a:pPr>
            <a:endParaRPr sz="11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7861440" y="3440000"/>
            <a:ext cx="3504000" cy="1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7898889" y="3532586"/>
            <a:ext cx="3016320" cy="141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100"/>
              <a:buFont typeface="DM Sans"/>
              <a:buNone/>
            </a:pPr>
            <a:r>
              <a:rPr lang="es-CL" b="1" dirty="0">
                <a:solidFill>
                  <a:srgbClr val="323F50"/>
                </a:solidFill>
                <a:latin typeface="DM Sans"/>
                <a:sym typeface="DM Sans"/>
              </a:rPr>
              <a:t>Tensión Clave</a:t>
            </a:r>
            <a:endParaRPr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11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Adopción &gt; Madurez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11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= riesgo silencioso</a:t>
            </a:r>
            <a:endParaRPr sz="2000" dirty="0"/>
          </a:p>
        </p:txBody>
      </p:sp>
      <p:sp>
        <p:nvSpPr>
          <p:cNvPr id="147" name="Google Shape;147;p30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4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F9141-95DD-7F5C-14AC-7518428BEF28}"/>
              </a:ext>
            </a:extLst>
          </p:cNvPr>
          <p:cNvSpPr txBox="1"/>
          <p:nvPr/>
        </p:nvSpPr>
        <p:spPr bwMode="auto">
          <a:xfrm>
            <a:off x="822177" y="2380000"/>
            <a:ext cx="1381020" cy="577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s-CL" sz="1050" dirty="0">
                <a:solidFill>
                  <a:srgbClr val="323F50"/>
                </a:solidFill>
                <a:latin typeface="DM Sans"/>
              </a:rPr>
              <a:t>El 45% con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s-CL" sz="1050" dirty="0">
                <a:solidFill>
                  <a:srgbClr val="323F50"/>
                </a:solidFill>
                <a:latin typeface="DM Sans"/>
              </a:rPr>
              <a:t>mayor inversión en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s-CL" sz="1050" dirty="0">
                <a:solidFill>
                  <a:srgbClr val="323F50"/>
                </a:solidFill>
                <a:latin typeface="DM Sans"/>
              </a:rPr>
              <a:t>tecnología</a:t>
            </a:r>
            <a:endParaRPr lang="en-US" sz="105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5E7C4241-0F00-6021-87B3-20EB55DFB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951" y="2166575"/>
            <a:ext cx="926406" cy="922919"/>
          </a:xfrm>
          <a:prstGeom prst="ellipse">
            <a:avLst/>
          </a:prstGeom>
          <a:solidFill>
            <a:srgbClr val="FF3366">
              <a:lumMod val="50000"/>
            </a:srgbClr>
          </a:solidFill>
          <a:ln w="6350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45720" rIns="4572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charset="0"/>
              </a:rPr>
              <a:t>Segmento</a:t>
            </a:r>
            <a:endParaRPr kumimoji="0" lang="en-GB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Mincho" panose="02020609040205080304" pitchFamily="49" charset="-128"/>
              <a:cs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03  VIAJE DEL CLIENTE</a:t>
            </a:r>
            <a:endParaRPr/>
          </a:p>
        </p:txBody>
      </p:sp>
      <p:sp>
        <p:nvSpPr>
          <p:cNvPr id="154" name="Google Shape;154;p31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 dirty="0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Viaje del Cliente — Jobs </a:t>
            </a:r>
            <a:r>
              <a:rPr lang="es-CL" sz="2400" b="1" i="0" u="none" strike="noStrike" cap="none" dirty="0" err="1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To</a:t>
            </a:r>
            <a:r>
              <a:rPr lang="es-CL" sz="2400" b="1" i="0" u="none" strike="noStrike" cap="none" dirty="0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Be Done</a:t>
            </a:r>
            <a:endParaRPr dirty="0"/>
          </a:p>
        </p:txBody>
      </p:sp>
      <p:sp>
        <p:nvSpPr>
          <p:cNvPr id="155" name="Google Shape;155;p31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609600" y="14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  Descubrir</a:t>
            </a:r>
            <a:endParaRPr/>
          </a:p>
        </p:txBody>
      </p:sp>
      <p:sp>
        <p:nvSpPr>
          <p:cNvPr id="157" name="Google Shape;157;p31"/>
          <p:cNvSpPr/>
          <p:nvPr/>
        </p:nvSpPr>
        <p:spPr>
          <a:xfrm>
            <a:off x="609600" y="1826667"/>
            <a:ext cx="1786667" cy="3893333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Evaluaciones de Riesgos Pre &amp; </a:t>
            </a:r>
            <a:r>
              <a:rPr lang="es-CL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Post-incidentes</a:t>
            </a:r>
            <a:r>
              <a:rPr lang="es-CL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, Marcos regulatorios o  normativa del sector</a:t>
            </a:r>
            <a:endParaRPr lang="es-CL" dirty="0">
              <a:solidFill>
                <a:srgbClr val="323F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endParaRPr sz="2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4400"/>
              </a:buClr>
              <a:buSzPts val="820"/>
              <a:buFont typeface="DM Sans"/>
              <a:buNone/>
            </a:pPr>
            <a:r>
              <a:rPr lang="es-CL" sz="820" b="1" i="0" u="none" strike="noStrike" cap="none" dirty="0">
                <a:solidFill>
                  <a:srgbClr val="CC4400"/>
                </a:solidFill>
                <a:latin typeface="DM Sans"/>
                <a:ea typeface="DM Sans"/>
                <a:cs typeface="DM Sans"/>
                <a:sym typeface="DM Sans"/>
              </a:rPr>
              <a:t>⚠ Fricción crítica</a:t>
            </a:r>
            <a:endParaRPr dirty="0"/>
          </a:p>
        </p:txBody>
      </p:sp>
      <p:sp>
        <p:nvSpPr>
          <p:cNvPr id="158" name="Google Shape;158;p31"/>
          <p:cNvSpPr/>
          <p:nvPr/>
        </p:nvSpPr>
        <p:spPr>
          <a:xfrm>
            <a:off x="2449600" y="1400000"/>
            <a:ext cx="1786667" cy="413333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  Aprender</a:t>
            </a:r>
            <a:endParaRPr/>
          </a:p>
        </p:txBody>
      </p:sp>
      <p:sp>
        <p:nvSpPr>
          <p:cNvPr id="159" name="Google Shape;159;p31"/>
          <p:cNvSpPr/>
          <p:nvPr/>
        </p:nvSpPr>
        <p:spPr>
          <a:xfrm>
            <a:off x="2449600" y="1826667"/>
            <a:ext cx="1786667" cy="3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323F50"/>
              </a:buClr>
              <a:buSzPts val="880"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Marcos de Trabajo &amp; Referencias: Auditorías de Cumplimiento y Controles :</a:t>
            </a:r>
          </a:p>
          <a:p>
            <a:pPr>
              <a:buClr>
                <a:srgbClr val="323F50"/>
              </a:buClr>
              <a:buSzPts val="880"/>
            </a:pPr>
            <a:endParaRPr lang="es-CL" dirty="0">
              <a:solidFill>
                <a:srgbClr val="323F50"/>
              </a:solidFill>
              <a:latin typeface="DM Sans"/>
              <a:sym typeface="DM Sans"/>
            </a:endParaRPr>
          </a:p>
          <a:p>
            <a:pPr>
              <a:buClr>
                <a:srgbClr val="323F50"/>
              </a:buClr>
              <a:buSzPts val="880"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ISO, CSA CCM, NIST, </a:t>
            </a:r>
            <a:r>
              <a:rPr lang="es-CL" dirty="0" err="1">
                <a:solidFill>
                  <a:srgbClr val="323F50"/>
                </a:solidFill>
                <a:latin typeface="DM Sans"/>
                <a:sym typeface="DM Sans"/>
              </a:rPr>
              <a:t>Benchmarks</a:t>
            </a: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.</a:t>
            </a:r>
            <a:endParaRPr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4289600" y="14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  Evaluar</a:t>
            </a:r>
            <a:endParaRPr/>
          </a:p>
        </p:txBody>
      </p:sp>
      <p:sp>
        <p:nvSpPr>
          <p:cNvPr id="161" name="Google Shape;161;p31"/>
          <p:cNvSpPr/>
          <p:nvPr/>
        </p:nvSpPr>
        <p:spPr>
          <a:xfrm>
            <a:off x="4289600" y="1826667"/>
            <a:ext cx="1786667" cy="3893333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Proveedores, </a:t>
            </a:r>
            <a:r>
              <a:rPr lang="es-CL" dirty="0" err="1">
                <a:solidFill>
                  <a:srgbClr val="323F50"/>
                </a:solidFill>
                <a:latin typeface="DM Sans"/>
                <a:sym typeface="DM Sans"/>
              </a:rPr>
              <a:t>RFPs</a:t>
            </a: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, plazos, costos, profundidad técnica de Evaluaciones.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endParaRPr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4400"/>
              </a:buClr>
              <a:buSzPts val="820"/>
              <a:buFont typeface="DM Sans"/>
              <a:buNone/>
            </a:pPr>
            <a:r>
              <a:rPr lang="es-CL" sz="820" b="1" i="0" u="none" strike="noStrike" cap="none" dirty="0">
                <a:solidFill>
                  <a:srgbClr val="CC4400"/>
                </a:solidFill>
                <a:latin typeface="DM Sans"/>
                <a:ea typeface="DM Sans"/>
                <a:cs typeface="DM Sans"/>
                <a:sym typeface="DM Sans"/>
              </a:rPr>
              <a:t>⚠ Fricción crítica</a:t>
            </a:r>
            <a:endParaRPr dirty="0"/>
          </a:p>
        </p:txBody>
      </p:sp>
      <p:sp>
        <p:nvSpPr>
          <p:cNvPr id="162" name="Google Shape;162;p31"/>
          <p:cNvSpPr/>
          <p:nvPr/>
        </p:nvSpPr>
        <p:spPr>
          <a:xfrm>
            <a:off x="6129600" y="1400000"/>
            <a:ext cx="1786667" cy="413333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  Comprar</a:t>
            </a:r>
            <a:endParaRPr/>
          </a:p>
        </p:txBody>
      </p:sp>
      <p:sp>
        <p:nvSpPr>
          <p:cNvPr id="163" name="Google Shape;163;p31"/>
          <p:cNvSpPr/>
          <p:nvPr/>
        </p:nvSpPr>
        <p:spPr>
          <a:xfrm>
            <a:off x="6129600" y="1826667"/>
            <a:ext cx="1786667" cy="3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323F50"/>
              </a:buClr>
              <a:buSzPts val="880"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Servicios a través de Proveedores, Consultoras y Soluciones  </a:t>
            </a:r>
            <a:endParaRPr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64" name="Google Shape;164;p31"/>
          <p:cNvSpPr/>
          <p:nvPr/>
        </p:nvSpPr>
        <p:spPr>
          <a:xfrm>
            <a:off x="7969600" y="14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  Interactuar</a:t>
            </a:r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7969600" y="1826667"/>
            <a:ext cx="1786667" cy="3893333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323F50"/>
              </a:buClr>
              <a:buSzPts val="880"/>
              <a:buFont typeface="Arial"/>
              <a:buNone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Onboarding híbrido , integración con sistemas, normalmente “</a:t>
            </a:r>
            <a:r>
              <a:rPr lang="es-CL" dirty="0" err="1">
                <a:solidFill>
                  <a:srgbClr val="323F50"/>
                </a:solidFill>
                <a:latin typeface="DM Sans"/>
                <a:sym typeface="DM Sans"/>
              </a:rPr>
              <a:t>one</a:t>
            </a: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-time” </a:t>
            </a:r>
          </a:p>
          <a:p>
            <a:pPr marL="0" lvl="0" indent="0">
              <a:buClr>
                <a:srgbClr val="323F50"/>
              </a:buClr>
              <a:buSzPts val="880"/>
              <a:buFont typeface="Arial"/>
              <a:buNone/>
            </a:pPr>
            <a:endParaRPr lang="es-CL" dirty="0">
              <a:solidFill>
                <a:srgbClr val="323F50"/>
              </a:solidFill>
              <a:latin typeface="DM Sans"/>
              <a:sym typeface="DM Sans"/>
            </a:endParaRPr>
          </a:p>
          <a:p>
            <a:pPr marL="0" lvl="0" indent="0">
              <a:buClr>
                <a:srgbClr val="323F50"/>
              </a:buClr>
              <a:buSzPts val="880"/>
              <a:buFont typeface="Arial"/>
              <a:buNone/>
            </a:pPr>
            <a:endParaRPr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4400"/>
              </a:buClr>
              <a:buSzPts val="820"/>
              <a:buFont typeface="DM Sans"/>
              <a:buNone/>
            </a:pPr>
            <a:r>
              <a:rPr lang="es-CL" sz="820" b="1" i="0" u="none" strike="noStrike" cap="none" dirty="0">
                <a:solidFill>
                  <a:srgbClr val="CC4400"/>
                </a:solidFill>
                <a:latin typeface="DM Sans"/>
                <a:ea typeface="DM Sans"/>
                <a:cs typeface="DM Sans"/>
                <a:sym typeface="DM Sans"/>
              </a:rPr>
              <a:t>⚠ Fricción crítica</a:t>
            </a:r>
            <a:endParaRPr dirty="0"/>
          </a:p>
        </p:txBody>
      </p:sp>
      <p:sp>
        <p:nvSpPr>
          <p:cNvPr id="166" name="Google Shape;166;p31"/>
          <p:cNvSpPr/>
          <p:nvPr/>
        </p:nvSpPr>
        <p:spPr>
          <a:xfrm>
            <a:off x="9809600" y="1400000"/>
            <a:ext cx="1786667" cy="413333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  Recomendar</a:t>
            </a:r>
            <a:endParaRPr/>
          </a:p>
        </p:txBody>
      </p:sp>
      <p:sp>
        <p:nvSpPr>
          <p:cNvPr id="167" name="Google Shape;167;p31"/>
          <p:cNvSpPr/>
          <p:nvPr/>
        </p:nvSpPr>
        <p:spPr>
          <a:xfrm>
            <a:off x="9809600" y="1813333"/>
            <a:ext cx="1786667" cy="3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323F50"/>
              </a:buClr>
              <a:buSzPts val="880"/>
            </a:pPr>
            <a:r>
              <a:rPr lang="es-CL" dirty="0">
                <a:solidFill>
                  <a:srgbClr val="323F50"/>
                </a:solidFill>
                <a:latin typeface="DM Sans"/>
                <a:sym typeface="DM Sans"/>
              </a:rPr>
              <a:t>Presenta al directorio, refiere empresas</a:t>
            </a:r>
            <a:endParaRPr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609600" y="5800000"/>
            <a:ext cx="10970880" cy="4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DM Sans"/>
              <a:buNone/>
            </a:pPr>
            <a:r>
              <a:rPr lang="es-CL" sz="950" b="0" i="1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Insight: El viaje es reactivo o Normativo. La IA permite intervenir proactivamente desde Descubrir, antes de que el cliente sepa que necesita ayuda.</a:t>
            </a:r>
            <a:endParaRPr dirty="0"/>
          </a:p>
        </p:txBody>
      </p:sp>
      <p:sp>
        <p:nvSpPr>
          <p:cNvPr id="169" name="Google Shape;169;p31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332" y="428726"/>
            <a:ext cx="8973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2400" b="1" dirty="0">
                <a:solidFill>
                  <a:srgbClr val="323F50"/>
                </a:solidFill>
                <a:latin typeface="Plus Jakarta Sans ExtraBold"/>
                <a:cs typeface="Plus Jakarta Sans ExtraBold"/>
              </a:rPr>
              <a:t>Framework</a:t>
            </a:r>
            <a:endParaRPr lang="en-US" sz="2400" b="1" dirty="0">
              <a:solidFill>
                <a:srgbClr val="323F50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4C75EBE-5B90-398B-232D-D63BCD25AEBC}"/>
              </a:ext>
            </a:extLst>
          </p:cNvPr>
          <p:cNvSpPr/>
          <p:nvPr/>
        </p:nvSpPr>
        <p:spPr>
          <a:xfrm>
            <a:off x="5929293" y="2156999"/>
            <a:ext cx="2460675" cy="127188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Evaluar</a:t>
            </a:r>
            <a:r>
              <a:rPr kumimoji="0" lang="es-CL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s-CL" sz="1765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Assessments</a:t>
            </a:r>
            <a:r>
              <a:rPr kumimoji="0" lang="es-CL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</a:t>
            </a: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6706" marR="0" lvl="0" indent="-116706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Evaluación de las Plataforma Digital de los Clientes y presentación de Hoja de Ruta de Oportunidades de Ciberseguridad a Corto, Mediano y Largo Plazo</a:t>
            </a:r>
          </a:p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F829B01-8BE4-58ED-EAEE-A40E2F08D7B6}"/>
              </a:ext>
            </a:extLst>
          </p:cNvPr>
          <p:cNvCxnSpPr>
            <a:cxnSpLocks/>
            <a:endCxn id="141" idx="0"/>
          </p:cNvCxnSpPr>
          <p:nvPr/>
        </p:nvCxnSpPr>
        <p:spPr>
          <a:xfrm>
            <a:off x="7026349" y="3906152"/>
            <a:ext cx="0" cy="309750"/>
          </a:xfrm>
          <a:prstGeom prst="line">
            <a:avLst/>
          </a:prstGeom>
          <a:noFill/>
          <a:ln w="38100" cap="rnd" cmpd="sng" algn="ctr">
            <a:solidFill>
              <a:schemeClr val="accent2"/>
            </a:solidFill>
            <a:prstDash val="sysDot"/>
          </a:ln>
          <a:effectLst/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D6A8EF3-E66F-65E9-F88A-A25362B2D5A5}"/>
              </a:ext>
            </a:extLst>
          </p:cNvPr>
          <p:cNvCxnSpPr>
            <a:cxnSpLocks/>
          </p:cNvCxnSpPr>
          <p:nvPr/>
        </p:nvCxnSpPr>
        <p:spPr>
          <a:xfrm>
            <a:off x="1334125" y="3449240"/>
            <a:ext cx="0" cy="421818"/>
          </a:xfrm>
          <a:prstGeom prst="line">
            <a:avLst/>
          </a:prstGeom>
          <a:noFill/>
          <a:ln w="38100" cap="rnd" cmpd="sng" algn="ctr">
            <a:solidFill>
              <a:schemeClr val="accent2"/>
            </a:solidFill>
            <a:prstDash val="sysDot"/>
          </a:ln>
          <a:effectLst/>
        </p:spPr>
      </p:cxnSp>
      <p:sp>
        <p:nvSpPr>
          <p:cNvPr id="70" name="Donut 50">
            <a:extLst>
              <a:ext uri="{FF2B5EF4-FFF2-40B4-BE49-F238E27FC236}">
                <a16:creationId xmlns:a16="http://schemas.microsoft.com/office/drawing/2014/main" id="{0747693E-F97D-1BAF-9A4D-9E05DB8E9371}"/>
              </a:ext>
            </a:extLst>
          </p:cNvPr>
          <p:cNvSpPr/>
          <p:nvPr/>
        </p:nvSpPr>
        <p:spPr>
          <a:xfrm>
            <a:off x="1156672" y="4238684"/>
            <a:ext cx="1164544" cy="1164544"/>
          </a:xfrm>
          <a:prstGeom prst="donut">
            <a:avLst>
              <a:gd name="adj" fmla="val 3492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90D0941-2934-7224-AF4B-2F68FEB3B02A}"/>
              </a:ext>
            </a:extLst>
          </p:cNvPr>
          <p:cNvGrpSpPr/>
          <p:nvPr/>
        </p:nvGrpSpPr>
        <p:grpSpPr>
          <a:xfrm>
            <a:off x="539486" y="3822228"/>
            <a:ext cx="11441155" cy="148109"/>
            <a:chOff x="618970" y="3902590"/>
            <a:chExt cx="11108961" cy="151932"/>
          </a:xfrm>
          <a:solidFill>
            <a:schemeClr val="tx2"/>
          </a:solidFill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9F33DBD-ECAB-4A0C-9913-40C9F4A64197}"/>
                </a:ext>
              </a:extLst>
            </p:cNvPr>
            <p:cNvCxnSpPr/>
            <p:nvPr/>
          </p:nvCxnSpPr>
          <p:spPr>
            <a:xfrm rot="5400000">
              <a:off x="6171798" y="-1439444"/>
              <a:ext cx="0" cy="10836000"/>
            </a:xfrm>
            <a:prstGeom prst="line">
              <a:avLst/>
            </a:prstGeom>
            <a:grpFill/>
            <a:ln w="57150" cap="flat" cmpd="sng" algn="ctr">
              <a:solidFill>
                <a:schemeClr val="bg2"/>
              </a:solidFill>
              <a:prstDash val="solid"/>
            </a:ln>
            <a:effectLst/>
          </p:spPr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AB9F52B-46C0-5D8B-EF7B-84B4F66B7094}"/>
                </a:ext>
              </a:extLst>
            </p:cNvPr>
            <p:cNvSpPr/>
            <p:nvPr/>
          </p:nvSpPr>
          <p:spPr>
            <a:xfrm rot="5400000">
              <a:off x="618970" y="3902590"/>
              <a:ext cx="151932" cy="151932"/>
            </a:xfrm>
            <a:prstGeom prst="ellipse">
              <a:avLst/>
            </a:prstGeom>
            <a:grpFill/>
            <a:ln w="381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765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231EFC9-71A8-0CC2-7E71-39796C27C50B}"/>
                </a:ext>
              </a:extLst>
            </p:cNvPr>
            <p:cNvSpPr/>
            <p:nvPr/>
          </p:nvSpPr>
          <p:spPr>
            <a:xfrm rot="5400000">
              <a:off x="11575999" y="3902590"/>
              <a:ext cx="151932" cy="151932"/>
            </a:xfrm>
            <a:prstGeom prst="ellipse">
              <a:avLst/>
            </a:prstGeom>
            <a:grpFill/>
            <a:ln w="381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765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charset="0"/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21D509-FC68-E73F-8FF5-0BEAF379FD90}"/>
              </a:ext>
            </a:extLst>
          </p:cNvPr>
          <p:cNvCxnSpPr>
            <a:cxnSpLocks/>
            <a:endCxn id="70" idx="0"/>
          </p:cNvCxnSpPr>
          <p:nvPr/>
        </p:nvCxnSpPr>
        <p:spPr>
          <a:xfrm flipH="1">
            <a:off x="1738945" y="3886414"/>
            <a:ext cx="5455" cy="352271"/>
          </a:xfrm>
          <a:prstGeom prst="line">
            <a:avLst/>
          </a:prstGeom>
          <a:noFill/>
          <a:ln w="38100" cap="rnd" cmpd="sng" algn="ctr">
            <a:solidFill>
              <a:schemeClr val="accent2"/>
            </a:solidFill>
            <a:prstDash val="sysDot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31237C-75B4-4C07-1BBA-4468FAC5F34A}"/>
              </a:ext>
            </a:extLst>
          </p:cNvPr>
          <p:cNvCxnSpPr/>
          <p:nvPr/>
        </p:nvCxnSpPr>
        <p:spPr>
          <a:xfrm>
            <a:off x="5277753" y="3555885"/>
            <a:ext cx="0" cy="317590"/>
          </a:xfrm>
          <a:prstGeom prst="line">
            <a:avLst/>
          </a:prstGeom>
          <a:noFill/>
          <a:ln w="38100" cap="rnd" cmpd="sng" algn="ctr">
            <a:solidFill>
              <a:schemeClr val="accent2"/>
            </a:solidFill>
            <a:prstDash val="sysDot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0C248C2-D946-E3F9-0FB0-DFBD273E29EB}"/>
              </a:ext>
            </a:extLst>
          </p:cNvPr>
          <p:cNvCxnSpPr>
            <a:cxnSpLocks/>
          </p:cNvCxnSpPr>
          <p:nvPr/>
        </p:nvCxnSpPr>
        <p:spPr>
          <a:xfrm>
            <a:off x="9033384" y="3488509"/>
            <a:ext cx="0" cy="333719"/>
          </a:xfrm>
          <a:prstGeom prst="line">
            <a:avLst/>
          </a:prstGeom>
          <a:noFill/>
          <a:ln w="38100" cap="rnd" cmpd="sng" algn="ctr">
            <a:solidFill>
              <a:schemeClr val="accent2"/>
            </a:solidFill>
            <a:prstDash val="sysDot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81781362-9C5F-1D89-D111-DC49E21ED8AB}"/>
              </a:ext>
            </a:extLst>
          </p:cNvPr>
          <p:cNvSpPr/>
          <p:nvPr/>
        </p:nvSpPr>
        <p:spPr>
          <a:xfrm>
            <a:off x="2362191" y="4156055"/>
            <a:ext cx="2977724" cy="1117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Enseñar</a:t>
            </a:r>
            <a:endParaRPr kumimoji="0" lang="en-US" sz="1800" b="1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171450" marR="0" lvl="0" indent="-17145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Elaboración del Plan de éxito en la Transformación digital con servicios en los Clientes identificadas como “objetivos” de a través de Workshops y Sesiones de Capacidades e ideación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1139596-63F5-3BBC-A0E3-87E5B7D69F12}"/>
              </a:ext>
            </a:extLst>
          </p:cNvPr>
          <p:cNvSpPr/>
          <p:nvPr/>
        </p:nvSpPr>
        <p:spPr>
          <a:xfrm>
            <a:off x="1800263" y="1898079"/>
            <a:ext cx="2394245" cy="1954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Conectar</a:t>
            </a:r>
            <a:r>
              <a: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Estrategia de Relacionamiento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Anepsis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Desarrollo de una relación de confianza con las Empresas y conectando sus prioridades a través de las capacidades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Anepsis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8AA00D5-63A3-9AB7-6633-C9C41B29CA1B}"/>
              </a:ext>
            </a:extLst>
          </p:cNvPr>
          <p:cNvSpPr/>
          <p:nvPr/>
        </p:nvSpPr>
        <p:spPr>
          <a:xfrm>
            <a:off x="9880263" y="2086212"/>
            <a:ext cx="1731019" cy="7848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Transfomar</a:t>
            </a:r>
            <a:endParaRPr kumimoji="0" lang="en-US" sz="1800" b="1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116205" marR="0" lvl="0" indent="-116205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Soporte en la Transformación a largo plazo y mejora continua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377A1B-8AC6-5F9E-41EB-661816ECC6A6}"/>
              </a:ext>
            </a:extLst>
          </p:cNvPr>
          <p:cNvSpPr/>
          <p:nvPr/>
        </p:nvSpPr>
        <p:spPr>
          <a:xfrm>
            <a:off x="7697393" y="4182813"/>
            <a:ext cx="3133355" cy="96411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Asistir</a:t>
            </a:r>
            <a:endParaRPr kumimoji="0" lang="en-US" sz="1800" b="1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116706" marR="0" lvl="0" indent="-116706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Entrega de Servicios de Ciberseguridad, Asistencia y Soporte en la adopción de capacidades y mejora continua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16706" marR="0" lvl="0" indent="-116706" algn="l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BB3DDA5-A5FF-D714-67AA-FFC99043B7BF}"/>
              </a:ext>
            </a:extLst>
          </p:cNvPr>
          <p:cNvGrpSpPr/>
          <p:nvPr/>
        </p:nvGrpSpPr>
        <p:grpSpPr>
          <a:xfrm>
            <a:off x="969167" y="2658904"/>
            <a:ext cx="523350" cy="476510"/>
            <a:chOff x="2748863" y="1726395"/>
            <a:chExt cx="830010" cy="755724"/>
          </a:xfrm>
          <a:solidFill>
            <a:schemeClr val="accent2"/>
          </a:solidFill>
        </p:grpSpPr>
        <p:sp>
          <p:nvSpPr>
            <p:cNvPr id="97" name="heart" title="Icon of a heart">
              <a:extLst>
                <a:ext uri="{FF2B5EF4-FFF2-40B4-BE49-F238E27FC236}">
                  <a16:creationId xmlns:a16="http://schemas.microsoft.com/office/drawing/2014/main" id="{F3EC4468-D987-5B1D-CBA6-94F73BD53D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48863" y="1726395"/>
              <a:ext cx="830010" cy="755724"/>
            </a:xfrm>
            <a:custGeom>
              <a:avLst/>
              <a:gdLst>
                <a:gd name="T0" fmla="*/ 164 w 328"/>
                <a:gd name="T1" fmla="*/ 298 h 298"/>
                <a:gd name="T2" fmla="*/ 131 w 328"/>
                <a:gd name="T3" fmla="*/ 265 h 298"/>
                <a:gd name="T4" fmla="*/ 25 w 328"/>
                <a:gd name="T5" fmla="*/ 156 h 298"/>
                <a:gd name="T6" fmla="*/ 26 w 328"/>
                <a:gd name="T7" fmla="*/ 156 h 298"/>
                <a:gd name="T8" fmla="*/ 0 w 328"/>
                <a:gd name="T9" fmla="*/ 92 h 298"/>
                <a:gd name="T10" fmla="*/ 92 w 328"/>
                <a:gd name="T11" fmla="*/ 0 h 298"/>
                <a:gd name="T12" fmla="*/ 164 w 328"/>
                <a:gd name="T13" fmla="*/ 35 h 298"/>
                <a:gd name="T14" fmla="*/ 236 w 328"/>
                <a:gd name="T15" fmla="*/ 0 h 298"/>
                <a:gd name="T16" fmla="*/ 328 w 328"/>
                <a:gd name="T17" fmla="*/ 92 h 298"/>
                <a:gd name="T18" fmla="*/ 302 w 328"/>
                <a:gd name="T19" fmla="*/ 156 h 298"/>
                <a:gd name="T20" fmla="*/ 303 w 328"/>
                <a:gd name="T21" fmla="*/ 156 h 298"/>
                <a:gd name="T22" fmla="*/ 197 w 328"/>
                <a:gd name="T23" fmla="*/ 265 h 298"/>
                <a:gd name="T24" fmla="*/ 164 w 328"/>
                <a:gd name="T25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8" h="298">
                  <a:moveTo>
                    <a:pt x="164" y="298"/>
                  </a:moveTo>
                  <a:cubicBezTo>
                    <a:pt x="131" y="265"/>
                    <a:pt x="131" y="265"/>
                    <a:pt x="131" y="265"/>
                  </a:cubicBezTo>
                  <a:cubicBezTo>
                    <a:pt x="25" y="156"/>
                    <a:pt x="25" y="156"/>
                    <a:pt x="25" y="156"/>
                  </a:cubicBezTo>
                  <a:cubicBezTo>
                    <a:pt x="26" y="156"/>
                    <a:pt x="26" y="156"/>
                    <a:pt x="26" y="156"/>
                  </a:cubicBezTo>
                  <a:cubicBezTo>
                    <a:pt x="10" y="140"/>
                    <a:pt x="0" y="117"/>
                    <a:pt x="0" y="92"/>
                  </a:cubicBezTo>
                  <a:cubicBezTo>
                    <a:pt x="0" y="42"/>
                    <a:pt x="41" y="0"/>
                    <a:pt x="92" y="0"/>
                  </a:cubicBezTo>
                  <a:cubicBezTo>
                    <a:pt x="121" y="0"/>
                    <a:pt x="147" y="14"/>
                    <a:pt x="164" y="35"/>
                  </a:cubicBezTo>
                  <a:cubicBezTo>
                    <a:pt x="181" y="14"/>
                    <a:pt x="207" y="0"/>
                    <a:pt x="236" y="0"/>
                  </a:cubicBezTo>
                  <a:cubicBezTo>
                    <a:pt x="287" y="0"/>
                    <a:pt x="328" y="42"/>
                    <a:pt x="328" y="92"/>
                  </a:cubicBezTo>
                  <a:cubicBezTo>
                    <a:pt x="328" y="117"/>
                    <a:pt x="318" y="140"/>
                    <a:pt x="302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197" y="265"/>
                    <a:pt x="197" y="265"/>
                    <a:pt x="197" y="265"/>
                  </a:cubicBezTo>
                  <a:lnTo>
                    <a:pt x="164" y="298"/>
                  </a:lnTo>
                  <a:close/>
                </a:path>
              </a:pathLst>
            </a:custGeom>
            <a:grpFill/>
            <a:ln w="28575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Arial" charset="0"/>
              </a:endParaRPr>
            </a:p>
          </p:txBody>
        </p:sp>
        <p:sp>
          <p:nvSpPr>
            <p:cNvPr id="98" name="boy" title="Icon of a man">
              <a:extLst>
                <a:ext uri="{FF2B5EF4-FFF2-40B4-BE49-F238E27FC236}">
                  <a16:creationId xmlns:a16="http://schemas.microsoft.com/office/drawing/2014/main" id="{66E0BDCB-B86E-3394-849A-24D1C068DA6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18459" y="1871117"/>
              <a:ext cx="290818" cy="378526"/>
            </a:xfrm>
            <a:custGeom>
              <a:avLst/>
              <a:gdLst>
                <a:gd name="T0" fmla="*/ 27 w 261"/>
                <a:gd name="T1" fmla="*/ 104 h 339"/>
                <a:gd name="T2" fmla="*/ 131 w 261"/>
                <a:gd name="T3" fmla="*/ 0 h 339"/>
                <a:gd name="T4" fmla="*/ 235 w 261"/>
                <a:gd name="T5" fmla="*/ 104 h 339"/>
                <a:gd name="T6" fmla="*/ 131 w 261"/>
                <a:gd name="T7" fmla="*/ 208 h 339"/>
                <a:gd name="T8" fmla="*/ 27 w 261"/>
                <a:gd name="T9" fmla="*/ 104 h 339"/>
                <a:gd name="T10" fmla="*/ 261 w 261"/>
                <a:gd name="T11" fmla="*/ 339 h 339"/>
                <a:gd name="T12" fmla="*/ 131 w 261"/>
                <a:gd name="T13" fmla="*/ 208 h 339"/>
                <a:gd name="T14" fmla="*/ 0 w 261"/>
                <a:gd name="T15" fmla="*/ 339 h 339"/>
                <a:gd name="T16" fmla="*/ 74 w 261"/>
                <a:gd name="T17" fmla="*/ 221 h 339"/>
                <a:gd name="T18" fmla="*/ 131 w 261"/>
                <a:gd name="T19" fmla="*/ 274 h 339"/>
                <a:gd name="T20" fmla="*/ 187 w 261"/>
                <a:gd name="T21" fmla="*/ 221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1" h="339">
                  <a:moveTo>
                    <a:pt x="27" y="104"/>
                  </a:moveTo>
                  <a:cubicBezTo>
                    <a:pt x="27" y="47"/>
                    <a:pt x="73" y="0"/>
                    <a:pt x="131" y="0"/>
                  </a:cubicBezTo>
                  <a:cubicBezTo>
                    <a:pt x="188" y="0"/>
                    <a:pt x="235" y="47"/>
                    <a:pt x="235" y="104"/>
                  </a:cubicBezTo>
                  <a:cubicBezTo>
                    <a:pt x="235" y="162"/>
                    <a:pt x="188" y="208"/>
                    <a:pt x="131" y="208"/>
                  </a:cubicBezTo>
                  <a:cubicBezTo>
                    <a:pt x="73" y="208"/>
                    <a:pt x="27" y="162"/>
                    <a:pt x="27" y="104"/>
                  </a:cubicBezTo>
                  <a:close/>
                  <a:moveTo>
                    <a:pt x="261" y="339"/>
                  </a:moveTo>
                  <a:cubicBezTo>
                    <a:pt x="261" y="267"/>
                    <a:pt x="203" y="208"/>
                    <a:pt x="131" y="208"/>
                  </a:cubicBezTo>
                  <a:cubicBezTo>
                    <a:pt x="59" y="208"/>
                    <a:pt x="0" y="267"/>
                    <a:pt x="0" y="339"/>
                  </a:cubicBezTo>
                  <a:moveTo>
                    <a:pt x="74" y="221"/>
                  </a:moveTo>
                  <a:cubicBezTo>
                    <a:pt x="131" y="274"/>
                    <a:pt x="131" y="274"/>
                    <a:pt x="131" y="274"/>
                  </a:cubicBezTo>
                  <a:cubicBezTo>
                    <a:pt x="187" y="221"/>
                    <a:pt x="187" y="221"/>
                    <a:pt x="187" y="221"/>
                  </a:cubicBezTo>
                </a:path>
              </a:pathLst>
            </a:custGeom>
            <a:grpFill/>
            <a:ln w="28575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Arial" charset="0"/>
              </a:endParaRPr>
            </a:p>
          </p:txBody>
        </p:sp>
      </p:grpSp>
      <p:pic>
        <p:nvPicPr>
          <p:cNvPr id="99" name="Graphic 98" descr="Classroom">
            <a:extLst>
              <a:ext uri="{FF2B5EF4-FFF2-40B4-BE49-F238E27FC236}">
                <a16:creationId xmlns:a16="http://schemas.microsoft.com/office/drawing/2014/main" id="{02D979A9-BC2C-8EFE-A2CA-25FD2BF1D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0665" y="4526865"/>
            <a:ext cx="576561" cy="576561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3EB8A18-BE9E-5E66-8C9B-7F5CF7CAD06B}"/>
              </a:ext>
            </a:extLst>
          </p:cNvPr>
          <p:cNvGrpSpPr/>
          <p:nvPr/>
        </p:nvGrpSpPr>
        <p:grpSpPr>
          <a:xfrm>
            <a:off x="4945417" y="2629419"/>
            <a:ext cx="618493" cy="468631"/>
            <a:chOff x="269129" y="336872"/>
            <a:chExt cx="776287" cy="538163"/>
          </a:xfrm>
          <a:solidFill>
            <a:schemeClr val="accent2"/>
          </a:solidFill>
        </p:grpSpPr>
        <p:sp>
          <p:nvSpPr>
            <p:cNvPr id="110" name="Freeform 26">
              <a:extLst>
                <a:ext uri="{FF2B5EF4-FFF2-40B4-BE49-F238E27FC236}">
                  <a16:creationId xmlns:a16="http://schemas.microsoft.com/office/drawing/2014/main" id="{31A86A9F-7861-1E63-628A-B4914B2B8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91" y="598809"/>
              <a:ext cx="117475" cy="114300"/>
            </a:xfrm>
            <a:custGeom>
              <a:avLst/>
              <a:gdLst>
                <a:gd name="T0" fmla="*/ 40 w 45"/>
                <a:gd name="T1" fmla="*/ 0 h 44"/>
                <a:gd name="T2" fmla="*/ 0 w 45"/>
                <a:gd name="T3" fmla="*/ 40 h 44"/>
                <a:gd name="T4" fmla="*/ 5 w 45"/>
                <a:gd name="T5" fmla="*/ 44 h 44"/>
                <a:gd name="T6" fmla="*/ 10 w 45"/>
                <a:gd name="T7" fmla="*/ 40 h 44"/>
                <a:gd name="T8" fmla="*/ 40 w 45"/>
                <a:gd name="T9" fmla="*/ 9 h 44"/>
                <a:gd name="T10" fmla="*/ 45 w 45"/>
                <a:gd name="T11" fmla="*/ 4 h 44"/>
                <a:gd name="T12" fmla="*/ 40 w 4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44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42"/>
                    <a:pt x="2" y="44"/>
                    <a:pt x="5" y="44"/>
                  </a:cubicBezTo>
                  <a:cubicBezTo>
                    <a:pt x="8" y="44"/>
                    <a:pt x="10" y="42"/>
                    <a:pt x="10" y="40"/>
                  </a:cubicBezTo>
                  <a:cubicBezTo>
                    <a:pt x="10" y="23"/>
                    <a:pt x="23" y="9"/>
                    <a:pt x="40" y="9"/>
                  </a:cubicBezTo>
                  <a:cubicBezTo>
                    <a:pt x="43" y="9"/>
                    <a:pt x="45" y="7"/>
                    <a:pt x="45" y="4"/>
                  </a:cubicBezTo>
                  <a:cubicBezTo>
                    <a:pt x="45" y="2"/>
                    <a:pt x="43" y="0"/>
                    <a:pt x="40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11" name="Freeform 27">
              <a:extLst>
                <a:ext uri="{FF2B5EF4-FFF2-40B4-BE49-F238E27FC236}">
                  <a16:creationId xmlns:a16="http://schemas.microsoft.com/office/drawing/2014/main" id="{1EC163BF-7C08-D9E2-09EF-B66CF00FF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04" y="598809"/>
              <a:ext cx="115887" cy="114300"/>
            </a:xfrm>
            <a:custGeom>
              <a:avLst/>
              <a:gdLst>
                <a:gd name="T0" fmla="*/ 40 w 44"/>
                <a:gd name="T1" fmla="*/ 0 h 44"/>
                <a:gd name="T2" fmla="*/ 0 w 44"/>
                <a:gd name="T3" fmla="*/ 40 h 44"/>
                <a:gd name="T4" fmla="*/ 5 w 44"/>
                <a:gd name="T5" fmla="*/ 44 h 44"/>
                <a:gd name="T6" fmla="*/ 9 w 44"/>
                <a:gd name="T7" fmla="*/ 40 h 44"/>
                <a:gd name="T8" fmla="*/ 40 w 44"/>
                <a:gd name="T9" fmla="*/ 9 h 44"/>
                <a:gd name="T10" fmla="*/ 44 w 44"/>
                <a:gd name="T11" fmla="*/ 4 h 44"/>
                <a:gd name="T12" fmla="*/ 40 w 44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44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42"/>
                    <a:pt x="2" y="44"/>
                    <a:pt x="5" y="44"/>
                  </a:cubicBezTo>
                  <a:cubicBezTo>
                    <a:pt x="7" y="44"/>
                    <a:pt x="9" y="42"/>
                    <a:pt x="9" y="40"/>
                  </a:cubicBezTo>
                  <a:cubicBezTo>
                    <a:pt x="9" y="23"/>
                    <a:pt x="23" y="9"/>
                    <a:pt x="40" y="9"/>
                  </a:cubicBezTo>
                  <a:cubicBezTo>
                    <a:pt x="42" y="9"/>
                    <a:pt x="44" y="7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12" name="Freeform 28">
              <a:extLst>
                <a:ext uri="{FF2B5EF4-FFF2-40B4-BE49-F238E27FC236}">
                  <a16:creationId xmlns:a16="http://schemas.microsoft.com/office/drawing/2014/main" id="{C94C14B0-27E0-1463-AB63-1F894604F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29" y="336872"/>
              <a:ext cx="544512" cy="201613"/>
            </a:xfrm>
            <a:custGeom>
              <a:avLst/>
              <a:gdLst>
                <a:gd name="T0" fmla="*/ 81 w 208"/>
                <a:gd name="T1" fmla="*/ 77 h 77"/>
                <a:gd name="T2" fmla="*/ 128 w 208"/>
                <a:gd name="T3" fmla="*/ 77 h 77"/>
                <a:gd name="T4" fmla="*/ 184 w 208"/>
                <a:gd name="T5" fmla="*/ 52 h 77"/>
                <a:gd name="T6" fmla="*/ 208 w 208"/>
                <a:gd name="T7" fmla="*/ 56 h 77"/>
                <a:gd name="T8" fmla="*/ 181 w 208"/>
                <a:gd name="T9" fmla="*/ 18 h 77"/>
                <a:gd name="T10" fmla="*/ 177 w 208"/>
                <a:gd name="T11" fmla="*/ 11 h 77"/>
                <a:gd name="T12" fmla="*/ 177 w 208"/>
                <a:gd name="T13" fmla="*/ 11 h 77"/>
                <a:gd name="T14" fmla="*/ 177 w 208"/>
                <a:gd name="T15" fmla="*/ 11 h 77"/>
                <a:gd name="T16" fmla="*/ 152 w 208"/>
                <a:gd name="T17" fmla="*/ 0 h 77"/>
                <a:gd name="T18" fmla="*/ 127 w 208"/>
                <a:gd name="T19" fmla="*/ 11 h 77"/>
                <a:gd name="T20" fmla="*/ 82 w 208"/>
                <a:gd name="T21" fmla="*/ 11 h 77"/>
                <a:gd name="T22" fmla="*/ 57 w 208"/>
                <a:gd name="T23" fmla="*/ 0 h 77"/>
                <a:gd name="T24" fmla="*/ 32 w 208"/>
                <a:gd name="T25" fmla="*/ 11 h 77"/>
                <a:gd name="T26" fmla="*/ 32 w 208"/>
                <a:gd name="T27" fmla="*/ 11 h 77"/>
                <a:gd name="T28" fmla="*/ 0 w 208"/>
                <a:gd name="T29" fmla="*/ 56 h 77"/>
                <a:gd name="T30" fmla="*/ 25 w 208"/>
                <a:gd name="T31" fmla="*/ 52 h 77"/>
                <a:gd name="T32" fmla="*/ 81 w 208"/>
                <a:gd name="T3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8" h="77">
                  <a:moveTo>
                    <a:pt x="81" y="77"/>
                  </a:moveTo>
                  <a:cubicBezTo>
                    <a:pt x="128" y="77"/>
                    <a:pt x="128" y="77"/>
                    <a:pt x="128" y="77"/>
                  </a:cubicBezTo>
                  <a:cubicBezTo>
                    <a:pt x="139" y="62"/>
                    <a:pt x="161" y="52"/>
                    <a:pt x="184" y="52"/>
                  </a:cubicBezTo>
                  <a:cubicBezTo>
                    <a:pt x="193" y="52"/>
                    <a:pt x="201" y="53"/>
                    <a:pt x="208" y="56"/>
                  </a:cubicBezTo>
                  <a:cubicBezTo>
                    <a:pt x="181" y="18"/>
                    <a:pt x="181" y="18"/>
                    <a:pt x="181" y="18"/>
                  </a:cubicBezTo>
                  <a:cubicBezTo>
                    <a:pt x="180" y="15"/>
                    <a:pt x="179" y="13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1" y="4"/>
                    <a:pt x="162" y="0"/>
                    <a:pt x="152" y="0"/>
                  </a:cubicBezTo>
                  <a:cubicBezTo>
                    <a:pt x="142" y="0"/>
                    <a:pt x="134" y="4"/>
                    <a:pt x="127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76" y="4"/>
                    <a:pt x="67" y="0"/>
                    <a:pt x="57" y="0"/>
                  </a:cubicBezTo>
                  <a:cubicBezTo>
                    <a:pt x="47" y="0"/>
                    <a:pt x="38" y="4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8" y="53"/>
                    <a:pt x="16" y="52"/>
                    <a:pt x="25" y="52"/>
                  </a:cubicBezTo>
                  <a:cubicBezTo>
                    <a:pt x="48" y="52"/>
                    <a:pt x="70" y="62"/>
                    <a:pt x="81" y="7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13" name="Freeform 29">
              <a:extLst>
                <a:ext uri="{FF2B5EF4-FFF2-40B4-BE49-F238E27FC236}">
                  <a16:creationId xmlns:a16="http://schemas.microsoft.com/office/drawing/2014/main" id="{8144E616-F111-2907-D155-18BEBABECA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129" y="498797"/>
              <a:ext cx="776287" cy="376238"/>
            </a:xfrm>
            <a:custGeom>
              <a:avLst/>
              <a:gdLst>
                <a:gd name="T0" fmla="*/ 280 w 297"/>
                <a:gd name="T1" fmla="*/ 34 h 144"/>
                <a:gd name="T2" fmla="*/ 268 w 297"/>
                <a:gd name="T3" fmla="*/ 17 h 144"/>
                <a:gd name="T4" fmla="*/ 228 w 297"/>
                <a:gd name="T5" fmla="*/ 0 h 144"/>
                <a:gd name="T6" fmla="*/ 179 w 297"/>
                <a:gd name="T7" fmla="*/ 23 h 144"/>
                <a:gd name="T8" fmla="*/ 178 w 297"/>
                <a:gd name="T9" fmla="*/ 25 h 144"/>
                <a:gd name="T10" fmla="*/ 119 w 297"/>
                <a:gd name="T11" fmla="*/ 25 h 144"/>
                <a:gd name="T12" fmla="*/ 118 w 297"/>
                <a:gd name="T13" fmla="*/ 23 h 144"/>
                <a:gd name="T14" fmla="*/ 69 w 297"/>
                <a:gd name="T15" fmla="*/ 0 h 144"/>
                <a:gd name="T16" fmla="*/ 24 w 297"/>
                <a:gd name="T17" fmla="*/ 23 h 144"/>
                <a:gd name="T18" fmla="*/ 23 w 297"/>
                <a:gd name="T19" fmla="*/ 24 h 144"/>
                <a:gd name="T20" fmla="*/ 15 w 297"/>
                <a:gd name="T21" fmla="*/ 36 h 144"/>
                <a:gd name="T22" fmla="*/ 0 w 297"/>
                <a:gd name="T23" fmla="*/ 78 h 144"/>
                <a:gd name="T24" fmla="*/ 66 w 297"/>
                <a:gd name="T25" fmla="*/ 144 h 144"/>
                <a:gd name="T26" fmla="*/ 116 w 297"/>
                <a:gd name="T27" fmla="*/ 121 h 144"/>
                <a:gd name="T28" fmla="*/ 116 w 297"/>
                <a:gd name="T29" fmla="*/ 122 h 144"/>
                <a:gd name="T30" fmla="*/ 117 w 297"/>
                <a:gd name="T31" fmla="*/ 120 h 144"/>
                <a:gd name="T32" fmla="*/ 118 w 297"/>
                <a:gd name="T33" fmla="*/ 120 h 144"/>
                <a:gd name="T34" fmla="*/ 128 w 297"/>
                <a:gd name="T35" fmla="*/ 110 h 144"/>
                <a:gd name="T36" fmla="*/ 149 w 297"/>
                <a:gd name="T37" fmla="*/ 120 h 144"/>
                <a:gd name="T38" fmla="*/ 169 w 297"/>
                <a:gd name="T39" fmla="*/ 110 h 144"/>
                <a:gd name="T40" fmla="*/ 179 w 297"/>
                <a:gd name="T41" fmla="*/ 119 h 144"/>
                <a:gd name="T42" fmla="*/ 180 w 297"/>
                <a:gd name="T43" fmla="*/ 121 h 144"/>
                <a:gd name="T44" fmla="*/ 181 w 297"/>
                <a:gd name="T45" fmla="*/ 122 h 144"/>
                <a:gd name="T46" fmla="*/ 181 w 297"/>
                <a:gd name="T47" fmla="*/ 122 h 144"/>
                <a:gd name="T48" fmla="*/ 231 w 297"/>
                <a:gd name="T49" fmla="*/ 144 h 144"/>
                <a:gd name="T50" fmla="*/ 297 w 297"/>
                <a:gd name="T51" fmla="*/ 78 h 144"/>
                <a:gd name="T52" fmla="*/ 280 w 297"/>
                <a:gd name="T53" fmla="*/ 34 h 144"/>
                <a:gd name="T54" fmla="*/ 66 w 297"/>
                <a:gd name="T55" fmla="*/ 126 h 144"/>
                <a:gd name="T56" fmla="*/ 18 w 297"/>
                <a:gd name="T57" fmla="*/ 78 h 144"/>
                <a:gd name="T58" fmla="*/ 66 w 297"/>
                <a:gd name="T59" fmla="*/ 29 h 144"/>
                <a:gd name="T60" fmla="*/ 115 w 297"/>
                <a:gd name="T61" fmla="*/ 78 h 144"/>
                <a:gd name="T62" fmla="*/ 66 w 297"/>
                <a:gd name="T63" fmla="*/ 126 h 144"/>
                <a:gd name="T64" fmla="*/ 149 w 297"/>
                <a:gd name="T65" fmla="*/ 111 h 144"/>
                <a:gd name="T66" fmla="*/ 132 w 297"/>
                <a:gd name="T67" fmla="*/ 94 h 144"/>
                <a:gd name="T68" fmla="*/ 149 w 297"/>
                <a:gd name="T69" fmla="*/ 78 h 144"/>
                <a:gd name="T70" fmla="*/ 165 w 297"/>
                <a:gd name="T71" fmla="*/ 94 h 144"/>
                <a:gd name="T72" fmla="*/ 149 w 297"/>
                <a:gd name="T73" fmla="*/ 111 h 144"/>
                <a:gd name="T74" fmla="*/ 231 w 297"/>
                <a:gd name="T75" fmla="*/ 126 h 144"/>
                <a:gd name="T76" fmla="*/ 183 w 297"/>
                <a:gd name="T77" fmla="*/ 78 h 144"/>
                <a:gd name="T78" fmla="*/ 231 w 297"/>
                <a:gd name="T79" fmla="*/ 29 h 144"/>
                <a:gd name="T80" fmla="*/ 279 w 297"/>
                <a:gd name="T81" fmla="*/ 78 h 144"/>
                <a:gd name="T82" fmla="*/ 231 w 297"/>
                <a:gd name="T83" fmla="*/ 12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7" h="144">
                  <a:moveTo>
                    <a:pt x="280" y="34"/>
                  </a:moveTo>
                  <a:cubicBezTo>
                    <a:pt x="268" y="17"/>
                    <a:pt x="268" y="17"/>
                    <a:pt x="268" y="17"/>
                  </a:cubicBezTo>
                  <a:cubicBezTo>
                    <a:pt x="259" y="6"/>
                    <a:pt x="244" y="0"/>
                    <a:pt x="228" y="0"/>
                  </a:cubicBezTo>
                  <a:cubicBezTo>
                    <a:pt x="208" y="0"/>
                    <a:pt x="187" y="9"/>
                    <a:pt x="179" y="23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0" y="9"/>
                    <a:pt x="89" y="0"/>
                    <a:pt x="69" y="0"/>
                  </a:cubicBezTo>
                  <a:cubicBezTo>
                    <a:pt x="50" y="0"/>
                    <a:pt x="33" y="9"/>
                    <a:pt x="24" y="23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5" y="47"/>
                    <a:pt x="0" y="62"/>
                    <a:pt x="0" y="78"/>
                  </a:cubicBezTo>
                  <a:cubicBezTo>
                    <a:pt x="0" y="114"/>
                    <a:pt x="30" y="144"/>
                    <a:pt x="66" y="144"/>
                  </a:cubicBezTo>
                  <a:cubicBezTo>
                    <a:pt x="86" y="144"/>
                    <a:pt x="104" y="135"/>
                    <a:pt x="116" y="121"/>
                  </a:cubicBezTo>
                  <a:cubicBezTo>
                    <a:pt x="116" y="122"/>
                    <a:pt x="116" y="122"/>
                    <a:pt x="116" y="122"/>
                  </a:cubicBezTo>
                  <a:cubicBezTo>
                    <a:pt x="117" y="121"/>
                    <a:pt x="117" y="120"/>
                    <a:pt x="117" y="120"/>
                  </a:cubicBezTo>
                  <a:cubicBezTo>
                    <a:pt x="117" y="120"/>
                    <a:pt x="117" y="120"/>
                    <a:pt x="118" y="120"/>
                  </a:cubicBezTo>
                  <a:cubicBezTo>
                    <a:pt x="121" y="116"/>
                    <a:pt x="124" y="113"/>
                    <a:pt x="128" y="110"/>
                  </a:cubicBezTo>
                  <a:cubicBezTo>
                    <a:pt x="133" y="116"/>
                    <a:pt x="140" y="120"/>
                    <a:pt x="149" y="120"/>
                  </a:cubicBezTo>
                  <a:cubicBezTo>
                    <a:pt x="157" y="120"/>
                    <a:pt x="164" y="116"/>
                    <a:pt x="169" y="110"/>
                  </a:cubicBezTo>
                  <a:cubicBezTo>
                    <a:pt x="173" y="113"/>
                    <a:pt x="176" y="115"/>
                    <a:pt x="179" y="119"/>
                  </a:cubicBezTo>
                  <a:cubicBezTo>
                    <a:pt x="179" y="120"/>
                    <a:pt x="180" y="120"/>
                    <a:pt x="180" y="121"/>
                  </a:cubicBezTo>
                  <a:cubicBezTo>
                    <a:pt x="181" y="121"/>
                    <a:pt x="181" y="121"/>
                    <a:pt x="181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93" y="135"/>
                    <a:pt x="211" y="144"/>
                    <a:pt x="231" y="144"/>
                  </a:cubicBezTo>
                  <a:cubicBezTo>
                    <a:pt x="267" y="144"/>
                    <a:pt x="297" y="114"/>
                    <a:pt x="297" y="78"/>
                  </a:cubicBezTo>
                  <a:cubicBezTo>
                    <a:pt x="297" y="61"/>
                    <a:pt x="291" y="45"/>
                    <a:pt x="280" y="34"/>
                  </a:cubicBezTo>
                  <a:close/>
                  <a:moveTo>
                    <a:pt x="66" y="126"/>
                  </a:moveTo>
                  <a:cubicBezTo>
                    <a:pt x="40" y="126"/>
                    <a:pt x="18" y="104"/>
                    <a:pt x="18" y="78"/>
                  </a:cubicBezTo>
                  <a:cubicBezTo>
                    <a:pt x="18" y="51"/>
                    <a:pt x="40" y="29"/>
                    <a:pt x="66" y="29"/>
                  </a:cubicBezTo>
                  <a:cubicBezTo>
                    <a:pt x="93" y="29"/>
                    <a:pt x="115" y="51"/>
                    <a:pt x="115" y="78"/>
                  </a:cubicBezTo>
                  <a:cubicBezTo>
                    <a:pt x="115" y="104"/>
                    <a:pt x="93" y="126"/>
                    <a:pt x="66" y="126"/>
                  </a:cubicBezTo>
                  <a:close/>
                  <a:moveTo>
                    <a:pt x="149" y="111"/>
                  </a:moveTo>
                  <a:cubicBezTo>
                    <a:pt x="139" y="111"/>
                    <a:pt x="132" y="104"/>
                    <a:pt x="132" y="94"/>
                  </a:cubicBezTo>
                  <a:cubicBezTo>
                    <a:pt x="132" y="85"/>
                    <a:pt x="139" y="78"/>
                    <a:pt x="149" y="78"/>
                  </a:cubicBezTo>
                  <a:cubicBezTo>
                    <a:pt x="158" y="78"/>
                    <a:pt x="165" y="85"/>
                    <a:pt x="165" y="94"/>
                  </a:cubicBezTo>
                  <a:cubicBezTo>
                    <a:pt x="165" y="104"/>
                    <a:pt x="158" y="111"/>
                    <a:pt x="149" y="111"/>
                  </a:cubicBezTo>
                  <a:close/>
                  <a:moveTo>
                    <a:pt x="231" y="126"/>
                  </a:moveTo>
                  <a:cubicBezTo>
                    <a:pt x="204" y="126"/>
                    <a:pt x="183" y="104"/>
                    <a:pt x="183" y="78"/>
                  </a:cubicBezTo>
                  <a:cubicBezTo>
                    <a:pt x="183" y="51"/>
                    <a:pt x="204" y="29"/>
                    <a:pt x="231" y="29"/>
                  </a:cubicBezTo>
                  <a:cubicBezTo>
                    <a:pt x="257" y="29"/>
                    <a:pt x="279" y="51"/>
                    <a:pt x="279" y="78"/>
                  </a:cubicBezTo>
                  <a:cubicBezTo>
                    <a:pt x="279" y="104"/>
                    <a:pt x="257" y="126"/>
                    <a:pt x="231" y="126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55FC995-D65D-62E1-8952-70572BDF1C6B}"/>
              </a:ext>
            </a:extLst>
          </p:cNvPr>
          <p:cNvGrpSpPr/>
          <p:nvPr/>
        </p:nvGrpSpPr>
        <p:grpSpPr>
          <a:xfrm>
            <a:off x="9033385" y="2691329"/>
            <a:ext cx="452893" cy="445282"/>
            <a:chOff x="377285" y="381098"/>
            <a:chExt cx="718631" cy="706554"/>
          </a:xfrm>
          <a:solidFill>
            <a:schemeClr val="accent2"/>
          </a:solidFill>
        </p:grpSpPr>
        <p:sp>
          <p:nvSpPr>
            <p:cNvPr id="115" name="arrow_12" title="Icon of a circle made of a curved arrow pointing clockwise">
              <a:extLst>
                <a:ext uri="{FF2B5EF4-FFF2-40B4-BE49-F238E27FC236}">
                  <a16:creationId xmlns:a16="http://schemas.microsoft.com/office/drawing/2014/main" id="{F18F1FC7-D153-586C-318F-F51177D51D6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7285" y="381098"/>
              <a:ext cx="718631" cy="706554"/>
            </a:xfrm>
            <a:custGeom>
              <a:avLst/>
              <a:gdLst>
                <a:gd name="T0" fmla="*/ 209 w 328"/>
                <a:gd name="T1" fmla="*/ 0 h 321"/>
                <a:gd name="T2" fmla="*/ 328 w 328"/>
                <a:gd name="T3" fmla="*/ 157 h 321"/>
                <a:gd name="T4" fmla="*/ 164 w 328"/>
                <a:gd name="T5" fmla="*/ 321 h 321"/>
                <a:gd name="T6" fmla="*/ 0 w 328"/>
                <a:gd name="T7" fmla="*/ 157 h 321"/>
                <a:gd name="T8" fmla="*/ 110 w 328"/>
                <a:gd name="T9" fmla="*/ 2 h 321"/>
                <a:gd name="T10" fmla="*/ 110 w 328"/>
                <a:gd name="T11" fmla="*/ 77 h 321"/>
                <a:gd name="T12" fmla="*/ 110 w 328"/>
                <a:gd name="T13" fmla="*/ 2 h 321"/>
                <a:gd name="T14" fmla="*/ 36 w 328"/>
                <a:gd name="T15" fmla="*/ 2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8" h="321">
                  <a:moveTo>
                    <a:pt x="209" y="0"/>
                  </a:moveTo>
                  <a:cubicBezTo>
                    <a:pt x="278" y="19"/>
                    <a:pt x="328" y="82"/>
                    <a:pt x="328" y="157"/>
                  </a:cubicBezTo>
                  <a:cubicBezTo>
                    <a:pt x="328" y="248"/>
                    <a:pt x="254" y="321"/>
                    <a:pt x="164" y="321"/>
                  </a:cubicBezTo>
                  <a:cubicBezTo>
                    <a:pt x="73" y="321"/>
                    <a:pt x="0" y="248"/>
                    <a:pt x="0" y="157"/>
                  </a:cubicBezTo>
                  <a:cubicBezTo>
                    <a:pt x="0" y="85"/>
                    <a:pt x="46" y="24"/>
                    <a:pt x="110" y="2"/>
                  </a:cubicBezTo>
                  <a:moveTo>
                    <a:pt x="110" y="77"/>
                  </a:moveTo>
                  <a:cubicBezTo>
                    <a:pt x="110" y="2"/>
                    <a:pt x="110" y="2"/>
                    <a:pt x="110" y="2"/>
                  </a:cubicBezTo>
                  <a:cubicBezTo>
                    <a:pt x="36" y="2"/>
                    <a:pt x="36" y="2"/>
                    <a:pt x="36" y="2"/>
                  </a:cubicBezTo>
                </a:path>
              </a:pathLst>
            </a:custGeom>
            <a:grpFill/>
            <a:ln w="1905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16" name="Financial_E7BB" title="Icon of a chart made of vertical lines with a line tracing the top of each, turning into an arrow pointing up">
              <a:extLst>
                <a:ext uri="{FF2B5EF4-FFF2-40B4-BE49-F238E27FC236}">
                  <a16:creationId xmlns:a16="http://schemas.microsoft.com/office/drawing/2014/main" id="{D0347607-7790-2D08-2C71-A02805EC30C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04009" y="569774"/>
              <a:ext cx="399035" cy="355952"/>
            </a:xfrm>
            <a:custGeom>
              <a:avLst/>
              <a:gdLst>
                <a:gd name="T0" fmla="*/ 47 w 4770"/>
                <a:gd name="T1" fmla="*/ 4255 h 4255"/>
                <a:gd name="T2" fmla="*/ 47 w 4770"/>
                <a:gd name="T3" fmla="*/ 3626 h 4255"/>
                <a:gd name="T4" fmla="*/ 676 w 4770"/>
                <a:gd name="T5" fmla="*/ 4255 h 4255"/>
                <a:gd name="T6" fmla="*/ 676 w 4770"/>
                <a:gd name="T7" fmla="*/ 2996 h 4255"/>
                <a:gd name="T8" fmla="*/ 1306 w 4770"/>
                <a:gd name="T9" fmla="*/ 4255 h 4255"/>
                <a:gd name="T10" fmla="*/ 1306 w 4770"/>
                <a:gd name="T11" fmla="*/ 2366 h 4255"/>
                <a:gd name="T12" fmla="*/ 1935 w 4770"/>
                <a:gd name="T13" fmla="*/ 4255 h 4255"/>
                <a:gd name="T14" fmla="*/ 1935 w 4770"/>
                <a:gd name="T15" fmla="*/ 1736 h 4255"/>
                <a:gd name="T16" fmla="*/ 2564 w 4770"/>
                <a:gd name="T17" fmla="*/ 4255 h 4255"/>
                <a:gd name="T18" fmla="*/ 2564 w 4770"/>
                <a:gd name="T19" fmla="*/ 1736 h 4255"/>
                <a:gd name="T20" fmla="*/ 3194 w 4770"/>
                <a:gd name="T21" fmla="*/ 4255 h 4255"/>
                <a:gd name="T22" fmla="*/ 3194 w 4770"/>
                <a:gd name="T23" fmla="*/ 2361 h 4255"/>
                <a:gd name="T24" fmla="*/ 3823 w 4770"/>
                <a:gd name="T25" fmla="*/ 4255 h 4255"/>
                <a:gd name="T26" fmla="*/ 3823 w 4770"/>
                <a:gd name="T27" fmla="*/ 1736 h 4255"/>
                <a:gd name="T28" fmla="*/ 4453 w 4770"/>
                <a:gd name="T29" fmla="*/ 4255 h 4255"/>
                <a:gd name="T30" fmla="*/ 4453 w 4770"/>
                <a:gd name="T31" fmla="*/ 1424 h 4255"/>
                <a:gd name="T32" fmla="*/ 4760 w 4770"/>
                <a:gd name="T33" fmla="*/ 5 h 4255"/>
                <a:gd name="T34" fmla="*/ 3191 w 4770"/>
                <a:gd name="T35" fmla="*/ 1575 h 4255"/>
                <a:gd name="T36" fmla="*/ 2247 w 4770"/>
                <a:gd name="T37" fmla="*/ 630 h 4255"/>
                <a:gd name="T38" fmla="*/ 0 w 4770"/>
                <a:gd name="T39" fmla="*/ 2879 h 4255"/>
                <a:gd name="T40" fmla="*/ 4770 w 4770"/>
                <a:gd name="T41" fmla="*/ 948 h 4255"/>
                <a:gd name="T42" fmla="*/ 4770 w 4770"/>
                <a:gd name="T43" fmla="*/ 0 h 4255"/>
                <a:gd name="T44" fmla="*/ 3818 w 4770"/>
                <a:gd name="T45" fmla="*/ 0 h 4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70" h="4255">
                  <a:moveTo>
                    <a:pt x="47" y="4255"/>
                  </a:moveTo>
                  <a:lnTo>
                    <a:pt x="47" y="3626"/>
                  </a:lnTo>
                  <a:moveTo>
                    <a:pt x="676" y="4255"/>
                  </a:moveTo>
                  <a:lnTo>
                    <a:pt x="676" y="2996"/>
                  </a:lnTo>
                  <a:moveTo>
                    <a:pt x="1306" y="4255"/>
                  </a:moveTo>
                  <a:lnTo>
                    <a:pt x="1306" y="2366"/>
                  </a:lnTo>
                  <a:moveTo>
                    <a:pt x="1935" y="4255"/>
                  </a:moveTo>
                  <a:lnTo>
                    <a:pt x="1935" y="1736"/>
                  </a:lnTo>
                  <a:moveTo>
                    <a:pt x="2564" y="4255"/>
                  </a:moveTo>
                  <a:lnTo>
                    <a:pt x="2564" y="1736"/>
                  </a:lnTo>
                  <a:moveTo>
                    <a:pt x="3194" y="4255"/>
                  </a:moveTo>
                  <a:lnTo>
                    <a:pt x="3194" y="2361"/>
                  </a:lnTo>
                  <a:moveTo>
                    <a:pt x="3823" y="4255"/>
                  </a:moveTo>
                  <a:lnTo>
                    <a:pt x="3823" y="1736"/>
                  </a:lnTo>
                  <a:moveTo>
                    <a:pt x="4453" y="4255"/>
                  </a:moveTo>
                  <a:lnTo>
                    <a:pt x="4453" y="1424"/>
                  </a:lnTo>
                  <a:moveTo>
                    <a:pt x="4760" y="5"/>
                  </a:moveTo>
                  <a:lnTo>
                    <a:pt x="3191" y="1575"/>
                  </a:lnTo>
                  <a:lnTo>
                    <a:pt x="2247" y="630"/>
                  </a:lnTo>
                  <a:lnTo>
                    <a:pt x="0" y="2879"/>
                  </a:lnTo>
                  <a:moveTo>
                    <a:pt x="4770" y="948"/>
                  </a:moveTo>
                  <a:lnTo>
                    <a:pt x="4770" y="0"/>
                  </a:lnTo>
                  <a:lnTo>
                    <a:pt x="3818" y="0"/>
                  </a:lnTo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117" name="Chevron 9">
            <a:extLst>
              <a:ext uri="{FF2B5EF4-FFF2-40B4-BE49-F238E27FC236}">
                <a16:creationId xmlns:a16="http://schemas.microsoft.com/office/drawing/2014/main" id="{134FBE05-117D-8516-0AC2-C6A6FF19EF67}"/>
              </a:ext>
            </a:extLst>
          </p:cNvPr>
          <p:cNvSpPr/>
          <p:nvPr/>
        </p:nvSpPr>
        <p:spPr bwMode="auto">
          <a:xfrm>
            <a:off x="430583" y="5609882"/>
            <a:ext cx="4347552" cy="500391"/>
          </a:xfrm>
          <a:prstGeom prst="chevron">
            <a:avLst>
              <a:gd name="adj" fmla="val 16589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Preventa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 Técnica 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Ideación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 </a:t>
            </a: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18" name="Chevron 9">
            <a:extLst>
              <a:ext uri="{FF2B5EF4-FFF2-40B4-BE49-F238E27FC236}">
                <a16:creationId xmlns:a16="http://schemas.microsoft.com/office/drawing/2014/main" id="{CAF2C994-50A6-B0DF-B800-8C2DF41F1A66}"/>
              </a:ext>
            </a:extLst>
          </p:cNvPr>
          <p:cNvSpPr/>
          <p:nvPr/>
        </p:nvSpPr>
        <p:spPr bwMode="auto">
          <a:xfrm>
            <a:off x="4778136" y="5613970"/>
            <a:ext cx="2977725" cy="500391"/>
          </a:xfrm>
          <a:prstGeom prst="chevron">
            <a:avLst>
              <a:gd name="adj" fmla="val 16589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Evaluación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 y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Propuestas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  </a:t>
            </a: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19" name="Chevron 9">
            <a:extLst>
              <a:ext uri="{FF2B5EF4-FFF2-40B4-BE49-F238E27FC236}">
                <a16:creationId xmlns:a16="http://schemas.microsoft.com/office/drawing/2014/main" id="{EFFE3031-6BFE-A0F2-1374-B2161334E564}"/>
              </a:ext>
            </a:extLst>
          </p:cNvPr>
          <p:cNvSpPr/>
          <p:nvPr/>
        </p:nvSpPr>
        <p:spPr bwMode="auto">
          <a:xfrm>
            <a:off x="7755860" y="5605794"/>
            <a:ext cx="3938716" cy="504479"/>
          </a:xfrm>
          <a:prstGeom prst="chevron">
            <a:avLst>
              <a:gd name="adj" fmla="val 16589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Ejecución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 de Proyectos</a:t>
            </a: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39BD114-9A3E-AC44-73C6-A9E54AE6CADB}"/>
              </a:ext>
            </a:extLst>
          </p:cNvPr>
          <p:cNvSpPr txBox="1"/>
          <p:nvPr/>
        </p:nvSpPr>
        <p:spPr>
          <a:xfrm>
            <a:off x="350332" y="890391"/>
            <a:ext cx="11169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Integran un marco de referencia propio con política de ventas y desarrollo en los clientes en un Plan de Relacionamiento y Plan Éxito de Clientes (o plan de cuentas) a continuación: </a:t>
            </a:r>
          </a:p>
        </p:txBody>
      </p:sp>
      <p:sp>
        <p:nvSpPr>
          <p:cNvPr id="136" name="Donut 50">
            <a:extLst>
              <a:ext uri="{FF2B5EF4-FFF2-40B4-BE49-F238E27FC236}">
                <a16:creationId xmlns:a16="http://schemas.microsoft.com/office/drawing/2014/main" id="{7FE917A0-168F-39C6-D6F3-3D7E6086FD51}"/>
              </a:ext>
            </a:extLst>
          </p:cNvPr>
          <p:cNvSpPr/>
          <p:nvPr/>
        </p:nvSpPr>
        <p:spPr>
          <a:xfrm>
            <a:off x="4686956" y="2340127"/>
            <a:ext cx="1164544" cy="1164544"/>
          </a:xfrm>
          <a:prstGeom prst="donut">
            <a:avLst>
              <a:gd name="adj" fmla="val 3492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7" name="Donut 50">
            <a:extLst>
              <a:ext uri="{FF2B5EF4-FFF2-40B4-BE49-F238E27FC236}">
                <a16:creationId xmlns:a16="http://schemas.microsoft.com/office/drawing/2014/main" id="{A84C3F33-63EC-28DF-E05A-65B26577F49C}"/>
              </a:ext>
            </a:extLst>
          </p:cNvPr>
          <p:cNvSpPr/>
          <p:nvPr/>
        </p:nvSpPr>
        <p:spPr>
          <a:xfrm>
            <a:off x="8677558" y="2325006"/>
            <a:ext cx="1164544" cy="1164544"/>
          </a:xfrm>
          <a:prstGeom prst="donut">
            <a:avLst>
              <a:gd name="adj" fmla="val 3492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9" name="Donut 50">
            <a:extLst>
              <a:ext uri="{FF2B5EF4-FFF2-40B4-BE49-F238E27FC236}">
                <a16:creationId xmlns:a16="http://schemas.microsoft.com/office/drawing/2014/main" id="{8D7A3FB1-7BE1-BA88-285A-61025359814A}"/>
              </a:ext>
            </a:extLst>
          </p:cNvPr>
          <p:cNvSpPr/>
          <p:nvPr/>
        </p:nvSpPr>
        <p:spPr>
          <a:xfrm>
            <a:off x="619703" y="2309277"/>
            <a:ext cx="1164544" cy="1164544"/>
          </a:xfrm>
          <a:prstGeom prst="donut">
            <a:avLst>
              <a:gd name="adj" fmla="val 3492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41" name="Donut 50">
            <a:extLst>
              <a:ext uri="{FF2B5EF4-FFF2-40B4-BE49-F238E27FC236}">
                <a16:creationId xmlns:a16="http://schemas.microsoft.com/office/drawing/2014/main" id="{F4CA6724-D861-FEFB-7C68-2B26712C6A0F}"/>
              </a:ext>
            </a:extLst>
          </p:cNvPr>
          <p:cNvSpPr/>
          <p:nvPr/>
        </p:nvSpPr>
        <p:spPr>
          <a:xfrm>
            <a:off x="6444077" y="4215902"/>
            <a:ext cx="1164544" cy="1164544"/>
          </a:xfrm>
          <a:prstGeom prst="donut">
            <a:avLst>
              <a:gd name="adj" fmla="val 3492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B05CE47-7935-F848-54D0-5CDCE4BA8D8D}"/>
              </a:ext>
            </a:extLst>
          </p:cNvPr>
          <p:cNvCxnSpPr>
            <a:cxnSpLocks/>
          </p:cNvCxnSpPr>
          <p:nvPr/>
        </p:nvCxnSpPr>
        <p:spPr>
          <a:xfrm>
            <a:off x="617722" y="6380109"/>
            <a:ext cx="406923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2D95990-C03A-48AA-AE84-1F3E3B20643A}"/>
              </a:ext>
            </a:extLst>
          </p:cNvPr>
          <p:cNvCxnSpPr>
            <a:cxnSpLocks/>
          </p:cNvCxnSpPr>
          <p:nvPr/>
        </p:nvCxnSpPr>
        <p:spPr>
          <a:xfrm flipV="1">
            <a:off x="7469170" y="6367409"/>
            <a:ext cx="4225406" cy="1270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E369A4A-6753-79F3-5699-624EF451FC93}"/>
              </a:ext>
            </a:extLst>
          </p:cNvPr>
          <p:cNvSpPr/>
          <p:nvPr/>
        </p:nvSpPr>
        <p:spPr>
          <a:xfrm>
            <a:off x="4913983" y="6209384"/>
            <a:ext cx="2504328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8963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</a:t>
            </a:r>
            <a:r>
              <a:rPr kumimoji="0" lang="en-US" sz="1800" b="1" i="0" u="none" strike="noStrike" kern="1200" cap="none" spc="-5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seguramiento</a:t>
            </a:r>
            <a:r>
              <a:rPr kumimoji="0" lang="en-US" sz="18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Calidad</a:t>
            </a:r>
          </a:p>
        </p:txBody>
      </p:sp>
      <p:grpSp>
        <p:nvGrpSpPr>
          <p:cNvPr id="17" name="Group 100">
            <a:extLst>
              <a:ext uri="{FF2B5EF4-FFF2-40B4-BE49-F238E27FC236}">
                <a16:creationId xmlns:a16="http://schemas.microsoft.com/office/drawing/2014/main" id="{E97A7CC6-5E6E-EE73-63D9-CAE56F76F4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01706" y="4609562"/>
            <a:ext cx="644525" cy="411163"/>
            <a:chOff x="2335" y="2594"/>
            <a:chExt cx="406" cy="259"/>
          </a:xfrm>
        </p:grpSpPr>
        <p:sp>
          <p:nvSpPr>
            <p:cNvPr id="18" name="AutoShape 99">
              <a:extLst>
                <a:ext uri="{FF2B5EF4-FFF2-40B4-BE49-F238E27FC236}">
                  <a16:creationId xmlns:a16="http://schemas.microsoft.com/office/drawing/2014/main" id="{56C9E07D-E8D4-18DA-033C-D557410D2CA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35" y="2594"/>
              <a:ext cx="406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101">
              <a:extLst>
                <a:ext uri="{FF2B5EF4-FFF2-40B4-BE49-F238E27FC236}">
                  <a16:creationId xmlns:a16="http://schemas.microsoft.com/office/drawing/2014/main" id="{8DF33540-54F3-FC73-5DD1-4E58C5A93A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1" y="2594"/>
              <a:ext cx="299" cy="258"/>
            </a:xfrm>
            <a:custGeom>
              <a:avLst/>
              <a:gdLst>
                <a:gd name="T0" fmla="*/ 351 w 351"/>
                <a:gd name="T1" fmla="*/ 236 h 302"/>
                <a:gd name="T2" fmla="*/ 344 w 351"/>
                <a:gd name="T3" fmla="*/ 237 h 302"/>
                <a:gd name="T4" fmla="*/ 351 w 351"/>
                <a:gd name="T5" fmla="*/ 236 h 302"/>
                <a:gd name="T6" fmla="*/ 321 w 351"/>
                <a:gd name="T7" fmla="*/ 165 h 302"/>
                <a:gd name="T8" fmla="*/ 293 w 351"/>
                <a:gd name="T9" fmla="*/ 144 h 302"/>
                <a:gd name="T10" fmla="*/ 283 w 351"/>
                <a:gd name="T11" fmla="*/ 140 h 302"/>
                <a:gd name="T12" fmla="*/ 298 w 351"/>
                <a:gd name="T13" fmla="*/ 129 h 302"/>
                <a:gd name="T14" fmla="*/ 314 w 351"/>
                <a:gd name="T15" fmla="*/ 90 h 302"/>
                <a:gd name="T16" fmla="*/ 298 w 351"/>
                <a:gd name="T17" fmla="*/ 50 h 302"/>
                <a:gd name="T18" fmla="*/ 258 w 351"/>
                <a:gd name="T19" fmla="*/ 34 h 302"/>
                <a:gd name="T20" fmla="*/ 219 w 351"/>
                <a:gd name="T21" fmla="*/ 50 h 302"/>
                <a:gd name="T22" fmla="*/ 203 w 351"/>
                <a:gd name="T23" fmla="*/ 90 h 302"/>
                <a:gd name="T24" fmla="*/ 219 w 351"/>
                <a:gd name="T25" fmla="*/ 129 h 302"/>
                <a:gd name="T26" fmla="*/ 234 w 351"/>
                <a:gd name="T27" fmla="*/ 140 h 302"/>
                <a:gd name="T28" fmla="*/ 224 w 351"/>
                <a:gd name="T29" fmla="*/ 144 h 302"/>
                <a:gd name="T30" fmla="*/ 200 w 351"/>
                <a:gd name="T31" fmla="*/ 160 h 302"/>
                <a:gd name="T32" fmla="*/ 209 w 351"/>
                <a:gd name="T33" fmla="*/ 171 h 302"/>
                <a:gd name="T34" fmla="*/ 230 w 351"/>
                <a:gd name="T35" fmla="*/ 156 h 302"/>
                <a:gd name="T36" fmla="*/ 258 w 351"/>
                <a:gd name="T37" fmla="*/ 149 h 302"/>
                <a:gd name="T38" fmla="*/ 287 w 351"/>
                <a:gd name="T39" fmla="*/ 156 h 302"/>
                <a:gd name="T40" fmla="*/ 321 w 351"/>
                <a:gd name="T41" fmla="*/ 187 h 302"/>
                <a:gd name="T42" fmla="*/ 338 w 351"/>
                <a:gd name="T43" fmla="*/ 237 h 302"/>
                <a:gd name="T44" fmla="*/ 338 w 351"/>
                <a:gd name="T45" fmla="*/ 237 h 302"/>
                <a:gd name="T46" fmla="*/ 338 w 351"/>
                <a:gd name="T47" fmla="*/ 238 h 302"/>
                <a:gd name="T48" fmla="*/ 337 w 351"/>
                <a:gd name="T49" fmla="*/ 241 h 302"/>
                <a:gd name="T50" fmla="*/ 335 w 351"/>
                <a:gd name="T51" fmla="*/ 243 h 302"/>
                <a:gd name="T52" fmla="*/ 335 w 351"/>
                <a:gd name="T53" fmla="*/ 244 h 302"/>
                <a:gd name="T54" fmla="*/ 258 w 351"/>
                <a:gd name="T55" fmla="*/ 264 h 302"/>
                <a:gd name="T56" fmla="*/ 240 w 351"/>
                <a:gd name="T57" fmla="*/ 263 h 302"/>
                <a:gd name="T58" fmla="*/ 236 w 351"/>
                <a:gd name="T59" fmla="*/ 275 h 302"/>
                <a:gd name="T60" fmla="*/ 235 w 351"/>
                <a:gd name="T61" fmla="*/ 276 h 302"/>
                <a:gd name="T62" fmla="*/ 258 w 351"/>
                <a:gd name="T63" fmla="*/ 278 h 302"/>
                <a:gd name="T64" fmla="*/ 341 w 351"/>
                <a:gd name="T65" fmla="*/ 255 h 302"/>
                <a:gd name="T66" fmla="*/ 346 w 351"/>
                <a:gd name="T67" fmla="*/ 252 h 302"/>
                <a:gd name="T68" fmla="*/ 349 w 351"/>
                <a:gd name="T69" fmla="*/ 245 h 302"/>
                <a:gd name="T70" fmla="*/ 351 w 351"/>
                <a:gd name="T71" fmla="*/ 238 h 302"/>
                <a:gd name="T72" fmla="*/ 351 w 351"/>
                <a:gd name="T73" fmla="*/ 236 h 302"/>
                <a:gd name="T74" fmla="*/ 228 w 351"/>
                <a:gd name="T75" fmla="*/ 120 h 302"/>
                <a:gd name="T76" fmla="*/ 216 w 351"/>
                <a:gd name="T77" fmla="*/ 90 h 302"/>
                <a:gd name="T78" fmla="*/ 228 w 351"/>
                <a:gd name="T79" fmla="*/ 59 h 302"/>
                <a:gd name="T80" fmla="*/ 258 w 351"/>
                <a:gd name="T81" fmla="*/ 47 h 302"/>
                <a:gd name="T82" fmla="*/ 288 w 351"/>
                <a:gd name="T83" fmla="*/ 59 h 302"/>
                <a:gd name="T84" fmla="*/ 301 w 351"/>
                <a:gd name="T85" fmla="*/ 90 h 302"/>
                <a:gd name="T86" fmla="*/ 288 w 351"/>
                <a:gd name="T87" fmla="*/ 120 h 302"/>
                <a:gd name="T88" fmla="*/ 258 w 351"/>
                <a:gd name="T89" fmla="*/ 132 h 302"/>
                <a:gd name="T90" fmla="*/ 228 w 351"/>
                <a:gd name="T91" fmla="*/ 120 h 302"/>
                <a:gd name="T92" fmla="*/ 113 w 351"/>
                <a:gd name="T93" fmla="*/ 129 h 302"/>
                <a:gd name="T94" fmla="*/ 178 w 351"/>
                <a:gd name="T95" fmla="*/ 64 h 302"/>
                <a:gd name="T96" fmla="*/ 113 w 351"/>
                <a:gd name="T97" fmla="*/ 0 h 302"/>
                <a:gd name="T98" fmla="*/ 49 w 351"/>
                <a:gd name="T99" fmla="*/ 64 h 302"/>
                <a:gd name="T100" fmla="*/ 113 w 351"/>
                <a:gd name="T101" fmla="*/ 129 h 302"/>
                <a:gd name="T102" fmla="*/ 113 w 351"/>
                <a:gd name="T103" fmla="*/ 133 h 302"/>
                <a:gd name="T104" fmla="*/ 1 w 351"/>
                <a:gd name="T105" fmla="*/ 257 h 302"/>
                <a:gd name="T106" fmla="*/ 9 w 351"/>
                <a:gd name="T107" fmla="*/ 274 h 302"/>
                <a:gd name="T108" fmla="*/ 113 w 351"/>
                <a:gd name="T109" fmla="*/ 302 h 302"/>
                <a:gd name="T110" fmla="*/ 218 w 351"/>
                <a:gd name="T111" fmla="*/ 274 h 302"/>
                <a:gd name="T112" fmla="*/ 226 w 351"/>
                <a:gd name="T113" fmla="*/ 257 h 302"/>
                <a:gd name="T114" fmla="*/ 113 w 351"/>
                <a:gd name="T115" fmla="*/ 133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1" h="302">
                  <a:moveTo>
                    <a:pt x="351" y="236"/>
                  </a:moveTo>
                  <a:cubicBezTo>
                    <a:pt x="344" y="237"/>
                    <a:pt x="344" y="237"/>
                    <a:pt x="344" y="237"/>
                  </a:cubicBezTo>
                  <a:cubicBezTo>
                    <a:pt x="351" y="236"/>
                    <a:pt x="351" y="236"/>
                    <a:pt x="351" y="236"/>
                  </a:cubicBezTo>
                  <a:cubicBezTo>
                    <a:pt x="348" y="208"/>
                    <a:pt x="338" y="183"/>
                    <a:pt x="321" y="165"/>
                  </a:cubicBezTo>
                  <a:cubicBezTo>
                    <a:pt x="313" y="156"/>
                    <a:pt x="303" y="149"/>
                    <a:pt x="293" y="144"/>
                  </a:cubicBezTo>
                  <a:cubicBezTo>
                    <a:pt x="290" y="142"/>
                    <a:pt x="286" y="141"/>
                    <a:pt x="283" y="140"/>
                  </a:cubicBezTo>
                  <a:cubicBezTo>
                    <a:pt x="289" y="137"/>
                    <a:pt x="294" y="133"/>
                    <a:pt x="298" y="129"/>
                  </a:cubicBezTo>
                  <a:cubicBezTo>
                    <a:pt x="308" y="119"/>
                    <a:pt x="314" y="105"/>
                    <a:pt x="314" y="90"/>
                  </a:cubicBezTo>
                  <a:cubicBezTo>
                    <a:pt x="314" y="74"/>
                    <a:pt x="308" y="60"/>
                    <a:pt x="298" y="50"/>
                  </a:cubicBezTo>
                  <a:cubicBezTo>
                    <a:pt x="288" y="40"/>
                    <a:pt x="274" y="34"/>
                    <a:pt x="258" y="34"/>
                  </a:cubicBezTo>
                  <a:cubicBezTo>
                    <a:pt x="243" y="34"/>
                    <a:pt x="229" y="40"/>
                    <a:pt x="219" y="50"/>
                  </a:cubicBezTo>
                  <a:cubicBezTo>
                    <a:pt x="209" y="60"/>
                    <a:pt x="203" y="74"/>
                    <a:pt x="203" y="90"/>
                  </a:cubicBezTo>
                  <a:cubicBezTo>
                    <a:pt x="203" y="105"/>
                    <a:pt x="209" y="119"/>
                    <a:pt x="219" y="129"/>
                  </a:cubicBezTo>
                  <a:cubicBezTo>
                    <a:pt x="223" y="133"/>
                    <a:pt x="228" y="137"/>
                    <a:pt x="234" y="140"/>
                  </a:cubicBezTo>
                  <a:cubicBezTo>
                    <a:pt x="230" y="141"/>
                    <a:pt x="227" y="142"/>
                    <a:pt x="224" y="144"/>
                  </a:cubicBezTo>
                  <a:cubicBezTo>
                    <a:pt x="215" y="148"/>
                    <a:pt x="207" y="153"/>
                    <a:pt x="200" y="160"/>
                  </a:cubicBezTo>
                  <a:cubicBezTo>
                    <a:pt x="203" y="164"/>
                    <a:pt x="206" y="167"/>
                    <a:pt x="209" y="171"/>
                  </a:cubicBezTo>
                  <a:cubicBezTo>
                    <a:pt x="215" y="164"/>
                    <a:pt x="222" y="159"/>
                    <a:pt x="230" y="156"/>
                  </a:cubicBezTo>
                  <a:cubicBezTo>
                    <a:pt x="239" y="151"/>
                    <a:pt x="248" y="149"/>
                    <a:pt x="258" y="149"/>
                  </a:cubicBezTo>
                  <a:cubicBezTo>
                    <a:pt x="268" y="149"/>
                    <a:pt x="278" y="151"/>
                    <a:pt x="287" y="156"/>
                  </a:cubicBezTo>
                  <a:cubicBezTo>
                    <a:pt x="301" y="162"/>
                    <a:pt x="312" y="173"/>
                    <a:pt x="321" y="187"/>
                  </a:cubicBezTo>
                  <a:cubicBezTo>
                    <a:pt x="330" y="201"/>
                    <a:pt x="336" y="218"/>
                    <a:pt x="338" y="237"/>
                  </a:cubicBezTo>
                  <a:cubicBezTo>
                    <a:pt x="338" y="237"/>
                    <a:pt x="338" y="237"/>
                    <a:pt x="338" y="237"/>
                  </a:cubicBezTo>
                  <a:cubicBezTo>
                    <a:pt x="338" y="237"/>
                    <a:pt x="338" y="238"/>
                    <a:pt x="338" y="238"/>
                  </a:cubicBezTo>
                  <a:cubicBezTo>
                    <a:pt x="338" y="238"/>
                    <a:pt x="337" y="240"/>
                    <a:pt x="337" y="241"/>
                  </a:cubicBezTo>
                  <a:cubicBezTo>
                    <a:pt x="336" y="242"/>
                    <a:pt x="336" y="243"/>
                    <a:pt x="335" y="243"/>
                  </a:cubicBezTo>
                  <a:cubicBezTo>
                    <a:pt x="335" y="243"/>
                    <a:pt x="335" y="244"/>
                    <a:pt x="335" y="244"/>
                  </a:cubicBezTo>
                  <a:cubicBezTo>
                    <a:pt x="314" y="257"/>
                    <a:pt x="287" y="264"/>
                    <a:pt x="258" y="264"/>
                  </a:cubicBezTo>
                  <a:cubicBezTo>
                    <a:pt x="252" y="264"/>
                    <a:pt x="246" y="264"/>
                    <a:pt x="240" y="263"/>
                  </a:cubicBezTo>
                  <a:cubicBezTo>
                    <a:pt x="239" y="267"/>
                    <a:pt x="238" y="271"/>
                    <a:pt x="236" y="275"/>
                  </a:cubicBezTo>
                  <a:cubicBezTo>
                    <a:pt x="236" y="275"/>
                    <a:pt x="236" y="276"/>
                    <a:pt x="235" y="276"/>
                  </a:cubicBezTo>
                  <a:cubicBezTo>
                    <a:pt x="243" y="277"/>
                    <a:pt x="251" y="278"/>
                    <a:pt x="258" y="278"/>
                  </a:cubicBezTo>
                  <a:cubicBezTo>
                    <a:pt x="290" y="278"/>
                    <a:pt x="319" y="269"/>
                    <a:pt x="341" y="255"/>
                  </a:cubicBezTo>
                  <a:cubicBezTo>
                    <a:pt x="343" y="254"/>
                    <a:pt x="344" y="253"/>
                    <a:pt x="346" y="252"/>
                  </a:cubicBezTo>
                  <a:cubicBezTo>
                    <a:pt x="347" y="250"/>
                    <a:pt x="349" y="248"/>
                    <a:pt x="349" y="245"/>
                  </a:cubicBezTo>
                  <a:cubicBezTo>
                    <a:pt x="350" y="243"/>
                    <a:pt x="351" y="240"/>
                    <a:pt x="351" y="238"/>
                  </a:cubicBezTo>
                  <a:cubicBezTo>
                    <a:pt x="351" y="237"/>
                    <a:pt x="351" y="237"/>
                    <a:pt x="351" y="236"/>
                  </a:cubicBezTo>
                  <a:close/>
                  <a:moveTo>
                    <a:pt x="228" y="120"/>
                  </a:moveTo>
                  <a:cubicBezTo>
                    <a:pt x="221" y="112"/>
                    <a:pt x="216" y="101"/>
                    <a:pt x="216" y="90"/>
                  </a:cubicBezTo>
                  <a:cubicBezTo>
                    <a:pt x="216" y="78"/>
                    <a:pt x="221" y="67"/>
                    <a:pt x="228" y="59"/>
                  </a:cubicBezTo>
                  <a:cubicBezTo>
                    <a:pt x="236" y="52"/>
                    <a:pt x="247" y="47"/>
                    <a:pt x="258" y="47"/>
                  </a:cubicBezTo>
                  <a:cubicBezTo>
                    <a:pt x="270" y="47"/>
                    <a:pt x="281" y="52"/>
                    <a:pt x="288" y="59"/>
                  </a:cubicBezTo>
                  <a:cubicBezTo>
                    <a:pt x="296" y="67"/>
                    <a:pt x="301" y="78"/>
                    <a:pt x="301" y="90"/>
                  </a:cubicBezTo>
                  <a:cubicBezTo>
                    <a:pt x="301" y="101"/>
                    <a:pt x="296" y="112"/>
                    <a:pt x="288" y="120"/>
                  </a:cubicBezTo>
                  <a:cubicBezTo>
                    <a:pt x="281" y="127"/>
                    <a:pt x="270" y="132"/>
                    <a:pt x="258" y="132"/>
                  </a:cubicBezTo>
                  <a:cubicBezTo>
                    <a:pt x="247" y="132"/>
                    <a:pt x="236" y="127"/>
                    <a:pt x="228" y="120"/>
                  </a:cubicBezTo>
                  <a:close/>
                  <a:moveTo>
                    <a:pt x="113" y="129"/>
                  </a:moveTo>
                  <a:cubicBezTo>
                    <a:pt x="149" y="129"/>
                    <a:pt x="178" y="100"/>
                    <a:pt x="178" y="64"/>
                  </a:cubicBezTo>
                  <a:cubicBezTo>
                    <a:pt x="178" y="29"/>
                    <a:pt x="149" y="0"/>
                    <a:pt x="113" y="0"/>
                  </a:cubicBezTo>
                  <a:cubicBezTo>
                    <a:pt x="78" y="0"/>
                    <a:pt x="49" y="29"/>
                    <a:pt x="49" y="64"/>
                  </a:cubicBezTo>
                  <a:cubicBezTo>
                    <a:pt x="49" y="100"/>
                    <a:pt x="78" y="129"/>
                    <a:pt x="113" y="129"/>
                  </a:cubicBezTo>
                  <a:close/>
                  <a:moveTo>
                    <a:pt x="113" y="133"/>
                  </a:moveTo>
                  <a:cubicBezTo>
                    <a:pt x="55" y="133"/>
                    <a:pt x="7" y="187"/>
                    <a:pt x="1" y="257"/>
                  </a:cubicBezTo>
                  <a:cubicBezTo>
                    <a:pt x="0" y="263"/>
                    <a:pt x="4" y="271"/>
                    <a:pt x="9" y="274"/>
                  </a:cubicBezTo>
                  <a:cubicBezTo>
                    <a:pt x="38" y="291"/>
                    <a:pt x="74" y="302"/>
                    <a:pt x="113" y="302"/>
                  </a:cubicBezTo>
                  <a:cubicBezTo>
                    <a:pt x="153" y="302"/>
                    <a:pt x="189" y="291"/>
                    <a:pt x="218" y="274"/>
                  </a:cubicBezTo>
                  <a:cubicBezTo>
                    <a:pt x="223" y="271"/>
                    <a:pt x="226" y="263"/>
                    <a:pt x="226" y="257"/>
                  </a:cubicBezTo>
                  <a:cubicBezTo>
                    <a:pt x="220" y="187"/>
                    <a:pt x="172" y="133"/>
                    <a:pt x="113" y="13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102">
              <a:extLst>
                <a:ext uri="{FF2B5EF4-FFF2-40B4-BE49-F238E27FC236}">
                  <a16:creationId xmlns:a16="http://schemas.microsoft.com/office/drawing/2014/main" id="{131CAB28-E1CE-B4DA-56E4-F92E101F4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5" y="2594"/>
              <a:ext cx="298" cy="258"/>
            </a:xfrm>
            <a:custGeom>
              <a:avLst/>
              <a:gdLst>
                <a:gd name="T0" fmla="*/ 0 w 350"/>
                <a:gd name="T1" fmla="*/ 238 h 302"/>
                <a:gd name="T2" fmla="*/ 1 w 350"/>
                <a:gd name="T3" fmla="*/ 245 h 302"/>
                <a:gd name="T4" fmla="*/ 5 w 350"/>
                <a:gd name="T5" fmla="*/ 252 h 302"/>
                <a:gd name="T6" fmla="*/ 9 w 350"/>
                <a:gd name="T7" fmla="*/ 255 h 302"/>
                <a:gd name="T8" fmla="*/ 92 w 350"/>
                <a:gd name="T9" fmla="*/ 278 h 302"/>
                <a:gd name="T10" fmla="*/ 115 w 350"/>
                <a:gd name="T11" fmla="*/ 276 h 302"/>
                <a:gd name="T12" fmla="*/ 115 w 350"/>
                <a:gd name="T13" fmla="*/ 275 h 302"/>
                <a:gd name="T14" fmla="*/ 111 w 350"/>
                <a:gd name="T15" fmla="*/ 263 h 302"/>
                <a:gd name="T16" fmla="*/ 92 w 350"/>
                <a:gd name="T17" fmla="*/ 264 h 302"/>
                <a:gd name="T18" fmla="*/ 16 w 350"/>
                <a:gd name="T19" fmla="*/ 244 h 302"/>
                <a:gd name="T20" fmla="*/ 15 w 350"/>
                <a:gd name="T21" fmla="*/ 243 h 302"/>
                <a:gd name="T22" fmla="*/ 14 w 350"/>
                <a:gd name="T23" fmla="*/ 241 h 302"/>
                <a:gd name="T24" fmla="*/ 13 w 350"/>
                <a:gd name="T25" fmla="*/ 238 h 302"/>
                <a:gd name="T26" fmla="*/ 13 w 350"/>
                <a:gd name="T27" fmla="*/ 237 h 302"/>
                <a:gd name="T28" fmla="*/ 13 w 350"/>
                <a:gd name="T29" fmla="*/ 237 h 302"/>
                <a:gd name="T30" fmla="*/ 29 w 350"/>
                <a:gd name="T31" fmla="*/ 187 h 302"/>
                <a:gd name="T32" fmla="*/ 63 w 350"/>
                <a:gd name="T33" fmla="*/ 156 h 302"/>
                <a:gd name="T34" fmla="*/ 92 w 350"/>
                <a:gd name="T35" fmla="*/ 149 h 302"/>
                <a:gd name="T36" fmla="*/ 121 w 350"/>
                <a:gd name="T37" fmla="*/ 156 h 302"/>
                <a:gd name="T38" fmla="*/ 142 w 350"/>
                <a:gd name="T39" fmla="*/ 171 h 302"/>
                <a:gd name="T40" fmla="*/ 150 w 350"/>
                <a:gd name="T41" fmla="*/ 160 h 302"/>
                <a:gd name="T42" fmla="*/ 127 w 350"/>
                <a:gd name="T43" fmla="*/ 144 h 302"/>
                <a:gd name="T44" fmla="*/ 117 w 350"/>
                <a:gd name="T45" fmla="*/ 140 h 302"/>
                <a:gd name="T46" fmla="*/ 132 w 350"/>
                <a:gd name="T47" fmla="*/ 129 h 302"/>
                <a:gd name="T48" fmla="*/ 148 w 350"/>
                <a:gd name="T49" fmla="*/ 90 h 302"/>
                <a:gd name="T50" fmla="*/ 132 w 350"/>
                <a:gd name="T51" fmla="*/ 50 h 302"/>
                <a:gd name="T52" fmla="*/ 92 w 350"/>
                <a:gd name="T53" fmla="*/ 34 h 302"/>
                <a:gd name="T54" fmla="*/ 53 w 350"/>
                <a:gd name="T55" fmla="*/ 50 h 302"/>
                <a:gd name="T56" fmla="*/ 36 w 350"/>
                <a:gd name="T57" fmla="*/ 90 h 302"/>
                <a:gd name="T58" fmla="*/ 53 w 350"/>
                <a:gd name="T59" fmla="*/ 129 h 302"/>
                <a:gd name="T60" fmla="*/ 67 w 350"/>
                <a:gd name="T61" fmla="*/ 140 h 302"/>
                <a:gd name="T62" fmla="*/ 58 w 350"/>
                <a:gd name="T63" fmla="*/ 144 h 302"/>
                <a:gd name="T64" fmla="*/ 29 w 350"/>
                <a:gd name="T65" fmla="*/ 165 h 302"/>
                <a:gd name="T66" fmla="*/ 0 w 350"/>
                <a:gd name="T67" fmla="*/ 236 h 302"/>
                <a:gd name="T68" fmla="*/ 6 w 350"/>
                <a:gd name="T69" fmla="*/ 237 h 302"/>
                <a:gd name="T70" fmla="*/ 0 w 350"/>
                <a:gd name="T71" fmla="*/ 236 h 302"/>
                <a:gd name="T72" fmla="*/ 0 w 350"/>
                <a:gd name="T73" fmla="*/ 238 h 302"/>
                <a:gd name="T74" fmla="*/ 92 w 350"/>
                <a:gd name="T75" fmla="*/ 132 h 302"/>
                <a:gd name="T76" fmla="*/ 62 w 350"/>
                <a:gd name="T77" fmla="*/ 120 h 302"/>
                <a:gd name="T78" fmla="*/ 50 w 350"/>
                <a:gd name="T79" fmla="*/ 90 h 302"/>
                <a:gd name="T80" fmla="*/ 62 w 350"/>
                <a:gd name="T81" fmla="*/ 59 h 302"/>
                <a:gd name="T82" fmla="*/ 92 w 350"/>
                <a:gd name="T83" fmla="*/ 47 h 302"/>
                <a:gd name="T84" fmla="*/ 122 w 350"/>
                <a:gd name="T85" fmla="*/ 59 h 302"/>
                <a:gd name="T86" fmla="*/ 135 w 350"/>
                <a:gd name="T87" fmla="*/ 90 h 302"/>
                <a:gd name="T88" fmla="*/ 122 w 350"/>
                <a:gd name="T89" fmla="*/ 120 h 302"/>
                <a:gd name="T90" fmla="*/ 92 w 350"/>
                <a:gd name="T91" fmla="*/ 132 h 302"/>
                <a:gd name="T92" fmla="*/ 302 w 350"/>
                <a:gd name="T93" fmla="*/ 64 h 302"/>
                <a:gd name="T94" fmla="*/ 237 w 350"/>
                <a:gd name="T95" fmla="*/ 0 h 302"/>
                <a:gd name="T96" fmla="*/ 173 w 350"/>
                <a:gd name="T97" fmla="*/ 64 h 302"/>
                <a:gd name="T98" fmla="*/ 237 w 350"/>
                <a:gd name="T99" fmla="*/ 129 h 302"/>
                <a:gd name="T100" fmla="*/ 302 w 350"/>
                <a:gd name="T101" fmla="*/ 64 h 302"/>
                <a:gd name="T102" fmla="*/ 125 w 350"/>
                <a:gd name="T103" fmla="*/ 257 h 302"/>
                <a:gd name="T104" fmla="*/ 133 w 350"/>
                <a:gd name="T105" fmla="*/ 274 h 302"/>
                <a:gd name="T106" fmla="*/ 237 w 350"/>
                <a:gd name="T107" fmla="*/ 302 h 302"/>
                <a:gd name="T108" fmla="*/ 341 w 350"/>
                <a:gd name="T109" fmla="*/ 274 h 302"/>
                <a:gd name="T110" fmla="*/ 350 w 350"/>
                <a:gd name="T111" fmla="*/ 257 h 302"/>
                <a:gd name="T112" fmla="*/ 237 w 350"/>
                <a:gd name="T113" fmla="*/ 133 h 302"/>
                <a:gd name="T114" fmla="*/ 125 w 350"/>
                <a:gd name="T115" fmla="*/ 257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0" h="302">
                  <a:moveTo>
                    <a:pt x="0" y="238"/>
                  </a:moveTo>
                  <a:cubicBezTo>
                    <a:pt x="0" y="240"/>
                    <a:pt x="0" y="243"/>
                    <a:pt x="1" y="245"/>
                  </a:cubicBezTo>
                  <a:cubicBezTo>
                    <a:pt x="2" y="248"/>
                    <a:pt x="3" y="250"/>
                    <a:pt x="5" y="252"/>
                  </a:cubicBezTo>
                  <a:cubicBezTo>
                    <a:pt x="6" y="253"/>
                    <a:pt x="7" y="254"/>
                    <a:pt x="9" y="255"/>
                  </a:cubicBezTo>
                  <a:cubicBezTo>
                    <a:pt x="32" y="269"/>
                    <a:pt x="61" y="278"/>
                    <a:pt x="92" y="278"/>
                  </a:cubicBezTo>
                  <a:cubicBezTo>
                    <a:pt x="100" y="278"/>
                    <a:pt x="108" y="277"/>
                    <a:pt x="115" y="276"/>
                  </a:cubicBezTo>
                  <a:cubicBezTo>
                    <a:pt x="115" y="276"/>
                    <a:pt x="115" y="275"/>
                    <a:pt x="115" y="275"/>
                  </a:cubicBezTo>
                  <a:cubicBezTo>
                    <a:pt x="113" y="271"/>
                    <a:pt x="111" y="267"/>
                    <a:pt x="111" y="263"/>
                  </a:cubicBezTo>
                  <a:cubicBezTo>
                    <a:pt x="105" y="264"/>
                    <a:pt x="99" y="264"/>
                    <a:pt x="92" y="264"/>
                  </a:cubicBezTo>
                  <a:cubicBezTo>
                    <a:pt x="63" y="264"/>
                    <a:pt x="37" y="257"/>
                    <a:pt x="16" y="244"/>
                  </a:cubicBezTo>
                  <a:cubicBezTo>
                    <a:pt x="16" y="244"/>
                    <a:pt x="15" y="243"/>
                    <a:pt x="15" y="243"/>
                  </a:cubicBezTo>
                  <a:cubicBezTo>
                    <a:pt x="15" y="243"/>
                    <a:pt x="14" y="242"/>
                    <a:pt x="14" y="241"/>
                  </a:cubicBezTo>
                  <a:cubicBezTo>
                    <a:pt x="13" y="240"/>
                    <a:pt x="13" y="238"/>
                    <a:pt x="13" y="238"/>
                  </a:cubicBezTo>
                  <a:cubicBezTo>
                    <a:pt x="13" y="238"/>
                    <a:pt x="13" y="237"/>
                    <a:pt x="13" y="237"/>
                  </a:cubicBezTo>
                  <a:cubicBezTo>
                    <a:pt x="13" y="237"/>
                    <a:pt x="13" y="237"/>
                    <a:pt x="13" y="237"/>
                  </a:cubicBezTo>
                  <a:cubicBezTo>
                    <a:pt x="15" y="218"/>
                    <a:pt x="20" y="201"/>
                    <a:pt x="29" y="187"/>
                  </a:cubicBezTo>
                  <a:cubicBezTo>
                    <a:pt x="38" y="173"/>
                    <a:pt x="50" y="162"/>
                    <a:pt x="63" y="156"/>
                  </a:cubicBezTo>
                  <a:cubicBezTo>
                    <a:pt x="72" y="151"/>
                    <a:pt x="82" y="149"/>
                    <a:pt x="92" y="149"/>
                  </a:cubicBezTo>
                  <a:cubicBezTo>
                    <a:pt x="102" y="149"/>
                    <a:pt x="112" y="151"/>
                    <a:pt x="121" y="156"/>
                  </a:cubicBezTo>
                  <a:cubicBezTo>
                    <a:pt x="128" y="159"/>
                    <a:pt x="136" y="164"/>
                    <a:pt x="142" y="171"/>
                  </a:cubicBezTo>
                  <a:cubicBezTo>
                    <a:pt x="145" y="167"/>
                    <a:pt x="147" y="164"/>
                    <a:pt x="150" y="160"/>
                  </a:cubicBezTo>
                  <a:cubicBezTo>
                    <a:pt x="143" y="153"/>
                    <a:pt x="135" y="148"/>
                    <a:pt x="127" y="144"/>
                  </a:cubicBezTo>
                  <a:cubicBezTo>
                    <a:pt x="123" y="142"/>
                    <a:pt x="120" y="141"/>
                    <a:pt x="117" y="140"/>
                  </a:cubicBezTo>
                  <a:cubicBezTo>
                    <a:pt x="122" y="137"/>
                    <a:pt x="127" y="133"/>
                    <a:pt x="132" y="129"/>
                  </a:cubicBezTo>
                  <a:cubicBezTo>
                    <a:pt x="142" y="119"/>
                    <a:pt x="148" y="105"/>
                    <a:pt x="148" y="90"/>
                  </a:cubicBezTo>
                  <a:cubicBezTo>
                    <a:pt x="148" y="74"/>
                    <a:pt x="142" y="60"/>
                    <a:pt x="132" y="50"/>
                  </a:cubicBezTo>
                  <a:cubicBezTo>
                    <a:pt x="122" y="40"/>
                    <a:pt x="108" y="34"/>
                    <a:pt x="92" y="34"/>
                  </a:cubicBezTo>
                  <a:cubicBezTo>
                    <a:pt x="77" y="34"/>
                    <a:pt x="63" y="40"/>
                    <a:pt x="53" y="50"/>
                  </a:cubicBezTo>
                  <a:cubicBezTo>
                    <a:pt x="43" y="60"/>
                    <a:pt x="36" y="74"/>
                    <a:pt x="36" y="90"/>
                  </a:cubicBezTo>
                  <a:cubicBezTo>
                    <a:pt x="36" y="105"/>
                    <a:pt x="43" y="119"/>
                    <a:pt x="53" y="129"/>
                  </a:cubicBezTo>
                  <a:cubicBezTo>
                    <a:pt x="57" y="133"/>
                    <a:pt x="62" y="137"/>
                    <a:pt x="67" y="140"/>
                  </a:cubicBezTo>
                  <a:cubicBezTo>
                    <a:pt x="64" y="141"/>
                    <a:pt x="61" y="142"/>
                    <a:pt x="58" y="144"/>
                  </a:cubicBezTo>
                  <a:cubicBezTo>
                    <a:pt x="47" y="149"/>
                    <a:pt x="37" y="156"/>
                    <a:pt x="29" y="165"/>
                  </a:cubicBezTo>
                  <a:cubicBezTo>
                    <a:pt x="13" y="183"/>
                    <a:pt x="2" y="208"/>
                    <a:pt x="0" y="236"/>
                  </a:cubicBezTo>
                  <a:cubicBezTo>
                    <a:pt x="6" y="237"/>
                    <a:pt x="6" y="237"/>
                    <a:pt x="6" y="237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7"/>
                    <a:pt x="0" y="237"/>
                    <a:pt x="0" y="238"/>
                  </a:cubicBezTo>
                  <a:close/>
                  <a:moveTo>
                    <a:pt x="92" y="132"/>
                  </a:moveTo>
                  <a:cubicBezTo>
                    <a:pt x="80" y="132"/>
                    <a:pt x="70" y="127"/>
                    <a:pt x="62" y="120"/>
                  </a:cubicBezTo>
                  <a:cubicBezTo>
                    <a:pt x="54" y="112"/>
                    <a:pt x="50" y="101"/>
                    <a:pt x="50" y="90"/>
                  </a:cubicBezTo>
                  <a:cubicBezTo>
                    <a:pt x="50" y="78"/>
                    <a:pt x="54" y="67"/>
                    <a:pt x="62" y="59"/>
                  </a:cubicBezTo>
                  <a:cubicBezTo>
                    <a:pt x="70" y="52"/>
                    <a:pt x="80" y="47"/>
                    <a:pt x="92" y="47"/>
                  </a:cubicBezTo>
                  <a:cubicBezTo>
                    <a:pt x="104" y="47"/>
                    <a:pt x="115" y="52"/>
                    <a:pt x="122" y="59"/>
                  </a:cubicBezTo>
                  <a:cubicBezTo>
                    <a:pt x="130" y="67"/>
                    <a:pt x="135" y="78"/>
                    <a:pt x="135" y="90"/>
                  </a:cubicBezTo>
                  <a:cubicBezTo>
                    <a:pt x="135" y="101"/>
                    <a:pt x="130" y="112"/>
                    <a:pt x="122" y="120"/>
                  </a:cubicBezTo>
                  <a:cubicBezTo>
                    <a:pt x="115" y="127"/>
                    <a:pt x="104" y="132"/>
                    <a:pt x="92" y="132"/>
                  </a:cubicBezTo>
                  <a:close/>
                  <a:moveTo>
                    <a:pt x="302" y="64"/>
                  </a:moveTo>
                  <a:cubicBezTo>
                    <a:pt x="302" y="29"/>
                    <a:pt x="273" y="0"/>
                    <a:pt x="237" y="0"/>
                  </a:cubicBezTo>
                  <a:cubicBezTo>
                    <a:pt x="202" y="0"/>
                    <a:pt x="173" y="29"/>
                    <a:pt x="173" y="64"/>
                  </a:cubicBezTo>
                  <a:cubicBezTo>
                    <a:pt x="173" y="100"/>
                    <a:pt x="202" y="129"/>
                    <a:pt x="237" y="129"/>
                  </a:cubicBezTo>
                  <a:cubicBezTo>
                    <a:pt x="273" y="129"/>
                    <a:pt x="302" y="100"/>
                    <a:pt x="302" y="64"/>
                  </a:cubicBezTo>
                  <a:close/>
                  <a:moveTo>
                    <a:pt x="125" y="257"/>
                  </a:moveTo>
                  <a:cubicBezTo>
                    <a:pt x="124" y="263"/>
                    <a:pt x="128" y="271"/>
                    <a:pt x="133" y="274"/>
                  </a:cubicBezTo>
                  <a:cubicBezTo>
                    <a:pt x="162" y="291"/>
                    <a:pt x="198" y="302"/>
                    <a:pt x="237" y="302"/>
                  </a:cubicBezTo>
                  <a:cubicBezTo>
                    <a:pt x="277" y="302"/>
                    <a:pt x="313" y="291"/>
                    <a:pt x="341" y="274"/>
                  </a:cubicBezTo>
                  <a:cubicBezTo>
                    <a:pt x="346" y="271"/>
                    <a:pt x="350" y="263"/>
                    <a:pt x="350" y="257"/>
                  </a:cubicBezTo>
                  <a:cubicBezTo>
                    <a:pt x="344" y="187"/>
                    <a:pt x="296" y="133"/>
                    <a:pt x="237" y="133"/>
                  </a:cubicBezTo>
                  <a:cubicBezTo>
                    <a:pt x="179" y="133"/>
                    <a:pt x="131" y="187"/>
                    <a:pt x="125" y="25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11BC6F8-C42F-DC71-B259-28C133A302BE}"/>
              </a:ext>
            </a:extLst>
          </p:cNvPr>
          <p:cNvSpPr txBox="1"/>
          <p:nvPr/>
        </p:nvSpPr>
        <p:spPr bwMode="auto">
          <a:xfrm>
            <a:off x="329241" y="160152"/>
            <a:ext cx="60948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L" sz="1400" b="1" i="0" u="none" strike="noStrike" cap="none" dirty="0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Viaje del Cliente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34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04  ACCIONES ORGANIZACIONALES</a:t>
            </a:r>
            <a:endParaRPr/>
          </a:p>
        </p:txBody>
      </p:sp>
      <p:sp>
        <p:nvSpPr>
          <p:cNvPr id="176" name="Google Shape;176;p32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Acciones Organizacionales — JTBD</a:t>
            </a:r>
            <a:endParaRPr/>
          </a:p>
        </p:txBody>
      </p:sp>
      <p:sp>
        <p:nvSpPr>
          <p:cNvPr id="177" name="Google Shape;177;p32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2"/>
          <p:cNvSpPr/>
          <p:nvPr/>
        </p:nvSpPr>
        <p:spPr>
          <a:xfrm>
            <a:off x="520223" y="1280000"/>
            <a:ext cx="1097088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Por cada acción del cliente debe existir una reacción organizacional perfecta (Kellogg)</a:t>
            </a:r>
            <a:endParaRPr dirty="0"/>
          </a:p>
        </p:txBody>
      </p:sp>
      <p:sp>
        <p:nvSpPr>
          <p:cNvPr id="179" name="Google Shape;179;p32"/>
          <p:cNvSpPr/>
          <p:nvPr/>
        </p:nvSpPr>
        <p:spPr>
          <a:xfrm>
            <a:off x="60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  Alcanzar</a:t>
            </a:r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60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12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Contenido técnico automatizado; alertas regulatorias personalizadas por industria</a:t>
            </a:r>
            <a:endParaRPr sz="2400" dirty="0"/>
          </a:p>
        </p:txBody>
      </p:sp>
      <p:sp>
        <p:nvSpPr>
          <p:cNvPr id="181" name="Google Shape;181;p32"/>
          <p:cNvSpPr/>
          <p:nvPr/>
        </p:nvSpPr>
        <p:spPr>
          <a:xfrm>
            <a:off x="244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  Adquirir</a:t>
            </a:r>
            <a:endParaRPr/>
          </a:p>
        </p:txBody>
      </p:sp>
      <p:sp>
        <p:nvSpPr>
          <p:cNvPr id="182" name="Google Shape;182;p32"/>
          <p:cNvSpPr/>
          <p:nvPr/>
        </p:nvSpPr>
        <p:spPr>
          <a:xfrm>
            <a:off x="244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>
              <a:buClr>
                <a:srgbClr val="323F50"/>
              </a:buClr>
              <a:buSzPts val="900"/>
            </a:pP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Lead </a:t>
            </a: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scoring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IA; diagnóstico de postura </a:t>
            </a: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cloud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en minutos</a:t>
            </a:r>
            <a:endParaRPr sz="12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83" name="Google Shape;183;p32"/>
          <p:cNvSpPr/>
          <p:nvPr/>
        </p:nvSpPr>
        <p:spPr>
          <a:xfrm>
            <a:off x="428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  Convertir</a:t>
            </a:r>
            <a:endParaRPr/>
          </a:p>
        </p:txBody>
      </p:sp>
      <p:sp>
        <p:nvSpPr>
          <p:cNvPr id="184" name="Google Shape;184;p32"/>
          <p:cNvSpPr/>
          <p:nvPr/>
        </p:nvSpPr>
        <p:spPr>
          <a:xfrm>
            <a:off x="428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 marL="0" lvl="0" indent="0">
              <a:buClr>
                <a:srgbClr val="323F50"/>
              </a:buClr>
              <a:buSzPts val="900"/>
              <a:buFont typeface="Arial"/>
              <a:buNone/>
            </a:pP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Pre-assessment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automático; propuesta IA en &lt;24 </a:t>
            </a: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hrs</a:t>
            </a:r>
            <a:endParaRPr sz="12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612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  Desarrollar</a:t>
            </a:r>
            <a:endParaRPr/>
          </a:p>
        </p:txBody>
      </p:sp>
      <p:sp>
        <p:nvSpPr>
          <p:cNvPr id="186" name="Google Shape;186;p32"/>
          <p:cNvSpPr/>
          <p:nvPr/>
        </p:nvSpPr>
        <p:spPr>
          <a:xfrm>
            <a:off x="612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>
              <a:buClr>
                <a:srgbClr val="323F50"/>
              </a:buClr>
              <a:buSzPts val="900"/>
            </a:pP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Upsell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TAISE (AI Security); </a:t>
            </a: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cross-sell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cumplimiento regulatorio</a:t>
            </a:r>
            <a:endParaRPr sz="12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87" name="Google Shape;187;p32"/>
          <p:cNvSpPr/>
          <p:nvPr/>
        </p:nvSpPr>
        <p:spPr>
          <a:xfrm>
            <a:off x="796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  Servir</a:t>
            </a:r>
            <a:endParaRPr/>
          </a:p>
        </p:txBody>
      </p:sp>
      <p:sp>
        <p:nvSpPr>
          <p:cNvPr id="188" name="Google Shape;188;p32"/>
          <p:cNvSpPr/>
          <p:nvPr/>
        </p:nvSpPr>
        <p:spPr>
          <a:xfrm>
            <a:off x="796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 marL="0" lvl="0" indent="0">
              <a:buClr>
                <a:srgbClr val="323F50"/>
              </a:buClr>
              <a:buSzPts val="900"/>
              <a:buFont typeface="Arial"/>
              <a:buNone/>
            </a:pP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Monitoreo 24/7 con 3R; AI </a:t>
            </a: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Copilot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para el CISO</a:t>
            </a:r>
            <a:endParaRPr sz="12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9809600" y="1600000"/>
            <a:ext cx="1786667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  Retener</a:t>
            </a:r>
            <a:endParaRPr/>
          </a:p>
        </p:txBody>
      </p:sp>
      <p:sp>
        <p:nvSpPr>
          <p:cNvPr id="190" name="Google Shape;190;p32"/>
          <p:cNvSpPr/>
          <p:nvPr/>
        </p:nvSpPr>
        <p:spPr>
          <a:xfrm>
            <a:off x="9809600" y="2026667"/>
            <a:ext cx="1786667" cy="37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r>
              <a:rPr lang="es-CL" sz="850" b="1" i="0" u="none" strike="noStrike" cap="none" dirty="0">
                <a:solidFill>
                  <a:srgbClr val="0070A0"/>
                </a:solidFill>
                <a:latin typeface="DM Sans"/>
                <a:ea typeface="DM Sans"/>
                <a:cs typeface="DM Sans"/>
                <a:sym typeface="DM Sans"/>
              </a:rPr>
              <a:t>CON IA: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A0"/>
              </a:buClr>
              <a:buSzPts val="850"/>
              <a:buFont typeface="DM Sans"/>
              <a:buNone/>
            </a:pPr>
            <a:endParaRPr dirty="0"/>
          </a:p>
          <a:p>
            <a:pPr>
              <a:buClr>
                <a:srgbClr val="323F50"/>
              </a:buClr>
              <a:buSzPts val="900"/>
            </a:pPr>
            <a:r>
              <a:rPr lang="es-CL" sz="1200" dirty="0" err="1">
                <a:solidFill>
                  <a:srgbClr val="323F50"/>
                </a:solidFill>
                <a:latin typeface="DM Sans"/>
                <a:sym typeface="DM Sans"/>
              </a:rPr>
              <a:t>Benchmark</a:t>
            </a:r>
            <a:r>
              <a:rPr lang="es-CL" sz="1200" dirty="0">
                <a:solidFill>
                  <a:srgbClr val="323F50"/>
                </a:solidFill>
                <a:latin typeface="DM Sans"/>
                <a:sym typeface="DM Sans"/>
              </a:rPr>
              <a:t> industria;; reportes ejecutivos</a:t>
            </a:r>
            <a:endParaRPr sz="1200" dirty="0">
              <a:solidFill>
                <a:srgbClr val="323F50"/>
              </a:solidFill>
              <a:latin typeface="DM Sans"/>
            </a:endParaRPr>
          </a:p>
        </p:txBody>
      </p:sp>
      <p:sp>
        <p:nvSpPr>
          <p:cNvPr id="191" name="Google Shape;191;p32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05  DOLORES DEL CLIENTE</a:t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Dolores del Cliente</a:t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609600" y="1280000"/>
            <a:ext cx="1097088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1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Identificados mediante diagnóstico de mercado LATAM y experiencia operacional de Anepsis</a:t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609600" y="1600000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609600" y="1600000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① CRÍTICO</a:t>
            </a:r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731520" y="1986667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50"/>
              <a:buFont typeface="DM Sans"/>
              <a:buNone/>
            </a:pPr>
            <a:r>
              <a:rPr lang="es-CL" sz="12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Visibilidad Cero en Tiempo Real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-CL" sz="90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assessments</a:t>
            </a: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son fotos puntuales. El cliente no sabe cuál es su postura real en ningún momento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04" name="Google Shape;204;p33"/>
          <p:cNvSpPr/>
          <p:nvPr/>
        </p:nvSpPr>
        <p:spPr>
          <a:xfrm>
            <a:off x="4235520" y="1600000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4235520" y="1600000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② CRÍTICO</a:t>
            </a:r>
            <a:endParaRPr/>
          </a:p>
        </p:txBody>
      </p:sp>
      <p:sp>
        <p:nvSpPr>
          <p:cNvPr id="206" name="Google Shape;206;p33"/>
          <p:cNvSpPr/>
          <p:nvPr/>
        </p:nvSpPr>
        <p:spPr>
          <a:xfrm>
            <a:off x="4357440" y="1986667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>
              <a:buClr>
                <a:srgbClr val="323F50"/>
              </a:buClr>
              <a:buSzPts val="1050"/>
            </a:pPr>
            <a:r>
              <a:rPr lang="es-CL" sz="1200" b="1" dirty="0">
                <a:solidFill>
                  <a:srgbClr val="323F50"/>
                </a:solidFill>
                <a:latin typeface="DM Sans"/>
                <a:sym typeface="DM Sans"/>
              </a:rPr>
              <a:t>Evaluaciones Lentas y Costosas</a:t>
            </a:r>
            <a:endParaRPr sz="1200"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Un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assessment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manual toma semanas. Consultores senior dedicados. El resultado llega demasiado tarde.</a:t>
            </a:r>
            <a:endParaRPr dirty="0"/>
          </a:p>
        </p:txBody>
      </p:sp>
      <p:sp>
        <p:nvSpPr>
          <p:cNvPr id="207" name="Google Shape;207;p33"/>
          <p:cNvSpPr/>
          <p:nvPr/>
        </p:nvSpPr>
        <p:spPr>
          <a:xfrm>
            <a:off x="7861440" y="1600000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7861440" y="1600000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③ CRÍTICO</a:t>
            </a:r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7983360" y="1986667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50"/>
              <a:buFont typeface="DM Sans"/>
              <a:buNone/>
            </a:pPr>
            <a:r>
              <a:rPr lang="es-CL" sz="1200" b="1" dirty="0">
                <a:solidFill>
                  <a:srgbClr val="323F50"/>
                </a:solidFill>
                <a:latin typeface="DM Sans"/>
                <a:sym typeface="DM Sans"/>
              </a:rPr>
              <a:t>Adopción de IA sin Gobierno</a:t>
            </a:r>
            <a:endParaRPr sz="1200"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Implementan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copilots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sin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framework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. Riesgos: data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leakage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hallucinations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, ataques adversariales.</a:t>
            </a:r>
            <a:endParaRPr dirty="0"/>
          </a:p>
        </p:txBody>
      </p:sp>
      <p:sp>
        <p:nvSpPr>
          <p:cNvPr id="210" name="Google Shape;210;p33"/>
          <p:cNvSpPr/>
          <p:nvPr/>
        </p:nvSpPr>
        <p:spPr>
          <a:xfrm>
            <a:off x="609600" y="3626667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609600" y="3626667"/>
            <a:ext cx="3504000" cy="3600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④ IMPORTANTE</a:t>
            </a:r>
            <a:endParaRPr/>
          </a:p>
        </p:txBody>
      </p:sp>
      <p:sp>
        <p:nvSpPr>
          <p:cNvPr id="212" name="Google Shape;212;p33"/>
          <p:cNvSpPr/>
          <p:nvPr/>
        </p:nvSpPr>
        <p:spPr>
          <a:xfrm>
            <a:off x="731520" y="4013333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>
              <a:buClr>
                <a:srgbClr val="323F50"/>
              </a:buClr>
              <a:buSzPts val="1050"/>
            </a:pPr>
            <a:r>
              <a:rPr lang="es-CL" sz="1200" b="1" dirty="0">
                <a:solidFill>
                  <a:srgbClr val="323F50"/>
                </a:solidFill>
                <a:latin typeface="DM Sans"/>
                <a:sym typeface="DM Sans"/>
              </a:rPr>
              <a:t>Escasez de Talento Especializado</a:t>
            </a:r>
            <a:endParaRPr sz="1200"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Brecha crítica de profesionales que entiendan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+ seguridad + IA en LATAM.</a:t>
            </a:r>
            <a:endParaRPr dirty="0"/>
          </a:p>
        </p:txBody>
      </p:sp>
      <p:sp>
        <p:nvSpPr>
          <p:cNvPr id="213" name="Google Shape;213;p33"/>
          <p:cNvSpPr/>
          <p:nvPr/>
        </p:nvSpPr>
        <p:spPr>
          <a:xfrm>
            <a:off x="4235520" y="3626667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4235520" y="3626667"/>
            <a:ext cx="3504000" cy="3600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⑤ IMPORTANTE</a:t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4357440" y="4013333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lvl="0" indent="0">
              <a:buClr>
                <a:srgbClr val="323F50"/>
              </a:buClr>
              <a:buSzPts val="1050"/>
              <a:buFont typeface="Arial"/>
              <a:buNone/>
            </a:pPr>
            <a:r>
              <a:rPr lang="es-CL" sz="1200" b="1" dirty="0">
                <a:solidFill>
                  <a:srgbClr val="323F50"/>
                </a:solidFill>
                <a:latin typeface="DM Sans"/>
                <a:sym typeface="DM Sans"/>
              </a:rPr>
              <a:t>Desconexión Técnico–Negocio</a:t>
            </a:r>
            <a:endParaRPr sz="1200"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El CISO habla de controles; el directorio habla de impacto financiero. No hay traducción automática.</a:t>
            </a:r>
            <a:endParaRPr dirty="0"/>
          </a:p>
        </p:txBody>
      </p:sp>
      <p:sp>
        <p:nvSpPr>
          <p:cNvPr id="216" name="Google Shape;216;p33"/>
          <p:cNvSpPr/>
          <p:nvPr/>
        </p:nvSpPr>
        <p:spPr>
          <a:xfrm>
            <a:off x="7861440" y="3626667"/>
            <a:ext cx="3504000" cy="189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7861440" y="3626667"/>
            <a:ext cx="3504000" cy="360000"/>
          </a:xfrm>
          <a:prstGeom prst="rect">
            <a:avLst/>
          </a:prstGeom>
          <a:solidFill>
            <a:srgbClr val="5A7A8A"/>
          </a:solidFill>
          <a:ln>
            <a:noFill/>
          </a:ln>
        </p:spPr>
        <p:txBody>
          <a:bodyPr spcFirstLastPara="1" wrap="square" lIns="91425" tIns="30000" rIns="91425" bIns="3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s-CL" sz="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⑥ LATENTE</a:t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7983360" y="4013333"/>
            <a:ext cx="3260160" cy="141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>
              <a:buClr>
                <a:srgbClr val="323F50"/>
              </a:buClr>
              <a:buSzPts val="1050"/>
            </a:pPr>
            <a:r>
              <a:rPr lang="es-CL" sz="1200" b="1" dirty="0">
                <a:solidFill>
                  <a:srgbClr val="323F50"/>
                </a:solidFill>
                <a:latin typeface="DM Sans"/>
                <a:sym typeface="DM Sans"/>
              </a:rPr>
              <a:t>Presión Regulatoria Creciente</a:t>
            </a:r>
            <a:endParaRPr sz="1200" b="1" dirty="0">
              <a:solidFill>
                <a:srgbClr val="323F50"/>
              </a:solidFill>
              <a:latin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Ley 21.719 Chile, normativas SBIF. Cumplimiento debe ser continuo, no solo en auditorías.</a:t>
            </a:r>
            <a:endParaRPr dirty="0"/>
          </a:p>
        </p:txBody>
      </p:sp>
      <p:sp>
        <p:nvSpPr>
          <p:cNvPr id="219" name="Google Shape;219;p33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/>
          <p:nvPr/>
        </p:nvSpPr>
        <p:spPr>
          <a:xfrm>
            <a:off x="26667" y="0"/>
            <a:ext cx="12192000" cy="6858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0" y="0"/>
            <a:ext cx="26667" cy="6858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609600" y="266667"/>
            <a:ext cx="5333333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06  DEFINICIÓN DEL PROBLEMA</a:t>
            </a:r>
            <a:endParaRPr/>
          </a:p>
        </p:txBody>
      </p:sp>
      <p:sp>
        <p:nvSpPr>
          <p:cNvPr id="227" name="Google Shape;227;p34"/>
          <p:cNvSpPr/>
          <p:nvPr/>
        </p:nvSpPr>
        <p:spPr>
          <a:xfrm>
            <a:off x="609600" y="560000"/>
            <a:ext cx="10970880" cy="58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us Jakarta Sans ExtraBold"/>
              <a:buNone/>
            </a:pPr>
            <a:r>
              <a:rPr lang="es-CL" sz="28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Definición del Problema</a:t>
            </a:r>
            <a:endParaRPr/>
          </a:p>
        </p:txBody>
      </p:sp>
      <p:sp>
        <p:nvSpPr>
          <p:cNvPr id="228" name="Google Shape;228;p34"/>
          <p:cNvSpPr/>
          <p:nvPr/>
        </p:nvSpPr>
        <p:spPr>
          <a:xfrm>
            <a:off x="609600" y="1173333"/>
            <a:ext cx="10970880" cy="26667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609600" y="1266667"/>
            <a:ext cx="10970880" cy="7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lvl="0">
              <a:buClr>
                <a:srgbClr val="FFFFFF"/>
              </a:buClr>
              <a:buSzPts val="1050"/>
            </a:pPr>
            <a:r>
              <a:rPr lang="es-ES" sz="1050" dirty="0">
                <a:solidFill>
                  <a:srgbClr val="FFFFFF"/>
                </a:solidFill>
                <a:latin typeface="DM Sans"/>
              </a:rPr>
              <a:t>El problema no es adoptar Cloud + IA, es hacerlo de forma segura, gobernada y escalable. </a:t>
            </a:r>
          </a:p>
          <a:p>
            <a:pPr lvl="0">
              <a:buClr>
                <a:srgbClr val="FFFFFF"/>
              </a:buClr>
              <a:buSzPts val="1050"/>
            </a:pPr>
            <a:endParaRPr lang="es-ES" sz="1050" dirty="0">
              <a:solidFill>
                <a:srgbClr val="FFFFFF"/>
              </a:solidFill>
              <a:latin typeface="DM Sans"/>
            </a:endParaRPr>
          </a:p>
          <a:p>
            <a:pPr lvl="0">
              <a:buClr>
                <a:srgbClr val="FFFFFF"/>
              </a:buClr>
              <a:buSzPts val="1050"/>
            </a:pPr>
            <a:r>
              <a:rPr lang="es-CL" sz="1050" dirty="0">
                <a:solidFill>
                  <a:srgbClr val="FFFFFF"/>
                </a:solidFill>
                <a:latin typeface="DM Sans"/>
                <a:sym typeface="DM Sans"/>
              </a:rPr>
              <a:t>Las empresas medianas y grandes de LATAM están adoptando </a:t>
            </a:r>
            <a:r>
              <a:rPr lang="es-CL" sz="1050" dirty="0" err="1">
                <a:solidFill>
                  <a:srgbClr val="FFFFFF"/>
                </a:solidFill>
                <a:latin typeface="DM Sans"/>
                <a:sym typeface="DM Sans"/>
              </a:rPr>
              <a:t>cloud</a:t>
            </a:r>
            <a:r>
              <a:rPr lang="es-CL" sz="1050" dirty="0">
                <a:solidFill>
                  <a:srgbClr val="FFFFFF"/>
                </a:solidFill>
                <a:latin typeface="DM Sans"/>
                <a:sym typeface="DM Sans"/>
              </a:rPr>
              <a:t> e IA a un ritmo acelerado, pero carecen de una forma continua, automatizada y confiable de gestionar los riesgos de seguridad que estos entornos generan</a:t>
            </a:r>
            <a:r>
              <a:rPr lang="es-CL" sz="105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30" name="Google Shape;230;p34"/>
          <p:cNvSpPr/>
          <p:nvPr/>
        </p:nvSpPr>
        <p:spPr>
          <a:xfrm>
            <a:off x="609600" y="2106667"/>
            <a:ext cx="1097088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50"/>
              <a:buFont typeface="DM Sans"/>
              <a:buNone/>
            </a:pPr>
            <a:r>
              <a:rPr lang="es-CL" sz="10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-CL" sz="105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assessments</a:t>
            </a:r>
            <a:r>
              <a:rPr lang="es-CL" sz="10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son lentos y puntuales; no existe gobierno sobre el uso de IA; el talento escasea. Esto genera exposición permanente a incidentes, incumplimiento regulatorio y costo de oportunidad significativo.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609600" y="2906667"/>
            <a:ext cx="3504000" cy="506667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s-CL" sz="9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¿Eficiencia o rediseño?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Rediseña: de consultoría reactiva a plataforma SaaS continua.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4266667" y="2906667"/>
            <a:ext cx="3504000" cy="506667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s-CL" sz="9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¿Ventaja competitiva?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Sí: TAISE + CCM + Data </a:t>
            </a:r>
            <a:r>
              <a:rPr lang="es-CL" sz="88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Flywheel</a:t>
            </a:r>
            <a:r>
              <a:rPr lang="es-CL" sz="88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. Nadie más en LATAM.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3" name="Google Shape;233;p34"/>
          <p:cNvSpPr/>
          <p:nvPr/>
        </p:nvSpPr>
        <p:spPr>
          <a:xfrm>
            <a:off x="7933333" y="2906667"/>
            <a:ext cx="3653333" cy="506667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s-CL" sz="9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¿Sostenible en el tiempo?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Sí: Data </a:t>
            </a:r>
            <a:r>
              <a:rPr lang="es-CL" sz="88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Flywheel</a:t>
            </a:r>
            <a:r>
              <a:rPr lang="es-CL" sz="88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= ventaja acumulada con cada cliente.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4" name="Google Shape;234;p34"/>
          <p:cNvSpPr/>
          <p:nvPr/>
        </p:nvSpPr>
        <p:spPr>
          <a:xfrm>
            <a:off x="609600" y="3600000"/>
            <a:ext cx="3504000" cy="90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3400"/>
              <a:buFont typeface="Plus Jakarta Sans ExtraBold"/>
              <a:buNone/>
            </a:pPr>
            <a:r>
              <a:rPr lang="es-CL" sz="3400" b="1" i="0" u="none" strike="noStrike" cap="none" dirty="0">
                <a:solidFill>
                  <a:srgbClr val="00A8C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67%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de brechas LATAM en </a:t>
            </a:r>
            <a:r>
              <a:rPr lang="es-CL" sz="900" b="0" i="0" u="none" strike="noStrike" cap="none" dirty="0" err="1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 mal configurado</a:t>
            </a:r>
            <a:endParaRPr dirty="0"/>
          </a:p>
        </p:txBody>
      </p:sp>
      <p:sp>
        <p:nvSpPr>
          <p:cNvPr id="235" name="Google Shape;235;p34"/>
          <p:cNvSpPr/>
          <p:nvPr/>
        </p:nvSpPr>
        <p:spPr>
          <a:xfrm>
            <a:off x="4266667" y="3600000"/>
            <a:ext cx="3504000" cy="90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us Jakarta Sans ExtraBold"/>
              <a:buNone/>
            </a:pPr>
            <a:r>
              <a:rPr lang="es-CL" sz="34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2x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crecimiento adopción cloud sin madurez de seguridad</a:t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7933333" y="3600000"/>
            <a:ext cx="3653333" cy="90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us Jakarta Sans ExtraBold"/>
              <a:buNone/>
            </a:pPr>
            <a:r>
              <a:rPr lang="es-CL" sz="3400" b="1" dirty="0">
                <a:solidFill>
                  <a:srgbClr val="FFFFFF"/>
                </a:solidFill>
                <a:latin typeface="Plus Jakarta Sans ExtraBold"/>
                <a:cs typeface="Plus Jakarta Sans ExtraBold"/>
                <a:sym typeface="Plus Jakarta Sans ExtraBold"/>
              </a:rPr>
              <a:t>Baja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Adopción de </a:t>
            </a:r>
            <a:r>
              <a:rPr lang="es-CL" sz="900" b="0" i="0" u="none" strike="noStrike" cap="none" dirty="0" err="1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frameworks</a:t>
            </a: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 de gobierno IA</a:t>
            </a:r>
            <a:endParaRPr dirty="0"/>
          </a:p>
        </p:txBody>
      </p:sp>
      <p:sp>
        <p:nvSpPr>
          <p:cNvPr id="237" name="Google Shape;237;p34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8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A26601-84AC-9BA0-75D3-67FAD4EF77FF}"/>
              </a:ext>
            </a:extLst>
          </p:cNvPr>
          <p:cNvSpPr txBox="1"/>
          <p:nvPr/>
        </p:nvSpPr>
        <p:spPr>
          <a:xfrm>
            <a:off x="609600" y="4881383"/>
            <a:ext cx="10970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Oportunidad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estratégica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s-ES" dirty="0">
                <a:solidFill>
                  <a:schemeClr val="bg1"/>
                </a:solidFill>
              </a:rPr>
              <a:t>Habilitar la adopción segura de IA a través de controles estructurados, continuos y automatizados.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n-US" sz="1200" b="1" dirty="0" err="1">
                <a:solidFill>
                  <a:schemeClr val="bg1"/>
                </a:solidFill>
              </a:rPr>
              <a:t>Gobernanza</a:t>
            </a:r>
            <a:r>
              <a:rPr lang="en-US" sz="1200" b="1" dirty="0">
                <a:solidFill>
                  <a:schemeClr val="bg1"/>
                </a:solidFill>
              </a:rPr>
              <a:t> de IA : </a:t>
            </a:r>
            <a:r>
              <a:rPr lang="en-US" sz="1200" dirty="0">
                <a:solidFill>
                  <a:schemeClr val="bg1"/>
                </a:solidFill>
              </a:rPr>
              <a:t>Empresas </a:t>
            </a:r>
            <a:r>
              <a:rPr lang="en-US" sz="1200" dirty="0" err="1">
                <a:solidFill>
                  <a:schemeClr val="bg1"/>
                </a:solidFill>
              </a:rPr>
              <a:t>adoptan</a:t>
            </a:r>
            <a:r>
              <a:rPr lang="en-US" sz="1200" dirty="0">
                <a:solidFill>
                  <a:schemeClr val="bg1"/>
                </a:solidFill>
              </a:rPr>
              <a:t> IA sin </a:t>
            </a:r>
            <a:r>
              <a:rPr lang="en-US" sz="1200" dirty="0" err="1">
                <a:solidFill>
                  <a:schemeClr val="bg1"/>
                </a:solidFill>
              </a:rPr>
              <a:t>políticas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controles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Oportunidad</a:t>
            </a:r>
            <a:r>
              <a:rPr lang="en-US" sz="1200" dirty="0">
                <a:solidFill>
                  <a:schemeClr val="bg1"/>
                </a:solidFill>
              </a:rPr>
              <a:t>: frameworks </a:t>
            </a:r>
            <a:r>
              <a:rPr lang="en-US" sz="1200" dirty="0" err="1">
                <a:solidFill>
                  <a:schemeClr val="bg1"/>
                </a:solidFill>
              </a:rPr>
              <a:t>como</a:t>
            </a:r>
            <a:r>
              <a:rPr lang="en-US" sz="1200" dirty="0">
                <a:solidFill>
                  <a:schemeClr val="bg1"/>
                </a:solidFill>
              </a:rPr>
              <a:t> TAISE + CCM para </a:t>
            </a:r>
            <a:r>
              <a:rPr lang="en-US" sz="1200" dirty="0" err="1">
                <a:solidFill>
                  <a:schemeClr val="bg1"/>
                </a:solidFill>
              </a:rPr>
              <a:t>estructurar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gobierno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“De </a:t>
            </a:r>
            <a:r>
              <a:rPr lang="en-US" sz="1200" dirty="0" err="1">
                <a:solidFill>
                  <a:schemeClr val="bg1"/>
                </a:solidFill>
              </a:rPr>
              <a:t>experimentación</a:t>
            </a:r>
            <a:r>
              <a:rPr lang="en-US" sz="1200" dirty="0">
                <a:solidFill>
                  <a:schemeClr val="bg1"/>
                </a:solidFill>
              </a:rPr>
              <a:t> a </a:t>
            </a:r>
            <a:r>
              <a:rPr lang="en-US" sz="1200" dirty="0" err="1">
                <a:solidFill>
                  <a:schemeClr val="bg1"/>
                </a:solidFill>
              </a:rPr>
              <a:t>operación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controlada</a:t>
            </a:r>
            <a:r>
              <a:rPr lang="en-US" sz="1200" dirty="0">
                <a:solidFill>
                  <a:schemeClr val="bg1"/>
                </a:solidFill>
              </a:rPr>
              <a:t>”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/>
          <p:nvPr/>
        </p:nvSpPr>
        <p:spPr>
          <a:xfrm>
            <a:off x="0" y="0"/>
            <a:ext cx="3866667" cy="6858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5"/>
          <p:cNvSpPr/>
          <p:nvPr/>
        </p:nvSpPr>
        <p:spPr>
          <a:xfrm>
            <a:off x="240000" y="266667"/>
            <a:ext cx="3413333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07  PROCESOS CRÍTICOS + IA</a:t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>
            <a:off x="240000" y="600000"/>
            <a:ext cx="3413333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us Jakarta Sans ExtraBold"/>
              <a:buNone/>
            </a:pPr>
            <a:r>
              <a:rPr lang="es-CL" sz="20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Procesos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us Jakarta Sans ExtraBold"/>
              <a:buNone/>
            </a:pPr>
            <a:r>
              <a:rPr lang="es-CL" sz="20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Críticos 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2000"/>
              <a:buFont typeface="Plus Jakarta Sans ExtraBold"/>
              <a:buNone/>
            </a:pPr>
            <a:r>
              <a:rPr lang="es-CL" sz="2000" b="1" i="0" u="none" strike="noStrike" cap="none">
                <a:solidFill>
                  <a:srgbClr val="00A8C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Iniciativas IA</a:t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>
            <a:off x="240000" y="1933333"/>
            <a:ext cx="3413333" cy="533333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IA no mejora el proceso.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DM Sans"/>
              <a:buNone/>
            </a:pPr>
            <a:r>
              <a:rPr lang="es-CL" sz="10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Lo rediseña. De reactivo a predictivo.</a:t>
            </a:r>
            <a:endParaRPr dirty="0"/>
          </a:p>
        </p:txBody>
      </p:sp>
      <p:sp>
        <p:nvSpPr>
          <p:cNvPr id="246" name="Google Shape;246;p35"/>
          <p:cNvSpPr/>
          <p:nvPr/>
        </p:nvSpPr>
        <p:spPr>
          <a:xfrm>
            <a:off x="240000" y="2600000"/>
            <a:ext cx="3413333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1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Dato Maestro:</a:t>
            </a:r>
            <a:endParaRPr dirty="0"/>
          </a:p>
        </p:txBody>
      </p:sp>
      <p:sp>
        <p:nvSpPr>
          <p:cNvPr id="247" name="Google Shape;247;p35"/>
          <p:cNvSpPr/>
          <p:nvPr/>
        </p:nvSpPr>
        <p:spPr>
          <a:xfrm>
            <a:off x="240000" y="2933333"/>
            <a:ext cx="3413333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Security </a:t>
            </a:r>
            <a:r>
              <a:rPr lang="es-CL" sz="900" b="0" i="0" u="none" strike="noStrike" cap="none" dirty="0" err="1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Posture</a:t>
            </a: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CL" sz="900" b="0" i="0" u="none" strike="noStrike" cap="none" dirty="0" err="1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Intelligence</a:t>
            </a: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 — postura de seguridad acumulada por cliente, industria y país LATAM.</a:t>
            </a:r>
            <a:endParaRPr dirty="0"/>
          </a:p>
        </p:txBody>
      </p:sp>
      <p:sp>
        <p:nvSpPr>
          <p:cNvPr id="248" name="Google Shape;248;p35"/>
          <p:cNvSpPr/>
          <p:nvPr/>
        </p:nvSpPr>
        <p:spPr>
          <a:xfrm>
            <a:off x="240000" y="3706667"/>
            <a:ext cx="3413333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Impacto esperado:</a:t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240000" y="4053333"/>
            <a:ext cx="3413333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+15–20% leads calificados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CAC reducido 3x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Ciclo de venta: 30 → 10 días</a:t>
            </a:r>
            <a:endParaRPr dirty="0"/>
          </a:p>
        </p:txBody>
      </p:sp>
      <p:sp>
        <p:nvSpPr>
          <p:cNvPr id="250" name="Google Shape;250;p35"/>
          <p:cNvSpPr/>
          <p:nvPr/>
        </p:nvSpPr>
        <p:spPr>
          <a:xfrm>
            <a:off x="4133333" y="266667"/>
            <a:ext cx="76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Iniciativas por Palanca de Valor</a:t>
            </a:r>
            <a:endParaRPr/>
          </a:p>
        </p:txBody>
      </p:sp>
      <p:sp>
        <p:nvSpPr>
          <p:cNvPr id="251" name="Google Shape;251;p35"/>
          <p:cNvSpPr/>
          <p:nvPr/>
        </p:nvSpPr>
        <p:spPr>
          <a:xfrm>
            <a:off x="4133333" y="600000"/>
            <a:ext cx="7600000" cy="37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60950" rIns="243825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Lead Scoring Predictivo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800"/>
              <a:buFont typeface="DM Sans"/>
              <a:buNone/>
            </a:pPr>
            <a:r>
              <a:rPr lang="es-CL" sz="800" b="0" i="0" u="none" strike="noStrike" cap="none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→ ALCANZAR + ADQUIRIR</a:t>
            </a:r>
            <a:endParaRPr/>
          </a:p>
        </p:txBody>
      </p:sp>
      <p:sp>
        <p:nvSpPr>
          <p:cNvPr id="252" name="Google Shape;252;p35"/>
          <p:cNvSpPr/>
          <p:nvPr/>
        </p:nvSpPr>
        <p:spPr>
          <a:xfrm>
            <a:off x="4133333" y="986667"/>
            <a:ext cx="7600000" cy="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Agente IA monitorea señales públicas  para identificar empresas con alta probabilidad de riesgo — antes de que ellas busquen.</a:t>
            </a:r>
            <a:endParaRPr dirty="0"/>
          </a:p>
        </p:txBody>
      </p:sp>
      <p:sp>
        <p:nvSpPr>
          <p:cNvPr id="253" name="Google Shape;253;p35"/>
          <p:cNvSpPr/>
          <p:nvPr/>
        </p:nvSpPr>
        <p:spPr>
          <a:xfrm>
            <a:off x="4133333" y="1933333"/>
            <a:ext cx="7600000" cy="37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60950" rIns="243825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Diagnóstico Gratuito Automatizado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800"/>
              <a:buFont typeface="DM Sans"/>
              <a:buNone/>
            </a:pPr>
            <a:r>
              <a:rPr lang="es-CL" sz="800" b="0" i="0" u="none" strike="noStrike" cap="none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→ ADQUIRIR + CONVERTIR</a:t>
            </a:r>
            <a:endParaRPr/>
          </a:p>
        </p:txBody>
      </p:sp>
      <p:sp>
        <p:nvSpPr>
          <p:cNvPr id="254" name="Google Shape;254;p35"/>
          <p:cNvSpPr/>
          <p:nvPr/>
        </p:nvSpPr>
        <p:spPr>
          <a:xfrm>
            <a:off x="4133333" y="2320000"/>
            <a:ext cx="7600000" cy="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Pre-assessment</a:t>
            </a: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de postura </a:t>
            </a:r>
            <a:r>
              <a:rPr lang="es-CL" sz="90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en minutos. El cliente recibe valor inmediato → </a:t>
            </a:r>
            <a:r>
              <a:rPr lang="es-CL" sz="90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Anepsis</a:t>
            </a: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captura el lead con alta intención de compra.</a:t>
            </a:r>
            <a:endParaRPr dirty="0"/>
          </a:p>
        </p:txBody>
      </p:sp>
      <p:sp>
        <p:nvSpPr>
          <p:cNvPr id="255" name="Google Shape;255;p35"/>
          <p:cNvSpPr/>
          <p:nvPr/>
        </p:nvSpPr>
        <p:spPr>
          <a:xfrm>
            <a:off x="4133333" y="3266667"/>
            <a:ext cx="7600000" cy="37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60950" rIns="243825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Propuesta y ROI Generados por IA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800"/>
              <a:buFont typeface="DM Sans"/>
              <a:buNone/>
            </a:pPr>
            <a:r>
              <a:rPr lang="es-CL" sz="800" b="0" i="0" u="none" strike="noStrike" cap="none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→ CONVERTIR + DESARROLLAR</a:t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4133333" y="3653333"/>
            <a:ext cx="7600000" cy="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Propuesta técnica en &lt;24 hrs. ROI automático. Ciclo de venta: 30 días → 10 días (caso TELCO).</a:t>
            </a:r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4133333" y="4600000"/>
            <a:ext cx="7600000" cy="37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60950" rIns="243825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Copilot para CISO + Monitoreo 3R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800"/>
              <a:buFont typeface="DM Sans"/>
              <a:buNone/>
            </a:pPr>
            <a:r>
              <a:rPr lang="es-CL" sz="800" b="0" i="0" u="none" strike="noStrike" cap="none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→ SERVIR + RETENER</a:t>
            </a:r>
            <a:endParaRPr/>
          </a:p>
        </p:txBody>
      </p:sp>
      <p:sp>
        <p:nvSpPr>
          <p:cNvPr id="258" name="Google Shape;258;p35"/>
          <p:cNvSpPr/>
          <p:nvPr/>
        </p:nvSpPr>
        <p:spPr>
          <a:xfrm>
            <a:off x="4133333" y="4986667"/>
            <a:ext cx="7600000" cy="90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Metodología automática. AI </a:t>
            </a:r>
            <a:r>
              <a:rPr lang="es-CL" sz="90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Copilot</a:t>
            </a: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traduce alertas técnicas a lenguaje ejecutivo para el directorio en tiempo real.</a:t>
            </a:r>
            <a:endParaRPr dirty="0"/>
          </a:p>
        </p:txBody>
      </p:sp>
      <p:sp>
        <p:nvSpPr>
          <p:cNvPr id="259" name="Google Shape;259;p35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08  DATO MAESTRO + DATA FLYWHEEL</a:t>
            </a:r>
            <a:endParaRPr/>
          </a:p>
        </p:txBody>
      </p:sp>
      <p:sp>
        <p:nvSpPr>
          <p:cNvPr id="266" name="Google Shape;266;p36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Estrategia de Datos</a:t>
            </a:r>
            <a:endParaRPr/>
          </a:p>
        </p:txBody>
      </p:sp>
      <p:sp>
        <p:nvSpPr>
          <p:cNvPr id="267" name="Google Shape;267;p36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609600" y="1266667"/>
            <a:ext cx="1097088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1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El dato maestro es la postura de seguridad de cada cliente. Cada interacción lo hace más valioso para todos.</a:t>
            </a: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609600" y="1586667"/>
            <a:ext cx="5466667" cy="38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DATO MAESTRO  —  Security Posture Intelligence</a:t>
            </a:r>
            <a:endParaRPr/>
          </a:p>
        </p:txBody>
      </p:sp>
      <p:sp>
        <p:nvSpPr>
          <p:cNvPr id="270" name="Google Shape;270;p36"/>
          <p:cNvSpPr/>
          <p:nvPr/>
        </p:nvSpPr>
        <p:spPr>
          <a:xfrm>
            <a:off x="609600" y="1986667"/>
            <a:ext cx="5466667" cy="11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Qué capturamos con cada cliente :</a:t>
            </a:r>
            <a:r>
              <a:rPr lang="es-CL" sz="10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SEÑALES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▸  Brechas CCM por industria y tamaño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▸  Riesgos IA (TAISE):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hallucinations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leakage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, adversarial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▸  Adopción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vs. madurez seguridad por país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▸ 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Benchmarks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de postura vs. industria y mercado</a:t>
            </a:r>
            <a:endParaRPr dirty="0"/>
          </a:p>
        </p:txBody>
      </p:sp>
      <p:sp>
        <p:nvSpPr>
          <p:cNvPr id="271" name="Google Shape;271;p36"/>
          <p:cNvSpPr/>
          <p:nvPr/>
        </p:nvSpPr>
        <p:spPr>
          <a:xfrm>
            <a:off x="609600" y="3240000"/>
            <a:ext cx="5466667" cy="386667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FLYWHEEL — El ciclo virtuoso</a:t>
            </a:r>
            <a:endParaRPr/>
          </a:p>
        </p:txBody>
      </p:sp>
      <p:sp>
        <p:nvSpPr>
          <p:cNvPr id="272" name="Google Shape;272;p36"/>
          <p:cNvSpPr/>
          <p:nvPr/>
        </p:nvSpPr>
        <p:spPr>
          <a:xfrm>
            <a:off x="609600" y="3640000"/>
            <a:ext cx="5466667" cy="106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A8A"/>
              </a:buClr>
              <a:buSzPts val="1100"/>
              <a:buFont typeface="DM Sans"/>
              <a:buNone/>
            </a:pPr>
            <a:r>
              <a:rPr lang="es-CL" sz="1100" b="1" i="0" u="none" strike="noStrike" cap="none" dirty="0">
                <a:solidFill>
                  <a:srgbClr val="4A6A8A"/>
                </a:solidFill>
                <a:latin typeface="DM Sans"/>
                <a:ea typeface="DM Sans"/>
                <a:cs typeface="DM Sans"/>
                <a:sym typeface="DM Sans"/>
              </a:rPr>
              <a:t>Más Clientes → Más Datos → Mejores Modelos → Mejor Servicio → Más Clientes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Modelos 3R + TAISE más precisos, menos falsos positivos, detecciones más rápidas.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Como Giuseppe (</a:t>
            </a:r>
            <a:r>
              <a:rPr lang="es-CL" sz="900" b="0" i="1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NotCo</a:t>
            </a:r>
            <a:r>
              <a:rPr lang="es-CL" sz="90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): escala sin proporcionalidad de recursos.</a:t>
            </a:r>
            <a:endParaRPr dirty="0"/>
          </a:p>
        </p:txBody>
      </p:sp>
      <p:sp>
        <p:nvSpPr>
          <p:cNvPr id="273" name="Google Shape;273;p36"/>
          <p:cNvSpPr/>
          <p:nvPr/>
        </p:nvSpPr>
        <p:spPr>
          <a:xfrm>
            <a:off x="6293333" y="1586667"/>
            <a:ext cx="5293333" cy="386667"/>
          </a:xfrm>
          <a:prstGeom prst="rect">
            <a:avLst/>
          </a:prstGeom>
          <a:solidFill>
            <a:srgbClr val="00697C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FOSO DE DATOS — Por qué nadie puede imitarnos</a:t>
            </a:r>
            <a:endParaRPr/>
          </a:p>
        </p:txBody>
      </p:sp>
      <p:sp>
        <p:nvSpPr>
          <p:cNvPr id="274" name="Google Shape;274;p36"/>
          <p:cNvSpPr/>
          <p:nvPr/>
        </p:nvSpPr>
        <p:spPr>
          <a:xfrm>
            <a:off x="6293333" y="1986667"/>
            <a:ext cx="5293333" cy="272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Dato único: SEÑALES TAISE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Arial" panose="020B0604020202020204" pitchFamily="34" charset="0"/>
              <a:buChar char="•"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Cada evaluación TAISE es un activo exclusivo e irrepetible.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Acumulación asimétrica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Arial" panose="020B0604020202020204" pitchFamily="34" charset="0"/>
              <a:buChar char="•"/>
            </a:pPr>
            <a:r>
              <a:rPr lang="es-CL" sz="880" dirty="0">
                <a:solidFill>
                  <a:srgbClr val="323F50"/>
                </a:solidFill>
                <a:latin typeface="DM Sans"/>
                <a:sym typeface="DM Sans"/>
              </a:rPr>
              <a:t>Cada Evaluación es única.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Retroalimentación continua</a:t>
            </a:r>
            <a:endParaRPr dirty="0"/>
          </a:p>
          <a:p>
            <a:pPr marL="171450" lvl="0" indent="-171450">
              <a:buClr>
                <a:srgbClr val="323F50"/>
              </a:buClr>
              <a:buSzPts val="880"/>
              <a:buFont typeface="Arial" panose="020B0604020202020204" pitchFamily="34" charset="0"/>
              <a:buChar char="•"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Cada </a:t>
            </a:r>
            <a:r>
              <a:rPr lang="es-CL" sz="880" dirty="0">
                <a:solidFill>
                  <a:srgbClr val="323F50"/>
                </a:solidFill>
                <a:latin typeface="DM Sans"/>
                <a:sym typeface="DM Sans"/>
              </a:rPr>
              <a:t>Evaluación e incidentes 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retroalimenta el modelo. La ventaja crece con cada cliente nuevo.</a:t>
            </a:r>
            <a:endParaRPr dirty="0"/>
          </a:p>
        </p:txBody>
      </p:sp>
      <p:sp>
        <p:nvSpPr>
          <p:cNvPr id="275" name="Google Shape;275;p36"/>
          <p:cNvSpPr/>
          <p:nvPr/>
        </p:nvSpPr>
        <p:spPr>
          <a:xfrm>
            <a:off x="609600" y="4800000"/>
            <a:ext cx="10970880" cy="37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0" i="1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Tesis: </a:t>
            </a:r>
            <a:r>
              <a:rPr lang="es-CL" sz="1000" b="0" i="1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Anepsis</a:t>
            </a:r>
            <a:r>
              <a:rPr lang="es-CL" sz="1000" b="0" i="1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 vende </a:t>
            </a:r>
            <a:r>
              <a:rPr lang="es-CL" sz="1000" b="0" i="1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assessments</a:t>
            </a:r>
            <a:r>
              <a:rPr lang="es-CL" sz="1000" b="0" i="1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Vende acceso a inteligencia acumulada que se vuelve más valiosa con cada cliente.</a:t>
            </a:r>
            <a:endParaRPr dirty="0"/>
          </a:p>
        </p:txBody>
      </p:sp>
      <p:sp>
        <p:nvSpPr>
          <p:cNvPr id="276" name="Google Shape;276;p36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09  FOSO DE DATOS (DATA MOAT)</a:t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900"/>
              <a:buFont typeface="Plus Jakarta Sans ExtraBold"/>
              <a:buNone/>
            </a:pPr>
            <a:r>
              <a:rPr lang="es-CL" sz="19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Foso de Datos — Por qué la Competencia No Puede Copiar</a:t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609600" y="1266667"/>
            <a:ext cx="1097088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1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La ventaja de Anepsis no es la tecnología (eso se compra). Es la inteligencia acumulada propietaria en seguridad LATAM.</a:t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609600" y="1586667"/>
            <a:ext cx="3504000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Datos Propietarios de LATAM</a:t>
            </a:r>
            <a:endParaRPr dirty="0"/>
          </a:p>
        </p:txBody>
      </p:sp>
      <p:sp>
        <p:nvSpPr>
          <p:cNvPr id="287" name="Google Shape;287;p37"/>
          <p:cNvSpPr/>
          <p:nvPr/>
        </p:nvSpPr>
        <p:spPr>
          <a:xfrm>
            <a:off x="609600" y="2013333"/>
            <a:ext cx="3504000" cy="29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100+ assessments reales en Chile, Colombia, Perú y México. Ninguna consultora tiene esta base regional. La barrera es temporal: solo los años de ejecución construyen este activo.</a:t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>
            <a:off x="4235520" y="1586667"/>
            <a:ext cx="3504000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TAISE — Único en la Región</a:t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4235520" y="2013333"/>
            <a:ext cx="3504000" cy="29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Evaluación estructurada de riesgo de sistemas IA. Metodología propia. No existe otro proveedor con esto en LATAM. Capital y marca no lo reemplazan; solo </a:t>
            </a:r>
            <a:r>
              <a:rPr lang="es-CL" sz="95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deep</a:t>
            </a: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CL" sz="95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expertise</a:t>
            </a: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90" name="Google Shape;290;p37"/>
          <p:cNvSpPr/>
          <p:nvPr/>
        </p:nvSpPr>
        <p:spPr>
          <a:xfrm>
            <a:off x="7861440" y="1586667"/>
            <a:ext cx="3504000" cy="41333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Benchmark de Industria Vivo</a:t>
            </a:r>
            <a:endParaRPr/>
          </a:p>
        </p:txBody>
      </p:sp>
      <p:sp>
        <p:nvSpPr>
          <p:cNvPr id="291" name="Google Shape;291;p37"/>
          <p:cNvSpPr/>
          <p:nvPr/>
        </p:nvSpPr>
        <p:spPr>
          <a:xfrm>
            <a:off x="7861440" y="2013333"/>
            <a:ext cx="3504000" cy="29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Cada cliente ve su postura vs. promedio sectorial. El valor crece con la red. Genera urgencia orgánica de mejora continua y reduce drásticamente el churn.</a:t>
            </a:r>
            <a:endParaRPr/>
          </a:p>
        </p:txBody>
      </p:sp>
      <p:sp>
        <p:nvSpPr>
          <p:cNvPr id="292" name="Google Shape;292;p37"/>
          <p:cNvSpPr/>
          <p:nvPr/>
        </p:nvSpPr>
        <p:spPr>
          <a:xfrm>
            <a:off x="609600" y="5040000"/>
            <a:ext cx="10755840" cy="480000"/>
          </a:xfrm>
          <a:prstGeom prst="rect">
            <a:avLst/>
          </a:prstGeom>
          <a:solidFill>
            <a:srgbClr val="EFEBEA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1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La competencia puede copiar la tecnología. No puede copiar 100+ assessments reales, el modelo entrenado en incidentes LATAM, ni el TAISE en años de iteración. Eso es el foso.</a:t>
            </a:r>
            <a:endParaRPr/>
          </a:p>
        </p:txBody>
      </p:sp>
      <p:sp>
        <p:nvSpPr>
          <p:cNvPr id="293" name="Google Shape;293;p37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10  IMPACTO FINANCIERO Y KPIs</a:t>
            </a:r>
            <a:endParaRPr/>
          </a:p>
        </p:txBody>
      </p:sp>
      <p:sp>
        <p:nvSpPr>
          <p:cNvPr id="300" name="Google Shape;300;p38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Impacto Financiero y KPIs</a:t>
            </a:r>
            <a:endParaRPr/>
          </a:p>
        </p:txBody>
      </p:sp>
      <p:sp>
        <p:nvSpPr>
          <p:cNvPr id="301" name="Google Shape;301;p38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609600" y="1413333"/>
            <a:ext cx="1097088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lang="es-CL" sz="10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ESCENARIO CONSERVADOR  vs.  POTENCIAL — supuestos argumentados</a:t>
            </a:r>
            <a:endParaRPr/>
          </a:p>
        </p:txBody>
      </p:sp>
      <p:sp>
        <p:nvSpPr>
          <p:cNvPr id="303" name="Google Shape;303;p38"/>
          <p:cNvSpPr/>
          <p:nvPr/>
        </p:nvSpPr>
        <p:spPr>
          <a:xfrm>
            <a:off x="609600" y="1813333"/>
            <a:ext cx="5226667" cy="16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609600" y="1813333"/>
            <a:ext cx="5226667" cy="346667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Escenario Conservador</a:t>
            </a:r>
            <a:endParaRPr/>
          </a:p>
        </p:txBody>
      </p:sp>
      <p:sp>
        <p:nvSpPr>
          <p:cNvPr id="305" name="Google Shape;305;p38"/>
          <p:cNvSpPr/>
          <p:nvPr/>
        </p:nvSpPr>
        <p:spPr>
          <a:xfrm>
            <a:off x="609600" y="2200000"/>
            <a:ext cx="5226667" cy="11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10 clientes nuevos / año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Ticket promedio: US$ 80K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Renovación: 70% de la base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Supuesto: 2 comerciales + plataforma SaaS escalando</a:t>
            </a: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609600" y="3466667"/>
            <a:ext cx="5226667" cy="60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 ExtraBold"/>
              <a:buNone/>
            </a:pPr>
            <a:r>
              <a:rPr lang="es-CL" sz="32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US$ 3.2M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ARR año 3</a:t>
            </a:r>
            <a:endParaRPr dirty="0"/>
          </a:p>
        </p:txBody>
      </p:sp>
      <p:sp>
        <p:nvSpPr>
          <p:cNvPr id="307" name="Google Shape;307;p38"/>
          <p:cNvSpPr/>
          <p:nvPr/>
        </p:nvSpPr>
        <p:spPr>
          <a:xfrm>
            <a:off x="6186667" y="1813333"/>
            <a:ext cx="5280000" cy="16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6186667" y="1813333"/>
            <a:ext cx="5280000" cy="346667"/>
          </a:xfrm>
          <a:prstGeom prst="rect">
            <a:avLst/>
          </a:prstGeom>
          <a:solidFill>
            <a:srgbClr val="00697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Escenario Potencial</a:t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6186667" y="2200000"/>
            <a:ext cx="5280000" cy="117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25 clientes / año en año 3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Upsell</a:t>
            </a: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TAISE promedio +40%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Expansión Colombia + Perú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Modelo de royalties por inteligencia acumulada</a:t>
            </a:r>
            <a:endParaRPr dirty="0"/>
          </a:p>
        </p:txBody>
      </p:sp>
      <p:sp>
        <p:nvSpPr>
          <p:cNvPr id="310" name="Google Shape;310;p38"/>
          <p:cNvSpPr/>
          <p:nvPr/>
        </p:nvSpPr>
        <p:spPr>
          <a:xfrm>
            <a:off x="6186667" y="3466667"/>
            <a:ext cx="5280000" cy="600000"/>
          </a:xfrm>
          <a:prstGeom prst="rect">
            <a:avLst/>
          </a:prstGeom>
          <a:solidFill>
            <a:srgbClr val="00697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 ExtraBold"/>
              <a:buNone/>
            </a:pPr>
            <a:r>
              <a:rPr lang="es-CL" sz="32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US$ 8M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ARR año 3</a:t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609600" y="4213333"/>
            <a:ext cx="3504000" cy="114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3400"/>
              <a:buFont typeface="Plus Jakarta Sans ExtraBold"/>
              <a:buNone/>
            </a:pPr>
            <a:r>
              <a:rPr lang="es-CL" sz="3400" b="1" i="0" u="none" strike="noStrike" cap="none">
                <a:solidFill>
                  <a:srgbClr val="00A8C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5:1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Ratio LTV : CAC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ciclo vida 36m / supuesto TELCO</a:t>
            </a:r>
            <a:endParaRPr/>
          </a:p>
        </p:txBody>
      </p:sp>
      <p:sp>
        <p:nvSpPr>
          <p:cNvPr id="312" name="Google Shape;312;p38"/>
          <p:cNvSpPr/>
          <p:nvPr/>
        </p:nvSpPr>
        <p:spPr>
          <a:xfrm>
            <a:off x="4266667" y="4213333"/>
            <a:ext cx="3504000" cy="1146667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us Jakarta Sans ExtraBold"/>
              <a:buNone/>
            </a:pPr>
            <a:r>
              <a:rPr lang="es-CL" sz="34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&lt;10%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Churn objetivo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vs. 25% mercado tradicional</a:t>
            </a:r>
            <a:endParaRPr/>
          </a:p>
        </p:txBody>
      </p:sp>
      <p:sp>
        <p:nvSpPr>
          <p:cNvPr id="313" name="Google Shape;313;p38"/>
          <p:cNvSpPr/>
          <p:nvPr/>
        </p:nvSpPr>
        <p:spPr>
          <a:xfrm>
            <a:off x="7933333" y="4213333"/>
            <a:ext cx="3653333" cy="1146667"/>
          </a:xfrm>
          <a:prstGeom prst="rect">
            <a:avLst/>
          </a:prstGeom>
          <a:solidFill>
            <a:srgbClr val="5A7A8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us Jakarta Sans ExtraBold"/>
              <a:buNone/>
            </a:pPr>
            <a:r>
              <a:rPr lang="es-CL" sz="34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-67%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950"/>
              <a:buFont typeface="DM Sans"/>
              <a:buNone/>
            </a:pPr>
            <a:r>
              <a:rPr lang="es-CL" sz="95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Reducción del CAC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850"/>
              <a:buFont typeface="DM Sans"/>
              <a:buNone/>
            </a:pPr>
            <a:r>
              <a:rPr lang="es-CL" sz="850" b="0" i="0" u="none" strike="noStrike" cap="none" dirty="0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vs. modelo tradicional de adquisición</a:t>
            </a:r>
            <a:endParaRPr dirty="0"/>
          </a:p>
        </p:txBody>
      </p:sp>
      <p:sp>
        <p:nvSpPr>
          <p:cNvPr id="314" name="Google Shape;314;p38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50"/>
              <a:buFont typeface="DM Sans"/>
              <a:buNone/>
            </a:pPr>
            <a:r>
              <a:rPr lang="es-CL" sz="8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11  GOBERNANZA Y GESTIÓN DEL CAMBIO</a:t>
            </a:r>
            <a:endParaRPr/>
          </a:p>
        </p:txBody>
      </p:sp>
      <p:sp>
        <p:nvSpPr>
          <p:cNvPr id="321" name="Google Shape;321;p39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400"/>
              <a:buFont typeface="Plus Jakarta Sans ExtraBold"/>
              <a:buNone/>
            </a:pPr>
            <a:r>
              <a:rPr lang="es-CL" sz="24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Gobernanza y Gestión del Cambio</a:t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609600" y="1413333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Dueño del Proyecto</a:t>
            </a:r>
            <a:endParaRPr/>
          </a:p>
        </p:txBody>
      </p:sp>
      <p:sp>
        <p:nvSpPr>
          <p:cNvPr id="324" name="Google Shape;324;p39"/>
          <p:cNvSpPr/>
          <p:nvPr/>
        </p:nvSpPr>
        <p:spPr>
          <a:xfrm>
            <a:off x="609600" y="1786667"/>
            <a:ext cx="3504000" cy="360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 ExtraBold"/>
              <a:buNone/>
            </a:pPr>
            <a:r>
              <a:rPr lang="es-CL" sz="13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CTO / CDO del cliente</a:t>
            </a:r>
            <a:endParaRPr dirty="0"/>
          </a:p>
        </p:txBody>
      </p:sp>
      <p:sp>
        <p:nvSpPr>
          <p:cNvPr id="325" name="Google Shape;325;p39"/>
          <p:cNvSpPr/>
          <p:nvPr/>
        </p:nvSpPr>
        <p:spPr>
          <a:xfrm>
            <a:off x="609600" y="2160000"/>
            <a:ext cx="3504000" cy="7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Responsable de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roadmap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de adopción y </a:t>
            </a:r>
            <a:r>
              <a:rPr lang="es-CL" sz="880" b="0" i="0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KPIs</a:t>
            </a:r>
            <a:r>
              <a:rPr lang="es-CL" sz="88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de seguridad. Reporta al Directorio trimestralmente.</a:t>
            </a:r>
            <a:endParaRPr dirty="0"/>
          </a:p>
        </p:txBody>
      </p:sp>
      <p:sp>
        <p:nvSpPr>
          <p:cNvPr id="326" name="Google Shape;326;p39"/>
          <p:cNvSpPr/>
          <p:nvPr/>
        </p:nvSpPr>
        <p:spPr>
          <a:xfrm>
            <a:off x="4235520" y="1413333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Sponsor Ejecutivo</a:t>
            </a:r>
            <a:endParaRPr/>
          </a:p>
        </p:txBody>
      </p:sp>
      <p:sp>
        <p:nvSpPr>
          <p:cNvPr id="327" name="Google Shape;327;p39"/>
          <p:cNvSpPr/>
          <p:nvPr/>
        </p:nvSpPr>
        <p:spPr>
          <a:xfrm>
            <a:off x="4235520" y="1786667"/>
            <a:ext cx="3504000" cy="360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 ExtraBold"/>
              <a:buNone/>
            </a:pPr>
            <a:r>
              <a:rPr lang="es-CL" sz="13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CEO / CISO</a:t>
            </a:r>
            <a:endParaRPr dirty="0"/>
          </a:p>
        </p:txBody>
      </p:sp>
      <p:sp>
        <p:nvSpPr>
          <p:cNvPr id="328" name="Google Shape;328;p39"/>
          <p:cNvSpPr/>
          <p:nvPr/>
        </p:nvSpPr>
        <p:spPr>
          <a:xfrm>
            <a:off x="4235520" y="2160000"/>
            <a:ext cx="3504000" cy="7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Valida presupuesto, elimina fricciones organizacionales y comunica urgencia estratégica al equipo.</a:t>
            </a:r>
            <a:endParaRPr/>
          </a:p>
        </p:txBody>
      </p:sp>
      <p:sp>
        <p:nvSpPr>
          <p:cNvPr id="329" name="Google Shape;329;p39"/>
          <p:cNvSpPr/>
          <p:nvPr/>
        </p:nvSpPr>
        <p:spPr>
          <a:xfrm>
            <a:off x="7861440" y="1413333"/>
            <a:ext cx="3504000" cy="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Plan de Reskilling</a:t>
            </a:r>
            <a:endParaRPr/>
          </a:p>
        </p:txBody>
      </p:sp>
      <p:sp>
        <p:nvSpPr>
          <p:cNvPr id="330" name="Google Shape;330;p39"/>
          <p:cNvSpPr/>
          <p:nvPr/>
        </p:nvSpPr>
        <p:spPr>
          <a:xfrm>
            <a:off x="7861440" y="1786667"/>
            <a:ext cx="3504000" cy="360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 ExtraBold"/>
              <a:buNone/>
            </a:pPr>
            <a:r>
              <a:rPr lang="es-CL" sz="13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Equipos IT + Seguridad</a:t>
            </a:r>
            <a:endParaRPr/>
          </a:p>
        </p:txBody>
      </p:sp>
      <p:sp>
        <p:nvSpPr>
          <p:cNvPr id="331" name="Google Shape;331;p39"/>
          <p:cNvSpPr/>
          <p:nvPr/>
        </p:nvSpPr>
        <p:spPr>
          <a:xfrm>
            <a:off x="7861440" y="2160000"/>
            <a:ext cx="3504000" cy="733333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880"/>
              <a:buFont typeface="DM Sans"/>
              <a:buNone/>
            </a:pPr>
            <a:r>
              <a:rPr lang="es-CL" sz="880" b="0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Certificación CSA CCSK + módulo TAISE en 90 días. Anepsis provee capacitación continua incluida en suscripción.</a:t>
            </a:r>
            <a:endParaRPr/>
          </a:p>
        </p:txBody>
      </p:sp>
      <p:sp>
        <p:nvSpPr>
          <p:cNvPr id="332" name="Google Shape;332;p39"/>
          <p:cNvSpPr/>
          <p:nvPr/>
        </p:nvSpPr>
        <p:spPr>
          <a:xfrm>
            <a:off x="609600" y="3120000"/>
            <a:ext cx="10755840" cy="34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lang="es-CL" sz="10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RUTA DE ADOPCIÓN — 3 Fases</a:t>
            </a:r>
            <a:endParaRPr/>
          </a:p>
        </p:txBody>
      </p:sp>
      <p:sp>
        <p:nvSpPr>
          <p:cNvPr id="333" name="Google Shape;333;p39"/>
          <p:cNvSpPr/>
          <p:nvPr/>
        </p:nvSpPr>
        <p:spPr>
          <a:xfrm>
            <a:off x="609600" y="3546667"/>
            <a:ext cx="3656000" cy="1360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Mes 1–2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 ExtraBold"/>
              <a:buNone/>
            </a:pPr>
            <a:r>
              <a:rPr lang="es-CL" sz="14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Diagnóstico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880"/>
              <a:buFont typeface="DM Sans"/>
              <a:buNone/>
            </a:pPr>
            <a:r>
              <a:rPr lang="es-CL" sz="880" b="0" i="0" u="none" strike="noStrike" cap="none" dirty="0" err="1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Assessment</a:t>
            </a:r>
            <a:r>
              <a:rPr lang="es-CL" sz="88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 inicial + </a:t>
            </a:r>
            <a:r>
              <a:rPr lang="es-CL" sz="880" b="0" i="0" u="none" strike="noStrike" cap="none" dirty="0" err="1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benchmark</a:t>
            </a:r>
            <a:r>
              <a:rPr lang="es-CL" sz="88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 + </a:t>
            </a:r>
            <a:r>
              <a:rPr lang="es-CL" sz="880" b="0" i="0" u="none" strike="noStrike" cap="none" dirty="0" err="1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onboarding</a:t>
            </a:r>
            <a:r>
              <a:rPr lang="es-CL" sz="88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 plataforma</a:t>
            </a:r>
            <a:endParaRPr dirty="0"/>
          </a:p>
        </p:txBody>
      </p:sp>
      <p:sp>
        <p:nvSpPr>
          <p:cNvPr id="334" name="Google Shape;334;p39"/>
          <p:cNvSpPr/>
          <p:nvPr/>
        </p:nvSpPr>
        <p:spPr>
          <a:xfrm>
            <a:off x="4387520" y="3546667"/>
            <a:ext cx="3656000" cy="13600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Mes 3–6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 ExtraBold"/>
              <a:buNone/>
            </a:pPr>
            <a:r>
              <a:rPr lang="es-CL" sz="14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Activación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880"/>
              <a:buFont typeface="DM Sans"/>
              <a:buNone/>
            </a:pPr>
            <a:r>
              <a:rPr lang="es-CL" sz="880" b="0" i="0" u="none" strike="noStrike" cap="none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Monitoreo 24/7 activo + reskilling equipos + TAISE primer ciclo</a:t>
            </a:r>
            <a:endParaRPr/>
          </a:p>
        </p:txBody>
      </p:sp>
      <p:sp>
        <p:nvSpPr>
          <p:cNvPr id="335" name="Google Shape;335;p39"/>
          <p:cNvSpPr/>
          <p:nvPr/>
        </p:nvSpPr>
        <p:spPr>
          <a:xfrm>
            <a:off x="8165440" y="3546667"/>
            <a:ext cx="3200000" cy="136000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Mes 7–12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 ExtraBold"/>
              <a:buNone/>
            </a:pPr>
            <a:r>
              <a:rPr lang="es-CL" sz="1400" b="1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Escala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D0E0"/>
              </a:buClr>
              <a:buSzPts val="880"/>
              <a:buFont typeface="DM Sans"/>
              <a:buNone/>
            </a:pPr>
            <a:r>
              <a:rPr lang="es-CL" sz="88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Renovación + </a:t>
            </a:r>
            <a:r>
              <a:rPr lang="es-CL" sz="880" b="0" i="0" u="none" strike="noStrike" cap="none" dirty="0" err="1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upsell</a:t>
            </a:r>
            <a:r>
              <a:rPr lang="es-CL" sz="880" b="0" i="0" u="none" strike="noStrike" cap="none" dirty="0">
                <a:solidFill>
                  <a:srgbClr val="C0D0E0"/>
                </a:solidFill>
                <a:latin typeface="DM Sans"/>
                <a:ea typeface="DM Sans"/>
                <a:cs typeface="DM Sans"/>
                <a:sym typeface="DM Sans"/>
              </a:rPr>
              <a:t> TAISE + expansión a otras áreas del negocio</a:t>
            </a:r>
            <a:endParaRPr dirty="0"/>
          </a:p>
        </p:txBody>
      </p:sp>
      <p:sp>
        <p:nvSpPr>
          <p:cNvPr id="336" name="Google Shape;336;p39"/>
          <p:cNvSpPr/>
          <p:nvPr/>
        </p:nvSpPr>
        <p:spPr>
          <a:xfrm>
            <a:off x="609599" y="5000000"/>
            <a:ext cx="10755839" cy="56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Métricas de éxito: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Adopción y Uso de plataforma &gt;80% equipos en mes 6  ·  NPS interno &gt;50  ·  Reducción tiempo respuesta a incidentes -60%  ·  brechas críticas no detectadas</a:t>
            </a:r>
            <a:endParaRPr dirty="0"/>
          </a:p>
        </p:txBody>
      </p:sp>
      <p:sp>
        <p:nvSpPr>
          <p:cNvPr id="337" name="Google Shape;337;p39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609600" y="266667"/>
            <a:ext cx="8000000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609600" y="560000"/>
            <a:ext cx="10970880" cy="66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2600"/>
              <a:buFont typeface="Plus Jakarta Sans ExtraBold"/>
              <a:buNone/>
            </a:pPr>
            <a:r>
              <a:rPr lang="es-CL" sz="2600" b="1" i="0" u="none" strike="noStrike" cap="none">
                <a:solidFill>
                  <a:srgbClr val="323F5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Evolución del Modelo de Negocio</a:t>
            </a:r>
            <a:endParaRPr/>
          </a:p>
        </p:txBody>
      </p:sp>
      <p:sp>
        <p:nvSpPr>
          <p:cNvPr id="363" name="Google Shape;363;p41"/>
          <p:cNvSpPr/>
          <p:nvPr/>
        </p:nvSpPr>
        <p:spPr>
          <a:xfrm>
            <a:off x="609600" y="1253333"/>
            <a:ext cx="10970880" cy="2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609600" y="1266667"/>
            <a:ext cx="1097088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1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De consultoría puntual a plataforma inteligente escalable</a:t>
            </a:r>
            <a:endParaRPr/>
          </a:p>
        </p:txBody>
      </p:sp>
      <p:sp>
        <p:nvSpPr>
          <p:cNvPr id="365" name="Google Shape;365;p41"/>
          <p:cNvSpPr/>
          <p:nvPr/>
        </p:nvSpPr>
        <p:spPr>
          <a:xfrm>
            <a:off x="609600" y="1600000"/>
            <a:ext cx="2666667" cy="346667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Dimensión</a:t>
            </a:r>
            <a:endParaRPr/>
          </a:p>
        </p:txBody>
      </p:sp>
      <p:sp>
        <p:nvSpPr>
          <p:cNvPr id="366" name="Google Shape;366;p41"/>
          <p:cNvSpPr/>
          <p:nvPr/>
        </p:nvSpPr>
        <p:spPr>
          <a:xfrm>
            <a:off x="3466667" y="1600000"/>
            <a:ext cx="3866667" cy="346667"/>
          </a:xfrm>
          <a:prstGeom prst="rect">
            <a:avLst/>
          </a:prstGeom>
          <a:solidFill>
            <a:srgbClr val="5A7A8A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 Actual</a:t>
            </a:r>
            <a:endParaRPr/>
          </a:p>
        </p:txBody>
      </p:sp>
      <p:sp>
        <p:nvSpPr>
          <p:cNvPr id="367" name="Google Shape;367;p41"/>
          <p:cNvSpPr/>
          <p:nvPr/>
        </p:nvSpPr>
        <p:spPr>
          <a:xfrm>
            <a:off x="7533333" y="1600000"/>
            <a:ext cx="3866667" cy="346667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 con IA + CCM + TAISE</a:t>
            </a:r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609600" y="1973333"/>
            <a:ext cx="26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Oferta</a:t>
            </a:r>
            <a:endParaRPr/>
          </a:p>
        </p:txBody>
      </p:sp>
      <p:sp>
        <p:nvSpPr>
          <p:cNvPr id="369" name="Google Shape;369;p41"/>
          <p:cNvSpPr/>
          <p:nvPr/>
        </p:nvSpPr>
        <p:spPr>
          <a:xfrm>
            <a:off x="3466667" y="19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Assessment puntual</a:t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7533333" y="19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Plataforma SaaS continua</a:t>
            </a:r>
            <a:endParaRPr/>
          </a:p>
        </p:txBody>
      </p:sp>
      <p:sp>
        <p:nvSpPr>
          <p:cNvPr id="371" name="Google Shape;371;p41"/>
          <p:cNvSpPr/>
          <p:nvPr/>
        </p:nvSpPr>
        <p:spPr>
          <a:xfrm>
            <a:off x="609600" y="2373333"/>
            <a:ext cx="26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Proceso</a:t>
            </a:r>
            <a:endParaRPr/>
          </a:p>
        </p:txBody>
      </p:sp>
      <p:sp>
        <p:nvSpPr>
          <p:cNvPr id="372" name="Google Shape;372;p41"/>
          <p:cNvSpPr/>
          <p:nvPr/>
        </p:nvSpPr>
        <p:spPr>
          <a:xfrm>
            <a:off x="3466667" y="23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Manual · semanas</a:t>
            </a:r>
            <a:endParaRPr/>
          </a:p>
        </p:txBody>
      </p:sp>
      <p:sp>
        <p:nvSpPr>
          <p:cNvPr id="373" name="Google Shape;373;p41"/>
          <p:cNvSpPr/>
          <p:nvPr/>
        </p:nvSpPr>
        <p:spPr>
          <a:xfrm>
            <a:off x="7533333" y="23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Automatizado · minutos</a:t>
            </a:r>
            <a:endParaRPr/>
          </a:p>
        </p:txBody>
      </p:sp>
      <p:sp>
        <p:nvSpPr>
          <p:cNvPr id="374" name="Google Shape;374;p41"/>
          <p:cNvSpPr/>
          <p:nvPr/>
        </p:nvSpPr>
        <p:spPr>
          <a:xfrm>
            <a:off x="609600" y="2773333"/>
            <a:ext cx="26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Riesgos</a:t>
            </a:r>
            <a:endParaRPr/>
          </a:p>
        </p:txBody>
      </p:sp>
      <p:sp>
        <p:nvSpPr>
          <p:cNvPr id="375" name="Google Shape;375;p41"/>
          <p:cNvSpPr/>
          <p:nvPr/>
        </p:nvSpPr>
        <p:spPr>
          <a:xfrm>
            <a:off x="3466667" y="27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Solo Cloud Security</a:t>
            </a:r>
            <a:endParaRPr/>
          </a:p>
        </p:txBody>
      </p:sp>
      <p:sp>
        <p:nvSpPr>
          <p:cNvPr id="376" name="Google Shape;376;p41"/>
          <p:cNvSpPr/>
          <p:nvPr/>
        </p:nvSpPr>
        <p:spPr>
          <a:xfrm>
            <a:off x="7533333" y="27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Cloud + AI Security</a:t>
            </a:r>
            <a:endParaRPr/>
          </a:p>
        </p:txBody>
      </p:sp>
      <p:sp>
        <p:nvSpPr>
          <p:cNvPr id="377" name="Google Shape;377;p41"/>
          <p:cNvSpPr/>
          <p:nvPr/>
        </p:nvSpPr>
        <p:spPr>
          <a:xfrm>
            <a:off x="609600" y="3173333"/>
            <a:ext cx="26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Ingresos</a:t>
            </a:r>
            <a:endParaRPr/>
          </a:p>
        </p:txBody>
      </p:sp>
      <p:sp>
        <p:nvSpPr>
          <p:cNvPr id="378" name="Google Shape;378;p41"/>
          <p:cNvSpPr/>
          <p:nvPr/>
        </p:nvSpPr>
        <p:spPr>
          <a:xfrm>
            <a:off x="3466667" y="31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Proyectos / hora</a:t>
            </a:r>
            <a:endParaRPr/>
          </a:p>
        </p:txBody>
      </p:sp>
      <p:sp>
        <p:nvSpPr>
          <p:cNvPr id="379" name="Google Shape;379;p41"/>
          <p:cNvSpPr/>
          <p:nvPr/>
        </p:nvSpPr>
        <p:spPr>
          <a:xfrm>
            <a:off x="7533333" y="31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Suscripción recurrente</a:t>
            </a:r>
            <a:endParaRPr/>
          </a:p>
        </p:txBody>
      </p:sp>
      <p:sp>
        <p:nvSpPr>
          <p:cNvPr id="380" name="Google Shape;380;p41"/>
          <p:cNvSpPr/>
          <p:nvPr/>
        </p:nvSpPr>
        <p:spPr>
          <a:xfrm>
            <a:off x="609600" y="3573333"/>
            <a:ext cx="26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Posición</a:t>
            </a:r>
            <a:endParaRPr/>
          </a:p>
        </p:txBody>
      </p:sp>
      <p:sp>
        <p:nvSpPr>
          <p:cNvPr id="381" name="Google Shape;381;p41"/>
          <p:cNvSpPr/>
          <p:nvPr/>
        </p:nvSpPr>
        <p:spPr>
          <a:xfrm>
            <a:off x="3466667" y="35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Proveedor técnico Cloud</a:t>
            </a:r>
            <a:endParaRPr dirty="0"/>
          </a:p>
        </p:txBody>
      </p:sp>
      <p:sp>
        <p:nvSpPr>
          <p:cNvPr id="382" name="Google Shape;382;p41"/>
          <p:cNvSpPr/>
          <p:nvPr/>
        </p:nvSpPr>
        <p:spPr>
          <a:xfrm>
            <a:off x="7533333" y="35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Trusted Advisor estratégico</a:t>
            </a:r>
            <a:endParaRPr/>
          </a:p>
        </p:txBody>
      </p:sp>
      <p:sp>
        <p:nvSpPr>
          <p:cNvPr id="383" name="Google Shape;383;p41"/>
          <p:cNvSpPr/>
          <p:nvPr/>
        </p:nvSpPr>
        <p:spPr>
          <a:xfrm>
            <a:off x="609600" y="3973333"/>
            <a:ext cx="26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Escalabilidad</a:t>
            </a:r>
            <a:endParaRPr/>
          </a:p>
        </p:txBody>
      </p:sp>
      <p:sp>
        <p:nvSpPr>
          <p:cNvPr id="384" name="Google Shape;384;p41"/>
          <p:cNvSpPr/>
          <p:nvPr/>
        </p:nvSpPr>
        <p:spPr>
          <a:xfrm>
            <a:off x="3466667" y="39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Crece con personas</a:t>
            </a:r>
            <a:endParaRPr/>
          </a:p>
        </p:txBody>
      </p:sp>
      <p:sp>
        <p:nvSpPr>
          <p:cNvPr id="385" name="Google Shape;385;p41"/>
          <p:cNvSpPr/>
          <p:nvPr/>
        </p:nvSpPr>
        <p:spPr>
          <a:xfrm>
            <a:off x="7533333" y="3973333"/>
            <a:ext cx="3866667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Crece con  la Plataforma</a:t>
            </a:r>
            <a:endParaRPr dirty="0"/>
          </a:p>
        </p:txBody>
      </p:sp>
      <p:sp>
        <p:nvSpPr>
          <p:cNvPr id="386" name="Google Shape;386;p41"/>
          <p:cNvSpPr/>
          <p:nvPr/>
        </p:nvSpPr>
        <p:spPr>
          <a:xfrm>
            <a:off x="609600" y="4373333"/>
            <a:ext cx="26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40000" rIns="243825" bIns="4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Diferenciador</a:t>
            </a:r>
            <a:endParaRPr/>
          </a:p>
        </p:txBody>
      </p:sp>
      <p:sp>
        <p:nvSpPr>
          <p:cNvPr id="387" name="Google Shape;387;p41"/>
          <p:cNvSpPr/>
          <p:nvPr/>
        </p:nvSpPr>
        <p:spPr>
          <a:xfrm>
            <a:off x="3466667" y="43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A9A"/>
              </a:buClr>
              <a:buSzPts val="900"/>
              <a:buFont typeface="DM Sans"/>
              <a:buNone/>
            </a:pPr>
            <a:r>
              <a:rPr lang="es-CL" sz="900" b="0" i="0" u="none" strike="noStrike" cap="none" dirty="0">
                <a:solidFill>
                  <a:srgbClr val="7A8A9A"/>
                </a:solidFill>
                <a:latin typeface="DM Sans"/>
                <a:ea typeface="DM Sans"/>
                <a:cs typeface="DM Sans"/>
                <a:sym typeface="DM Sans"/>
              </a:rPr>
              <a:t>Metodología 3R : Reconocer + Responder + Reforzar</a:t>
            </a:r>
            <a:endParaRPr dirty="0"/>
          </a:p>
        </p:txBody>
      </p:sp>
      <p:sp>
        <p:nvSpPr>
          <p:cNvPr id="388" name="Google Shape;388;p41"/>
          <p:cNvSpPr/>
          <p:nvPr/>
        </p:nvSpPr>
        <p:spPr>
          <a:xfrm>
            <a:off x="7533333" y="4373333"/>
            <a:ext cx="3866667" cy="400000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121900" tIns="40000" rIns="121900" bIns="4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950"/>
              <a:buFont typeface="DM Sans"/>
              <a:buNone/>
            </a:pPr>
            <a:r>
              <a:rPr lang="es-CL" sz="950" b="1" i="0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3R + TAISE</a:t>
            </a:r>
            <a:endParaRPr dirty="0"/>
          </a:p>
        </p:txBody>
      </p:sp>
      <p:sp>
        <p:nvSpPr>
          <p:cNvPr id="389" name="Google Shape;389;p41"/>
          <p:cNvSpPr/>
          <p:nvPr/>
        </p:nvSpPr>
        <p:spPr>
          <a:xfrm>
            <a:off x="609600" y="4880000"/>
            <a:ext cx="10970880" cy="426667"/>
          </a:xfrm>
          <a:prstGeom prst="rect">
            <a:avLst/>
          </a:prstGeom>
          <a:solidFill>
            <a:srgbClr val="F6F2F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23F50"/>
              </a:buClr>
              <a:buSzPts val="1000"/>
              <a:buFont typeface="DM Sans"/>
              <a:buNone/>
            </a:pPr>
            <a:r>
              <a:rPr lang="es-CL" sz="1000" b="0" i="1" u="none" strike="noStrike" cap="none" dirty="0" err="1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Anepsis</a:t>
            </a:r>
            <a:r>
              <a:rPr lang="es-CL" sz="1000" b="0" i="1" u="none" strike="noStrike" cap="none" dirty="0">
                <a:solidFill>
                  <a:srgbClr val="323F50"/>
                </a:solidFill>
                <a:latin typeface="DM Sans"/>
                <a:ea typeface="DM Sans"/>
                <a:cs typeface="DM Sans"/>
                <a:sym typeface="DM Sans"/>
              </a:rPr>
              <a:t> no vende consultoría. Vende acceso a una plataforma que se vuelve más inteligente con cada cliente. De margen por proyecto → royalties por inteligencia acumulada.</a:t>
            </a:r>
            <a:endParaRPr dirty="0"/>
          </a:p>
        </p:txBody>
      </p:sp>
      <p:sp>
        <p:nvSpPr>
          <p:cNvPr id="390" name="Google Shape;390;p41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13b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0" y="0"/>
            <a:ext cx="26667" cy="6858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609600" y="266667"/>
            <a:ext cx="5333333" cy="2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DM Sans"/>
              <a:buNone/>
            </a:pPr>
            <a:r>
              <a:rPr lang="es-CL" sz="900" b="1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SÍNTESIS EJECUTIVA</a:t>
            </a:r>
            <a:endParaRPr/>
          </a:p>
        </p:txBody>
      </p:sp>
      <p:sp>
        <p:nvSpPr>
          <p:cNvPr id="345" name="Google Shape;345;p40"/>
          <p:cNvSpPr/>
          <p:nvPr/>
        </p:nvSpPr>
        <p:spPr>
          <a:xfrm>
            <a:off x="609600" y="560000"/>
            <a:ext cx="10970880" cy="58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us Jakarta Sans ExtraBold"/>
              <a:buNone/>
            </a:pPr>
            <a:r>
              <a:rPr lang="es-CL" sz="2800" b="1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 Statement</a:t>
            </a:r>
            <a:endParaRPr/>
          </a:p>
        </p:txBody>
      </p:sp>
      <p:sp>
        <p:nvSpPr>
          <p:cNvPr id="346" name="Google Shape;346;p40"/>
          <p:cNvSpPr/>
          <p:nvPr/>
        </p:nvSpPr>
        <p:spPr>
          <a:xfrm>
            <a:off x="609600" y="1173333"/>
            <a:ext cx="10970880" cy="26667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609600" y="1266667"/>
            <a:ext cx="10970880" cy="1440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“Las organizaciones de LATAM adoptan cloud e IA a velocidad récord, pero la gestión de sus riesgos de seguridad sigue siendo manual, puntual y desconectada del negocio. Anepsis integra CCM + TAISE en una plataforma automatizada que convierte la ciberseguridad de un costo reactivo en una ventaja competitiva escalable.”</a:t>
            </a:r>
            <a:endParaRPr/>
          </a:p>
        </p:txBody>
      </p:sp>
      <p:sp>
        <p:nvSpPr>
          <p:cNvPr id="348" name="Google Shape;348;p40"/>
          <p:cNvSpPr/>
          <p:nvPr/>
        </p:nvSpPr>
        <p:spPr>
          <a:xfrm>
            <a:off x="609600" y="2853333"/>
            <a:ext cx="3504000" cy="386667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s-CL" sz="13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Pilar 1</a:t>
            </a: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609600" y="3253333"/>
            <a:ext cx="3504000" cy="74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Generar Demanda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Lead Scoring IA</a:t>
            </a: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4266667" y="2853333"/>
            <a:ext cx="3504000" cy="386667"/>
          </a:xfrm>
          <a:prstGeom prst="rect">
            <a:avLst/>
          </a:prstGeom>
          <a:solidFill>
            <a:srgbClr val="0069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s-CL" sz="13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Pilar 2</a:t>
            </a:r>
            <a:endParaRPr/>
          </a:p>
        </p:txBody>
      </p:sp>
      <p:sp>
        <p:nvSpPr>
          <p:cNvPr id="351" name="Google Shape;351;p40"/>
          <p:cNvSpPr/>
          <p:nvPr/>
        </p:nvSpPr>
        <p:spPr>
          <a:xfrm>
            <a:off x="4266667" y="3253333"/>
            <a:ext cx="3504000" cy="74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Acortar Ciclo de Venta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Propuesta IA &lt;24 hrs</a:t>
            </a:r>
            <a:endParaRPr/>
          </a:p>
        </p:txBody>
      </p:sp>
      <p:sp>
        <p:nvSpPr>
          <p:cNvPr id="352" name="Google Shape;352;p40"/>
          <p:cNvSpPr/>
          <p:nvPr/>
        </p:nvSpPr>
        <p:spPr>
          <a:xfrm>
            <a:off x="7933333" y="2853333"/>
            <a:ext cx="3653333" cy="386667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s-CL" sz="13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Pilar 3</a:t>
            </a:r>
            <a:endParaRPr/>
          </a:p>
        </p:txBody>
      </p:sp>
      <p:sp>
        <p:nvSpPr>
          <p:cNvPr id="353" name="Google Shape;353;p40"/>
          <p:cNvSpPr/>
          <p:nvPr/>
        </p:nvSpPr>
        <p:spPr>
          <a:xfrm>
            <a:off x="7933333" y="3253333"/>
            <a:ext cx="3653333" cy="746667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lang="es-CL" sz="1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Trusted Advisor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DM Sans"/>
              <a:buNone/>
            </a:pPr>
            <a:r>
              <a:rPr lang="es-CL" sz="950" b="0" i="0" u="none" strike="noStrike" cap="none">
                <a:solidFill>
                  <a:srgbClr val="8FA8B8"/>
                </a:solidFill>
                <a:latin typeface="DM Sans"/>
                <a:ea typeface="DM Sans"/>
                <a:cs typeface="DM Sans"/>
                <a:sym typeface="DM Sans"/>
              </a:rPr>
              <a:t>Data Flywheel</a:t>
            </a:r>
            <a:endParaRPr/>
          </a:p>
        </p:txBody>
      </p:sp>
      <p:sp>
        <p:nvSpPr>
          <p:cNvPr id="354" name="Google Shape;354;p40"/>
          <p:cNvSpPr/>
          <p:nvPr/>
        </p:nvSpPr>
        <p:spPr>
          <a:xfrm>
            <a:off x="609600" y="4146667"/>
            <a:ext cx="10970880" cy="1760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Dato Maestro: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Security </a:t>
            </a:r>
            <a:r>
              <a:rPr lang="es-CL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Posture</a:t>
            </a: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CL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Intelligence</a:t>
            </a: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100+ </a:t>
            </a:r>
            <a:r>
              <a:rPr lang="es-CL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assessments</a:t>
            </a: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LATAM. Inimitable.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Data Moat: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TAISE + CCM . La competencia no puede copiar años de datos propietarios.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CC"/>
              </a:buClr>
              <a:buSzPts val="1000"/>
              <a:buFont typeface="DM Sans"/>
              <a:buNone/>
            </a:pPr>
            <a:r>
              <a:rPr lang="es-CL" sz="1000" b="1" i="0" u="none" strike="noStrike" cap="none" dirty="0">
                <a:solidFill>
                  <a:srgbClr val="00A8CC"/>
                </a:solidFill>
                <a:latin typeface="DM Sans"/>
                <a:ea typeface="DM Sans"/>
                <a:cs typeface="DM Sans"/>
                <a:sym typeface="DM Sans"/>
              </a:rPr>
              <a:t>KPI North Star: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s-CL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LTV 3x  ·  CAC -67%  ·  Churn &lt;8%  ·  Ciclo 10 días  ·  Propuesta IA &lt;24 </a:t>
            </a:r>
            <a:r>
              <a:rPr lang="es-CL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hrs</a:t>
            </a:r>
            <a:endParaRPr dirty="0"/>
          </a:p>
        </p:txBody>
      </p:sp>
      <p:sp>
        <p:nvSpPr>
          <p:cNvPr id="355" name="Google Shape;355;p40"/>
          <p:cNvSpPr/>
          <p:nvPr/>
        </p:nvSpPr>
        <p:spPr>
          <a:xfrm>
            <a:off x="609600" y="6440000"/>
            <a:ext cx="10970880" cy="30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8B0"/>
              </a:buClr>
              <a:buSzPts val="750"/>
              <a:buFont typeface="DM Sans"/>
              <a:buNone/>
            </a:pPr>
            <a:r>
              <a:rPr lang="es-CL" sz="750" b="0" i="0" u="none" strike="noStrike" cap="none">
                <a:solidFill>
                  <a:srgbClr val="A0A8B0"/>
                </a:solidFill>
                <a:latin typeface="DM Sans"/>
                <a:ea typeface="DM Sans"/>
                <a:cs typeface="DM Sans"/>
                <a:sym typeface="DM Sans"/>
              </a:rPr>
              <a:t>Anepsis LATAM  |  FEN UChile — UEjecutivos  |  Evaluación 1 — 2026  |  14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Minim Light">
      <a:dk1>
        <a:srgbClr val="000000"/>
      </a:dk1>
      <a:lt1>
        <a:srgbClr val="FFFFFF"/>
      </a:lt1>
      <a:dk2>
        <a:srgbClr val="FFFFFF"/>
      </a:dk2>
      <a:lt2>
        <a:srgbClr val="323F50"/>
      </a:lt2>
      <a:accent1>
        <a:srgbClr val="EFEBEA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FEFFFF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centure_Color_Top_16-9">
  <a:themeElements>
    <a:clrScheme name="External Operations 2014">
      <a:dk1>
        <a:srgbClr val="000000"/>
      </a:dk1>
      <a:lt1>
        <a:srgbClr val="FFFFFF"/>
      </a:lt1>
      <a:dk2>
        <a:srgbClr val="666666"/>
      </a:dk2>
      <a:lt2>
        <a:srgbClr val="778888"/>
      </a:lt2>
      <a:accent1>
        <a:srgbClr val="00BBEE"/>
      </a:accent1>
      <a:accent2>
        <a:srgbClr val="003344"/>
      </a:accent2>
      <a:accent3>
        <a:srgbClr val="FFDD00"/>
      </a:accent3>
      <a:accent4>
        <a:srgbClr val="551155"/>
      </a:accent4>
      <a:accent5>
        <a:srgbClr val="00AA99"/>
      </a:accent5>
      <a:accent6>
        <a:srgbClr val="FF3366"/>
      </a:accent6>
      <a:hlink>
        <a:srgbClr val="993399"/>
      </a:hlink>
      <a:folHlink>
        <a:srgbClr val="99339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/>
          <a:tailEnd/>
        </a:ln>
      </a:spPr>
      <a:bodyPr lIns="180000" rIns="54000" rtlCol="0" anchor="t"/>
      <a:lstStyle>
        <a:defPPr algn="ctr">
          <a:defRPr sz="1100" b="1" dirty="0" smtClean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txDef>
      <a:spPr bwMode="auto">
        <a:noFill/>
        <a:ln w="9525">
          <a:noFill/>
          <a:miter lim="800000"/>
          <a:headEnd/>
          <a:tailEnd/>
        </a:ln>
      </a:spPr>
      <a:bodyPr wrap="square" rtlCol="0" anchor="t">
        <a:spAutoFit/>
      </a:bodyPr>
      <a:lstStyle>
        <a:defPPr algn="l">
          <a:defRPr sz="1400" b="1" dirty="0" smtClean="0">
            <a:solidFill>
              <a:schemeClr val="accent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2839</Words>
  <Application>Microsoft Macintosh PowerPoint</Application>
  <PresentationFormat>Widescreen</PresentationFormat>
  <Paragraphs>383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DM Sans</vt:lpstr>
      <vt:lpstr>Segoe UI</vt:lpstr>
      <vt:lpstr>Segoe UI Semibold</vt:lpstr>
      <vt:lpstr>Cambria</vt:lpstr>
      <vt:lpstr>Plus Jakarta Sans </vt:lpstr>
      <vt:lpstr>Plus Jakarta Sans ExtraBold</vt:lpstr>
      <vt:lpstr>Arial</vt:lpstr>
      <vt:lpstr>Calibri</vt:lpstr>
      <vt:lpstr>Office Theme</vt:lpstr>
      <vt:lpstr>Accenture_Color_Top_16-9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Oberreuter</dc:creator>
  <cp:lastModifiedBy>Carlos Oberreuter</cp:lastModifiedBy>
  <cp:revision>5</cp:revision>
  <dcterms:modified xsi:type="dcterms:W3CDTF">2026-04-19T20:45:55Z</dcterms:modified>
</cp:coreProperties>
</file>