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8.xml" ContentType="application/vnd.openxmlformats-officedocument.presentationml.tags+xml"/>
  <Override PartName="/ppt/notesSlides/notesSlide1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notesSlides/notesSlide2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notesSlides/notesSlide21.xml" ContentType="application/vnd.openxmlformats-officedocument.presentationml.notesSlide+xml"/>
  <Override PartName="/ppt/ink/ink1.xml" ContentType="application/inkml+xml"/>
  <Override PartName="/ppt/ink/ink2.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embedTrueTypeFonts="1" saveSubsetFonts="1" bookmarkIdSeed="2">
  <p:sldMasterIdLst>
    <p:sldMasterId id="2147483791" r:id="rId4"/>
    <p:sldMasterId id="2147483796" r:id="rId5"/>
  </p:sldMasterIdLst>
  <p:notesMasterIdLst>
    <p:notesMasterId r:id="rId31"/>
  </p:notesMasterIdLst>
  <p:handoutMasterIdLst>
    <p:handoutMasterId r:id="rId32"/>
  </p:handoutMasterIdLst>
  <p:sldIdLst>
    <p:sldId id="321" r:id="rId6"/>
    <p:sldId id="641" r:id="rId7"/>
    <p:sldId id="640" r:id="rId8"/>
    <p:sldId id="636" r:id="rId9"/>
    <p:sldId id="637" r:id="rId10"/>
    <p:sldId id="638" r:id="rId11"/>
    <p:sldId id="639" r:id="rId12"/>
    <p:sldId id="634" r:id="rId13"/>
    <p:sldId id="630" r:id="rId14"/>
    <p:sldId id="633" r:id="rId15"/>
    <p:sldId id="608" r:id="rId16"/>
    <p:sldId id="610" r:id="rId17"/>
    <p:sldId id="611" r:id="rId18"/>
    <p:sldId id="612" r:id="rId19"/>
    <p:sldId id="614" r:id="rId20"/>
    <p:sldId id="613" r:id="rId21"/>
    <p:sldId id="615" r:id="rId22"/>
    <p:sldId id="616" r:id="rId23"/>
    <p:sldId id="617" r:id="rId24"/>
    <p:sldId id="618" r:id="rId25"/>
    <p:sldId id="619" r:id="rId26"/>
    <p:sldId id="621" r:id="rId27"/>
    <p:sldId id="622" r:id="rId28"/>
    <p:sldId id="623" r:id="rId29"/>
    <p:sldId id="642" r:id="rId30"/>
  </p:sldIdLst>
  <p:sldSz cx="12187238" cy="6858000"/>
  <p:notesSz cx="6858000" cy="9144000"/>
  <p:embeddedFontLst>
    <p:embeddedFont>
      <p:font typeface="Cambria" panose="02040503050406030204" pitchFamily="18" charset="0"/>
      <p:regular r:id="rId33"/>
      <p:bold r:id="rId34"/>
      <p:italic r:id="rId35"/>
      <p:boldItalic r:id="rId36"/>
    </p:embeddedFont>
    <p:embeddedFont>
      <p:font typeface="Segoe UI" panose="020B0502040204020203" pitchFamily="34" charset="0"/>
      <p:regular r:id="rId37"/>
      <p:bold r:id="rId38"/>
      <p:italic r:id="rId39"/>
      <p:boldItalic r:id="rId40"/>
    </p:embeddedFont>
    <p:embeddedFont>
      <p:font typeface="Segoe UI Semibold" panose="020B0702040204020203" pitchFamily="34" charset="0"/>
      <p:bold r:id="rId41"/>
      <p:boldItalic r:id="rId42"/>
    </p:embeddedFont>
  </p:embeddedFontLst>
  <p:custDataLst>
    <p:tags r:id="rId43"/>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Sección predeterminada" id="{0F3E2D05-FDE6-42B9-ABCA-BBE31E4EF761}">
          <p14:sldIdLst>
            <p14:sldId id="321"/>
          </p14:sldIdLst>
        </p14:section>
        <p14:section name="Introduccion y Objetivos" id="{974FFE2D-BB61-4647-9D31-2FEC085E1D8B}">
          <p14:sldIdLst/>
        </p14:section>
        <p14:section name="Analosos de Ambiente General" id="{0973E827-6EE3-44C4-AD09-098F765B8EC3}">
          <p14:sldIdLst/>
        </p14:section>
        <p14:section name="Analisis Industrial" id="{F09ECAF8-368F-4004-938F-D682E3A8A289}">
          <p14:sldIdLst>
            <p14:sldId id="641"/>
            <p14:sldId id="640"/>
            <p14:sldId id="636"/>
            <p14:sldId id="637"/>
            <p14:sldId id="638"/>
            <p14:sldId id="639"/>
            <p14:sldId id="634"/>
            <p14:sldId id="630"/>
            <p14:sldId id="633"/>
          </p14:sldIdLst>
        </p14:section>
        <p14:section name="Plan de Marketing" id="{EBD2A353-E95F-41E6-ABE0-E187CB269DB2}">
          <p14:sldIdLst>
            <p14:sldId id="608"/>
            <p14:sldId id="610"/>
            <p14:sldId id="611"/>
          </p14:sldIdLst>
        </p14:section>
        <p14:section name="Plan Operacional" id="{8403748A-D72A-4FC3-AA08-7D5549015641}">
          <p14:sldIdLst>
            <p14:sldId id="612"/>
            <p14:sldId id="614"/>
            <p14:sldId id="613"/>
          </p14:sldIdLst>
        </p14:section>
        <p14:section name="Plan Operacional" id="{3BE00A95-02E6-4FF6-85BD-46B405E83D4F}">
          <p14:sldIdLst>
            <p14:sldId id="615"/>
            <p14:sldId id="616"/>
            <p14:sldId id="617"/>
          </p14:sldIdLst>
        </p14:section>
        <p14:section name="Evaluación Económica" id="{F49BF901-F1D6-41F5-9AE3-7ACE67C39A9A}">
          <p14:sldIdLst>
            <p14:sldId id="618"/>
            <p14:sldId id="619"/>
            <p14:sldId id="621"/>
            <p14:sldId id="622"/>
            <p14:sldId id="623"/>
            <p14:sldId id="642"/>
          </p14:sldIdLst>
        </p14:section>
      </p14:sectionLst>
    </p:ext>
    <p:ext uri="{EFAFB233-063F-42B5-8137-9DF3F51BA10A}">
      <p15:sldGuideLst xmlns:p15="http://schemas.microsoft.com/office/powerpoint/2012/main">
        <p15:guide id="1" orient="horz" pos="1706" userDrawn="1">
          <p15:clr>
            <a:srgbClr val="A4A3A4"/>
          </p15:clr>
        </p15:guide>
        <p15:guide id="2" orient="horz" pos="245">
          <p15:clr>
            <a:srgbClr val="A4A3A4"/>
          </p15:clr>
        </p15:guide>
        <p15:guide id="3" orient="horz" pos="665">
          <p15:clr>
            <a:srgbClr val="A4A3A4"/>
          </p15:clr>
        </p15:guide>
        <p15:guide id="4" orient="horz" pos="731" userDrawn="1">
          <p15:clr>
            <a:srgbClr val="A4A3A4"/>
          </p15:clr>
        </p15:guide>
        <p15:guide id="5" orient="horz" pos="4224" userDrawn="1">
          <p15:clr>
            <a:srgbClr val="A4A3A4"/>
          </p15:clr>
        </p15:guide>
        <p15:guide id="6" orient="horz" pos="4133" userDrawn="1">
          <p15:clr>
            <a:srgbClr val="A4A3A4"/>
          </p15:clr>
        </p15:guide>
        <p15:guide id="7" orient="horz" pos="4090">
          <p15:clr>
            <a:srgbClr val="A4A3A4"/>
          </p15:clr>
        </p15:guide>
        <p15:guide id="8" orient="horz" pos="799" userDrawn="1">
          <p15:clr>
            <a:srgbClr val="A4A3A4"/>
          </p15:clr>
        </p15:guide>
        <p15:guide id="9" orient="horz" pos="2432" userDrawn="1">
          <p15:clr>
            <a:srgbClr val="A4A3A4"/>
          </p15:clr>
        </p15:guide>
        <p15:guide id="10" pos="287">
          <p15:clr>
            <a:srgbClr val="A4A3A4"/>
          </p15:clr>
        </p15:guide>
        <p15:guide id="11" pos="5517" userDrawn="1">
          <p15:clr>
            <a:srgbClr val="A4A3A4"/>
          </p15:clr>
        </p15:guide>
        <p15:guide id="12" pos="2863" userDrawn="1">
          <p15:clr>
            <a:srgbClr val="A4A3A4"/>
          </p15:clr>
        </p15:guide>
        <p15:guide id="13" pos="2931" userDrawn="1">
          <p15:clr>
            <a:srgbClr val="A4A3A4"/>
          </p15:clr>
        </p15:guide>
        <p15:guide id="14" pos="2881">
          <p15:clr>
            <a:srgbClr val="A4A3A4"/>
          </p15:clr>
        </p15:guide>
        <p15:guide id="15" pos="5504">
          <p15:clr>
            <a:srgbClr val="A4A3A4"/>
          </p15:clr>
        </p15:guide>
        <p15:guide id="16" pos="1970">
          <p15:clr>
            <a:srgbClr val="A4A3A4"/>
          </p15:clr>
        </p15:guide>
        <p15:guide id="17" pos="3770" userDrawn="1">
          <p15:clr>
            <a:srgbClr val="A4A3A4"/>
          </p15:clr>
        </p15:guide>
        <p15:guide id="19" pos="2047" userDrawn="1">
          <p15:clr>
            <a:srgbClr val="A4A3A4"/>
          </p15:clr>
        </p15:guide>
        <p15:guide id="20" orient="horz" pos="1797" userDrawn="1">
          <p15:clr>
            <a:srgbClr val="A4A3A4"/>
          </p15:clr>
        </p15:guide>
        <p15:guide id="21" orient="horz" pos="1094" userDrawn="1">
          <p15:clr>
            <a:srgbClr val="A4A3A4"/>
          </p15:clr>
        </p15:guide>
        <p15:guide id="22" orient="horz" pos="3861" userDrawn="1">
          <p15:clr>
            <a:srgbClr val="A4A3A4"/>
          </p15:clr>
        </p15:guide>
        <p15:guide id="23" pos="293">
          <p15:clr>
            <a:srgbClr val="A4A3A4"/>
          </p15:clr>
        </p15:guide>
        <p15:guide id="24" pos="2546" userDrawn="1">
          <p15:clr>
            <a:srgbClr val="A4A3A4"/>
          </p15:clr>
        </p15:guide>
        <p15:guide id="25" pos="7467" userDrawn="1">
          <p15:clr>
            <a:srgbClr val="A4A3A4"/>
          </p15:clr>
        </p15:guide>
        <p15:guide id="26" pos="3566" userDrawn="1">
          <p15:clr>
            <a:srgbClr val="A4A3A4"/>
          </p15:clr>
        </p15:guide>
        <p15:guide id="27" pos="4337" userDrawn="1">
          <p15:clr>
            <a:srgbClr val="A4A3A4"/>
          </p15:clr>
        </p15:guide>
        <p15:guide id="28" pos="2206" userDrawn="1">
          <p15:clr>
            <a:srgbClr val="A4A3A4"/>
          </p15:clr>
        </p15:guide>
        <p15:guide id="30" pos="5018" userDrawn="1">
          <p15:clr>
            <a:srgbClr val="A4A3A4"/>
          </p15:clr>
        </p15:guide>
        <p15:guide id="31" pos="5158">
          <p15:clr>
            <a:srgbClr val="A4A3A4"/>
          </p15:clr>
        </p15:guide>
        <p15:guide id="32" pos="268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0D26"/>
    <a:srgbClr val="7F0D26"/>
    <a:srgbClr val="9C102E"/>
    <a:srgbClr val="EB1B23"/>
    <a:srgbClr val="2668B4"/>
    <a:srgbClr val="FEBE10"/>
    <a:srgbClr val="008880"/>
    <a:srgbClr val="FDB40E"/>
    <a:srgbClr val="FFFFFF"/>
    <a:srgbClr val="2AD9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929F9F4-4A8F-4326-A1B4-22849713DDAB}" styleName="Estilo oscuro 1 - Énfasis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88727" autoAdjust="0"/>
  </p:normalViewPr>
  <p:slideViewPr>
    <p:cSldViewPr snapToGrid="0" showGuides="1">
      <p:cViewPr varScale="1">
        <p:scale>
          <a:sx n="86" d="100"/>
          <a:sy n="86" d="100"/>
        </p:scale>
        <p:origin x="995" y="48"/>
      </p:cViewPr>
      <p:guideLst>
        <p:guide orient="horz" pos="1706"/>
        <p:guide orient="horz" pos="245"/>
        <p:guide orient="horz" pos="665"/>
        <p:guide orient="horz" pos="731"/>
        <p:guide orient="horz" pos="4224"/>
        <p:guide orient="horz" pos="4133"/>
        <p:guide orient="horz" pos="4090"/>
        <p:guide orient="horz" pos="799"/>
        <p:guide orient="horz" pos="2432"/>
        <p:guide pos="287"/>
        <p:guide pos="5517"/>
        <p:guide pos="2863"/>
        <p:guide pos="2931"/>
        <p:guide pos="2881"/>
        <p:guide pos="5504"/>
        <p:guide pos="1970"/>
        <p:guide pos="3770"/>
        <p:guide pos="2047"/>
        <p:guide orient="horz" pos="1797"/>
        <p:guide orient="horz" pos="1094"/>
        <p:guide orient="horz" pos="3861"/>
        <p:guide pos="293"/>
        <p:guide pos="2546"/>
        <p:guide pos="7467"/>
        <p:guide pos="3566"/>
        <p:guide pos="4337"/>
        <p:guide pos="2206"/>
        <p:guide pos="5018"/>
        <p:guide pos="5158"/>
        <p:guide pos="2682"/>
      </p:guideLst>
    </p:cSldViewPr>
  </p:slideViewPr>
  <p:outlineViewPr>
    <p:cViewPr>
      <p:scale>
        <a:sx n="33" d="100"/>
        <a:sy n="33" d="100"/>
      </p:scale>
      <p:origin x="0" y="336"/>
    </p:cViewPr>
  </p:outlineViewPr>
  <p:notesTextViewPr>
    <p:cViewPr>
      <p:scale>
        <a:sx n="3" d="2"/>
        <a:sy n="3" d="2"/>
      </p:scale>
      <p:origin x="0" y="0"/>
    </p:cViewPr>
  </p:notesTextViewPr>
  <p:sorterViewPr>
    <p:cViewPr>
      <p:scale>
        <a:sx n="50" d="100"/>
        <a:sy n="50" d="100"/>
      </p:scale>
      <p:origin x="0" y="-3774"/>
    </p:cViewPr>
  </p:sorterViewPr>
  <p:notesViewPr>
    <p:cSldViewPr snapToGrid="0" snapToObjects="1" showGuides="1">
      <p:cViewPr varScale="1">
        <p:scale>
          <a:sx n="84" d="100"/>
          <a:sy n="84" d="100"/>
        </p:scale>
        <p:origin x="391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7.fntdata"/><Relationship Id="rId21" Type="http://schemas.openxmlformats.org/officeDocument/2006/relationships/slide" Target="slides/slide16.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4.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3.fntdata"/><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font" Target="fonts/font9.fntdata"/></Relationships>
</file>

<file path=ppt/charts/_rels/chart1.xml.rels><?xml version="1.0" encoding="UTF-8" standalone="yes"?>
<Relationships xmlns="http://schemas.openxmlformats.org/package/2006/relationships"><Relationship Id="rId3" Type="http://schemas.openxmlformats.org/officeDocument/2006/relationships/oleObject" Target="file:///C:\Users\caoberre\AppData\Local\Microsoft\Windows\INetCache\Content.Outlook\TG1BIV2A\Libro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'Graficos Presentacion'!$I$3</c:f>
              <c:strCache>
                <c:ptCount val="1"/>
                <c:pt idx="0">
                  <c:v>Ingresos Anuales</c:v>
                </c:pt>
              </c:strCache>
            </c:strRef>
          </c:tx>
          <c:spPr>
            <a:solidFill>
              <a:srgbClr val="7F0D26"/>
            </a:solidFill>
            <a:ln>
              <a:solidFill>
                <a:schemeClr val="bg1"/>
              </a:solidFill>
            </a:ln>
            <a:effectLst>
              <a:outerShdw blurRad="40000" dist="23000" dir="5400000" rotWithShape="0">
                <a:srgbClr val="000000">
                  <a:alpha val="35000"/>
                </a:srgbClr>
              </a:outerShdw>
            </a:effectLst>
          </c:spPr>
          <c:invertIfNegative val="0"/>
          <c:dLbls>
            <c:numFmt formatCode="&quot;$&quot;#,##0" sourceLinked="0"/>
            <c:spPr>
              <a:noFill/>
              <a:ln>
                <a:noFill/>
              </a:ln>
              <a:effectLst/>
            </c:spPr>
            <c:txPr>
              <a:bodyPr rot="0" spcFirstLastPara="1" vertOverflow="ellipsis" vert="horz" wrap="square" lIns="38100" tIns="19050" rIns="38100" bIns="19050" anchor="ctr" anchorCtr="1">
                <a:spAutoFit/>
              </a:bodyPr>
              <a:lstStyle/>
              <a:p>
                <a:pPr>
                  <a:defRPr sz="1100" b="1" i="1" u="none" strike="noStrike" kern="1200" baseline="0">
                    <a:solidFill>
                      <a:schemeClr val="bg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numRef>
              <c:f>'Graficos Presentacion'!$J$2:$N$2</c:f>
              <c:numCache>
                <c:formatCode>General</c:formatCode>
                <c:ptCount val="5"/>
                <c:pt idx="0">
                  <c:v>2022</c:v>
                </c:pt>
                <c:pt idx="1">
                  <c:v>2023</c:v>
                </c:pt>
                <c:pt idx="2">
                  <c:v>2024</c:v>
                </c:pt>
                <c:pt idx="3">
                  <c:v>2025</c:v>
                </c:pt>
                <c:pt idx="4">
                  <c:v>2026</c:v>
                </c:pt>
              </c:numCache>
            </c:numRef>
          </c:cat>
          <c:val>
            <c:numRef>
              <c:f>'Graficos Presentacion'!$J$3:$N$3</c:f>
              <c:numCache>
                <c:formatCode>#,##0</c:formatCode>
                <c:ptCount val="5"/>
                <c:pt idx="0">
                  <c:v>268320</c:v>
                </c:pt>
                <c:pt idx="1">
                  <c:v>574860</c:v>
                </c:pt>
                <c:pt idx="2">
                  <c:v>626283.84</c:v>
                </c:pt>
                <c:pt idx="3">
                  <c:v>861140.28</c:v>
                </c:pt>
                <c:pt idx="4">
                  <c:v>933386.59439999994</c:v>
                </c:pt>
              </c:numCache>
            </c:numRef>
          </c:val>
          <c:extLst>
            <c:ext xmlns:c16="http://schemas.microsoft.com/office/drawing/2014/chart" uri="{C3380CC4-5D6E-409C-BE32-E72D297353CC}">
              <c16:uniqueId val="{00000003-C9C3-4676-A7CE-3AED9F6E8689}"/>
            </c:ext>
          </c:extLst>
        </c:ser>
        <c:dLbls>
          <c:showLegendKey val="0"/>
          <c:showVal val="1"/>
          <c:showCatName val="0"/>
          <c:showSerName val="0"/>
          <c:showPercent val="0"/>
          <c:showBubbleSize val="0"/>
        </c:dLbls>
        <c:gapWidth val="75"/>
        <c:axId val="1683868768"/>
        <c:axId val="522168784"/>
      </c:barChart>
      <c:lineChart>
        <c:grouping val="standard"/>
        <c:varyColors val="0"/>
        <c:ser>
          <c:idx val="1"/>
          <c:order val="1"/>
          <c:tx>
            <c:strRef>
              <c:f>'Graficos Presentacion'!$I$4</c:f>
              <c:strCache>
                <c:ptCount val="1"/>
                <c:pt idx="0">
                  <c:v>Consultores</c:v>
                </c:pt>
              </c:strCache>
            </c:strRef>
          </c:tx>
          <c:spPr>
            <a:ln w="31750" cap="rnd">
              <a:solidFill>
                <a:schemeClr val="bg2"/>
              </a:solidFill>
              <a:round/>
            </a:ln>
            <a:effectLst>
              <a:outerShdw blurRad="40000" dist="23000" dir="5400000" rotWithShape="0">
                <a:srgbClr val="000000">
                  <a:alpha val="35000"/>
                </a:srgbClr>
              </a:outerShdw>
            </a:effectLst>
          </c:spPr>
          <c:marker>
            <c:symbol val="none"/>
          </c:marker>
          <c:dLbls>
            <c:spPr>
              <a:solidFill>
                <a:schemeClr val="bg1"/>
              </a:solidFill>
              <a:ln>
                <a:solidFill>
                  <a:schemeClr val="bg1"/>
                </a:solid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numRef>
              <c:f>'Graficos Presentacion'!$J$2:$N$2</c:f>
              <c:numCache>
                <c:formatCode>General</c:formatCode>
                <c:ptCount val="5"/>
                <c:pt idx="0">
                  <c:v>2022</c:v>
                </c:pt>
                <c:pt idx="1">
                  <c:v>2023</c:v>
                </c:pt>
                <c:pt idx="2">
                  <c:v>2024</c:v>
                </c:pt>
                <c:pt idx="3">
                  <c:v>2025</c:v>
                </c:pt>
                <c:pt idx="4">
                  <c:v>2026</c:v>
                </c:pt>
              </c:numCache>
            </c:numRef>
          </c:cat>
          <c:val>
            <c:numRef>
              <c:f>'Graficos Presentacion'!$J$4:$N$4</c:f>
              <c:numCache>
                <c:formatCode>0</c:formatCode>
                <c:ptCount val="5"/>
                <c:pt idx="0">
                  <c:v>2</c:v>
                </c:pt>
                <c:pt idx="1">
                  <c:v>3</c:v>
                </c:pt>
                <c:pt idx="2">
                  <c:v>3</c:v>
                </c:pt>
                <c:pt idx="3">
                  <c:v>4</c:v>
                </c:pt>
                <c:pt idx="4">
                  <c:v>4</c:v>
                </c:pt>
              </c:numCache>
            </c:numRef>
          </c:val>
          <c:smooth val="0"/>
          <c:extLst>
            <c:ext xmlns:c16="http://schemas.microsoft.com/office/drawing/2014/chart" uri="{C3380CC4-5D6E-409C-BE32-E72D297353CC}">
              <c16:uniqueId val="{00000005-C9C3-4676-A7CE-3AED9F6E8689}"/>
            </c:ext>
          </c:extLst>
        </c:ser>
        <c:dLbls>
          <c:showLegendKey val="0"/>
          <c:showVal val="1"/>
          <c:showCatName val="0"/>
          <c:showSerName val="0"/>
          <c:showPercent val="0"/>
          <c:showBubbleSize val="0"/>
        </c:dLbls>
        <c:marker val="1"/>
        <c:smooth val="0"/>
        <c:axId val="1188299360"/>
        <c:axId val="2032637984"/>
      </c:lineChart>
      <c:catAx>
        <c:axId val="1188299360"/>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2032637984"/>
        <c:crosses val="autoZero"/>
        <c:auto val="1"/>
        <c:lblAlgn val="ctr"/>
        <c:lblOffset val="100"/>
        <c:noMultiLvlLbl val="0"/>
      </c:catAx>
      <c:valAx>
        <c:axId val="2032637984"/>
        <c:scaling>
          <c:orientation val="minMax"/>
          <c:max val="5"/>
        </c:scaling>
        <c:delete val="0"/>
        <c:axPos val="l"/>
        <c:majorGridlines>
          <c:spPr>
            <a:ln w="9525" cap="flat" cmpd="sng" algn="ctr">
              <a:solidFill>
                <a:schemeClr val="tx2">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188299360"/>
        <c:crosses val="autoZero"/>
        <c:crossBetween val="between"/>
        <c:majorUnit val="1"/>
      </c:valAx>
      <c:valAx>
        <c:axId val="522168784"/>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683868768"/>
        <c:crosses val="max"/>
        <c:crossBetween val="between"/>
        <c:minorUnit val="200000"/>
        <c:dispUnits>
          <c:builtInUnit val="hundreds"/>
          <c:dispUnitsLbl>
            <c:spPr>
              <a:noFill/>
              <a:ln>
                <a:noFill/>
              </a:ln>
              <a:effectLst/>
            </c:spPr>
            <c:txPr>
              <a:bodyPr rot="-5400000" spcFirstLastPara="1" vertOverflow="ellipsis" vert="horz" wrap="square" anchor="ctr" anchorCtr="1"/>
              <a:lstStyle/>
              <a:p>
                <a:pPr>
                  <a:defRPr sz="1197" b="1" i="0" u="none" strike="noStrike" kern="1200" baseline="0">
                    <a:solidFill>
                      <a:schemeClr val="bg1"/>
                    </a:solidFill>
                    <a:latin typeface="+mn-lt"/>
                    <a:ea typeface="+mn-ea"/>
                    <a:cs typeface="+mn-cs"/>
                  </a:defRPr>
                </a:pPr>
                <a:endParaRPr lang="en-US"/>
              </a:p>
            </c:txPr>
          </c:dispUnitsLbl>
        </c:dispUnits>
      </c:valAx>
      <c:catAx>
        <c:axId val="1683868768"/>
        <c:scaling>
          <c:orientation val="minMax"/>
        </c:scaling>
        <c:delete val="1"/>
        <c:axPos val="b"/>
        <c:numFmt formatCode="General" sourceLinked="1"/>
        <c:majorTickMark val="out"/>
        <c:minorTickMark val="none"/>
        <c:tickLblPos val="nextTo"/>
        <c:crossAx val="522168784"/>
        <c:crosses val="autoZero"/>
        <c:auto val="1"/>
        <c:lblAlgn val="ctr"/>
        <c:lblOffset val="100"/>
        <c:noMultiLvlLbl val="0"/>
      </c:catAx>
      <c:spPr>
        <a:noFill/>
        <a:ln>
          <a:noFill/>
        </a:ln>
        <a:effectLst/>
      </c:spPr>
    </c:plotArea>
    <c:legend>
      <c:legendPos val="b"/>
      <c:legendEntry>
        <c:idx val="1"/>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1107607454371163E-3"/>
          <c:y val="6.4504492285880163E-2"/>
          <c:w val="0.93108850564166612"/>
          <c:h val="0.71138616522492215"/>
        </c:manualLayout>
      </c:layout>
      <c:barChart>
        <c:barDir val="col"/>
        <c:grouping val="stacked"/>
        <c:varyColors val="0"/>
        <c:ser>
          <c:idx val="0"/>
          <c:order val="0"/>
          <c:tx>
            <c:strRef>
              <c:f>'Graficos Presentacion'!$B$3</c:f>
              <c:strCache>
                <c:ptCount val="1"/>
                <c:pt idx="0">
                  <c:v>Contratos</c:v>
                </c:pt>
              </c:strCache>
            </c:strRef>
          </c:tx>
          <c:spPr>
            <a:solidFill>
              <a:srgbClr val="640D26"/>
            </a:solidFill>
            <a:ln>
              <a:solidFill>
                <a:srgbClr val="FFFFFF"/>
              </a:solid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'Graficos Presentacion'!$C$2:$G$2</c:f>
              <c:numCache>
                <c:formatCode>General</c:formatCode>
                <c:ptCount val="5"/>
                <c:pt idx="0">
                  <c:v>2022</c:v>
                </c:pt>
                <c:pt idx="1">
                  <c:v>2023</c:v>
                </c:pt>
                <c:pt idx="2">
                  <c:v>2024</c:v>
                </c:pt>
                <c:pt idx="3">
                  <c:v>2025</c:v>
                </c:pt>
                <c:pt idx="4">
                  <c:v>2026</c:v>
                </c:pt>
              </c:numCache>
            </c:numRef>
          </c:cat>
          <c:val>
            <c:numRef>
              <c:f>'Graficos Presentacion'!$C$3:$G$3</c:f>
              <c:numCache>
                <c:formatCode>0</c:formatCode>
                <c:ptCount val="5"/>
                <c:pt idx="0">
                  <c:v>16.125</c:v>
                </c:pt>
                <c:pt idx="1">
                  <c:v>31.40625</c:v>
                </c:pt>
                <c:pt idx="2">
                  <c:v>31.40625</c:v>
                </c:pt>
                <c:pt idx="3">
                  <c:v>43.96875</c:v>
                </c:pt>
                <c:pt idx="4">
                  <c:v>43.96875</c:v>
                </c:pt>
              </c:numCache>
            </c:numRef>
          </c:val>
          <c:extLst>
            <c:ext xmlns:c16="http://schemas.microsoft.com/office/drawing/2014/chart" uri="{C3380CC4-5D6E-409C-BE32-E72D297353CC}">
              <c16:uniqueId val="{00000000-5F96-4765-A40F-CF6785147F6C}"/>
            </c:ext>
          </c:extLst>
        </c:ser>
        <c:ser>
          <c:idx val="1"/>
          <c:order val="1"/>
          <c:tx>
            <c:strRef>
              <c:f>'Graficos Presentacion'!$B$4</c:f>
              <c:strCache>
                <c:ptCount val="1"/>
                <c:pt idx="0">
                  <c:v>Assessment Pagados </c:v>
                </c:pt>
              </c:strCache>
            </c:strRef>
          </c:tx>
          <c:spPr>
            <a:solidFill>
              <a:srgbClr val="9C102E"/>
            </a:solidFill>
            <a:ln>
              <a:solidFill>
                <a:srgbClr val="FFFFFF"/>
              </a:solid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'Graficos Presentacion'!$C$2:$G$2</c:f>
              <c:numCache>
                <c:formatCode>General</c:formatCode>
                <c:ptCount val="5"/>
                <c:pt idx="0">
                  <c:v>2022</c:v>
                </c:pt>
                <c:pt idx="1">
                  <c:v>2023</c:v>
                </c:pt>
                <c:pt idx="2">
                  <c:v>2024</c:v>
                </c:pt>
                <c:pt idx="3">
                  <c:v>2025</c:v>
                </c:pt>
                <c:pt idx="4">
                  <c:v>2026</c:v>
                </c:pt>
              </c:numCache>
            </c:numRef>
          </c:cat>
          <c:val>
            <c:numRef>
              <c:f>'Graficos Presentacion'!$C$4:$G$4</c:f>
              <c:numCache>
                <c:formatCode>0</c:formatCode>
                <c:ptCount val="5"/>
                <c:pt idx="1">
                  <c:v>25.125</c:v>
                </c:pt>
                <c:pt idx="2">
                  <c:v>30.15</c:v>
                </c:pt>
                <c:pt idx="3">
                  <c:v>35.174999999999997</c:v>
                </c:pt>
                <c:pt idx="4">
                  <c:v>40.200000000000003</c:v>
                </c:pt>
              </c:numCache>
            </c:numRef>
          </c:val>
          <c:extLst>
            <c:ext xmlns:c16="http://schemas.microsoft.com/office/drawing/2014/chart" uri="{C3380CC4-5D6E-409C-BE32-E72D297353CC}">
              <c16:uniqueId val="{00000001-5F96-4765-A40F-CF6785147F6C}"/>
            </c:ext>
          </c:extLst>
        </c:ser>
        <c:dLbls>
          <c:showLegendKey val="0"/>
          <c:showVal val="0"/>
          <c:showCatName val="0"/>
          <c:showSerName val="0"/>
          <c:showPercent val="0"/>
          <c:showBubbleSize val="0"/>
        </c:dLbls>
        <c:gapWidth val="75"/>
        <c:overlap val="100"/>
        <c:axId val="1554665984"/>
        <c:axId val="1204677120"/>
      </c:barChart>
      <c:lineChart>
        <c:grouping val="standard"/>
        <c:varyColors val="0"/>
        <c:ser>
          <c:idx val="2"/>
          <c:order val="2"/>
          <c:tx>
            <c:strRef>
              <c:f>'Graficos Presentacion'!$B$5</c:f>
              <c:strCache>
                <c:ptCount val="1"/>
                <c:pt idx="0">
                  <c:v>Assessment Gratuitos</c:v>
                </c:pt>
              </c:strCache>
            </c:strRef>
          </c:tx>
          <c:spPr>
            <a:ln w="28575" cap="rnd">
              <a:solidFill>
                <a:schemeClr val="accent3"/>
              </a:solidFill>
              <a:round/>
            </a:ln>
            <a:effectLst/>
          </c:spPr>
          <c:marker>
            <c:symbol val="none"/>
          </c:marker>
          <c:dLbls>
            <c:spPr>
              <a:solidFill>
                <a:srgbClr val="FFFFFF"/>
              </a:solidFill>
              <a:ln>
                <a:gradFill>
                  <a:gsLst>
                    <a:gs pos="0">
                      <a:srgbClr val="00BBEE">
                        <a:lumMod val="5000"/>
                        <a:lumOff val="95000"/>
                      </a:srgbClr>
                    </a:gs>
                    <a:gs pos="74000">
                      <a:srgbClr val="00BBEE">
                        <a:lumMod val="45000"/>
                        <a:lumOff val="55000"/>
                      </a:srgbClr>
                    </a:gs>
                    <a:gs pos="83000">
                      <a:srgbClr val="00BBEE">
                        <a:lumMod val="45000"/>
                        <a:lumOff val="55000"/>
                      </a:srgbClr>
                    </a:gs>
                    <a:gs pos="100000">
                      <a:srgbClr val="00BBEE">
                        <a:lumMod val="30000"/>
                        <a:lumOff val="70000"/>
                      </a:srgbClr>
                    </a:gs>
                  </a:gsLst>
                  <a:lin ang="5400000" scaled="1"/>
                </a:grad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'Graficos Presentacion'!$C$2:$G$2</c:f>
              <c:numCache>
                <c:formatCode>General</c:formatCode>
                <c:ptCount val="5"/>
                <c:pt idx="0">
                  <c:v>2022</c:v>
                </c:pt>
                <c:pt idx="1">
                  <c:v>2023</c:v>
                </c:pt>
                <c:pt idx="2">
                  <c:v>2024</c:v>
                </c:pt>
                <c:pt idx="3">
                  <c:v>2025</c:v>
                </c:pt>
                <c:pt idx="4">
                  <c:v>2026</c:v>
                </c:pt>
              </c:numCache>
            </c:numRef>
          </c:cat>
          <c:val>
            <c:numRef>
              <c:f>'Graficos Presentacion'!$C$5:$G$5</c:f>
              <c:numCache>
                <c:formatCode>0</c:formatCode>
                <c:ptCount val="5"/>
                <c:pt idx="0">
                  <c:v>72</c:v>
                </c:pt>
                <c:pt idx="1">
                  <c:v>25.125</c:v>
                </c:pt>
                <c:pt idx="2">
                  <c:v>20.100000000000001</c:v>
                </c:pt>
                <c:pt idx="3">
                  <c:v>15.074999999999999</c:v>
                </c:pt>
                <c:pt idx="4">
                  <c:v>10.050000000000001</c:v>
                </c:pt>
              </c:numCache>
            </c:numRef>
          </c:val>
          <c:smooth val="0"/>
          <c:extLst>
            <c:ext xmlns:c16="http://schemas.microsoft.com/office/drawing/2014/chart" uri="{C3380CC4-5D6E-409C-BE32-E72D297353CC}">
              <c16:uniqueId val="{00000002-5F96-4765-A40F-CF6785147F6C}"/>
            </c:ext>
          </c:extLst>
        </c:ser>
        <c:dLbls>
          <c:showLegendKey val="0"/>
          <c:showVal val="0"/>
          <c:showCatName val="0"/>
          <c:showSerName val="0"/>
          <c:showPercent val="0"/>
          <c:showBubbleSize val="0"/>
        </c:dLbls>
        <c:marker val="1"/>
        <c:smooth val="0"/>
        <c:axId val="1554665984"/>
        <c:axId val="1204677120"/>
      </c:lineChart>
      <c:catAx>
        <c:axId val="1554665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204677120"/>
        <c:crosses val="autoZero"/>
        <c:auto val="1"/>
        <c:lblAlgn val="ctr"/>
        <c:lblOffset val="100"/>
        <c:noMultiLvlLbl val="0"/>
      </c:catAx>
      <c:valAx>
        <c:axId val="1204677120"/>
        <c:scaling>
          <c:orientation val="minMax"/>
        </c:scaling>
        <c:delete val="1"/>
        <c:axPos val="l"/>
        <c:majorGridlines>
          <c:spPr>
            <a:ln w="9525" cap="flat" cmpd="sng" algn="ctr">
              <a:solidFill>
                <a:srgbClr val="000000">
                  <a:lumMod val="15000"/>
                  <a:lumOff val="85000"/>
                </a:srgbClr>
              </a:solidFill>
              <a:round/>
            </a:ln>
            <a:effectLst/>
          </c:spPr>
        </c:majorGridlines>
        <c:numFmt formatCode="0" sourceLinked="1"/>
        <c:majorTickMark val="none"/>
        <c:minorTickMark val="none"/>
        <c:tickLblPos val="nextTo"/>
        <c:crossAx val="15546659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legend>
    <c:plotVisOnly val="1"/>
    <c:dispBlanksAs val="gap"/>
    <c:showDLblsOverMax val="0"/>
  </c:chart>
  <c:spPr>
    <a:noFill/>
    <a:ln>
      <a:noFill/>
    </a:ln>
    <a:effectLst/>
  </c:spPr>
  <c:txPr>
    <a:bodyPr/>
    <a:lstStyle/>
    <a:p>
      <a:pPr>
        <a:defRPr sz="1200">
          <a:solidFill>
            <a:schemeClr val="bg1"/>
          </a:solidFill>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16602851945607"/>
          <c:y val="2.5831187090508311E-2"/>
          <c:w val="0.86814585373920339"/>
          <c:h val="0.81571583660248703"/>
        </c:manualLayout>
      </c:layout>
      <c:barChart>
        <c:barDir val="col"/>
        <c:grouping val="stacked"/>
        <c:varyColors val="0"/>
        <c:ser>
          <c:idx val="0"/>
          <c:order val="0"/>
          <c:tx>
            <c:strRef>
              <c:f>Sheet1!$I$5</c:f>
              <c:strCache>
                <c:ptCount val="1"/>
                <c:pt idx="0">
                  <c:v>Costo de RRHH</c:v>
                </c:pt>
              </c:strCache>
            </c:strRef>
          </c:tx>
          <c:spPr>
            <a:solidFill>
              <a:srgbClr val="7F0D2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Sheet1!$J$4:$N$4</c:f>
              <c:numCache>
                <c:formatCode>0</c:formatCode>
                <c:ptCount val="5"/>
                <c:pt idx="0">
                  <c:v>2022</c:v>
                </c:pt>
                <c:pt idx="1">
                  <c:v>2023</c:v>
                </c:pt>
                <c:pt idx="2">
                  <c:v>2024</c:v>
                </c:pt>
                <c:pt idx="3">
                  <c:v>2025</c:v>
                </c:pt>
                <c:pt idx="4">
                  <c:v>2026</c:v>
                </c:pt>
              </c:numCache>
            </c:numRef>
          </c:cat>
          <c:val>
            <c:numRef>
              <c:f>Sheet1!$J$5:$N$5</c:f>
              <c:numCache>
                <c:formatCode>0</c:formatCode>
                <c:ptCount val="5"/>
                <c:pt idx="0">
                  <c:v>112200</c:v>
                </c:pt>
                <c:pt idx="1">
                  <c:v>178750</c:v>
                </c:pt>
                <c:pt idx="2">
                  <c:v>183637.2</c:v>
                </c:pt>
                <c:pt idx="3">
                  <c:v>219296.68799999999</c:v>
                </c:pt>
                <c:pt idx="4">
                  <c:v>221999.48864</c:v>
                </c:pt>
              </c:numCache>
            </c:numRef>
          </c:val>
          <c:extLst>
            <c:ext xmlns:c16="http://schemas.microsoft.com/office/drawing/2014/chart" uri="{C3380CC4-5D6E-409C-BE32-E72D297353CC}">
              <c16:uniqueId val="{00000000-06EF-4244-9233-EA0934B1A749}"/>
            </c:ext>
          </c:extLst>
        </c:ser>
        <c:ser>
          <c:idx val="1"/>
          <c:order val="1"/>
          <c:tx>
            <c:strRef>
              <c:f>Sheet1!$I$6</c:f>
              <c:strCache>
                <c:ptCount val="1"/>
                <c:pt idx="0">
                  <c:v>Costo de Operativo </c:v>
                </c:pt>
              </c:strCache>
            </c:strRef>
          </c:tx>
          <c:spPr>
            <a:solidFill>
              <a:srgbClr val="9C102E"/>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Sheet1!$J$4:$N$4</c:f>
              <c:numCache>
                <c:formatCode>0</c:formatCode>
                <c:ptCount val="5"/>
                <c:pt idx="0">
                  <c:v>2022</c:v>
                </c:pt>
                <c:pt idx="1">
                  <c:v>2023</c:v>
                </c:pt>
                <c:pt idx="2">
                  <c:v>2024</c:v>
                </c:pt>
                <c:pt idx="3">
                  <c:v>2025</c:v>
                </c:pt>
                <c:pt idx="4">
                  <c:v>2026</c:v>
                </c:pt>
              </c:numCache>
            </c:numRef>
          </c:cat>
          <c:val>
            <c:numRef>
              <c:f>Sheet1!$J$6:$N$6</c:f>
              <c:numCache>
                <c:formatCode>0</c:formatCode>
                <c:ptCount val="5"/>
                <c:pt idx="0">
                  <c:v>70650</c:v>
                </c:pt>
                <c:pt idx="1">
                  <c:v>76800</c:v>
                </c:pt>
                <c:pt idx="2">
                  <c:v>87600</c:v>
                </c:pt>
                <c:pt idx="3">
                  <c:v>101400</c:v>
                </c:pt>
                <c:pt idx="4">
                  <c:v>101400</c:v>
                </c:pt>
              </c:numCache>
            </c:numRef>
          </c:val>
          <c:extLst>
            <c:ext xmlns:c16="http://schemas.microsoft.com/office/drawing/2014/chart" uri="{C3380CC4-5D6E-409C-BE32-E72D297353CC}">
              <c16:uniqueId val="{00000001-06EF-4244-9233-EA0934B1A749}"/>
            </c:ext>
          </c:extLst>
        </c:ser>
        <c:ser>
          <c:idx val="2"/>
          <c:order val="2"/>
          <c:tx>
            <c:strRef>
              <c:f>Sheet1!$I$7</c:f>
              <c:strCache>
                <c:ptCount val="1"/>
                <c:pt idx="0">
                  <c:v>Costo de Marketing</c:v>
                </c:pt>
              </c:strCache>
            </c:strRef>
          </c:tx>
          <c:spPr>
            <a:solidFill>
              <a:srgbClr val="778888"/>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Sheet1!$J$4:$N$4</c:f>
              <c:numCache>
                <c:formatCode>0</c:formatCode>
                <c:ptCount val="5"/>
                <c:pt idx="0">
                  <c:v>2022</c:v>
                </c:pt>
                <c:pt idx="1">
                  <c:v>2023</c:v>
                </c:pt>
                <c:pt idx="2">
                  <c:v>2024</c:v>
                </c:pt>
                <c:pt idx="3">
                  <c:v>2025</c:v>
                </c:pt>
                <c:pt idx="4">
                  <c:v>2026</c:v>
                </c:pt>
              </c:numCache>
            </c:numRef>
          </c:cat>
          <c:val>
            <c:numRef>
              <c:f>Sheet1!$J$7:$N$7</c:f>
              <c:numCache>
                <c:formatCode>0</c:formatCode>
                <c:ptCount val="5"/>
                <c:pt idx="0">
                  <c:v>24192</c:v>
                </c:pt>
                <c:pt idx="1">
                  <c:v>26611.200000000001</c:v>
                </c:pt>
                <c:pt idx="2">
                  <c:v>26611.200000000001</c:v>
                </c:pt>
                <c:pt idx="3">
                  <c:v>25280.639999999999</c:v>
                </c:pt>
                <c:pt idx="4">
                  <c:v>25280.639999999999</c:v>
                </c:pt>
              </c:numCache>
            </c:numRef>
          </c:val>
          <c:extLst>
            <c:ext xmlns:c16="http://schemas.microsoft.com/office/drawing/2014/chart" uri="{C3380CC4-5D6E-409C-BE32-E72D297353CC}">
              <c16:uniqueId val="{00000002-06EF-4244-9233-EA0934B1A749}"/>
            </c:ext>
          </c:extLst>
        </c:ser>
        <c:ser>
          <c:idx val="3"/>
          <c:order val="3"/>
          <c:tx>
            <c:strRef>
              <c:f>Sheet1!$I$8</c:f>
              <c:strCache>
                <c:ptCount val="1"/>
                <c:pt idx="0">
                  <c:v>Inmobiliario</c:v>
                </c:pt>
              </c:strCache>
            </c:strRef>
          </c:tx>
          <c:spPr>
            <a:solidFill>
              <a:srgbClr val="00BBEE"/>
            </a:solidFill>
            <a:ln>
              <a:noFill/>
            </a:ln>
            <a:effectLst/>
          </c:spPr>
          <c:invertIfNegative val="0"/>
          <c:cat>
            <c:numRef>
              <c:f>Sheet1!$J$4:$N$4</c:f>
              <c:numCache>
                <c:formatCode>0</c:formatCode>
                <c:ptCount val="5"/>
                <c:pt idx="0">
                  <c:v>2022</c:v>
                </c:pt>
                <c:pt idx="1">
                  <c:v>2023</c:v>
                </c:pt>
                <c:pt idx="2">
                  <c:v>2024</c:v>
                </c:pt>
                <c:pt idx="3">
                  <c:v>2025</c:v>
                </c:pt>
                <c:pt idx="4">
                  <c:v>2026</c:v>
                </c:pt>
              </c:numCache>
            </c:numRef>
          </c:cat>
          <c:val>
            <c:numRef>
              <c:f>Sheet1!$J$8:$N$8</c:f>
              <c:numCache>
                <c:formatCode>0</c:formatCode>
                <c:ptCount val="5"/>
                <c:pt idx="0">
                  <c:v>240</c:v>
                </c:pt>
                <c:pt idx="1">
                  <c:v>240</c:v>
                </c:pt>
                <c:pt idx="2">
                  <c:v>240</c:v>
                </c:pt>
                <c:pt idx="3">
                  <c:v>240</c:v>
                </c:pt>
                <c:pt idx="4">
                  <c:v>240</c:v>
                </c:pt>
              </c:numCache>
            </c:numRef>
          </c:val>
          <c:extLst>
            <c:ext xmlns:c16="http://schemas.microsoft.com/office/drawing/2014/chart" uri="{C3380CC4-5D6E-409C-BE32-E72D297353CC}">
              <c16:uniqueId val="{00000003-06EF-4244-9233-EA0934B1A749}"/>
            </c:ext>
          </c:extLst>
        </c:ser>
        <c:dLbls>
          <c:showLegendKey val="0"/>
          <c:showVal val="0"/>
          <c:showCatName val="0"/>
          <c:showSerName val="0"/>
          <c:showPercent val="0"/>
          <c:showBubbleSize val="0"/>
        </c:dLbls>
        <c:gapWidth val="219"/>
        <c:overlap val="100"/>
        <c:axId val="1214818399"/>
        <c:axId val="1121986111"/>
      </c:barChart>
      <c:lineChart>
        <c:grouping val="standard"/>
        <c:varyColors val="0"/>
        <c:ser>
          <c:idx val="4"/>
          <c:order val="4"/>
          <c:tx>
            <c:strRef>
              <c:f>Sheet1!$I$9</c:f>
              <c:strCache>
                <c:ptCount val="1"/>
                <c:pt idx="0">
                  <c:v>Costos Totales</c:v>
                </c:pt>
              </c:strCache>
            </c:strRef>
          </c:tx>
          <c:spPr>
            <a:ln w="28575" cap="rnd">
              <a:solidFill>
                <a:srgbClr val="FFFFFF"/>
              </a:solidFill>
              <a:round/>
            </a:ln>
            <a:effectLst/>
          </c:spPr>
          <c:marker>
            <c:symbol val="none"/>
          </c:marker>
          <c:dPt>
            <c:idx val="1"/>
            <c:marker>
              <c:symbol val="none"/>
            </c:marker>
            <c:bubble3D val="0"/>
            <c:extLst>
              <c:ext xmlns:c16="http://schemas.microsoft.com/office/drawing/2014/chart" uri="{C3380CC4-5D6E-409C-BE32-E72D297353CC}">
                <c16:uniqueId val="{00000008-06EF-4244-9233-EA0934B1A749}"/>
              </c:ext>
            </c:extLst>
          </c:dPt>
          <c:dPt>
            <c:idx val="2"/>
            <c:marker>
              <c:symbol val="none"/>
            </c:marker>
            <c:bubble3D val="0"/>
            <c:extLst>
              <c:ext xmlns:c16="http://schemas.microsoft.com/office/drawing/2014/chart" uri="{C3380CC4-5D6E-409C-BE32-E72D297353CC}">
                <c16:uniqueId val="{00000007-06EF-4244-9233-EA0934B1A749}"/>
              </c:ext>
            </c:extLst>
          </c:dPt>
          <c:dPt>
            <c:idx val="3"/>
            <c:marker>
              <c:symbol val="none"/>
            </c:marker>
            <c:bubble3D val="0"/>
            <c:extLst>
              <c:ext xmlns:c16="http://schemas.microsoft.com/office/drawing/2014/chart" uri="{C3380CC4-5D6E-409C-BE32-E72D297353CC}">
                <c16:uniqueId val="{00000005-06EF-4244-9233-EA0934B1A749}"/>
              </c:ext>
            </c:extLst>
          </c:dPt>
          <c:dPt>
            <c:idx val="4"/>
            <c:marker>
              <c:symbol val="none"/>
            </c:marker>
            <c:bubble3D val="0"/>
            <c:extLst>
              <c:ext xmlns:c16="http://schemas.microsoft.com/office/drawing/2014/chart" uri="{C3380CC4-5D6E-409C-BE32-E72D297353CC}">
                <c16:uniqueId val="{00000006-06EF-4244-9233-EA0934B1A749}"/>
              </c:ext>
            </c:extLst>
          </c:dPt>
          <c:dLbls>
            <c:dLbl>
              <c:idx val="0"/>
              <c:layout>
                <c:manualLayout>
                  <c:x val="-2.4232633279483037E-2"/>
                  <c:y val="-8.3951358044152005E-2"/>
                </c:manualLayout>
              </c:layout>
              <c:tx>
                <c:rich>
                  <a:bodyPr/>
                  <a:lstStyle/>
                  <a:p>
                    <a:fld id="{EC97F87F-164F-4E3C-9A18-4DC8E376EBF4}" type="VALUE">
                      <a:rPr lang="en-US" sz="1200" b="1" i="0" u="none" strike="noStrike" kern="1200" baseline="0">
                        <a:solidFill>
                          <a:schemeClr val="tx1"/>
                        </a:solidFill>
                        <a:latin typeface="+mn-lt"/>
                        <a:ea typeface="+mn-ea"/>
                        <a:cs typeface="+mn-cs"/>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06EF-4244-9233-EA0934B1A749}"/>
                </c:ext>
              </c:extLst>
            </c:dLbl>
            <c:dLbl>
              <c:idx val="1"/>
              <c:layout>
                <c:manualLayout>
                  <c:x val="4.0387722132471729E-3"/>
                  <c:y val="-6.13490693399572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06EF-4244-9233-EA0934B1A749}"/>
                </c:ext>
              </c:extLst>
            </c:dLbl>
            <c:dLbl>
              <c:idx val="2"/>
              <c:layout>
                <c:manualLayout>
                  <c:x val="-2.4232633279483037E-2"/>
                  <c:y val="-5.16623741810166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6EF-4244-9233-EA0934B1A749}"/>
                </c:ext>
              </c:extLst>
            </c:dLbl>
            <c:dLbl>
              <c:idx val="3"/>
              <c:layout>
                <c:manualLayout>
                  <c:x val="-1.2116316639741519E-2"/>
                  <c:y val="-4.84334757947030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6EF-4244-9233-EA0934B1A749}"/>
                </c:ext>
              </c:extLst>
            </c:dLbl>
            <c:dLbl>
              <c:idx val="4"/>
              <c:layout>
                <c:manualLayout>
                  <c:x val="-8.0775444264943458E-3"/>
                  <c:y val="-5.81201709536436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6EF-4244-9233-EA0934B1A749}"/>
                </c:ext>
              </c:extLst>
            </c:dLbl>
            <c:spPr>
              <a:solidFill>
                <a:srgbClr val="FFFFFF"/>
              </a:solid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Sheet1!$J$4:$N$4</c:f>
              <c:numCache>
                <c:formatCode>0</c:formatCode>
                <c:ptCount val="5"/>
                <c:pt idx="0">
                  <c:v>2022</c:v>
                </c:pt>
                <c:pt idx="1">
                  <c:v>2023</c:v>
                </c:pt>
                <c:pt idx="2">
                  <c:v>2024</c:v>
                </c:pt>
                <c:pt idx="3">
                  <c:v>2025</c:v>
                </c:pt>
                <c:pt idx="4">
                  <c:v>2026</c:v>
                </c:pt>
              </c:numCache>
            </c:numRef>
          </c:cat>
          <c:val>
            <c:numRef>
              <c:f>Sheet1!$J$9:$N$9</c:f>
              <c:numCache>
                <c:formatCode>#,##0</c:formatCode>
                <c:ptCount val="5"/>
                <c:pt idx="0">
                  <c:v>207282</c:v>
                </c:pt>
                <c:pt idx="1">
                  <c:v>282401.2</c:v>
                </c:pt>
                <c:pt idx="2">
                  <c:v>298088.40000000002</c:v>
                </c:pt>
                <c:pt idx="3">
                  <c:v>346217.32799999998</c:v>
                </c:pt>
                <c:pt idx="4">
                  <c:v>348920.12864000001</c:v>
                </c:pt>
              </c:numCache>
            </c:numRef>
          </c:val>
          <c:smooth val="0"/>
          <c:extLst>
            <c:ext xmlns:c16="http://schemas.microsoft.com/office/drawing/2014/chart" uri="{C3380CC4-5D6E-409C-BE32-E72D297353CC}">
              <c16:uniqueId val="{00000004-06EF-4244-9233-EA0934B1A749}"/>
            </c:ext>
          </c:extLst>
        </c:ser>
        <c:dLbls>
          <c:showLegendKey val="0"/>
          <c:showVal val="0"/>
          <c:showCatName val="0"/>
          <c:showSerName val="0"/>
          <c:showPercent val="0"/>
          <c:showBubbleSize val="0"/>
        </c:dLbls>
        <c:marker val="1"/>
        <c:smooth val="0"/>
        <c:axId val="1214818399"/>
        <c:axId val="1121986111"/>
      </c:lineChart>
      <c:catAx>
        <c:axId val="1214818399"/>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121986111"/>
        <c:crosses val="autoZero"/>
        <c:auto val="1"/>
        <c:lblAlgn val="ctr"/>
        <c:lblOffset val="100"/>
        <c:noMultiLvlLbl val="0"/>
      </c:catAx>
      <c:valAx>
        <c:axId val="112198611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214818399"/>
        <c:crosses val="autoZero"/>
        <c:crossBetween val="between"/>
        <c:dispUnits>
          <c:builtInUnit val="hundreds"/>
          <c:dispUnitsLbl>
            <c:spPr>
              <a:noFill/>
              <a:ln>
                <a:noFill/>
              </a:ln>
              <a:effectLst/>
            </c:spPr>
            <c:txPr>
              <a:bodyPr rot="-5400000" spcFirstLastPara="1" vertOverflow="ellipsis" vert="horz" wrap="square" anchor="ctr" anchorCtr="1"/>
              <a:lstStyle/>
              <a:p>
                <a:pPr>
                  <a:defRPr sz="1200" b="1" i="0" u="none" strike="noStrike" kern="1200" baseline="0">
                    <a:solidFill>
                      <a:schemeClr val="bg1"/>
                    </a:solidFill>
                    <a:latin typeface="+mn-lt"/>
                    <a:ea typeface="+mn-ea"/>
                    <a:cs typeface="+mn-cs"/>
                  </a:defRPr>
                </a:pPr>
                <a:endParaRPr lang="en-US"/>
              </a:p>
            </c:txPr>
          </c:dispUnitsLbl>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6">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dk1">
            <a:lumMod val="75000"/>
            <a:lumOff val="25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dk1">
            <a:lumMod val="75000"/>
            <a:lumOff val="25000"/>
          </a:schemeClr>
        </a:solidFill>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dirty="0">
              <a:latin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128"/>
              </a:defRPr>
            </a:lvl1pPr>
          </a:lstStyle>
          <a:p>
            <a:pPr>
              <a:defRPr/>
            </a:pPr>
            <a:fld id="{5E4C7717-A413-48EB-9E74-9CC8DF624EC2}" type="datetime1">
              <a:rPr lang="en-US">
                <a:latin typeface="Arial" pitchFamily="34" charset="0"/>
              </a:rPr>
              <a:pPr>
                <a:defRPr/>
              </a:pPr>
              <a:t>8/22/2024</a:t>
            </a:fld>
            <a:endParaRPr lang="en-US" dirty="0">
              <a:latin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dirty="0">
              <a:latin typeface="Arial"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128"/>
              </a:defRPr>
            </a:lvl1pPr>
          </a:lstStyle>
          <a:p>
            <a:pPr>
              <a:defRPr/>
            </a:pPr>
            <a:fld id="{311B6921-662F-4705-A734-0B75ECCE1C4E}" type="slidenum">
              <a:rPr lang="en-US">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2985723160"/>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ink>
</file>

<file path=ppt/ink/ink2.xml><?xml version="1.0" encoding="utf-8"?>
<inkml:ink xmlns:inkml="http://www.w3.org/2003/InkML">
  <inkml:definitions/>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Arial" pitchFamily="34" charset="0"/>
                <a:ea typeface="+mn-ea"/>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fld id="{4612C19A-B064-4A02-B1DD-2674A5B33712}" type="datetime1">
              <a:rPr lang="en-US" smtClean="0"/>
              <a:pPr>
                <a:defRPr/>
              </a:pPr>
              <a:t>8/22/2024</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Arial" pitchFamily="34" charset="0"/>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2E57817C-C749-40AE-A5FD-F6A74744A7F9}" type="slidenum">
              <a:rPr lang="en-US" smtClean="0"/>
              <a:pPr>
                <a:defRPr/>
              </a:pPr>
              <a:t>‹#›</a:t>
            </a:fld>
            <a:endParaRPr lang="en-US" dirty="0"/>
          </a:p>
        </p:txBody>
      </p:sp>
    </p:spTree>
    <p:extLst>
      <p:ext uri="{BB962C8B-B14F-4D97-AF65-F5344CB8AC3E}">
        <p14:creationId xmlns:p14="http://schemas.microsoft.com/office/powerpoint/2010/main" val="1795906298"/>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itchFamily="34" charset="0"/>
        <a:ea typeface="Arial" pitchFamily="34" charset="0"/>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Arial" pitchFamily="34"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Arial" pitchFamily="34"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Arial" pitchFamily="34"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Arial"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spc="-50" dirty="0">
                <a:solidFill>
                  <a:prstClr val="white"/>
                </a:solidFill>
                <a:latin typeface="Arial"/>
              </a:rPr>
              <a:t>En general, el mercado en Colombia presenta oportunidades para empresas especializadas en este campo. Sin embargo, es fundamental mantenerse actualizado sobre los cambios en el entorno empresarial y desarrollar estrategias efectivas para diferenciarse y mantener una ventaja competitiva en un mercado dinámico y en constante evolución</a:t>
            </a:r>
          </a:p>
          <a:p>
            <a:endParaRPr lang="en-US" dirty="0"/>
          </a:p>
        </p:txBody>
      </p:sp>
    </p:spTree>
    <p:extLst>
      <p:ext uri="{BB962C8B-B14F-4D97-AF65-F5344CB8AC3E}">
        <p14:creationId xmlns:p14="http://schemas.microsoft.com/office/powerpoint/2010/main" val="39953816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spc="-50" dirty="0">
                <a:solidFill>
                  <a:prstClr val="white"/>
                </a:solidFill>
                <a:latin typeface="Arial"/>
              </a:rPr>
              <a:t>En general, el mercado en Colombia presenta oportunidades para empresas especializadas en este campo. Sin embargo, es fundamental mantenerse actualizado sobre los cambios en el entorno empresarial y desarrollar estrategias efectivas para diferenciarse y mantener una ventaja competitiva en un mercado dinámico y en constante evolución</a:t>
            </a:r>
          </a:p>
          <a:p>
            <a:endParaRPr lang="en-US" dirty="0"/>
          </a:p>
        </p:txBody>
      </p:sp>
    </p:spTree>
    <p:extLst>
      <p:ext uri="{BB962C8B-B14F-4D97-AF65-F5344CB8AC3E}">
        <p14:creationId xmlns:p14="http://schemas.microsoft.com/office/powerpoint/2010/main" val="523767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spc="-50" dirty="0">
                <a:solidFill>
                  <a:prstClr val="white"/>
                </a:solidFill>
                <a:latin typeface="Arial"/>
              </a:rPr>
              <a:t>En general, el mercado en Colombia presenta oportunidades para empresas especializadas en este campo. Sin embargo, es fundamental mantenerse actualizado sobre los cambios en el entorno empresarial y desarrollar estrategias efectivas para diferenciarse y mantener una ventaja competitiva en un mercado dinámico y en constante evolución</a:t>
            </a:r>
          </a:p>
          <a:p>
            <a:endParaRPr lang="en-US" dirty="0"/>
          </a:p>
        </p:txBody>
      </p:sp>
    </p:spTree>
    <p:extLst>
      <p:ext uri="{BB962C8B-B14F-4D97-AF65-F5344CB8AC3E}">
        <p14:creationId xmlns:p14="http://schemas.microsoft.com/office/powerpoint/2010/main" val="2352031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spc="-50" dirty="0">
                <a:solidFill>
                  <a:prstClr val="white"/>
                </a:solidFill>
                <a:latin typeface="Arial"/>
              </a:rPr>
              <a:t>En general, el mercado en Colombia presenta oportunidades para empresas especializadas en este campo. Sin embargo, es fundamental mantenerse actualizado sobre los cambios en el entorno empresarial y desarrollar estrategias efectivas para diferenciarse y mantener una ventaja competitiva en un mercado dinámico y en constante evolución</a:t>
            </a:r>
          </a:p>
          <a:p>
            <a:endParaRPr lang="en-US" dirty="0"/>
          </a:p>
        </p:txBody>
      </p:sp>
    </p:spTree>
    <p:extLst>
      <p:ext uri="{BB962C8B-B14F-4D97-AF65-F5344CB8AC3E}">
        <p14:creationId xmlns:p14="http://schemas.microsoft.com/office/powerpoint/2010/main" val="243395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spc="-50" dirty="0">
                <a:solidFill>
                  <a:prstClr val="white"/>
                </a:solidFill>
                <a:latin typeface="Arial"/>
              </a:rPr>
              <a:t>En general, el mercado en Colombia presenta oportunidades para empresas especializadas en este campo. Sin embargo, es fundamental mantenerse actualizado sobre los cambios en el entorno empresarial y desarrollar estrategias efectivas para diferenciarse y mantener una ventaja competitiva en un mercado dinámico y en constante evolución</a:t>
            </a:r>
          </a:p>
          <a:p>
            <a:endParaRPr lang="en-US" dirty="0"/>
          </a:p>
        </p:txBody>
      </p:sp>
    </p:spTree>
    <p:extLst>
      <p:ext uri="{BB962C8B-B14F-4D97-AF65-F5344CB8AC3E}">
        <p14:creationId xmlns:p14="http://schemas.microsoft.com/office/powerpoint/2010/main" val="3406318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spc="-50" dirty="0">
                <a:solidFill>
                  <a:prstClr val="white"/>
                </a:solidFill>
                <a:latin typeface="Arial"/>
              </a:rPr>
              <a:t>En general, el mercado en Colombia presenta oportunidades para empresas especializadas en este campo. Sin embargo, es fundamental mantenerse actualizado sobre los cambios en el entorno empresarial y desarrollar estrategias efectivas para diferenciarse y mantener una ventaja competitiva en un mercado dinámico y en constante evolución</a:t>
            </a:r>
          </a:p>
          <a:p>
            <a:endParaRPr lang="en-US" dirty="0"/>
          </a:p>
        </p:txBody>
      </p:sp>
    </p:spTree>
    <p:extLst>
      <p:ext uri="{BB962C8B-B14F-4D97-AF65-F5344CB8AC3E}">
        <p14:creationId xmlns:p14="http://schemas.microsoft.com/office/powerpoint/2010/main" val="7599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spc="-50" dirty="0">
                <a:solidFill>
                  <a:prstClr val="white"/>
                </a:solidFill>
                <a:latin typeface="Arial"/>
              </a:rPr>
              <a:t>En general, el mercado en Colombia presenta oportunidades para empresas especializadas en este campo. Sin embargo, es fundamental mantenerse actualizado sobre los cambios en el entorno empresarial y desarrollar estrategias efectivas para diferenciarse y mantener una ventaja competitiva en un mercado dinámico y en constante evolución</a:t>
            </a:r>
          </a:p>
          <a:p>
            <a:endParaRPr lang="en-US" dirty="0"/>
          </a:p>
        </p:txBody>
      </p:sp>
    </p:spTree>
    <p:extLst>
      <p:ext uri="{BB962C8B-B14F-4D97-AF65-F5344CB8AC3E}">
        <p14:creationId xmlns:p14="http://schemas.microsoft.com/office/powerpoint/2010/main" val="1277172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spc="-50" dirty="0">
                <a:solidFill>
                  <a:prstClr val="white"/>
                </a:solidFill>
                <a:latin typeface="Arial"/>
              </a:rPr>
              <a:t>En general, el mercado en Colombia presenta oportunidades para empresas especializadas en este campo. Sin embargo, es fundamental mantenerse actualizado sobre los cambios en el entorno empresarial y desarrollar estrategias efectivas para diferenciarse y mantener una ventaja competitiva en un mercado dinámico y en constante evolución</a:t>
            </a:r>
          </a:p>
          <a:p>
            <a:endParaRPr lang="en-US" dirty="0"/>
          </a:p>
        </p:txBody>
      </p:sp>
    </p:spTree>
    <p:extLst>
      <p:ext uri="{BB962C8B-B14F-4D97-AF65-F5344CB8AC3E}">
        <p14:creationId xmlns:p14="http://schemas.microsoft.com/office/powerpoint/2010/main" val="2241536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spc="-50" dirty="0">
                <a:solidFill>
                  <a:prstClr val="white"/>
                </a:solidFill>
                <a:latin typeface="Arial"/>
              </a:rPr>
              <a:t>En general, el mercado en Colombia presenta oportunidades para empresas especializadas en este campo. Sin embargo, es fundamental mantenerse actualizado sobre los cambios en el entorno empresarial y desarrollar estrategias efectivas para diferenciarse y mantener una ventaja competitiva en un mercado dinámico y en constante evolución</a:t>
            </a:r>
          </a:p>
          <a:p>
            <a:endParaRPr lang="en-US" dirty="0"/>
          </a:p>
        </p:txBody>
      </p:sp>
    </p:spTree>
    <p:extLst>
      <p:ext uri="{BB962C8B-B14F-4D97-AF65-F5344CB8AC3E}">
        <p14:creationId xmlns:p14="http://schemas.microsoft.com/office/powerpoint/2010/main" val="54174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En base al diagnóstico y </a:t>
            </a:r>
            <a:endParaRPr lang="en-US" dirty="0"/>
          </a:p>
        </p:txBody>
      </p:sp>
    </p:spTree>
    <p:extLst>
      <p:ext uri="{BB962C8B-B14F-4D97-AF65-F5344CB8AC3E}">
        <p14:creationId xmlns:p14="http://schemas.microsoft.com/office/powerpoint/2010/main" val="2857409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En base al diagnóstico y </a:t>
            </a:r>
            <a:endParaRPr lang="en-US" dirty="0"/>
          </a:p>
        </p:txBody>
      </p:sp>
    </p:spTree>
    <p:extLst>
      <p:ext uri="{BB962C8B-B14F-4D97-AF65-F5344CB8AC3E}">
        <p14:creationId xmlns:p14="http://schemas.microsoft.com/office/powerpoint/2010/main" val="11611863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En base al diagnóstico y </a:t>
            </a:r>
            <a:endParaRPr lang="en-US" dirty="0"/>
          </a:p>
        </p:txBody>
      </p:sp>
    </p:spTree>
    <p:extLst>
      <p:ext uri="{BB962C8B-B14F-4D97-AF65-F5344CB8AC3E}">
        <p14:creationId xmlns:p14="http://schemas.microsoft.com/office/powerpoint/2010/main" val="29242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En base al diagnóstico y </a:t>
            </a:r>
            <a:endParaRPr lang="en-US" dirty="0"/>
          </a:p>
        </p:txBody>
      </p:sp>
    </p:spTree>
    <p:extLst>
      <p:ext uri="{BB962C8B-B14F-4D97-AF65-F5344CB8AC3E}">
        <p14:creationId xmlns:p14="http://schemas.microsoft.com/office/powerpoint/2010/main" val="2342431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En base al diagnóstico y </a:t>
            </a:r>
            <a:endParaRPr lang="en-US" dirty="0"/>
          </a:p>
        </p:txBody>
      </p:sp>
    </p:spTree>
    <p:extLst>
      <p:ext uri="{BB962C8B-B14F-4D97-AF65-F5344CB8AC3E}">
        <p14:creationId xmlns:p14="http://schemas.microsoft.com/office/powerpoint/2010/main" val="29668504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En base al diagnóstico y </a:t>
            </a:r>
            <a:endParaRPr lang="en-US" dirty="0"/>
          </a:p>
        </p:txBody>
      </p:sp>
    </p:spTree>
    <p:extLst>
      <p:ext uri="{BB962C8B-B14F-4D97-AF65-F5344CB8AC3E}">
        <p14:creationId xmlns:p14="http://schemas.microsoft.com/office/powerpoint/2010/main" val="3038312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Poner las exigencia</a:t>
            </a:r>
            <a:endParaRPr lang="en-US" dirty="0"/>
          </a:p>
        </p:txBody>
      </p:sp>
    </p:spTree>
    <p:extLst>
      <p:ext uri="{BB962C8B-B14F-4D97-AF65-F5344CB8AC3E}">
        <p14:creationId xmlns:p14="http://schemas.microsoft.com/office/powerpoint/2010/main" val="33453436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Poner las exigencia</a:t>
            </a:r>
            <a:endParaRPr lang="en-US" dirty="0"/>
          </a:p>
        </p:txBody>
      </p:sp>
    </p:spTree>
    <p:extLst>
      <p:ext uri="{BB962C8B-B14F-4D97-AF65-F5344CB8AC3E}">
        <p14:creationId xmlns:p14="http://schemas.microsoft.com/office/powerpoint/2010/main" val="3127907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dirty="0"/>
              <a:t>Poner las exigencia</a:t>
            </a:r>
            <a:endParaRPr lang="en-US" dirty="0"/>
          </a:p>
        </p:txBody>
      </p:sp>
    </p:spTree>
    <p:extLst>
      <p:ext uri="{BB962C8B-B14F-4D97-AF65-F5344CB8AC3E}">
        <p14:creationId xmlns:p14="http://schemas.microsoft.com/office/powerpoint/2010/main" val="25655857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9870" indent="-229870"/>
            <a:r>
              <a:rPr lang="es-ES" sz="1200" dirty="0">
                <a:cs typeface="Arial"/>
              </a:rPr>
              <a:t>En base a la Jornada laboral de 176HH/MES, se estima que los consultores mensualmente se encontraran productivos 134 horas, 32 horas </a:t>
            </a:r>
            <a:r>
              <a:rPr lang="es-ES" sz="1200" dirty="0" err="1">
                <a:cs typeface="Arial"/>
              </a:rPr>
              <a:t>capacitacion</a:t>
            </a:r>
            <a:r>
              <a:rPr lang="es-ES" sz="1200" dirty="0">
                <a:cs typeface="Arial"/>
              </a:rPr>
              <a:t> y 10 horas en tiempos.</a:t>
            </a:r>
          </a:p>
          <a:p>
            <a:pPr marL="229870" indent="-229870"/>
            <a:r>
              <a:rPr lang="es-ES" sz="1200" dirty="0">
                <a:cs typeface="Arial"/>
              </a:rPr>
              <a:t>La </a:t>
            </a:r>
            <a:r>
              <a:rPr lang="es-ES" sz="1200" dirty="0" err="1">
                <a:cs typeface="Arial"/>
              </a:rPr>
              <a:t>proyeccion</a:t>
            </a:r>
            <a:r>
              <a:rPr lang="es-ES" sz="1200" dirty="0">
                <a:cs typeface="Arial"/>
              </a:rPr>
              <a:t> de horas vendidas asociadas a Contratos y </a:t>
            </a:r>
            <a:r>
              <a:rPr lang="es-ES" sz="1200" dirty="0" err="1">
                <a:cs typeface="Arial"/>
              </a:rPr>
              <a:t>Assessment</a:t>
            </a:r>
            <a:r>
              <a:rPr lang="es-ES" sz="1200" dirty="0">
                <a:cs typeface="Arial"/>
              </a:rPr>
              <a:t> pagados </a:t>
            </a:r>
            <a:r>
              <a:rPr lang="es-ES" sz="1200" dirty="0" err="1">
                <a:cs typeface="Arial"/>
              </a:rPr>
              <a:t>sera</a:t>
            </a:r>
            <a:r>
              <a:rPr lang="es-ES" sz="1200" dirty="0">
                <a:cs typeface="Arial"/>
              </a:rPr>
              <a:t> en base a las horas trabajadas por consultor (134 horas mes por cada consultor), en la cual, se generaran los ingresos.</a:t>
            </a:r>
            <a:endParaRPr lang="es-ES" dirty="0">
              <a:cs typeface="Arial"/>
            </a:endParaRPr>
          </a:p>
          <a:p>
            <a:pPr marL="229870" indent="-229870"/>
            <a:r>
              <a:rPr lang="es-ES" sz="1200" dirty="0">
                <a:cs typeface="Arial"/>
              </a:rPr>
              <a:t>En base al Cantidad de Consultores que se encuentren año contra año se realizo un </a:t>
            </a:r>
            <a:r>
              <a:rPr lang="es-ES" sz="1200" dirty="0" err="1">
                <a:cs typeface="Arial"/>
              </a:rPr>
              <a:t>planificacion</a:t>
            </a:r>
            <a:r>
              <a:rPr lang="es-ES" sz="1200" dirty="0">
                <a:cs typeface="Arial"/>
              </a:rPr>
              <a:t> asociada a contratos, </a:t>
            </a:r>
            <a:r>
              <a:rPr lang="es-ES" sz="1200" dirty="0" err="1">
                <a:cs typeface="Arial"/>
              </a:rPr>
              <a:t>assessmenta</a:t>
            </a:r>
            <a:r>
              <a:rPr lang="es-ES" sz="1200" dirty="0">
                <a:cs typeface="Arial"/>
              </a:rPr>
              <a:t> pagados y </a:t>
            </a:r>
            <a:r>
              <a:rPr lang="es-ES" sz="1200" dirty="0" err="1">
                <a:cs typeface="Arial"/>
              </a:rPr>
              <a:t>assessment</a:t>
            </a:r>
            <a:r>
              <a:rPr lang="es-ES" sz="1200" dirty="0">
                <a:cs typeface="Arial"/>
              </a:rPr>
              <a:t> gratuitos y de esta forma </a:t>
            </a:r>
          </a:p>
          <a:p>
            <a:pPr marL="229870" indent="-229870"/>
            <a:endParaRPr lang="es-ES" sz="1200" dirty="0">
              <a:cs typeface="Arial"/>
            </a:endParaRPr>
          </a:p>
          <a:p>
            <a:pPr marL="229870" indent="-229870"/>
            <a:r>
              <a:rPr lang="es-ES" sz="1400" dirty="0">
                <a:cs typeface="Arial"/>
              </a:rPr>
              <a:t>Se consideran contratos de 128 horas por cliente y 16 horas por </a:t>
            </a:r>
            <a:r>
              <a:rPr lang="es-ES" sz="1400" dirty="0" err="1">
                <a:cs typeface="Arial"/>
              </a:rPr>
              <a:t>assessment</a:t>
            </a:r>
            <a:r>
              <a:rPr lang="es-ES" sz="1400" dirty="0">
                <a:cs typeface="Arial"/>
              </a:rPr>
              <a:t>.</a:t>
            </a:r>
            <a:endParaRPr lang="es-ES" dirty="0"/>
          </a:p>
          <a:p>
            <a:pPr lvl="1" indent="-229870"/>
            <a:r>
              <a:rPr lang="es-ES" sz="1200" dirty="0">
                <a:cs typeface="Arial"/>
              </a:rPr>
              <a:t>Los </a:t>
            </a:r>
            <a:r>
              <a:rPr lang="es-ES" sz="1200" dirty="0" err="1">
                <a:cs typeface="Arial"/>
              </a:rPr>
              <a:t>assessment</a:t>
            </a:r>
            <a:r>
              <a:rPr lang="es-ES" sz="1200" dirty="0">
                <a:cs typeface="Arial"/>
              </a:rPr>
              <a:t> </a:t>
            </a:r>
            <a:r>
              <a:rPr lang="es-ES" sz="1200" dirty="0" err="1">
                <a:cs typeface="Arial"/>
              </a:rPr>
              <a:t>seran</a:t>
            </a:r>
            <a:r>
              <a:rPr lang="es-ES" sz="1200" dirty="0">
                <a:cs typeface="Arial"/>
              </a:rPr>
              <a:t> el primer año gratuitos y anualmente </a:t>
            </a:r>
            <a:r>
              <a:rPr lang="es-ES" sz="1200" dirty="0" err="1">
                <a:cs typeface="Arial"/>
              </a:rPr>
              <a:t>disminuiran</a:t>
            </a:r>
            <a:r>
              <a:rPr lang="es-ES" sz="1200" dirty="0">
                <a:cs typeface="Arial"/>
              </a:rPr>
              <a:t> estos (</a:t>
            </a:r>
            <a:r>
              <a:rPr lang="es-ES" sz="1200" dirty="0" err="1">
                <a:cs typeface="Arial"/>
              </a:rPr>
              <a:t>Promocion</a:t>
            </a:r>
            <a:r>
              <a:rPr lang="es-ES" sz="1200" dirty="0">
                <a:cs typeface="Arial"/>
              </a:rPr>
              <a:t>).</a:t>
            </a:r>
            <a:endParaRPr lang="es-ES" sz="1200" dirty="0"/>
          </a:p>
          <a:p>
            <a:pPr marL="229870" indent="-229870"/>
            <a:endParaRPr lang="es-ES" sz="1200" dirty="0">
              <a:cs typeface="Arial"/>
            </a:endParaRPr>
          </a:p>
          <a:p>
            <a:pPr marL="229870" indent="-229870"/>
            <a:endParaRPr lang="en-US" dirty="0"/>
          </a:p>
        </p:txBody>
      </p:sp>
    </p:spTree>
    <p:extLst>
      <p:ext uri="{BB962C8B-B14F-4D97-AF65-F5344CB8AC3E}">
        <p14:creationId xmlns:p14="http://schemas.microsoft.com/office/powerpoint/2010/main" val="7848788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9870" indent="-229870"/>
            <a:r>
              <a:rPr lang="en-US" sz="1200" dirty="0">
                <a:cs typeface="Arial"/>
              </a:rPr>
              <a:t>A </a:t>
            </a:r>
            <a:r>
              <a:rPr lang="en-US" sz="1200" dirty="0" err="1">
                <a:cs typeface="Arial"/>
              </a:rPr>
              <a:t>excepcion</a:t>
            </a:r>
            <a:r>
              <a:rPr lang="en-US" sz="1200" dirty="0">
                <a:cs typeface="Arial"/>
              </a:rPr>
              <a:t> del </a:t>
            </a:r>
            <a:r>
              <a:rPr lang="en-US" sz="1200" dirty="0" err="1">
                <a:cs typeface="Arial"/>
              </a:rPr>
              <a:t>Moviliario</a:t>
            </a:r>
            <a:r>
              <a:rPr lang="en-US" sz="1200" dirty="0">
                <a:cs typeface="Arial"/>
              </a:rPr>
              <a:t>, </a:t>
            </a:r>
            <a:r>
              <a:rPr lang="en-US" sz="1200" dirty="0" err="1">
                <a:cs typeface="Arial"/>
              </a:rPr>
              <a:t>todo</a:t>
            </a:r>
            <a:r>
              <a:rPr lang="en-US" sz="1200" dirty="0">
                <a:cs typeface="Arial"/>
              </a:rPr>
              <a:t> se </a:t>
            </a:r>
            <a:r>
              <a:rPr lang="en-US" sz="1200" dirty="0" err="1">
                <a:cs typeface="Arial"/>
              </a:rPr>
              <a:t>considera</a:t>
            </a:r>
            <a:r>
              <a:rPr lang="en-US" sz="1200" dirty="0">
                <a:cs typeface="Arial"/>
              </a:rPr>
              <a:t> </a:t>
            </a:r>
            <a:r>
              <a:rPr lang="en-US" sz="1200" dirty="0" err="1">
                <a:cs typeface="Arial"/>
              </a:rPr>
              <a:t>como</a:t>
            </a:r>
            <a:r>
              <a:rPr lang="en-US" sz="1200" dirty="0">
                <a:cs typeface="Arial"/>
              </a:rPr>
              <a:t> </a:t>
            </a:r>
            <a:r>
              <a:rPr lang="en-US" sz="1200" dirty="0" err="1">
                <a:cs typeface="Arial"/>
              </a:rPr>
              <a:t>gasto</a:t>
            </a:r>
            <a:r>
              <a:rPr lang="en-US" sz="1200" dirty="0">
                <a:cs typeface="Arial"/>
              </a:rPr>
              <a:t>, al final del </a:t>
            </a:r>
            <a:r>
              <a:rPr lang="en-US" sz="1200" dirty="0" err="1">
                <a:cs typeface="Arial"/>
              </a:rPr>
              <a:t>ejercicio</a:t>
            </a:r>
            <a:r>
              <a:rPr lang="en-US" sz="1200" dirty="0">
                <a:cs typeface="Arial"/>
              </a:rPr>
              <a:t> se </a:t>
            </a:r>
            <a:r>
              <a:rPr lang="en-US" sz="1200" dirty="0" err="1">
                <a:cs typeface="Arial"/>
              </a:rPr>
              <a:t>considera</a:t>
            </a:r>
            <a:r>
              <a:rPr lang="en-US" sz="1200" dirty="0">
                <a:cs typeface="Arial"/>
              </a:rPr>
              <a:t> </a:t>
            </a:r>
            <a:r>
              <a:rPr lang="en-US" sz="1200" dirty="0" err="1">
                <a:cs typeface="Arial"/>
              </a:rPr>
              <a:t>una</a:t>
            </a:r>
            <a:r>
              <a:rPr lang="en-US" sz="1200" dirty="0">
                <a:cs typeface="Arial"/>
              </a:rPr>
              <a:t> </a:t>
            </a:r>
            <a:r>
              <a:rPr lang="en-US" sz="1200" dirty="0" err="1">
                <a:cs typeface="Arial"/>
              </a:rPr>
              <a:t>depreciacion</a:t>
            </a:r>
            <a:r>
              <a:rPr lang="en-US" sz="1200" dirty="0">
                <a:cs typeface="Arial"/>
              </a:rPr>
              <a:t> del 50% de </a:t>
            </a:r>
            <a:r>
              <a:rPr lang="en-US" sz="1200" dirty="0" err="1">
                <a:cs typeface="Arial"/>
              </a:rPr>
              <a:t>estos</a:t>
            </a:r>
            <a:r>
              <a:rPr lang="en-US" sz="1200" dirty="0">
                <a:cs typeface="Arial"/>
              </a:rPr>
              <a:t> </a:t>
            </a:r>
            <a:r>
              <a:rPr lang="en-US" sz="1200" dirty="0" err="1">
                <a:cs typeface="Arial"/>
              </a:rPr>
              <a:t>muebles</a:t>
            </a:r>
            <a:r>
              <a:rPr lang="en-US" sz="1200" dirty="0">
                <a:cs typeface="Arial"/>
              </a:rPr>
              <a:t>, </a:t>
            </a:r>
            <a:r>
              <a:rPr lang="en-US" sz="1200" dirty="0" err="1">
                <a:cs typeface="Arial"/>
              </a:rPr>
              <a:t>segun</a:t>
            </a:r>
            <a:r>
              <a:rPr lang="en-US" sz="1200" dirty="0">
                <a:cs typeface="Arial"/>
              </a:rPr>
              <a:t> </a:t>
            </a:r>
            <a:r>
              <a:rPr lang="en-US" sz="1200" dirty="0" err="1">
                <a:cs typeface="Arial"/>
              </a:rPr>
              <a:t>normativa</a:t>
            </a:r>
            <a:r>
              <a:rPr lang="en-US" sz="1200" dirty="0">
                <a:cs typeface="Arial"/>
              </a:rPr>
              <a:t> </a:t>
            </a:r>
            <a:endParaRPr lang="en-US" sz="1200" dirty="0"/>
          </a:p>
          <a:p>
            <a:pPr marL="229870" indent="-229870"/>
            <a:r>
              <a:rPr lang="en-US" sz="1200" dirty="0">
                <a:cs typeface="Arial"/>
              </a:rPr>
              <a:t>Los </a:t>
            </a:r>
            <a:r>
              <a:rPr lang="en-US" sz="1200" dirty="0" err="1">
                <a:cs typeface="Arial"/>
              </a:rPr>
              <a:t>costos</a:t>
            </a:r>
            <a:r>
              <a:rPr lang="en-US" sz="1200" dirty="0">
                <a:cs typeface="Arial"/>
              </a:rPr>
              <a:t> </a:t>
            </a:r>
            <a:r>
              <a:rPr lang="en-US" sz="1200" dirty="0" err="1">
                <a:cs typeface="Arial"/>
              </a:rPr>
              <a:t>asociados</a:t>
            </a:r>
            <a:r>
              <a:rPr lang="en-US" sz="1200" dirty="0">
                <a:cs typeface="Arial"/>
              </a:rPr>
              <a:t> a Marketing </a:t>
            </a:r>
            <a:r>
              <a:rPr lang="en-US" sz="1200" dirty="0" err="1">
                <a:cs typeface="Arial"/>
              </a:rPr>
              <a:t>variaran</a:t>
            </a:r>
            <a:r>
              <a:rPr lang="en-US" sz="1200" dirty="0">
                <a:cs typeface="Arial"/>
              </a:rPr>
              <a:t> </a:t>
            </a:r>
            <a:r>
              <a:rPr lang="en-US" sz="1200" dirty="0" err="1">
                <a:cs typeface="Arial"/>
              </a:rPr>
              <a:t>anualmente</a:t>
            </a:r>
            <a:r>
              <a:rPr lang="en-US" sz="1200" dirty="0">
                <a:cs typeface="Arial"/>
              </a:rPr>
              <a:t> </a:t>
            </a:r>
            <a:r>
              <a:rPr lang="en-US" sz="1200" dirty="0" err="1">
                <a:cs typeface="Arial"/>
              </a:rPr>
              <a:t>por</a:t>
            </a:r>
            <a:r>
              <a:rPr lang="en-US" sz="1200" dirty="0">
                <a:cs typeface="Arial"/>
              </a:rPr>
              <a:t> las </a:t>
            </a:r>
            <a:r>
              <a:rPr lang="en-US" sz="1200" dirty="0" err="1">
                <a:cs typeface="Arial"/>
              </a:rPr>
              <a:t>campañas</a:t>
            </a:r>
            <a:r>
              <a:rPr lang="en-US" sz="1200" dirty="0">
                <a:cs typeface="Arial"/>
              </a:rPr>
              <a:t> a </a:t>
            </a:r>
            <a:r>
              <a:rPr lang="en-US" sz="1200" dirty="0" err="1">
                <a:cs typeface="Arial"/>
              </a:rPr>
              <a:t>realizar</a:t>
            </a:r>
            <a:r>
              <a:rPr lang="en-US" sz="1200" dirty="0">
                <a:cs typeface="Arial"/>
              </a:rPr>
              <a:t>, </a:t>
            </a:r>
            <a:r>
              <a:rPr lang="en-US" sz="1200" dirty="0" err="1">
                <a:cs typeface="Arial"/>
              </a:rPr>
              <a:t>en</a:t>
            </a:r>
            <a:r>
              <a:rPr lang="en-US" sz="1200" dirty="0">
                <a:cs typeface="Arial"/>
              </a:rPr>
              <a:t> </a:t>
            </a:r>
            <a:r>
              <a:rPr lang="en-US" sz="1200" dirty="0" err="1">
                <a:cs typeface="Arial"/>
              </a:rPr>
              <a:t>el</a:t>
            </a:r>
            <a:r>
              <a:rPr lang="en-US" sz="1200" dirty="0">
                <a:cs typeface="Arial"/>
              </a:rPr>
              <a:t> </a:t>
            </a:r>
            <a:r>
              <a:rPr lang="en-US" sz="1200" dirty="0" err="1">
                <a:cs typeface="Arial"/>
              </a:rPr>
              <a:t>cual</a:t>
            </a:r>
            <a:r>
              <a:rPr lang="en-US" sz="1200" dirty="0">
                <a:cs typeface="Arial"/>
              </a:rPr>
              <a:t> </a:t>
            </a:r>
            <a:r>
              <a:rPr lang="en-US" sz="1200" dirty="0" err="1">
                <a:cs typeface="Arial"/>
              </a:rPr>
              <a:t>aumentan</a:t>
            </a:r>
            <a:r>
              <a:rPr lang="en-US" sz="1200" dirty="0">
                <a:cs typeface="Arial"/>
              </a:rPr>
              <a:t> </a:t>
            </a:r>
            <a:r>
              <a:rPr lang="en-US" sz="1200" dirty="0" err="1">
                <a:cs typeface="Arial"/>
              </a:rPr>
              <a:t>el</a:t>
            </a:r>
            <a:r>
              <a:rPr lang="en-US" sz="1200" dirty="0">
                <a:cs typeface="Arial"/>
              </a:rPr>
              <a:t> 2 y 3 </a:t>
            </a:r>
            <a:r>
              <a:rPr lang="en-US" sz="1200" dirty="0" err="1">
                <a:cs typeface="Arial"/>
              </a:rPr>
              <a:t>año</a:t>
            </a:r>
            <a:r>
              <a:rPr lang="en-US" sz="1200" dirty="0">
                <a:cs typeface="Arial"/>
              </a:rPr>
              <a:t> de </a:t>
            </a:r>
            <a:r>
              <a:rPr lang="en-US" sz="1200" dirty="0" err="1">
                <a:cs typeface="Arial"/>
              </a:rPr>
              <a:t>ejercio</a:t>
            </a:r>
            <a:r>
              <a:rPr lang="en-US" sz="1200" dirty="0">
                <a:cs typeface="Arial"/>
              </a:rPr>
              <a:t> </a:t>
            </a:r>
            <a:r>
              <a:rPr lang="en-US" sz="1200" dirty="0" err="1">
                <a:cs typeface="Arial"/>
              </a:rPr>
              <a:t>en</a:t>
            </a:r>
            <a:r>
              <a:rPr lang="en-US" sz="1200" dirty="0">
                <a:cs typeface="Arial"/>
              </a:rPr>
              <a:t> un 10% </a:t>
            </a:r>
            <a:r>
              <a:rPr lang="en-US" sz="1200" dirty="0" err="1">
                <a:cs typeface="Arial"/>
              </a:rPr>
              <a:t>comparado</a:t>
            </a:r>
            <a:r>
              <a:rPr lang="en-US" sz="1200" dirty="0">
                <a:cs typeface="Arial"/>
              </a:rPr>
              <a:t> con </a:t>
            </a:r>
            <a:r>
              <a:rPr lang="en-US" sz="1200" dirty="0" err="1">
                <a:cs typeface="Arial"/>
              </a:rPr>
              <a:t>el</a:t>
            </a:r>
            <a:r>
              <a:rPr lang="en-US" sz="1200" dirty="0">
                <a:cs typeface="Arial"/>
              </a:rPr>
              <a:t> primer </a:t>
            </a:r>
            <a:r>
              <a:rPr lang="en-US" sz="1200" dirty="0" err="1">
                <a:cs typeface="Arial"/>
              </a:rPr>
              <a:t>año</a:t>
            </a:r>
            <a:r>
              <a:rPr lang="en-US" sz="1200" dirty="0">
                <a:cs typeface="Arial"/>
              </a:rPr>
              <a:t>, y </a:t>
            </a:r>
            <a:r>
              <a:rPr lang="en-US" sz="1200" dirty="0" err="1">
                <a:cs typeface="Arial"/>
              </a:rPr>
              <a:t>posteriormente</a:t>
            </a:r>
            <a:r>
              <a:rPr lang="en-US" sz="1200" dirty="0">
                <a:cs typeface="Arial"/>
              </a:rPr>
              <a:t> </a:t>
            </a:r>
            <a:r>
              <a:rPr lang="en-US" sz="1200" dirty="0" err="1">
                <a:cs typeface="Arial"/>
              </a:rPr>
              <a:t>disminuye</a:t>
            </a:r>
            <a:r>
              <a:rPr lang="en-US" sz="1200" dirty="0">
                <a:cs typeface="Arial"/>
              </a:rPr>
              <a:t>, </a:t>
            </a:r>
            <a:r>
              <a:rPr lang="en-US" sz="1200" dirty="0" err="1">
                <a:cs typeface="Arial"/>
              </a:rPr>
              <a:t>ya</a:t>
            </a:r>
            <a:r>
              <a:rPr lang="en-US" sz="1200" dirty="0">
                <a:cs typeface="Arial"/>
              </a:rPr>
              <a:t> que se </a:t>
            </a:r>
            <a:r>
              <a:rPr lang="en-US" sz="1200" dirty="0" err="1">
                <a:cs typeface="Arial"/>
              </a:rPr>
              <a:t>considera</a:t>
            </a:r>
            <a:r>
              <a:rPr lang="en-US" sz="1200" dirty="0">
                <a:cs typeface="Arial"/>
              </a:rPr>
              <a:t> que la Marca, se </a:t>
            </a:r>
            <a:r>
              <a:rPr lang="en-US" sz="1200" dirty="0" err="1">
                <a:cs typeface="Arial"/>
              </a:rPr>
              <a:t>encontrara</a:t>
            </a:r>
            <a:r>
              <a:rPr lang="en-US" sz="1200" dirty="0">
                <a:cs typeface="Arial"/>
              </a:rPr>
              <a:t> </a:t>
            </a:r>
            <a:r>
              <a:rPr lang="en-US" sz="1200" dirty="0" err="1">
                <a:cs typeface="Arial"/>
              </a:rPr>
              <a:t>posicionada</a:t>
            </a:r>
            <a:r>
              <a:rPr lang="en-US" sz="1200" dirty="0">
                <a:cs typeface="Arial"/>
              </a:rPr>
              <a:t>.</a:t>
            </a:r>
          </a:p>
          <a:p>
            <a:pPr marL="229870" indent="-229870"/>
            <a:r>
              <a:rPr lang="en-US" sz="1200" dirty="0">
                <a:cs typeface="Arial"/>
              </a:rPr>
              <a:t>Los </a:t>
            </a:r>
            <a:r>
              <a:rPr lang="en-US" sz="1200" dirty="0" err="1">
                <a:cs typeface="Arial"/>
              </a:rPr>
              <a:t>costos</a:t>
            </a:r>
            <a:r>
              <a:rPr lang="en-US" sz="1200" dirty="0">
                <a:cs typeface="Arial"/>
              </a:rPr>
              <a:t> de RRHH </a:t>
            </a:r>
            <a:r>
              <a:rPr lang="en-US" sz="1200" dirty="0" err="1">
                <a:cs typeface="Arial"/>
              </a:rPr>
              <a:t>aumentaran</a:t>
            </a:r>
            <a:r>
              <a:rPr lang="en-US" sz="1200" dirty="0">
                <a:cs typeface="Arial"/>
              </a:rPr>
              <a:t> </a:t>
            </a:r>
            <a:r>
              <a:rPr lang="en-US" sz="1200" dirty="0" err="1">
                <a:cs typeface="Arial"/>
              </a:rPr>
              <a:t>anualmente</a:t>
            </a:r>
            <a:r>
              <a:rPr lang="en-US" sz="1200" dirty="0">
                <a:cs typeface="Arial"/>
              </a:rPr>
              <a:t> </a:t>
            </a:r>
            <a:r>
              <a:rPr lang="en-US" sz="1200" dirty="0" err="1">
                <a:cs typeface="Arial"/>
              </a:rPr>
              <a:t>por</a:t>
            </a:r>
            <a:r>
              <a:rPr lang="en-US" sz="1200" dirty="0">
                <a:cs typeface="Arial"/>
              </a:rPr>
              <a:t> </a:t>
            </a:r>
            <a:r>
              <a:rPr lang="en-US" sz="1200" dirty="0" err="1">
                <a:cs typeface="Arial"/>
              </a:rPr>
              <a:t>aumento</a:t>
            </a:r>
            <a:r>
              <a:rPr lang="en-US" sz="1200" dirty="0">
                <a:cs typeface="Arial"/>
              </a:rPr>
              <a:t> de </a:t>
            </a:r>
            <a:r>
              <a:rPr lang="en-US" sz="1200" dirty="0" err="1">
                <a:cs typeface="Arial"/>
              </a:rPr>
              <a:t>dotacion</a:t>
            </a:r>
            <a:r>
              <a:rPr lang="en-US" sz="1200" dirty="0">
                <a:cs typeface="Arial"/>
              </a:rPr>
              <a:t> </a:t>
            </a:r>
            <a:r>
              <a:rPr lang="en-US" sz="1200" dirty="0" err="1">
                <a:cs typeface="Arial"/>
              </a:rPr>
              <a:t>como</a:t>
            </a:r>
            <a:r>
              <a:rPr lang="en-US" sz="1200" dirty="0">
                <a:cs typeface="Arial"/>
              </a:rPr>
              <a:t> </a:t>
            </a:r>
            <a:r>
              <a:rPr lang="en-US" sz="1200" dirty="0" err="1">
                <a:cs typeface="Arial"/>
              </a:rPr>
              <a:t>tambien</a:t>
            </a:r>
            <a:r>
              <a:rPr lang="en-US" sz="1200" dirty="0">
                <a:cs typeface="Arial"/>
              </a:rPr>
              <a:t> </a:t>
            </a:r>
            <a:r>
              <a:rPr lang="en-US" sz="1200" dirty="0" err="1">
                <a:cs typeface="Arial"/>
              </a:rPr>
              <a:t>aumento</a:t>
            </a:r>
            <a:r>
              <a:rPr lang="en-US" sz="1200" dirty="0">
                <a:cs typeface="Arial"/>
              </a:rPr>
              <a:t> de </a:t>
            </a:r>
            <a:r>
              <a:rPr lang="en-US" sz="1200" dirty="0" err="1">
                <a:cs typeface="Arial"/>
              </a:rPr>
              <a:t>sueldoo</a:t>
            </a:r>
            <a:r>
              <a:rPr lang="en-US" sz="1200" dirty="0">
                <a:cs typeface="Arial"/>
              </a:rPr>
              <a:t> y </a:t>
            </a:r>
            <a:r>
              <a:rPr lang="en-US" sz="1200" dirty="0" err="1">
                <a:cs typeface="Arial"/>
              </a:rPr>
              <a:t>bonificaciones</a:t>
            </a:r>
            <a:r>
              <a:rPr lang="en-US" sz="1200" dirty="0">
                <a:cs typeface="Arial"/>
              </a:rPr>
              <a:t> </a:t>
            </a:r>
            <a:r>
              <a:rPr lang="en-US" sz="1200" dirty="0" err="1">
                <a:cs typeface="Arial"/>
              </a:rPr>
              <a:t>por</a:t>
            </a:r>
            <a:r>
              <a:rPr lang="en-US" sz="1200" dirty="0">
                <a:cs typeface="Arial"/>
              </a:rPr>
              <a:t> </a:t>
            </a:r>
            <a:r>
              <a:rPr lang="en-US" sz="1200" dirty="0" err="1">
                <a:cs typeface="Arial"/>
              </a:rPr>
              <a:t>certificacion</a:t>
            </a:r>
            <a:r>
              <a:rPr lang="en-US" sz="1200" dirty="0">
                <a:cs typeface="Arial"/>
              </a:rPr>
              <a:t> </a:t>
            </a:r>
            <a:r>
              <a:rPr lang="en-US" sz="1200" dirty="0" err="1">
                <a:cs typeface="Arial"/>
              </a:rPr>
              <a:t>como</a:t>
            </a:r>
            <a:r>
              <a:rPr lang="en-US" sz="1200" dirty="0">
                <a:cs typeface="Arial"/>
              </a:rPr>
              <a:t> </a:t>
            </a:r>
            <a:r>
              <a:rPr lang="en-US" sz="1200" dirty="0" err="1">
                <a:cs typeface="Arial"/>
              </a:rPr>
              <a:t>tambien</a:t>
            </a:r>
            <a:r>
              <a:rPr lang="en-US" sz="1200" dirty="0">
                <a:cs typeface="Arial"/>
              </a:rPr>
              <a:t> </a:t>
            </a:r>
            <a:r>
              <a:rPr lang="en-US" sz="1200" dirty="0" err="1">
                <a:cs typeface="Arial"/>
              </a:rPr>
              <a:t>por</a:t>
            </a:r>
            <a:r>
              <a:rPr lang="en-US" sz="1200" dirty="0">
                <a:cs typeface="Arial"/>
              </a:rPr>
              <a:t> </a:t>
            </a:r>
            <a:r>
              <a:rPr lang="en-US" sz="1200" dirty="0" err="1">
                <a:cs typeface="Arial"/>
              </a:rPr>
              <a:t>bonos</a:t>
            </a:r>
            <a:r>
              <a:rPr lang="en-US" sz="1200" dirty="0">
                <a:cs typeface="Arial"/>
              </a:rPr>
              <a:t> </a:t>
            </a:r>
            <a:r>
              <a:rPr lang="en-US" sz="1200" dirty="0" err="1">
                <a:cs typeface="Arial"/>
              </a:rPr>
              <a:t>por</a:t>
            </a:r>
            <a:r>
              <a:rPr lang="en-US" sz="1200" dirty="0">
                <a:cs typeface="Arial"/>
              </a:rPr>
              <a:t> </a:t>
            </a:r>
            <a:r>
              <a:rPr lang="en-US" sz="1200" dirty="0" err="1">
                <a:cs typeface="Arial"/>
              </a:rPr>
              <a:t>venta</a:t>
            </a:r>
            <a:r>
              <a:rPr lang="en-US" sz="1200" dirty="0">
                <a:cs typeface="Arial"/>
              </a:rPr>
              <a:t>. Cabe </a:t>
            </a:r>
            <a:r>
              <a:rPr lang="en-US" sz="1200" dirty="0" err="1">
                <a:cs typeface="Arial"/>
              </a:rPr>
              <a:t>destacar</a:t>
            </a:r>
            <a:r>
              <a:rPr lang="en-US" sz="1200" dirty="0">
                <a:cs typeface="Arial"/>
              </a:rPr>
              <a:t> que se </a:t>
            </a:r>
            <a:r>
              <a:rPr lang="en-US" sz="1200" dirty="0" err="1">
                <a:cs typeface="Arial"/>
              </a:rPr>
              <a:t>considera</a:t>
            </a:r>
            <a:r>
              <a:rPr lang="en-US" sz="1200" dirty="0">
                <a:cs typeface="Arial"/>
              </a:rPr>
              <a:t> 13 meses </a:t>
            </a:r>
            <a:r>
              <a:rPr lang="en-US" sz="1200" dirty="0" err="1">
                <a:cs typeface="Arial"/>
              </a:rPr>
              <a:t>anuealmente</a:t>
            </a:r>
            <a:r>
              <a:rPr lang="en-US" sz="1200" dirty="0">
                <a:cs typeface="Arial"/>
              </a:rPr>
              <a:t> </a:t>
            </a:r>
            <a:r>
              <a:rPr lang="en-US" sz="1200" dirty="0" err="1">
                <a:cs typeface="Arial"/>
              </a:rPr>
              <a:t>en</a:t>
            </a:r>
            <a:r>
              <a:rPr lang="en-US" sz="1200" dirty="0">
                <a:cs typeface="Arial"/>
              </a:rPr>
              <a:t> </a:t>
            </a:r>
            <a:r>
              <a:rPr lang="en-US" sz="1200" dirty="0" err="1">
                <a:cs typeface="Arial"/>
              </a:rPr>
              <a:t>el</a:t>
            </a:r>
            <a:r>
              <a:rPr lang="en-US" sz="1200" dirty="0">
                <a:cs typeface="Arial"/>
              </a:rPr>
              <a:t> </a:t>
            </a:r>
            <a:r>
              <a:rPr lang="en-US" sz="1200" dirty="0" err="1">
                <a:cs typeface="Arial"/>
              </a:rPr>
              <a:t>costo</a:t>
            </a:r>
            <a:r>
              <a:rPr lang="en-US" sz="1200" dirty="0">
                <a:cs typeface="Arial"/>
              </a:rPr>
              <a:t>, </a:t>
            </a:r>
            <a:r>
              <a:rPr lang="en-US" sz="1200" dirty="0" err="1">
                <a:cs typeface="Arial"/>
              </a:rPr>
              <a:t>ya</a:t>
            </a:r>
            <a:r>
              <a:rPr lang="en-US" sz="1200" dirty="0">
                <a:cs typeface="Arial"/>
              </a:rPr>
              <a:t> que se </a:t>
            </a:r>
            <a:r>
              <a:rPr lang="en-US" sz="1200" dirty="0" err="1">
                <a:cs typeface="Arial"/>
              </a:rPr>
              <a:t>considera</a:t>
            </a:r>
            <a:r>
              <a:rPr lang="en-US" sz="1200" dirty="0">
                <a:cs typeface="Arial"/>
              </a:rPr>
              <a:t> la </a:t>
            </a:r>
            <a:r>
              <a:rPr lang="en-US" sz="1200" dirty="0" err="1">
                <a:cs typeface="Arial"/>
              </a:rPr>
              <a:t>indemnizacion</a:t>
            </a:r>
            <a:r>
              <a:rPr lang="en-US" sz="1200" dirty="0">
                <a:cs typeface="Arial"/>
              </a:rPr>
              <a:t> </a:t>
            </a:r>
            <a:r>
              <a:rPr lang="en-US" sz="1200" dirty="0" err="1">
                <a:cs typeface="Arial"/>
              </a:rPr>
              <a:t>por</a:t>
            </a:r>
            <a:r>
              <a:rPr lang="en-US" sz="1200" dirty="0">
                <a:cs typeface="Arial"/>
              </a:rPr>
              <a:t> </a:t>
            </a:r>
            <a:r>
              <a:rPr lang="en-US" sz="1200" dirty="0" err="1">
                <a:cs typeface="Arial"/>
              </a:rPr>
              <a:t>año</a:t>
            </a:r>
            <a:r>
              <a:rPr lang="en-US" sz="1200" dirty="0">
                <a:cs typeface="Arial"/>
              </a:rPr>
              <a:t> de </a:t>
            </a:r>
            <a:r>
              <a:rPr lang="en-US" sz="1200" dirty="0" err="1">
                <a:cs typeface="Arial"/>
              </a:rPr>
              <a:t>servicio</a:t>
            </a:r>
            <a:r>
              <a:rPr lang="en-US" sz="1200" dirty="0">
                <a:cs typeface="Arial"/>
              </a:rPr>
              <a:t> </a:t>
            </a:r>
            <a:r>
              <a:rPr lang="en-US" sz="1200" dirty="0" err="1">
                <a:cs typeface="Arial"/>
              </a:rPr>
              <a:t>como</a:t>
            </a:r>
            <a:r>
              <a:rPr lang="en-US" sz="1200" dirty="0">
                <a:cs typeface="Arial"/>
              </a:rPr>
              <a:t> </a:t>
            </a:r>
            <a:r>
              <a:rPr lang="en-US" sz="1200" dirty="0" err="1">
                <a:cs typeface="Arial"/>
              </a:rPr>
              <a:t>beneficio</a:t>
            </a:r>
            <a:r>
              <a:rPr lang="en-US" sz="1200" dirty="0">
                <a:cs typeface="Arial"/>
              </a:rPr>
              <a:t> (</a:t>
            </a:r>
            <a:r>
              <a:rPr lang="en-US" sz="1200" dirty="0" err="1">
                <a:cs typeface="Arial"/>
              </a:rPr>
              <a:t>considerando</a:t>
            </a:r>
            <a:r>
              <a:rPr lang="en-US" sz="1200" dirty="0">
                <a:cs typeface="Arial"/>
              </a:rPr>
              <a:t> 30 </a:t>
            </a:r>
            <a:r>
              <a:rPr lang="en-US" sz="1200" dirty="0" err="1">
                <a:cs typeface="Arial"/>
              </a:rPr>
              <a:t>dias</a:t>
            </a:r>
            <a:r>
              <a:rPr lang="en-US" sz="1200" dirty="0">
                <a:cs typeface="Arial"/>
              </a:rPr>
              <a:t> no 20 </a:t>
            </a:r>
            <a:r>
              <a:rPr lang="en-US" sz="1200" dirty="0" err="1">
                <a:cs typeface="Arial"/>
              </a:rPr>
              <a:t>dias</a:t>
            </a:r>
            <a:r>
              <a:rPr lang="en-US" sz="1200" dirty="0">
                <a:cs typeface="Arial"/>
              </a:rPr>
              <a:t> </a:t>
            </a:r>
            <a:r>
              <a:rPr lang="en-US" sz="1200" dirty="0" err="1">
                <a:cs typeface="Arial"/>
              </a:rPr>
              <a:t>como</a:t>
            </a:r>
            <a:r>
              <a:rPr lang="en-US" sz="1200" dirty="0">
                <a:cs typeface="Arial"/>
              </a:rPr>
              <a:t> se </a:t>
            </a:r>
            <a:r>
              <a:rPr lang="en-US" sz="1200" dirty="0" err="1">
                <a:cs typeface="Arial"/>
              </a:rPr>
              <a:t>consideran</a:t>
            </a:r>
            <a:r>
              <a:rPr lang="en-US" sz="1200" dirty="0">
                <a:cs typeface="Arial"/>
              </a:rPr>
              <a:t> </a:t>
            </a:r>
            <a:r>
              <a:rPr lang="en-US" sz="1200" dirty="0" err="1">
                <a:cs typeface="Arial"/>
              </a:rPr>
              <a:t>segun</a:t>
            </a:r>
            <a:r>
              <a:rPr lang="en-US" sz="1200" dirty="0">
                <a:cs typeface="Arial"/>
              </a:rPr>
              <a:t> </a:t>
            </a:r>
            <a:r>
              <a:rPr lang="en-US" sz="1200" dirty="0" err="1">
                <a:cs typeface="Arial"/>
              </a:rPr>
              <a:t>codigo</a:t>
            </a:r>
            <a:r>
              <a:rPr lang="en-US" sz="1200" dirty="0">
                <a:cs typeface="Arial"/>
              </a:rPr>
              <a:t> </a:t>
            </a:r>
            <a:r>
              <a:rPr lang="en-US" sz="1200" dirty="0" err="1">
                <a:cs typeface="Arial"/>
              </a:rPr>
              <a:t>laboral</a:t>
            </a:r>
            <a:r>
              <a:rPr lang="en-US" sz="1200" dirty="0">
                <a:cs typeface="Arial"/>
              </a:rPr>
              <a:t> </a:t>
            </a:r>
            <a:r>
              <a:rPr lang="en-US" sz="1200" dirty="0" err="1">
                <a:cs typeface="Arial"/>
              </a:rPr>
              <a:t>colombiano</a:t>
            </a:r>
            <a:r>
              <a:rPr lang="en-US" sz="1200" dirty="0">
                <a:cs typeface="Arial"/>
              </a:rPr>
              <a:t>).</a:t>
            </a:r>
          </a:p>
          <a:p>
            <a:pPr marL="229870" indent="-229870"/>
            <a:r>
              <a:rPr lang="en-US" sz="1200" dirty="0">
                <a:cs typeface="Arial"/>
              </a:rPr>
              <a:t>A </a:t>
            </a:r>
            <a:r>
              <a:rPr lang="en-US" sz="1200" dirty="0" err="1">
                <a:cs typeface="Arial"/>
              </a:rPr>
              <a:t>nivel</a:t>
            </a:r>
            <a:r>
              <a:rPr lang="en-US" sz="1200" dirty="0">
                <a:cs typeface="Arial"/>
              </a:rPr>
              <a:t> </a:t>
            </a:r>
            <a:r>
              <a:rPr lang="en-US" sz="1200" dirty="0" err="1">
                <a:cs typeface="Arial"/>
              </a:rPr>
              <a:t>operativo</a:t>
            </a:r>
            <a:r>
              <a:rPr lang="en-US" sz="1200" dirty="0">
                <a:cs typeface="Arial"/>
              </a:rPr>
              <a:t>, </a:t>
            </a:r>
            <a:r>
              <a:rPr lang="en-US" sz="1200" dirty="0" err="1">
                <a:cs typeface="Arial"/>
              </a:rPr>
              <a:t>todo</a:t>
            </a:r>
            <a:r>
              <a:rPr lang="en-US" sz="1200" dirty="0">
                <a:cs typeface="Arial"/>
              </a:rPr>
              <a:t> sera </a:t>
            </a:r>
            <a:r>
              <a:rPr lang="en-US" sz="1200" dirty="0" err="1">
                <a:cs typeface="Arial"/>
              </a:rPr>
              <a:t>asociado</a:t>
            </a:r>
            <a:r>
              <a:rPr lang="en-US" sz="1200" dirty="0">
                <a:cs typeface="Arial"/>
              </a:rPr>
              <a:t> a </a:t>
            </a:r>
            <a:r>
              <a:rPr lang="en-US" sz="1200" dirty="0" err="1">
                <a:cs typeface="Arial"/>
              </a:rPr>
              <a:t>Gasto</a:t>
            </a:r>
            <a:r>
              <a:rPr lang="en-US" sz="1200" dirty="0">
                <a:cs typeface="Arial"/>
              </a:rPr>
              <a:t>, </a:t>
            </a:r>
            <a:r>
              <a:rPr lang="en-US" sz="1200" dirty="0" err="1">
                <a:cs typeface="Arial"/>
              </a:rPr>
              <a:t>los</a:t>
            </a:r>
            <a:r>
              <a:rPr lang="en-US" sz="1200" dirty="0">
                <a:cs typeface="Arial"/>
              </a:rPr>
              <a:t> </a:t>
            </a:r>
            <a:r>
              <a:rPr lang="en-US" sz="1200" dirty="0" err="1">
                <a:cs typeface="Arial"/>
              </a:rPr>
              <a:t>computadores</a:t>
            </a:r>
            <a:r>
              <a:rPr lang="en-US" sz="1200" dirty="0">
                <a:cs typeface="Arial"/>
              </a:rPr>
              <a:t> </a:t>
            </a:r>
            <a:r>
              <a:rPr lang="en-US" sz="1200" dirty="0" err="1">
                <a:cs typeface="Arial"/>
              </a:rPr>
              <a:t>seran</a:t>
            </a:r>
            <a:r>
              <a:rPr lang="en-US" sz="1200" dirty="0">
                <a:cs typeface="Arial"/>
              </a:rPr>
              <a:t> a traves de leasing para no </a:t>
            </a:r>
            <a:r>
              <a:rPr lang="en-US" sz="1200" dirty="0" err="1">
                <a:cs typeface="Arial"/>
              </a:rPr>
              <a:t>generar</a:t>
            </a:r>
            <a:r>
              <a:rPr lang="en-US" sz="1200" dirty="0">
                <a:cs typeface="Arial"/>
              </a:rPr>
              <a:t> </a:t>
            </a:r>
            <a:r>
              <a:rPr lang="en-US" sz="1200" dirty="0" err="1">
                <a:cs typeface="Arial"/>
              </a:rPr>
              <a:t>una</a:t>
            </a:r>
            <a:r>
              <a:rPr lang="en-US" sz="1200" dirty="0">
                <a:cs typeface="Arial"/>
              </a:rPr>
              <a:t> inversion. Los </a:t>
            </a:r>
            <a:r>
              <a:rPr lang="en-US" sz="1200" dirty="0" err="1">
                <a:cs typeface="Arial"/>
              </a:rPr>
              <a:t>costos</a:t>
            </a:r>
            <a:r>
              <a:rPr lang="en-US" sz="1200" dirty="0">
                <a:cs typeface="Arial"/>
              </a:rPr>
              <a:t> </a:t>
            </a:r>
            <a:endParaRPr lang="en-US" dirty="0"/>
          </a:p>
        </p:txBody>
      </p:sp>
    </p:spTree>
    <p:extLst>
      <p:ext uri="{BB962C8B-B14F-4D97-AF65-F5344CB8AC3E}">
        <p14:creationId xmlns:p14="http://schemas.microsoft.com/office/powerpoint/2010/main" val="5250995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s-ES" sz="1050" dirty="0">
                <a:cs typeface="Arial"/>
              </a:rPr>
              <a:t>E</a:t>
            </a:r>
            <a:r>
              <a:rPr lang="es-ES" sz="1200" dirty="0">
                <a:cs typeface="Arial"/>
              </a:rPr>
              <a:t>VALUACIÓN DEL PLAN DE NEGOCIOS EN TÉRMINOS PUROS</a:t>
            </a:r>
          </a:p>
          <a:p>
            <a:pPr marL="229870" indent="-229870"/>
            <a:r>
              <a:rPr lang="es-ES" sz="1200" dirty="0">
                <a:cs typeface="Arial"/>
              </a:rPr>
              <a:t>La evaluación del proyecto en los 5 años de servicio genera un </a:t>
            </a:r>
            <a:r>
              <a:rPr lang="es-ES" sz="1200" dirty="0">
                <a:highlight>
                  <a:srgbClr val="FFFF00"/>
                </a:highlight>
                <a:cs typeface="Arial"/>
              </a:rPr>
              <a:t>VAN (USD 598.566)  </a:t>
            </a:r>
            <a:r>
              <a:rPr lang="es-ES" sz="1200" dirty="0">
                <a:cs typeface="Arial"/>
              </a:rPr>
              <a:t>y un TIR (78%) positivos, lo que, produce que el proyecto sea viable para su realización, indicar que la tasa de costo de oportunidad el primer año es de un 17% y disminuye anualmente (1%) hasta el 5 año quedando en 13%. </a:t>
            </a:r>
            <a:r>
              <a:rPr lang="es-ES" sz="1200" dirty="0">
                <a:highlight>
                  <a:srgbClr val="FFFF00"/>
                </a:highlight>
                <a:cs typeface="Arial"/>
              </a:rPr>
              <a:t>La tasa de costo de oportunidad promedio corresponde a un 15% total proyecto.</a:t>
            </a:r>
            <a:endParaRPr lang="es-ES" sz="1200" dirty="0">
              <a:highlight>
                <a:srgbClr val="FFFF00"/>
              </a:highlight>
            </a:endParaRPr>
          </a:p>
          <a:p>
            <a:pPr marL="0" indent="0">
              <a:buNone/>
            </a:pPr>
            <a:r>
              <a:rPr lang="es-ES" sz="1200" dirty="0">
                <a:cs typeface="Arial"/>
              </a:rPr>
              <a:t>Adicionalmente indicar que </a:t>
            </a:r>
            <a:r>
              <a:rPr lang="es-ES" sz="1200" dirty="0" err="1">
                <a:cs typeface="Arial"/>
              </a:rPr>
              <a:t>Payback</a:t>
            </a:r>
            <a:r>
              <a:rPr lang="es-ES" sz="1200" dirty="0">
                <a:cs typeface="Arial"/>
              </a:rPr>
              <a:t> o plazo de </a:t>
            </a:r>
            <a:r>
              <a:rPr lang="es-ES" sz="1200" dirty="0" err="1">
                <a:cs typeface="Arial"/>
              </a:rPr>
              <a:t>recuperacion</a:t>
            </a:r>
            <a:r>
              <a:rPr lang="es-ES" sz="1200" dirty="0">
                <a:cs typeface="Arial"/>
              </a:rPr>
              <a:t> de la </a:t>
            </a:r>
            <a:r>
              <a:rPr lang="es-ES" sz="1200" dirty="0" err="1">
                <a:cs typeface="Arial"/>
              </a:rPr>
              <a:t>inversion</a:t>
            </a:r>
            <a:r>
              <a:rPr lang="es-ES" sz="1200" dirty="0">
                <a:cs typeface="Arial"/>
              </a:rPr>
              <a:t> comienza desde el </a:t>
            </a:r>
            <a:r>
              <a:rPr lang="es-ES" sz="1200" dirty="0" err="1">
                <a:cs typeface="Arial"/>
              </a:rPr>
              <a:t>segúndo</a:t>
            </a:r>
            <a:r>
              <a:rPr lang="es-ES" sz="1200" dirty="0">
                <a:cs typeface="Arial"/>
              </a:rPr>
              <a:t> año del proyecto.</a:t>
            </a:r>
          </a:p>
          <a:p>
            <a:pPr marL="0" indent="0">
              <a:buNone/>
            </a:pPr>
            <a:r>
              <a:rPr lang="es-ES" sz="1200" dirty="0">
                <a:cs typeface="Arial"/>
              </a:rPr>
              <a:t>Cabe destacar que como gerencia de IT-Trail Services toma la decisión de tomar un </a:t>
            </a:r>
            <a:r>
              <a:rPr lang="es-ES" sz="1200" dirty="0" err="1">
                <a:cs typeface="Arial"/>
              </a:rPr>
              <a:t>credito</a:t>
            </a:r>
            <a:r>
              <a:rPr lang="es-ES" sz="1200" dirty="0">
                <a:cs typeface="Arial"/>
              </a:rPr>
              <a:t> para la </a:t>
            </a:r>
            <a:r>
              <a:rPr lang="es-ES" sz="1200" dirty="0" err="1">
                <a:cs typeface="Arial"/>
              </a:rPr>
              <a:t>realizacion</a:t>
            </a:r>
            <a:r>
              <a:rPr lang="es-ES" sz="1200" dirty="0">
                <a:cs typeface="Arial"/>
              </a:rPr>
              <a:t> del proyecto en Colombia, por lo que, se solicita un </a:t>
            </a:r>
            <a:r>
              <a:rPr lang="es-ES" sz="1200" dirty="0" err="1">
                <a:cs typeface="Arial"/>
              </a:rPr>
              <a:t>credito</a:t>
            </a:r>
            <a:r>
              <a:rPr lang="es-ES" sz="1200" dirty="0">
                <a:cs typeface="Arial"/>
              </a:rPr>
              <a:t> a un banco local para la </a:t>
            </a:r>
            <a:r>
              <a:rPr lang="es-ES" sz="1200" dirty="0" err="1">
                <a:cs typeface="Arial"/>
              </a:rPr>
              <a:t>realizacion</a:t>
            </a:r>
            <a:r>
              <a:rPr lang="es-ES" sz="1200" dirty="0">
                <a:cs typeface="Arial"/>
              </a:rPr>
              <a:t> de este.</a:t>
            </a:r>
            <a:endParaRPr lang="es-ES" sz="1200" dirty="0"/>
          </a:p>
          <a:p>
            <a:pPr marL="0" indent="0">
              <a:buNone/>
            </a:pPr>
            <a:endParaRPr lang="es-ES" sz="1200" dirty="0">
              <a:cs typeface="Arial"/>
            </a:endParaRPr>
          </a:p>
          <a:p>
            <a:pPr marL="229870" indent="-229870"/>
            <a:endParaRPr lang="en-US" dirty="0"/>
          </a:p>
        </p:txBody>
      </p:sp>
    </p:spTree>
    <p:extLst>
      <p:ext uri="{BB962C8B-B14F-4D97-AF65-F5344CB8AC3E}">
        <p14:creationId xmlns:p14="http://schemas.microsoft.com/office/powerpoint/2010/main" val="5734409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s-ES" sz="1050" dirty="0">
                <a:cs typeface="Arial"/>
              </a:rPr>
              <a:t>E</a:t>
            </a:r>
            <a:r>
              <a:rPr lang="es-ES" sz="1200" dirty="0">
                <a:cs typeface="Arial"/>
              </a:rPr>
              <a:t>VALUACIÓN DEL PLAN DE NEGOCIOS EN TÉRMINOS PUROS</a:t>
            </a:r>
          </a:p>
          <a:p>
            <a:pPr marL="229870" indent="-229870"/>
            <a:r>
              <a:rPr lang="es-ES" sz="1200" dirty="0">
                <a:cs typeface="Arial"/>
              </a:rPr>
              <a:t>La evaluación del proyecto en los 5 años de servicio genera un </a:t>
            </a:r>
            <a:r>
              <a:rPr lang="es-ES" sz="1200" dirty="0">
                <a:highlight>
                  <a:srgbClr val="FFFF00"/>
                </a:highlight>
                <a:cs typeface="Arial"/>
              </a:rPr>
              <a:t>VAN (USD 598.566)  </a:t>
            </a:r>
            <a:r>
              <a:rPr lang="es-ES" sz="1200" dirty="0">
                <a:cs typeface="Arial"/>
              </a:rPr>
              <a:t>y un TIR (78%) positivos, lo que, produce que el proyecto sea viable para su realización, indicar que la tasa de costo de oportunidad el primer año es de un 17% y disminuye anualmente (1%) hasta el 5 año quedando en 13%. </a:t>
            </a:r>
            <a:r>
              <a:rPr lang="es-ES" sz="1200" dirty="0">
                <a:highlight>
                  <a:srgbClr val="FFFF00"/>
                </a:highlight>
                <a:cs typeface="Arial"/>
              </a:rPr>
              <a:t>La tasa de costo de oportunidad promedio corresponde a un 15% total proyecto.</a:t>
            </a:r>
            <a:endParaRPr lang="es-ES" sz="1200" dirty="0">
              <a:highlight>
                <a:srgbClr val="FFFF00"/>
              </a:highlight>
            </a:endParaRPr>
          </a:p>
          <a:p>
            <a:pPr marL="0" indent="0">
              <a:buNone/>
            </a:pPr>
            <a:r>
              <a:rPr lang="es-ES" sz="1200" dirty="0">
                <a:cs typeface="Arial"/>
              </a:rPr>
              <a:t>Adicionalmente indicar que </a:t>
            </a:r>
            <a:r>
              <a:rPr lang="es-ES" sz="1200" dirty="0" err="1">
                <a:cs typeface="Arial"/>
              </a:rPr>
              <a:t>Payback</a:t>
            </a:r>
            <a:r>
              <a:rPr lang="es-ES" sz="1200" dirty="0">
                <a:cs typeface="Arial"/>
              </a:rPr>
              <a:t> o plazo de </a:t>
            </a:r>
            <a:r>
              <a:rPr lang="es-ES" sz="1200" dirty="0" err="1">
                <a:cs typeface="Arial"/>
              </a:rPr>
              <a:t>recuperacion</a:t>
            </a:r>
            <a:r>
              <a:rPr lang="es-ES" sz="1200" dirty="0">
                <a:cs typeface="Arial"/>
              </a:rPr>
              <a:t> de la </a:t>
            </a:r>
            <a:r>
              <a:rPr lang="es-ES" sz="1200" dirty="0" err="1">
                <a:cs typeface="Arial"/>
              </a:rPr>
              <a:t>inversion</a:t>
            </a:r>
            <a:r>
              <a:rPr lang="es-ES" sz="1200" dirty="0">
                <a:cs typeface="Arial"/>
              </a:rPr>
              <a:t> comienza desde el </a:t>
            </a:r>
            <a:r>
              <a:rPr lang="es-ES" sz="1200" dirty="0" err="1">
                <a:cs typeface="Arial"/>
              </a:rPr>
              <a:t>segúndo</a:t>
            </a:r>
            <a:r>
              <a:rPr lang="es-ES" sz="1200" dirty="0">
                <a:cs typeface="Arial"/>
              </a:rPr>
              <a:t> año del proyecto.</a:t>
            </a:r>
          </a:p>
          <a:p>
            <a:pPr marL="0" indent="0">
              <a:buNone/>
            </a:pPr>
            <a:r>
              <a:rPr lang="es-ES" sz="1200" dirty="0">
                <a:cs typeface="Arial"/>
              </a:rPr>
              <a:t>Cabe destacar que como gerencia de IT-Trail Services toma la decisión de tomar un </a:t>
            </a:r>
            <a:r>
              <a:rPr lang="es-ES" sz="1200" dirty="0" err="1">
                <a:cs typeface="Arial"/>
              </a:rPr>
              <a:t>credito</a:t>
            </a:r>
            <a:r>
              <a:rPr lang="es-ES" sz="1200" dirty="0">
                <a:cs typeface="Arial"/>
              </a:rPr>
              <a:t> para la </a:t>
            </a:r>
            <a:r>
              <a:rPr lang="es-ES" sz="1200" dirty="0" err="1">
                <a:cs typeface="Arial"/>
              </a:rPr>
              <a:t>realizacion</a:t>
            </a:r>
            <a:r>
              <a:rPr lang="es-ES" sz="1200" dirty="0">
                <a:cs typeface="Arial"/>
              </a:rPr>
              <a:t> del proyecto en Colombia, por lo que, se solicita un </a:t>
            </a:r>
            <a:r>
              <a:rPr lang="es-ES" sz="1200" dirty="0" err="1">
                <a:cs typeface="Arial"/>
              </a:rPr>
              <a:t>credito</a:t>
            </a:r>
            <a:r>
              <a:rPr lang="es-ES" sz="1200" dirty="0">
                <a:cs typeface="Arial"/>
              </a:rPr>
              <a:t> a un banco local para la </a:t>
            </a:r>
            <a:r>
              <a:rPr lang="es-ES" sz="1200" dirty="0" err="1">
                <a:cs typeface="Arial"/>
              </a:rPr>
              <a:t>realizacion</a:t>
            </a:r>
            <a:r>
              <a:rPr lang="es-ES" sz="1200" dirty="0">
                <a:cs typeface="Arial"/>
              </a:rPr>
              <a:t> de este.</a:t>
            </a:r>
            <a:endParaRPr lang="es-ES" sz="1200" dirty="0"/>
          </a:p>
          <a:p>
            <a:pPr marL="0" indent="0">
              <a:buNone/>
            </a:pPr>
            <a:endParaRPr lang="es-ES" sz="1200" dirty="0">
              <a:cs typeface="Arial"/>
            </a:endParaRPr>
          </a:p>
          <a:p>
            <a:pPr marL="229870" indent="-229870"/>
            <a:endParaRPr lang="en-US" dirty="0"/>
          </a:p>
        </p:txBody>
      </p:sp>
    </p:spTree>
    <p:extLst>
      <p:ext uri="{BB962C8B-B14F-4D97-AF65-F5344CB8AC3E}">
        <p14:creationId xmlns:p14="http://schemas.microsoft.com/office/powerpoint/2010/main" val="30424243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s-ES" sz="1050" dirty="0">
                <a:cs typeface="Arial"/>
              </a:rPr>
              <a:t>E</a:t>
            </a:r>
            <a:r>
              <a:rPr lang="es-ES" sz="1200" dirty="0">
                <a:cs typeface="Arial"/>
              </a:rPr>
              <a:t>VALUACIÓN DEL PLAN DE NEGOCIOS EN TÉRMINOS PUROS</a:t>
            </a:r>
          </a:p>
          <a:p>
            <a:pPr marL="229870" indent="-229870"/>
            <a:r>
              <a:rPr lang="es-ES" sz="1200" dirty="0">
                <a:cs typeface="Arial"/>
              </a:rPr>
              <a:t>La evaluación del proyecto en los 5 años de servicio genera un </a:t>
            </a:r>
            <a:r>
              <a:rPr lang="es-ES" sz="1200" dirty="0">
                <a:highlight>
                  <a:srgbClr val="FFFF00"/>
                </a:highlight>
                <a:cs typeface="Arial"/>
              </a:rPr>
              <a:t>VAN (USD 598.566)  </a:t>
            </a:r>
            <a:r>
              <a:rPr lang="es-ES" sz="1200" dirty="0">
                <a:cs typeface="Arial"/>
              </a:rPr>
              <a:t>y un TIR (78%) positivos, lo que, produce que el proyecto sea viable para su realización, indicar que la tasa de costo de oportunidad el primer año es de un 17% y disminuye anualmente (1%) hasta el 5 año quedando en 13%. </a:t>
            </a:r>
            <a:r>
              <a:rPr lang="es-ES" sz="1200" dirty="0">
                <a:highlight>
                  <a:srgbClr val="FFFF00"/>
                </a:highlight>
                <a:cs typeface="Arial"/>
              </a:rPr>
              <a:t>La tasa de costo de oportunidad promedio corresponde a un 15% total proyecto.</a:t>
            </a:r>
            <a:endParaRPr lang="es-ES" sz="1200" dirty="0">
              <a:highlight>
                <a:srgbClr val="FFFF00"/>
              </a:highlight>
            </a:endParaRPr>
          </a:p>
          <a:p>
            <a:pPr marL="0" indent="0">
              <a:buNone/>
            </a:pPr>
            <a:r>
              <a:rPr lang="es-ES" sz="1200" dirty="0">
                <a:cs typeface="Arial"/>
              </a:rPr>
              <a:t>Adicionalmente indicar que </a:t>
            </a:r>
            <a:r>
              <a:rPr lang="es-ES" sz="1200" dirty="0" err="1">
                <a:cs typeface="Arial"/>
              </a:rPr>
              <a:t>Payback</a:t>
            </a:r>
            <a:r>
              <a:rPr lang="es-ES" sz="1200" dirty="0">
                <a:cs typeface="Arial"/>
              </a:rPr>
              <a:t> o plazo de </a:t>
            </a:r>
            <a:r>
              <a:rPr lang="es-ES" sz="1200" dirty="0" err="1">
                <a:cs typeface="Arial"/>
              </a:rPr>
              <a:t>recuperacion</a:t>
            </a:r>
            <a:r>
              <a:rPr lang="es-ES" sz="1200" dirty="0">
                <a:cs typeface="Arial"/>
              </a:rPr>
              <a:t> de la </a:t>
            </a:r>
            <a:r>
              <a:rPr lang="es-ES" sz="1200" dirty="0" err="1">
                <a:cs typeface="Arial"/>
              </a:rPr>
              <a:t>inversion</a:t>
            </a:r>
            <a:r>
              <a:rPr lang="es-ES" sz="1200" dirty="0">
                <a:cs typeface="Arial"/>
              </a:rPr>
              <a:t> comienza desde el </a:t>
            </a:r>
            <a:r>
              <a:rPr lang="es-ES" sz="1200" dirty="0" err="1">
                <a:cs typeface="Arial"/>
              </a:rPr>
              <a:t>segúndo</a:t>
            </a:r>
            <a:r>
              <a:rPr lang="es-ES" sz="1200" dirty="0">
                <a:cs typeface="Arial"/>
              </a:rPr>
              <a:t> año del proyecto.</a:t>
            </a:r>
          </a:p>
          <a:p>
            <a:pPr marL="0" indent="0">
              <a:buNone/>
            </a:pPr>
            <a:r>
              <a:rPr lang="es-ES" sz="1200" dirty="0">
                <a:cs typeface="Arial"/>
              </a:rPr>
              <a:t>Cabe destacar que como gerencia de IT-Trail Services toma la decisión de tomar un </a:t>
            </a:r>
            <a:r>
              <a:rPr lang="es-ES" sz="1200" dirty="0" err="1">
                <a:cs typeface="Arial"/>
              </a:rPr>
              <a:t>credito</a:t>
            </a:r>
            <a:r>
              <a:rPr lang="es-ES" sz="1200" dirty="0">
                <a:cs typeface="Arial"/>
              </a:rPr>
              <a:t> para la </a:t>
            </a:r>
            <a:r>
              <a:rPr lang="es-ES" sz="1200" dirty="0" err="1">
                <a:cs typeface="Arial"/>
              </a:rPr>
              <a:t>realizacion</a:t>
            </a:r>
            <a:r>
              <a:rPr lang="es-ES" sz="1200" dirty="0">
                <a:cs typeface="Arial"/>
              </a:rPr>
              <a:t> del proyecto en Colombia, por lo que, se solicita un </a:t>
            </a:r>
            <a:r>
              <a:rPr lang="es-ES" sz="1200" dirty="0" err="1">
                <a:cs typeface="Arial"/>
              </a:rPr>
              <a:t>credito</a:t>
            </a:r>
            <a:r>
              <a:rPr lang="es-ES" sz="1200" dirty="0">
                <a:cs typeface="Arial"/>
              </a:rPr>
              <a:t> a un banco local para la </a:t>
            </a:r>
            <a:r>
              <a:rPr lang="es-ES" sz="1200" dirty="0" err="1">
                <a:cs typeface="Arial"/>
              </a:rPr>
              <a:t>realizacion</a:t>
            </a:r>
            <a:r>
              <a:rPr lang="es-ES" sz="1200" dirty="0">
                <a:cs typeface="Arial"/>
              </a:rPr>
              <a:t> de este.</a:t>
            </a:r>
            <a:endParaRPr lang="es-ES" sz="1200" dirty="0"/>
          </a:p>
          <a:p>
            <a:pPr marL="0" indent="0">
              <a:buNone/>
            </a:pPr>
            <a:endParaRPr lang="es-ES" sz="1200" dirty="0">
              <a:cs typeface="Arial"/>
            </a:endParaRPr>
          </a:p>
          <a:p>
            <a:pPr marL="229870" indent="-229870"/>
            <a:endParaRPr lang="en-US" dirty="0"/>
          </a:p>
        </p:txBody>
      </p:sp>
    </p:spTree>
    <p:extLst>
      <p:ext uri="{BB962C8B-B14F-4D97-AF65-F5344CB8AC3E}">
        <p14:creationId xmlns:p14="http://schemas.microsoft.com/office/powerpoint/2010/main" val="37979776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s-ES" sz="1050" dirty="0">
                <a:cs typeface="Arial"/>
              </a:rPr>
              <a:t>E</a:t>
            </a:r>
            <a:r>
              <a:rPr lang="es-ES" sz="1200" dirty="0">
                <a:cs typeface="Arial"/>
              </a:rPr>
              <a:t>VALUACIÓN DEL PLAN DE NEGOCIOS EN TÉRMINOS PUROS</a:t>
            </a:r>
          </a:p>
          <a:p>
            <a:pPr marL="229870" indent="-229870"/>
            <a:r>
              <a:rPr lang="es-ES" sz="1200" dirty="0">
                <a:cs typeface="Arial"/>
              </a:rPr>
              <a:t>La evaluación del proyecto en los 5 años de servicio genera un </a:t>
            </a:r>
            <a:r>
              <a:rPr lang="es-ES" sz="1200" dirty="0">
                <a:highlight>
                  <a:srgbClr val="FFFF00"/>
                </a:highlight>
                <a:cs typeface="Arial"/>
              </a:rPr>
              <a:t>VAN (USD 598.566)  </a:t>
            </a:r>
            <a:r>
              <a:rPr lang="es-ES" sz="1200" dirty="0">
                <a:cs typeface="Arial"/>
              </a:rPr>
              <a:t>y un TIR (78%) positivos, lo que, produce que el proyecto sea viable para su realización, indicar que la tasa de costo de oportunidad el primer año es de un 17% y disminuye anualmente (1%) hasta el 5 año quedando en 13%. </a:t>
            </a:r>
            <a:r>
              <a:rPr lang="es-ES" sz="1200" dirty="0">
                <a:highlight>
                  <a:srgbClr val="FFFF00"/>
                </a:highlight>
                <a:cs typeface="Arial"/>
              </a:rPr>
              <a:t>La tasa de costo de oportunidad promedio corresponde a un 15% total proyecto.</a:t>
            </a:r>
            <a:endParaRPr lang="es-ES" sz="1200" dirty="0">
              <a:highlight>
                <a:srgbClr val="FFFF00"/>
              </a:highlight>
            </a:endParaRPr>
          </a:p>
          <a:p>
            <a:pPr marL="0" indent="0">
              <a:buNone/>
            </a:pPr>
            <a:r>
              <a:rPr lang="es-ES" sz="1200" dirty="0">
                <a:cs typeface="Arial"/>
              </a:rPr>
              <a:t>Adicionalmente indicar que </a:t>
            </a:r>
            <a:r>
              <a:rPr lang="es-ES" sz="1200" dirty="0" err="1">
                <a:cs typeface="Arial"/>
              </a:rPr>
              <a:t>Payback</a:t>
            </a:r>
            <a:r>
              <a:rPr lang="es-ES" sz="1200" dirty="0">
                <a:cs typeface="Arial"/>
              </a:rPr>
              <a:t> o plazo de </a:t>
            </a:r>
            <a:r>
              <a:rPr lang="es-ES" sz="1200" dirty="0" err="1">
                <a:cs typeface="Arial"/>
              </a:rPr>
              <a:t>recuperacion</a:t>
            </a:r>
            <a:r>
              <a:rPr lang="es-ES" sz="1200" dirty="0">
                <a:cs typeface="Arial"/>
              </a:rPr>
              <a:t> de la </a:t>
            </a:r>
            <a:r>
              <a:rPr lang="es-ES" sz="1200" dirty="0" err="1">
                <a:cs typeface="Arial"/>
              </a:rPr>
              <a:t>inversion</a:t>
            </a:r>
            <a:r>
              <a:rPr lang="es-ES" sz="1200" dirty="0">
                <a:cs typeface="Arial"/>
              </a:rPr>
              <a:t> comienza desde el </a:t>
            </a:r>
            <a:r>
              <a:rPr lang="es-ES" sz="1200" dirty="0" err="1">
                <a:cs typeface="Arial"/>
              </a:rPr>
              <a:t>segúndo</a:t>
            </a:r>
            <a:r>
              <a:rPr lang="es-ES" sz="1200" dirty="0">
                <a:cs typeface="Arial"/>
              </a:rPr>
              <a:t> año del proyecto.</a:t>
            </a:r>
          </a:p>
          <a:p>
            <a:pPr marL="0" indent="0">
              <a:buNone/>
            </a:pPr>
            <a:r>
              <a:rPr lang="es-ES" sz="1200" dirty="0">
                <a:cs typeface="Arial"/>
              </a:rPr>
              <a:t>Cabe destacar que como gerencia de IT-Trail Services toma la decisión de tomar un </a:t>
            </a:r>
            <a:r>
              <a:rPr lang="es-ES" sz="1200" dirty="0" err="1">
                <a:cs typeface="Arial"/>
              </a:rPr>
              <a:t>credito</a:t>
            </a:r>
            <a:r>
              <a:rPr lang="es-ES" sz="1200" dirty="0">
                <a:cs typeface="Arial"/>
              </a:rPr>
              <a:t> para la </a:t>
            </a:r>
            <a:r>
              <a:rPr lang="es-ES" sz="1200" dirty="0" err="1">
                <a:cs typeface="Arial"/>
              </a:rPr>
              <a:t>realizacion</a:t>
            </a:r>
            <a:r>
              <a:rPr lang="es-ES" sz="1200" dirty="0">
                <a:cs typeface="Arial"/>
              </a:rPr>
              <a:t> del proyecto en Colombia, por lo que, se solicita un </a:t>
            </a:r>
            <a:r>
              <a:rPr lang="es-ES" sz="1200" dirty="0" err="1">
                <a:cs typeface="Arial"/>
              </a:rPr>
              <a:t>credito</a:t>
            </a:r>
            <a:r>
              <a:rPr lang="es-ES" sz="1200" dirty="0">
                <a:cs typeface="Arial"/>
              </a:rPr>
              <a:t> a un banco local para la </a:t>
            </a:r>
            <a:r>
              <a:rPr lang="es-ES" sz="1200" dirty="0" err="1">
                <a:cs typeface="Arial"/>
              </a:rPr>
              <a:t>realizacion</a:t>
            </a:r>
            <a:r>
              <a:rPr lang="es-ES" sz="1200" dirty="0">
                <a:cs typeface="Arial"/>
              </a:rPr>
              <a:t> de este.</a:t>
            </a:r>
            <a:endParaRPr lang="es-ES" sz="1200" dirty="0"/>
          </a:p>
          <a:p>
            <a:pPr marL="0" indent="0">
              <a:buNone/>
            </a:pPr>
            <a:endParaRPr lang="es-ES" sz="1200" dirty="0">
              <a:cs typeface="Arial"/>
            </a:endParaRPr>
          </a:p>
          <a:p>
            <a:pPr marL="229870" indent="-229870"/>
            <a:endParaRPr lang="en-US" dirty="0"/>
          </a:p>
        </p:txBody>
      </p:sp>
    </p:spTree>
    <p:extLst>
      <p:ext uri="{BB962C8B-B14F-4D97-AF65-F5344CB8AC3E}">
        <p14:creationId xmlns:p14="http://schemas.microsoft.com/office/powerpoint/2010/main" val="34436764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5_Title Slide with White Signature">
    <p:bg>
      <p:bgPr>
        <a:blipFill rotWithShape="1">
          <a:blip r:embed="rId2"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15" name="Text Placeholder 6"/>
          <p:cNvSpPr>
            <a:spLocks noGrp="1"/>
          </p:cNvSpPr>
          <p:nvPr>
            <p:ph type="body" sz="quarter" idx="11" hasCustomPrompt="1"/>
          </p:nvPr>
        </p:nvSpPr>
        <p:spPr>
          <a:xfrm>
            <a:off x="455613" y="2670048"/>
            <a:ext cx="3800475" cy="463550"/>
          </a:xfrm>
        </p:spPr>
        <p:txBody>
          <a:bodyPr/>
          <a:lstStyle>
            <a:lvl1pPr marL="0" indent="0">
              <a:buFontTx/>
              <a:buNone/>
              <a:defRPr sz="1600" baseline="0">
                <a:solidFill>
                  <a:schemeClr val="bg1"/>
                </a:solidFill>
              </a:defRPr>
            </a:lvl1pPr>
            <a:lvl2pPr marL="226800" indent="0">
              <a:buFontTx/>
              <a:buNone/>
              <a:defRPr/>
            </a:lvl2pPr>
            <a:lvl3pPr marL="457200" indent="0">
              <a:buFontTx/>
              <a:buNone/>
              <a:defRPr/>
            </a:lvl3pPr>
            <a:lvl4pPr marL="684000" indent="0">
              <a:buFontTx/>
              <a:buNone/>
              <a:defRPr/>
            </a:lvl4pPr>
            <a:lvl5pPr marL="914400" indent="0">
              <a:buFontTx/>
              <a:buNone/>
              <a:defRPr/>
            </a:lvl5pPr>
          </a:lstStyle>
          <a:p>
            <a:pPr lvl="0"/>
            <a:r>
              <a:rPr lang="en-US" dirty="0"/>
              <a:t>Click to add date</a:t>
            </a:r>
          </a:p>
        </p:txBody>
      </p:sp>
      <p:sp>
        <p:nvSpPr>
          <p:cNvPr id="17" name="Text Placeholder 8"/>
          <p:cNvSpPr>
            <a:spLocks noGrp="1"/>
          </p:cNvSpPr>
          <p:nvPr>
            <p:ph type="body" sz="quarter" idx="10"/>
          </p:nvPr>
        </p:nvSpPr>
        <p:spPr>
          <a:xfrm>
            <a:off x="458788" y="1910922"/>
            <a:ext cx="4024312" cy="759254"/>
          </a:xfrm>
        </p:spPr>
        <p:txBody>
          <a:bodyPr>
            <a:noAutofit/>
          </a:bodyPr>
          <a:lstStyle>
            <a:lvl1pPr marL="0" marR="0" indent="0" algn="l" defTabSz="914400" rtl="0" eaLnBrk="1" fontAlgn="auto" latinLnBrk="0" hangingPunct="1">
              <a:lnSpc>
                <a:spcPct val="100000"/>
              </a:lnSpc>
              <a:spcBef>
                <a:spcPts val="0"/>
              </a:spcBef>
              <a:spcAft>
                <a:spcPts val="0"/>
              </a:spcAft>
              <a:buClr>
                <a:schemeClr val="tx1"/>
              </a:buClr>
              <a:buSzPct val="80000"/>
              <a:buFont typeface="Arial" pitchFamily="34" charset="0"/>
              <a:buNone/>
              <a:tabLst/>
              <a:defRPr sz="2400" baseline="0">
                <a:solidFill>
                  <a:schemeClr val="bg1"/>
                </a:solidFill>
              </a:defRPr>
            </a:lvl1pPr>
            <a:lvl2pPr marL="0" indent="0">
              <a:lnSpc>
                <a:spcPct val="100000"/>
              </a:lnSpc>
              <a:spcAft>
                <a:spcPts val="0"/>
              </a:spcAft>
              <a:buNone/>
              <a:defRPr sz="1900">
                <a:solidFill>
                  <a:schemeClr val="bg1"/>
                </a:solidFill>
              </a:defRPr>
            </a:lvl2pPr>
            <a:lvl3pPr marL="468000" indent="0">
              <a:buNone/>
              <a:defRPr/>
            </a:lvl3pPr>
          </a:lstStyle>
          <a:p>
            <a:endParaRPr lang="en-US" sz="2400" dirty="0"/>
          </a:p>
        </p:txBody>
      </p:sp>
    </p:spTree>
    <p:extLst>
      <p:ext uri="{BB962C8B-B14F-4D97-AF65-F5344CB8AC3E}">
        <p14:creationId xmlns:p14="http://schemas.microsoft.com/office/powerpoint/2010/main" val="1346706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8_Divider Slide 1">
    <p:spTree>
      <p:nvGrpSpPr>
        <p:cNvPr id="1" name=""/>
        <p:cNvGrpSpPr/>
        <p:nvPr/>
      </p:nvGrpSpPr>
      <p:grpSpPr>
        <a:xfrm>
          <a:off x="0" y="0"/>
          <a:ext cx="0" cy="0"/>
          <a:chOff x="0" y="0"/>
          <a:chExt cx="0" cy="0"/>
        </a:xfrm>
      </p:grpSpPr>
      <p:pic>
        <p:nvPicPr>
          <p:cNvPr id="3" name="Picture 2" descr="background2_16x9_pool.jp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679"/>
            <a:ext cx="12187238" cy="6855321"/>
          </a:xfrm>
          <a:prstGeom prst="rect">
            <a:avLst/>
          </a:prstGeom>
        </p:spPr>
      </p:pic>
      <p:sp>
        <p:nvSpPr>
          <p:cNvPr id="2" name="Title 1"/>
          <p:cNvSpPr>
            <a:spLocks noGrp="1"/>
          </p:cNvSpPr>
          <p:nvPr>
            <p:ph type="ctrTitle" hasCustomPrompt="1"/>
          </p:nvPr>
        </p:nvSpPr>
        <p:spPr>
          <a:xfrm>
            <a:off x="465138" y="2718421"/>
            <a:ext cx="11256961" cy="1161492"/>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pPr lvl="0"/>
            <a:r>
              <a:rPr lang="en-US" dirty="0"/>
              <a:t>Master Divider Slide Headline</a:t>
            </a:r>
          </a:p>
        </p:txBody>
      </p:sp>
      <p:sp>
        <p:nvSpPr>
          <p:cNvPr id="6" name="Slide Number Placeholder 4"/>
          <p:cNvSpPr>
            <a:spLocks noGrp="1"/>
          </p:cNvSpPr>
          <p:nvPr>
            <p:ph type="sldNum" sz="quarter" idx="4"/>
          </p:nvPr>
        </p:nvSpPr>
        <p:spPr>
          <a:xfrm>
            <a:off x="10991675" y="6575425"/>
            <a:ext cx="730425"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2059580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7_Divider Slide 1">
    <p:spTree>
      <p:nvGrpSpPr>
        <p:cNvPr id="1" name=""/>
        <p:cNvGrpSpPr/>
        <p:nvPr/>
      </p:nvGrpSpPr>
      <p:grpSpPr>
        <a:xfrm>
          <a:off x="0" y="0"/>
          <a:ext cx="0" cy="0"/>
          <a:chOff x="0" y="0"/>
          <a:chExt cx="0" cy="0"/>
        </a:xfrm>
      </p:grpSpPr>
      <p:pic>
        <p:nvPicPr>
          <p:cNvPr id="4" name="Picture 3" descr="background2_16x9_aqua.jp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679"/>
            <a:ext cx="12187238" cy="6855321"/>
          </a:xfrm>
          <a:prstGeom prst="rect">
            <a:avLst/>
          </a:prstGeom>
        </p:spPr>
      </p:pic>
      <p:sp>
        <p:nvSpPr>
          <p:cNvPr id="2" name="Title 1"/>
          <p:cNvSpPr>
            <a:spLocks noGrp="1"/>
          </p:cNvSpPr>
          <p:nvPr>
            <p:ph type="ctrTitle" hasCustomPrompt="1"/>
          </p:nvPr>
        </p:nvSpPr>
        <p:spPr>
          <a:xfrm>
            <a:off x="465138" y="2718421"/>
            <a:ext cx="11256961" cy="1161492"/>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pPr lvl="0"/>
            <a:r>
              <a:rPr lang="en-US" dirty="0"/>
              <a:t>Master Divider Slide Headline</a:t>
            </a:r>
          </a:p>
        </p:txBody>
      </p:sp>
      <p:sp>
        <p:nvSpPr>
          <p:cNvPr id="5" name="Slide Number Placeholder 4"/>
          <p:cNvSpPr>
            <a:spLocks noGrp="1"/>
          </p:cNvSpPr>
          <p:nvPr>
            <p:ph type="sldNum" sz="quarter" idx="4"/>
          </p:nvPr>
        </p:nvSpPr>
        <p:spPr>
          <a:xfrm>
            <a:off x="10991675" y="6575425"/>
            <a:ext cx="730425"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3878940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0_Divider Slide 1">
    <p:bg>
      <p:bgPr>
        <a:blipFill rotWithShape="1">
          <a:blip r:embed="rId2" cstate="email"/>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5138" y="2718421"/>
            <a:ext cx="11256961" cy="1161492"/>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pPr lvl="0"/>
            <a:r>
              <a:rPr lang="en-US" dirty="0"/>
              <a:t>Master Divider Slide Headline</a:t>
            </a:r>
          </a:p>
        </p:txBody>
      </p:sp>
      <p:sp>
        <p:nvSpPr>
          <p:cNvPr id="6" name="Slide Number Placeholder 4"/>
          <p:cNvSpPr>
            <a:spLocks noGrp="1"/>
          </p:cNvSpPr>
          <p:nvPr>
            <p:ph type="sldNum" sz="quarter" idx="4"/>
          </p:nvPr>
        </p:nvSpPr>
        <p:spPr>
          <a:xfrm>
            <a:off x="10991675" y="6575425"/>
            <a:ext cx="730425"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45506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Divider Slide 1">
    <p:bg>
      <p:bgPr>
        <a:blipFill rotWithShape="1">
          <a:blip r:embed="rId2" cstate="email"/>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5138" y="2718421"/>
            <a:ext cx="11256961" cy="1161492"/>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pPr lvl="0"/>
            <a:r>
              <a:rPr lang="en-US" dirty="0"/>
              <a:t>Master Divider Slide Headline</a:t>
            </a:r>
          </a:p>
        </p:txBody>
      </p:sp>
      <p:sp>
        <p:nvSpPr>
          <p:cNvPr id="5" name="Slide Number Placeholder 4"/>
          <p:cNvSpPr>
            <a:spLocks noGrp="1"/>
          </p:cNvSpPr>
          <p:nvPr>
            <p:ph type="sldNum" sz="quarter" idx="4"/>
          </p:nvPr>
        </p:nvSpPr>
        <p:spPr>
          <a:xfrm>
            <a:off x="10991675" y="6575425"/>
            <a:ext cx="730425"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1832914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2_Divider Slide 1">
    <p:bg>
      <p:bgPr>
        <a:blipFill rotWithShape="1">
          <a:blip r:embed="rId2" cstate="email"/>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5138" y="2718421"/>
            <a:ext cx="11256961" cy="1161492"/>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pPr lvl="0"/>
            <a:r>
              <a:rPr lang="en-US" dirty="0"/>
              <a:t>Master Divider Slide Headline</a:t>
            </a:r>
          </a:p>
        </p:txBody>
      </p:sp>
      <p:sp>
        <p:nvSpPr>
          <p:cNvPr id="6" name="Slide Number Placeholder 4"/>
          <p:cNvSpPr>
            <a:spLocks noGrp="1"/>
          </p:cNvSpPr>
          <p:nvPr>
            <p:ph type="sldNum" sz="quarter" idx="4"/>
          </p:nvPr>
        </p:nvSpPr>
        <p:spPr>
          <a:xfrm>
            <a:off x="10991675" y="6575425"/>
            <a:ext cx="730425"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310460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Divider Slide 1">
    <p:bg>
      <p:bgPr>
        <a:blipFill rotWithShape="1">
          <a:blip r:embed="rId2" cstate="email"/>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5138" y="2718421"/>
            <a:ext cx="11256961" cy="1161492"/>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pPr lvl="0"/>
            <a:r>
              <a:rPr lang="en-US" dirty="0"/>
              <a:t>Master Divider Slide Headline</a:t>
            </a:r>
          </a:p>
        </p:txBody>
      </p:sp>
      <p:sp>
        <p:nvSpPr>
          <p:cNvPr id="8" name="Slide Number Placeholder 4"/>
          <p:cNvSpPr>
            <a:spLocks noGrp="1"/>
          </p:cNvSpPr>
          <p:nvPr>
            <p:ph type="sldNum" sz="quarter" idx="4"/>
          </p:nvPr>
        </p:nvSpPr>
        <p:spPr>
          <a:xfrm>
            <a:off x="10991675" y="6575425"/>
            <a:ext cx="730425"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1038847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Divider Slide 1">
    <p:bg>
      <p:bgPr>
        <a:blipFill rotWithShape="1">
          <a:blip r:embed="rId2" cstate="email"/>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5138" y="2718421"/>
            <a:ext cx="11256961" cy="1161492"/>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pPr lvl="0"/>
            <a:r>
              <a:rPr lang="en-US" dirty="0"/>
              <a:t>Master Divider Slide Headline</a:t>
            </a:r>
          </a:p>
        </p:txBody>
      </p:sp>
      <p:sp>
        <p:nvSpPr>
          <p:cNvPr id="5" name="Slide Number Placeholder 4"/>
          <p:cNvSpPr>
            <a:spLocks noGrp="1"/>
          </p:cNvSpPr>
          <p:nvPr>
            <p:ph type="sldNum" sz="quarter" idx="4"/>
          </p:nvPr>
        </p:nvSpPr>
        <p:spPr>
          <a:xfrm>
            <a:off x="10991675" y="6575425"/>
            <a:ext cx="730425"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1147561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Divider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5138" y="2715768"/>
            <a:ext cx="11256961" cy="1162800"/>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r>
              <a:rPr lang="en-US" dirty="0"/>
              <a:t>Master Divider Slide Headline</a:t>
            </a:r>
          </a:p>
        </p:txBody>
      </p:sp>
      <p:sp>
        <p:nvSpPr>
          <p:cNvPr id="6" name="Slide Number Placeholder 4"/>
          <p:cNvSpPr>
            <a:spLocks noGrp="1"/>
          </p:cNvSpPr>
          <p:nvPr>
            <p:ph type="sldNum" sz="quarter" idx="4"/>
          </p:nvPr>
        </p:nvSpPr>
        <p:spPr>
          <a:xfrm>
            <a:off x="10991675" y="6575425"/>
            <a:ext cx="730425"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675032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lvl1pPr>
              <a:defRPr>
                <a:solidFill>
                  <a:srgbClr val="FFFFFF"/>
                </a:solidFill>
              </a:defRPr>
            </a:lvl1pPr>
          </a:lstStyle>
          <a:p>
            <a:pPr>
              <a:defRPr/>
            </a:pPr>
            <a:fld id="{90CBDC3A-D49F-4631-A8C7-55D59B33E5FA}" type="slidenum">
              <a:rPr lang="en-US" smtClean="0"/>
              <a:pPr>
                <a:defRPr/>
              </a:pPr>
              <a:t>‹#›</a:t>
            </a:fld>
            <a:endParaRPr lang="en-US" dirty="0"/>
          </a:p>
        </p:txBody>
      </p:sp>
      <p:sp>
        <p:nvSpPr>
          <p:cNvPr id="5" name="Title 4"/>
          <p:cNvSpPr>
            <a:spLocks noGrp="1"/>
          </p:cNvSpPr>
          <p:nvPr>
            <p:ph type="title"/>
          </p:nvPr>
        </p:nvSpPr>
        <p:spPr/>
        <p:txBody>
          <a:bodyPr/>
          <a:lstStyle>
            <a:lvl1pPr>
              <a:defRPr>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300873544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Slide 1">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5138" y="2718421"/>
            <a:ext cx="11256961" cy="1161492"/>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pPr lvl="0"/>
            <a:r>
              <a:rPr lang="en-US" dirty="0"/>
              <a:t>Master Divider Slide Headline</a:t>
            </a:r>
          </a:p>
        </p:txBody>
      </p:sp>
      <p:sp>
        <p:nvSpPr>
          <p:cNvPr id="6" name="Slide Number Placeholder 4"/>
          <p:cNvSpPr>
            <a:spLocks noGrp="1"/>
          </p:cNvSpPr>
          <p:nvPr>
            <p:ph type="sldNum" sz="quarter" idx="4"/>
          </p:nvPr>
        </p:nvSpPr>
        <p:spPr>
          <a:xfrm>
            <a:off x="10991675" y="6575425"/>
            <a:ext cx="730425"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16431131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Divider Slide 2">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5138" y="2728163"/>
            <a:ext cx="11256961" cy="1162800"/>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r>
              <a:rPr lang="en-US" dirty="0"/>
              <a:t>Master Divider Slide Headline</a:t>
            </a:r>
          </a:p>
        </p:txBody>
      </p:sp>
      <p:sp>
        <p:nvSpPr>
          <p:cNvPr id="6" name="Slide Number Placeholder 4"/>
          <p:cNvSpPr>
            <a:spLocks noGrp="1"/>
          </p:cNvSpPr>
          <p:nvPr>
            <p:ph type="sldNum" sz="quarter" idx="4"/>
          </p:nvPr>
        </p:nvSpPr>
        <p:spPr>
          <a:xfrm>
            <a:off x="10991675" y="6575425"/>
            <a:ext cx="730425"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34699493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Slide Number Placeholder 4"/>
          <p:cNvSpPr>
            <a:spLocks noGrp="1"/>
          </p:cNvSpPr>
          <p:nvPr>
            <p:ph type="sldNum" sz="quarter" idx="4"/>
          </p:nvPr>
        </p:nvSpPr>
        <p:spPr>
          <a:xfrm>
            <a:off x="10991675" y="6575425"/>
            <a:ext cx="730425"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tx2"/>
                </a:solidFill>
                <a:latin typeface="+mn-lt"/>
              </a:defRPr>
            </a:lvl1pPr>
          </a:lstStyle>
          <a:p>
            <a:pPr>
              <a:defRPr/>
            </a:pPr>
            <a:fld id="{90CBDC3A-D49F-4631-A8C7-55D59B33E5FA}" type="slidenum">
              <a:rPr lang="en-US" smtClean="0"/>
              <a:pPr>
                <a:defRPr/>
              </a:pPr>
              <a:t>‹#›</a:t>
            </a:fld>
            <a:endParaRPr lang="en-US" dirty="0"/>
          </a:p>
        </p:txBody>
      </p:sp>
      <p:grpSp>
        <p:nvGrpSpPr>
          <p:cNvPr id="6" name="Group 5" hidden="1"/>
          <p:cNvGrpSpPr/>
          <p:nvPr userDrawn="1"/>
        </p:nvGrpSpPr>
        <p:grpSpPr>
          <a:xfrm>
            <a:off x="0" y="0"/>
            <a:ext cx="12187238" cy="6858000"/>
            <a:chOff x="0" y="0"/>
            <a:chExt cx="9144000" cy="6858000"/>
          </a:xfrm>
        </p:grpSpPr>
        <p:cxnSp>
          <p:nvCxnSpPr>
            <p:cNvPr id="7" name="Straight Connector 6"/>
            <p:cNvCxnSpPr/>
            <p:nvPr/>
          </p:nvCxnSpPr>
          <p:spPr>
            <a:xfrm>
              <a:off x="455613"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688388"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1284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2364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907088"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016625"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180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6260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0" y="388938"/>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0" y="1055688"/>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0" y="1162050"/>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0" y="1278439"/>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0" y="3427413"/>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0" y="3890963"/>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0" y="6492875"/>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0" y="6575425"/>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0" y="6704013"/>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87376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380852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a:defRPr/>
            </a:pPr>
            <a:fld id="{90CBDC3A-D49F-4631-A8C7-55D59B33E5FA}" type="slidenum">
              <a:rPr lang="en-US" smtClean="0"/>
              <a:pPr>
                <a:defRPr/>
              </a:pPr>
              <a:t>‹#›</a:t>
            </a:fld>
            <a:endParaRPr lang="en-US" dirty="0"/>
          </a:p>
        </p:txBody>
      </p:sp>
      <p:sp>
        <p:nvSpPr>
          <p:cNvPr id="6" name="Title 5"/>
          <p:cNvSpPr>
            <a:spLocks noGrp="1"/>
          </p:cNvSpPr>
          <p:nvPr>
            <p:ph type="title"/>
          </p:nvPr>
        </p:nvSpPr>
        <p:spPr/>
        <p:txBody>
          <a:bodyPr/>
          <a:lstStyle/>
          <a:p>
            <a:r>
              <a:rPr lang="en-US" dirty="0"/>
              <a:t>Click to edit Master title style</a:t>
            </a:r>
          </a:p>
        </p:txBody>
      </p:sp>
      <p:sp>
        <p:nvSpPr>
          <p:cNvPr id="10" name="Content Placeholder 9"/>
          <p:cNvSpPr>
            <a:spLocks noGrp="1"/>
          </p:cNvSpPr>
          <p:nvPr>
            <p:ph sz="quarter" idx="14"/>
          </p:nvPr>
        </p:nvSpPr>
        <p:spPr>
          <a:xfrm>
            <a:off x="465138" y="1157725"/>
            <a:ext cx="11256962" cy="53351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88037780"/>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Paragraphs">
    <p:spTree>
      <p:nvGrpSpPr>
        <p:cNvPr id="1" name=""/>
        <p:cNvGrpSpPr/>
        <p:nvPr/>
      </p:nvGrpSpPr>
      <p:grpSpPr>
        <a:xfrm>
          <a:off x="0" y="0"/>
          <a:ext cx="0" cy="0"/>
          <a:chOff x="0" y="0"/>
          <a:chExt cx="0" cy="0"/>
        </a:xfrm>
      </p:grpSpPr>
      <p:sp>
        <p:nvSpPr>
          <p:cNvPr id="8" name="Content Placeholder 7"/>
          <p:cNvSpPr>
            <a:spLocks noGrp="1"/>
          </p:cNvSpPr>
          <p:nvPr>
            <p:ph sz="quarter" idx="11" hasCustomPrompt="1"/>
          </p:nvPr>
        </p:nvSpPr>
        <p:spPr>
          <a:xfrm>
            <a:off x="465138" y="1162050"/>
            <a:ext cx="11256962" cy="5329056"/>
          </a:xfrm>
        </p:spPr>
        <p:txBody>
          <a:bodyPr/>
          <a:lstStyle>
            <a:lvl1pPr marL="0" indent="0">
              <a:buNone/>
              <a:defRPr sz="2400" b="1">
                <a:solidFill>
                  <a:srgbClr val="993399"/>
                </a:solidFill>
              </a:defRPr>
            </a:lvl1pPr>
            <a:lvl2pPr marL="0" indent="-230400">
              <a:buFont typeface="Arial" pitchFamily="34" charset="0"/>
              <a:buChar char="•"/>
              <a:defRPr/>
            </a:lvl2pPr>
            <a:lvl3pPr marL="457200" indent="-230400">
              <a:buFont typeface="Arial" pitchFamily="34" charset="0"/>
              <a:buChar char="–"/>
              <a:defRPr/>
            </a:lvl3pPr>
            <a:lvl4pPr marL="687600" indent="-226800">
              <a:buFont typeface="Arial" pitchFamily="34" charset="0"/>
              <a:buChar char="•"/>
              <a:defRPr/>
            </a:lvl4pPr>
            <a:lvl5pPr marL="914400" indent="-230400">
              <a:buFont typeface="Arial" pitchFamily="34" charset="0"/>
              <a:buChar char="–"/>
              <a:defRPr/>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
        <p:nvSpPr>
          <p:cNvPr id="6" name="Slide Number Placeholder 5"/>
          <p:cNvSpPr>
            <a:spLocks noGrp="1"/>
          </p:cNvSpPr>
          <p:nvPr>
            <p:ph type="sldNum" sz="quarter" idx="13"/>
          </p:nvPr>
        </p:nvSpPr>
        <p:spPr/>
        <p:txBody>
          <a:body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88268895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2-Content">
    <p:spTree>
      <p:nvGrpSpPr>
        <p:cNvPr id="1" name=""/>
        <p:cNvGrpSpPr/>
        <p:nvPr/>
      </p:nvGrpSpPr>
      <p:grpSpPr>
        <a:xfrm>
          <a:off x="0" y="0"/>
          <a:ext cx="0" cy="0"/>
          <a:chOff x="0" y="0"/>
          <a:chExt cx="0" cy="0"/>
        </a:xfrm>
      </p:grpSpPr>
      <p:sp>
        <p:nvSpPr>
          <p:cNvPr id="6" name="Slide Number Placeholder 5"/>
          <p:cNvSpPr>
            <a:spLocks noGrp="1"/>
          </p:cNvSpPr>
          <p:nvPr>
            <p:ph type="sldNum" sz="quarter" idx="15"/>
          </p:nvPr>
        </p:nvSpPr>
        <p:spPr/>
        <p:txBody>
          <a:bodyPr/>
          <a:lstStyle/>
          <a:p>
            <a:pPr>
              <a:defRPr/>
            </a:pPr>
            <a:fld id="{90CBDC3A-D49F-4631-A8C7-55D59B33E5FA}" type="slidenum">
              <a:rPr lang="en-US" smtClean="0"/>
              <a:pPr>
                <a:defRPr/>
              </a:pPr>
              <a:t>‹#›</a:t>
            </a:fld>
            <a:endParaRPr lang="en-US" dirty="0"/>
          </a:p>
        </p:txBody>
      </p:sp>
      <p:sp>
        <p:nvSpPr>
          <p:cNvPr id="7" name="Title 6"/>
          <p:cNvSpPr>
            <a:spLocks noGrp="1"/>
          </p:cNvSpPr>
          <p:nvPr>
            <p:ph type="title"/>
          </p:nvPr>
        </p:nvSpPr>
        <p:spPr/>
        <p:txBody>
          <a:bodyPr/>
          <a:lstStyle/>
          <a:p>
            <a:r>
              <a:rPr lang="en-US" dirty="0"/>
              <a:t>Click to edit Master title style</a:t>
            </a:r>
          </a:p>
        </p:txBody>
      </p:sp>
      <p:sp>
        <p:nvSpPr>
          <p:cNvPr id="4" name="Content Placeholder 3"/>
          <p:cNvSpPr>
            <a:spLocks noGrp="1"/>
          </p:cNvSpPr>
          <p:nvPr>
            <p:ph sz="quarter" idx="16"/>
          </p:nvPr>
        </p:nvSpPr>
        <p:spPr>
          <a:xfrm>
            <a:off x="465138" y="1180210"/>
            <a:ext cx="5521325" cy="5292000"/>
          </a:xfrm>
        </p:spPr>
        <p:txBody>
          <a:bodyPr/>
          <a:lstStyle>
            <a:lvl1pPr>
              <a:defRPr sz="2000"/>
            </a:lvl1pPr>
            <a:lvl2pPr>
              <a:defRPr sz="1800"/>
            </a:lvl2pPr>
            <a:lvl3pPr>
              <a:defRPr sz="1600"/>
            </a:lvl3pPr>
            <a:lvl4pPr>
              <a:defRPr sz="14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3"/>
          <p:cNvSpPr>
            <a:spLocks noGrp="1"/>
          </p:cNvSpPr>
          <p:nvPr>
            <p:ph sz="quarter" idx="17"/>
          </p:nvPr>
        </p:nvSpPr>
        <p:spPr>
          <a:xfrm>
            <a:off x="6200775" y="1180210"/>
            <a:ext cx="5521325" cy="5292000"/>
          </a:xfrm>
        </p:spPr>
        <p:txBody>
          <a:bodyPr/>
          <a:lstStyle>
            <a:lvl1pPr>
              <a:defRPr sz="2000"/>
            </a:lvl1pPr>
            <a:lvl2pPr>
              <a:defRPr sz="1800"/>
            </a:lvl2pPr>
            <a:lvl3pPr>
              <a:defRPr sz="1600"/>
            </a:lvl3pPr>
            <a:lvl4pPr>
              <a:defRPr sz="14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5975566"/>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2-content Paragraphs">
    <p:spTree>
      <p:nvGrpSpPr>
        <p:cNvPr id="1" name=""/>
        <p:cNvGrpSpPr/>
        <p:nvPr/>
      </p:nvGrpSpPr>
      <p:grpSpPr>
        <a:xfrm>
          <a:off x="0" y="0"/>
          <a:ext cx="0" cy="0"/>
          <a:chOff x="0" y="0"/>
          <a:chExt cx="0" cy="0"/>
        </a:xfrm>
      </p:grpSpPr>
      <p:sp>
        <p:nvSpPr>
          <p:cNvPr id="6" name="Slide Number Placeholder 5"/>
          <p:cNvSpPr>
            <a:spLocks noGrp="1"/>
          </p:cNvSpPr>
          <p:nvPr>
            <p:ph type="sldNum" sz="quarter" idx="15"/>
          </p:nvPr>
        </p:nvSpPr>
        <p:spPr/>
        <p:txBody>
          <a:bodyPr/>
          <a:lstStyle/>
          <a:p>
            <a:pPr>
              <a:defRPr/>
            </a:pPr>
            <a:fld id="{90CBDC3A-D49F-4631-A8C7-55D59B33E5FA}" type="slidenum">
              <a:rPr lang="en-US" smtClean="0"/>
              <a:pPr>
                <a:defRPr/>
              </a:pPr>
              <a:t>‹#›</a:t>
            </a:fld>
            <a:endParaRPr lang="en-US" dirty="0"/>
          </a:p>
        </p:txBody>
      </p:sp>
      <p:sp>
        <p:nvSpPr>
          <p:cNvPr id="7" name="Title 6"/>
          <p:cNvSpPr>
            <a:spLocks noGrp="1"/>
          </p:cNvSpPr>
          <p:nvPr>
            <p:ph type="title"/>
          </p:nvPr>
        </p:nvSpPr>
        <p:spPr/>
        <p:txBody>
          <a:bodyPr/>
          <a:lstStyle/>
          <a:p>
            <a:r>
              <a:rPr lang="en-US" dirty="0"/>
              <a:t>Click to edit Master title style</a:t>
            </a:r>
          </a:p>
        </p:txBody>
      </p:sp>
      <p:sp>
        <p:nvSpPr>
          <p:cNvPr id="9" name="Content Placeholder 3"/>
          <p:cNvSpPr>
            <a:spLocks noGrp="1"/>
          </p:cNvSpPr>
          <p:nvPr>
            <p:ph sz="quarter" idx="16"/>
          </p:nvPr>
        </p:nvSpPr>
        <p:spPr>
          <a:xfrm>
            <a:off x="465138" y="1180210"/>
            <a:ext cx="5521325" cy="5292000"/>
          </a:xfrm>
        </p:spPr>
        <p:txBody>
          <a:bodyPr/>
          <a:lstStyle>
            <a:lvl1pPr marL="0" indent="0">
              <a:buNone/>
              <a:defRPr sz="2000" b="1">
                <a:solidFill>
                  <a:srgbClr val="993399"/>
                </a:solidFill>
              </a:defRPr>
            </a:lvl1pPr>
            <a:lvl2pPr marL="0" indent="-230400">
              <a:buFont typeface="Arial" pitchFamily="34" charset="0"/>
              <a:buChar char="•"/>
              <a:defRPr sz="2000"/>
            </a:lvl2pPr>
            <a:lvl3pPr marL="457200" indent="-230400">
              <a:buFont typeface="Arial" pitchFamily="34" charset="0"/>
              <a:buChar char="–"/>
              <a:defRPr sz="1800"/>
            </a:lvl3pPr>
            <a:lvl4pPr marL="687600" indent="-226800">
              <a:buFont typeface="Arial" pitchFamily="34" charset="0"/>
              <a:buChar char="•"/>
              <a:defRPr sz="1600"/>
            </a:lvl4pPr>
            <a:lvl5pPr marL="914400" indent="-230400">
              <a:buFont typeface="Arial"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p:cNvSpPr>
            <a:spLocks noGrp="1"/>
          </p:cNvSpPr>
          <p:nvPr>
            <p:ph sz="quarter" idx="19"/>
          </p:nvPr>
        </p:nvSpPr>
        <p:spPr>
          <a:xfrm>
            <a:off x="6200774" y="1180210"/>
            <a:ext cx="5521325" cy="5292000"/>
          </a:xfrm>
        </p:spPr>
        <p:txBody>
          <a:bodyPr/>
          <a:lstStyle>
            <a:lvl1pPr marL="0" indent="0">
              <a:buNone/>
              <a:defRPr sz="2000" b="1">
                <a:solidFill>
                  <a:srgbClr val="993399"/>
                </a:solidFill>
              </a:defRPr>
            </a:lvl1pPr>
            <a:lvl2pPr marL="0" indent="-230400">
              <a:buFont typeface="Arial" pitchFamily="34" charset="0"/>
              <a:buChar char="•"/>
              <a:defRPr sz="2000"/>
            </a:lvl2pPr>
            <a:lvl3pPr marL="457200" indent="-230400">
              <a:buFont typeface="Arial" pitchFamily="34" charset="0"/>
              <a:buChar char="–"/>
              <a:defRPr sz="1800"/>
            </a:lvl3pPr>
            <a:lvl4pPr marL="687600" indent="-226800">
              <a:buFont typeface="Arial" pitchFamily="34" charset="0"/>
              <a:buChar char="•"/>
              <a:defRPr sz="1600"/>
            </a:lvl4pPr>
            <a:lvl5pPr marL="914400" indent="-230400">
              <a:buFont typeface="Arial"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8216874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lvl1pPr>
              <a:defRPr>
                <a:solidFill>
                  <a:schemeClr val="tx2"/>
                </a:solidFill>
              </a:defRPr>
            </a:lvl1pPr>
          </a:lstStyle>
          <a:p>
            <a:pPr>
              <a:defRPr/>
            </a:pPr>
            <a:fld id="{90CBDC3A-D49F-4631-A8C7-55D59B33E5FA}" type="slidenum">
              <a:rPr lang="en-US" smtClean="0"/>
              <a:pPr>
                <a:defRPr/>
              </a:pPr>
              <a:t>‹#›</a:t>
            </a:fld>
            <a:endParaRPr lang="en-US" dirty="0"/>
          </a:p>
        </p:txBody>
      </p:sp>
      <p:sp>
        <p:nvSpPr>
          <p:cNvPr id="5" name="Title 4"/>
          <p:cNvSpPr>
            <a:spLocks noGrp="1"/>
          </p:cNvSpPr>
          <p:nvPr>
            <p:ph type="title"/>
          </p:nvPr>
        </p:nvSpPr>
        <p:spPr/>
        <p:txBody>
          <a:bodyPr/>
          <a:lstStyle>
            <a:lvl1pPr>
              <a:defRPr>
                <a:solidFill>
                  <a:srgbClr val="000000"/>
                </a:solidFill>
              </a:defRPr>
            </a:lvl1pPr>
          </a:lstStyle>
          <a:p>
            <a:r>
              <a:rPr lang="en-US" dirty="0"/>
              <a:t>Click to edit Master title style</a:t>
            </a:r>
          </a:p>
        </p:txBody>
      </p:sp>
    </p:spTree>
    <p:extLst>
      <p:ext uri="{BB962C8B-B14F-4D97-AF65-F5344CB8AC3E}">
        <p14:creationId xmlns:p14="http://schemas.microsoft.com/office/powerpoint/2010/main" val="3957040699"/>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Title Slide with White Signature">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12" y="-27"/>
            <a:ext cx="12184413" cy="6858054"/>
          </a:xfrm>
          <a:prstGeom prst="rect">
            <a:avLst/>
          </a:prstGeom>
        </p:spPr>
      </p:pic>
    </p:spTree>
    <p:extLst>
      <p:ext uri="{BB962C8B-B14F-4D97-AF65-F5344CB8AC3E}">
        <p14:creationId xmlns:p14="http://schemas.microsoft.com/office/powerpoint/2010/main" val="4242788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Slide with White Signature">
    <p:bg>
      <p:bgPr>
        <a:solidFill>
          <a:schemeClr val="tx1"/>
        </a:solidFill>
        <a:effectLst/>
      </p:bgPr>
    </p:bg>
    <p:spTree>
      <p:nvGrpSpPr>
        <p:cNvPr id="1" name=""/>
        <p:cNvGrpSpPr/>
        <p:nvPr/>
      </p:nvGrpSpPr>
      <p:grpSpPr>
        <a:xfrm>
          <a:off x="0" y="0"/>
          <a:ext cx="0" cy="0"/>
          <a:chOff x="0" y="0"/>
          <a:chExt cx="0" cy="0"/>
        </a:xfrm>
      </p:grpSpPr>
      <p:pic>
        <p:nvPicPr>
          <p:cNvPr id="3" name="Picture 2" descr="A picture containing outdoor, factory, many, lots&#10;&#10;Description automatically generated">
            <a:extLst>
              <a:ext uri="{FF2B5EF4-FFF2-40B4-BE49-F238E27FC236}">
                <a16:creationId xmlns:a16="http://schemas.microsoft.com/office/drawing/2014/main" id="{625B91B7-DF0C-4CB8-8289-6F733D5A9B2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28188"/>
            <a:ext cx="8895015" cy="5999309"/>
          </a:xfrm>
          <a:prstGeom prst="rect">
            <a:avLst/>
          </a:prstGeom>
        </p:spPr>
      </p:pic>
      <p:cxnSp>
        <p:nvCxnSpPr>
          <p:cNvPr id="4" name="Straight Connector 3"/>
          <p:cNvCxnSpPr/>
          <p:nvPr userDrawn="1"/>
        </p:nvCxnSpPr>
        <p:spPr>
          <a:xfrm flipV="1">
            <a:off x="465078" y="1160210"/>
            <a:ext cx="11722161" cy="1"/>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7438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Title Slide with White Signature">
    <p:bg>
      <p:bgPr>
        <a:solidFill>
          <a:schemeClr val="tx1"/>
        </a:solidFill>
        <a:effectLst/>
      </p:bgPr>
    </p:bg>
    <p:spTree>
      <p:nvGrpSpPr>
        <p:cNvPr id="1" name=""/>
        <p:cNvGrpSpPr/>
        <p:nvPr/>
      </p:nvGrpSpPr>
      <p:grpSpPr>
        <a:xfrm>
          <a:off x="0" y="0"/>
          <a:ext cx="0" cy="0"/>
          <a:chOff x="0" y="0"/>
          <a:chExt cx="0" cy="0"/>
        </a:xfrm>
      </p:grpSpPr>
      <p:cxnSp>
        <p:nvCxnSpPr>
          <p:cNvPr id="4" name="Straight Connector 3"/>
          <p:cNvCxnSpPr/>
          <p:nvPr userDrawn="1"/>
        </p:nvCxnSpPr>
        <p:spPr>
          <a:xfrm flipV="1">
            <a:off x="465078" y="1160210"/>
            <a:ext cx="11722161" cy="1"/>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water, sky, outdoor&#10;&#10;Description automatically generated">
            <a:extLst>
              <a:ext uri="{FF2B5EF4-FFF2-40B4-BE49-F238E27FC236}">
                <a16:creationId xmlns:a16="http://schemas.microsoft.com/office/drawing/2014/main" id="{00FF0E4C-F499-4DD0-9F80-DC727CF53A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5140000" cy="6858000"/>
          </a:xfrm>
          <a:prstGeom prst="rect">
            <a:avLst/>
          </a:prstGeom>
        </p:spPr>
      </p:pic>
    </p:spTree>
    <p:extLst>
      <p:ext uri="{BB962C8B-B14F-4D97-AF65-F5344CB8AC3E}">
        <p14:creationId xmlns:p14="http://schemas.microsoft.com/office/powerpoint/2010/main" val="38049975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Slide with White Signature">
    <p:bg>
      <p:bgPr>
        <a:solidFill>
          <a:schemeClr val="tx1"/>
        </a:solidFill>
        <a:effectLst/>
      </p:bgPr>
    </p:bg>
    <p:spTree>
      <p:nvGrpSpPr>
        <p:cNvPr id="1" name=""/>
        <p:cNvGrpSpPr/>
        <p:nvPr/>
      </p:nvGrpSpPr>
      <p:grpSpPr>
        <a:xfrm>
          <a:off x="0" y="0"/>
          <a:ext cx="0" cy="0"/>
          <a:chOff x="0" y="0"/>
          <a:chExt cx="0" cy="0"/>
        </a:xfrm>
      </p:grpSpPr>
      <p:pic>
        <p:nvPicPr>
          <p:cNvPr id="3" name="Picture 2" descr="Grey_Backgroun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7238" cy="6856214"/>
          </a:xfrm>
          <a:prstGeom prst="rect">
            <a:avLst/>
          </a:prstGeom>
        </p:spPr>
      </p:pic>
    </p:spTree>
    <p:extLst>
      <p:ext uri="{BB962C8B-B14F-4D97-AF65-F5344CB8AC3E}">
        <p14:creationId xmlns:p14="http://schemas.microsoft.com/office/powerpoint/2010/main" val="10868906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Slide with White Signature">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12" y="-27"/>
            <a:ext cx="12184413" cy="6858054"/>
          </a:xfrm>
          <a:prstGeom prst="rect">
            <a:avLst/>
          </a:prstGeom>
        </p:spPr>
      </p:pic>
      <p:pic>
        <p:nvPicPr>
          <p:cNvPr id="7" name="Picture 6" descr="A picture containing sky, water, red, outdoor&#10;&#10;Description automatically generated">
            <a:extLst>
              <a:ext uri="{FF2B5EF4-FFF2-40B4-BE49-F238E27FC236}">
                <a16:creationId xmlns:a16="http://schemas.microsoft.com/office/drawing/2014/main" id="{E3357D86-C3B5-4399-9E8D-58C690AC813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7"/>
            <a:ext cx="4571002" cy="6858000"/>
          </a:xfrm>
          <a:prstGeom prst="rect">
            <a:avLst/>
          </a:prstGeom>
        </p:spPr>
      </p:pic>
    </p:spTree>
    <p:extLst>
      <p:ext uri="{BB962C8B-B14F-4D97-AF65-F5344CB8AC3E}">
        <p14:creationId xmlns:p14="http://schemas.microsoft.com/office/powerpoint/2010/main" val="30536657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Slide with White Signature">
    <p:bg>
      <p:bgPr>
        <a:solidFill>
          <a:schemeClr val="tx1"/>
        </a:solidFill>
        <a:effectLst/>
      </p:bgPr>
    </p:bg>
    <p:spTree>
      <p:nvGrpSpPr>
        <p:cNvPr id="1" name=""/>
        <p:cNvGrpSpPr/>
        <p:nvPr/>
      </p:nvGrpSpPr>
      <p:grpSpPr>
        <a:xfrm>
          <a:off x="0" y="0"/>
          <a:ext cx="0" cy="0"/>
          <a:chOff x="0" y="0"/>
          <a:chExt cx="0" cy="0"/>
        </a:xfrm>
      </p:grpSpPr>
      <p:pic>
        <p:nvPicPr>
          <p:cNvPr id="3" name="Picture 2" descr="Grey_Backgroun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7238" cy="6856214"/>
          </a:xfrm>
          <a:prstGeom prst="rect">
            <a:avLst/>
          </a:prstGeom>
        </p:spPr>
      </p:pic>
    </p:spTree>
    <p:extLst>
      <p:ext uri="{BB962C8B-B14F-4D97-AF65-F5344CB8AC3E}">
        <p14:creationId xmlns:p14="http://schemas.microsoft.com/office/powerpoint/2010/main" val="3236327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theme" Target="../theme/theme2.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1"/>
            </p:custDataLst>
            <p:extLst>
              <p:ext uri="{D42A27DB-BD31-4B8C-83A1-F6EECF244321}">
                <p14:modId xmlns:p14="http://schemas.microsoft.com/office/powerpoint/2010/main" val="41084105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22" imgW="270" imgH="270" progId="TCLayout.ActiveDocument.1">
                  <p:embed/>
                </p:oleObj>
              </mc:Choice>
              <mc:Fallback>
                <p:oleObj name="think-cell Slide" r:id="rId22" imgW="270" imgH="270" progId="TCLayout.ActiveDocument.1">
                  <p:embed/>
                  <p:pic>
                    <p:nvPicPr>
                      <p:cNvPr id="6" name="Object 5" hidden="1"/>
                      <p:cNvPicPr/>
                      <p:nvPr/>
                    </p:nvPicPr>
                    <p:blipFill>
                      <a:blip r:embed="rId23"/>
                      <a:stretch>
                        <a:fillRect/>
                      </a:stretch>
                    </p:blipFill>
                    <p:spPr>
                      <a:xfrm>
                        <a:off x="1588" y="1588"/>
                        <a:ext cx="1587" cy="1587"/>
                      </a:xfrm>
                      <a:prstGeom prst="rect">
                        <a:avLst/>
                      </a:prstGeom>
                    </p:spPr>
                  </p:pic>
                </p:oleObj>
              </mc:Fallback>
            </mc:AlternateContent>
          </a:graphicData>
        </a:graphic>
      </p:graphicFrame>
      <p:sp>
        <p:nvSpPr>
          <p:cNvPr id="3" name="Text Placeholder 2"/>
          <p:cNvSpPr>
            <a:spLocks noGrp="1"/>
          </p:cNvSpPr>
          <p:nvPr>
            <p:ph type="body" idx="1"/>
          </p:nvPr>
        </p:nvSpPr>
        <p:spPr>
          <a:xfrm>
            <a:off x="465138" y="1157319"/>
            <a:ext cx="11256962" cy="5335557"/>
          </a:xfrm>
          <a:prstGeom prst="rect">
            <a:avLst/>
          </a:prstGeom>
        </p:spPr>
        <p:txBody>
          <a:bodyPr vert="horz" lIns="0" tIns="4572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p:cNvSpPr>
            <a:spLocks noGrp="1"/>
          </p:cNvSpPr>
          <p:nvPr>
            <p:ph type="title"/>
          </p:nvPr>
        </p:nvSpPr>
        <p:spPr>
          <a:xfrm>
            <a:off x="465138" y="123700"/>
            <a:ext cx="11256962" cy="1002979"/>
          </a:xfrm>
          <a:prstGeom prst="rect">
            <a:avLst/>
          </a:prstGeom>
        </p:spPr>
        <p:txBody>
          <a:bodyPr vert="horz" lIns="0" tIns="45720" rIns="0" bIns="0" rtlCol="0" anchor="b" anchorCtr="0">
            <a:noAutofit/>
          </a:bodyPr>
          <a:lstStyle/>
          <a:p>
            <a:pPr lvl="0"/>
            <a:r>
              <a:rPr lang="en-US" dirty="0"/>
              <a:t>Click to edit Master title style</a:t>
            </a:r>
          </a:p>
        </p:txBody>
      </p:sp>
      <p:sp>
        <p:nvSpPr>
          <p:cNvPr id="5" name="Slide Number Placeholder 4"/>
          <p:cNvSpPr>
            <a:spLocks noGrp="1"/>
          </p:cNvSpPr>
          <p:nvPr>
            <p:ph type="sldNum" sz="quarter" idx="4"/>
          </p:nvPr>
        </p:nvSpPr>
        <p:spPr>
          <a:xfrm>
            <a:off x="10991675" y="6575425"/>
            <a:ext cx="730425"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tx2"/>
                </a:solidFill>
                <a:latin typeface="+mn-lt"/>
              </a:defRPr>
            </a:lvl1pPr>
          </a:lstStyle>
          <a:p>
            <a:pPr>
              <a:defRPr/>
            </a:pPr>
            <a:fld id="{90CBDC3A-D49F-4631-A8C7-55D59B33E5FA}" type="slidenum">
              <a:rPr lang="en-US" smtClean="0"/>
              <a:pPr>
                <a:defRPr/>
              </a:pPr>
              <a:t>‹#›</a:t>
            </a:fld>
            <a:endParaRPr lang="en-US" dirty="0"/>
          </a:p>
        </p:txBody>
      </p:sp>
      <p:cxnSp>
        <p:nvCxnSpPr>
          <p:cNvPr id="8" name="Straight Connector 7"/>
          <p:cNvCxnSpPr/>
          <p:nvPr/>
        </p:nvCxnSpPr>
        <p:spPr>
          <a:xfrm>
            <a:off x="465138" y="1159234"/>
            <a:ext cx="11722101"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90" r:id="rId1"/>
    <p:sldLayoutId id="2147483773" r:id="rId2"/>
    <p:sldLayoutId id="2147483772" r:id="rId3"/>
    <p:sldLayoutId id="2147483786" r:id="rId4"/>
    <p:sldLayoutId id="2147483766" r:id="rId5"/>
    <p:sldLayoutId id="2147483788" r:id="rId6"/>
    <p:sldLayoutId id="2147483763" r:id="rId7"/>
    <p:sldLayoutId id="2147483765" r:id="rId8"/>
    <p:sldLayoutId id="2147483782" r:id="rId9"/>
    <p:sldLayoutId id="2147483761" r:id="rId10"/>
    <p:sldLayoutId id="2147483723" r:id="rId11"/>
    <p:sldLayoutId id="2147483762" r:id="rId12"/>
    <p:sldLayoutId id="2147483729" r:id="rId13"/>
    <p:sldLayoutId id="2147483721" r:id="rId14"/>
    <p:sldLayoutId id="2147483720" r:id="rId15"/>
    <p:sldLayoutId id="2147483725" r:id="rId16"/>
    <p:sldLayoutId id="2147483728" r:id="rId17"/>
    <p:sldLayoutId id="2147483727" r:id="rId18"/>
    <p:sldLayoutId id="2147483795" r:id="rId19"/>
  </p:sldLayoutIdLst>
  <p:hf hdr="0" dt="0"/>
  <p:txStyles>
    <p:titleStyle>
      <a:lvl1pPr algn="l" rtl="0" eaLnBrk="1" fontAlgn="base" hangingPunct="1">
        <a:lnSpc>
          <a:spcPct val="100000"/>
        </a:lnSpc>
        <a:spcBef>
          <a:spcPct val="0"/>
        </a:spcBef>
        <a:spcAft>
          <a:spcPct val="0"/>
        </a:spcAft>
        <a:buFont typeface="Arial" charset="0"/>
        <a:defRPr lang="en-AU" sz="2600" b="1" kern="1200" spc="0" baseline="0" dirty="0" smtClean="0">
          <a:solidFill>
            <a:srgbClr val="000000"/>
          </a:solidFill>
          <a:latin typeface="+mj-lt"/>
          <a:ea typeface="Arial" pitchFamily="-105" charset="-52"/>
          <a:cs typeface="Arial" pitchFamily="34" charset="0"/>
        </a:defRPr>
      </a:lvl1pPr>
      <a:lvl2pPr algn="l" rtl="0" eaLnBrk="1" fontAlgn="base" hangingPunct="1">
        <a:lnSpc>
          <a:spcPts val="2600"/>
        </a:lnSpc>
        <a:spcBef>
          <a:spcPct val="0"/>
        </a:spcBef>
        <a:spcAft>
          <a:spcPct val="0"/>
        </a:spcAft>
        <a:buFont typeface="Arial" charset="0"/>
        <a:defRPr sz="2400">
          <a:solidFill>
            <a:schemeClr val="tx1"/>
          </a:solidFill>
          <a:latin typeface="Arial" pitchFamily="-105" charset="-52"/>
          <a:ea typeface="Arial" pitchFamily="-105" charset="-52"/>
          <a:cs typeface="Arial" pitchFamily="-105" charset="-52"/>
        </a:defRPr>
      </a:lvl2pPr>
      <a:lvl3pPr algn="l" rtl="0" eaLnBrk="1" fontAlgn="base" hangingPunct="1">
        <a:lnSpc>
          <a:spcPts val="2600"/>
        </a:lnSpc>
        <a:spcBef>
          <a:spcPct val="0"/>
        </a:spcBef>
        <a:spcAft>
          <a:spcPct val="0"/>
        </a:spcAft>
        <a:buFont typeface="Arial" charset="0"/>
        <a:defRPr sz="2400">
          <a:solidFill>
            <a:schemeClr val="tx1"/>
          </a:solidFill>
          <a:latin typeface="Arial" pitchFamily="-105" charset="-52"/>
          <a:ea typeface="Arial" pitchFamily="-105" charset="-52"/>
          <a:cs typeface="Arial" pitchFamily="-105" charset="-52"/>
        </a:defRPr>
      </a:lvl3pPr>
      <a:lvl4pPr algn="l" rtl="0" eaLnBrk="1" fontAlgn="base" hangingPunct="1">
        <a:lnSpc>
          <a:spcPts val="2600"/>
        </a:lnSpc>
        <a:spcBef>
          <a:spcPct val="0"/>
        </a:spcBef>
        <a:spcAft>
          <a:spcPct val="0"/>
        </a:spcAft>
        <a:buFont typeface="Arial" charset="0"/>
        <a:defRPr sz="2400">
          <a:solidFill>
            <a:schemeClr val="tx1"/>
          </a:solidFill>
          <a:latin typeface="Arial" pitchFamily="-105" charset="-52"/>
          <a:ea typeface="Arial" pitchFamily="-105" charset="-52"/>
          <a:cs typeface="Arial" pitchFamily="-105" charset="-52"/>
        </a:defRPr>
      </a:lvl4pPr>
      <a:lvl5pPr algn="l" rtl="0" eaLnBrk="1" fontAlgn="base" hangingPunct="1">
        <a:lnSpc>
          <a:spcPts val="2600"/>
        </a:lnSpc>
        <a:spcBef>
          <a:spcPct val="0"/>
        </a:spcBef>
        <a:spcAft>
          <a:spcPct val="0"/>
        </a:spcAft>
        <a:buFont typeface="Arial" charset="0"/>
        <a:defRPr sz="2400">
          <a:solidFill>
            <a:schemeClr val="tx1"/>
          </a:solidFill>
          <a:latin typeface="Arial" pitchFamily="-105" charset="-52"/>
          <a:ea typeface="Arial" pitchFamily="-105" charset="-52"/>
          <a:cs typeface="Arial" pitchFamily="-105" charset="-52"/>
        </a:defRPr>
      </a:lvl5pPr>
      <a:lvl6pPr marL="45720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6pPr>
      <a:lvl7pPr marL="91440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7pPr>
      <a:lvl8pPr marL="137160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8pPr>
      <a:lvl9pPr marL="182880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9pPr>
    </p:titleStyle>
    <p:bodyStyle>
      <a:lvl1pPr marL="230400" indent="-230400" algn="l" rtl="0" eaLnBrk="1" fontAlgn="base" hangingPunct="1">
        <a:spcBef>
          <a:spcPts val="1200"/>
        </a:spcBef>
        <a:spcAft>
          <a:spcPct val="0"/>
        </a:spcAft>
        <a:buSzPct val="80000"/>
        <a:buFont typeface="Arial" pitchFamily="34" charset="0"/>
        <a:buChar char="•"/>
        <a:defRPr sz="2600" kern="1200">
          <a:solidFill>
            <a:schemeClr val="tx1"/>
          </a:solidFill>
          <a:latin typeface="+mn-lt"/>
          <a:ea typeface="Arial" pitchFamily="-105" charset="-52"/>
          <a:cs typeface="Arial" pitchFamily="34" charset="0"/>
        </a:defRPr>
      </a:lvl1pPr>
      <a:lvl2pPr marL="457200" indent="-230400" algn="l" rtl="0" eaLnBrk="1" fontAlgn="base" hangingPunct="1">
        <a:spcBef>
          <a:spcPts val="624"/>
        </a:spcBef>
        <a:spcAft>
          <a:spcPct val="0"/>
        </a:spcAft>
        <a:buSzPct val="80000"/>
        <a:buFont typeface="Arial" pitchFamily="34" charset="0"/>
        <a:buChar char="–"/>
        <a:defRPr sz="2400" kern="1200">
          <a:solidFill>
            <a:schemeClr val="tx1"/>
          </a:solidFill>
          <a:latin typeface="+mn-lt"/>
          <a:ea typeface="Arial" pitchFamily="-105" charset="-52"/>
          <a:cs typeface="Arial" pitchFamily="34" charset="0"/>
        </a:defRPr>
      </a:lvl2pPr>
      <a:lvl3pPr marL="687600" indent="-230400" algn="l" rtl="0" eaLnBrk="1" fontAlgn="base" hangingPunct="1">
        <a:spcBef>
          <a:spcPts val="576"/>
        </a:spcBef>
        <a:spcAft>
          <a:spcPct val="0"/>
        </a:spcAft>
        <a:buSzPct val="80000"/>
        <a:buFont typeface="Arial" pitchFamily="34" charset="0"/>
        <a:buChar char="•"/>
        <a:defRPr sz="2000" kern="1200">
          <a:solidFill>
            <a:schemeClr val="tx1"/>
          </a:solidFill>
          <a:latin typeface="+mn-lt"/>
          <a:ea typeface="Arial" pitchFamily="-105" charset="-52"/>
          <a:cs typeface="Arial" pitchFamily="34" charset="0"/>
        </a:defRPr>
      </a:lvl3pPr>
      <a:lvl4pPr marL="910800" indent="-226800" algn="l" rtl="0" eaLnBrk="1" fontAlgn="base" hangingPunct="1">
        <a:spcBef>
          <a:spcPts val="528"/>
        </a:spcBef>
        <a:spcAft>
          <a:spcPct val="0"/>
        </a:spcAft>
        <a:buSzPct val="80000"/>
        <a:buFont typeface="Arial" pitchFamily="34" charset="0"/>
        <a:buChar char="–"/>
        <a:defRPr sz="1800" kern="1200">
          <a:solidFill>
            <a:schemeClr val="tx1"/>
          </a:solidFill>
          <a:latin typeface="+mn-lt"/>
          <a:ea typeface="Arial" pitchFamily="-105" charset="-52"/>
          <a:cs typeface="Arial" pitchFamily="34" charset="0"/>
        </a:defRPr>
      </a:lvl4pPr>
      <a:lvl5pPr marL="1144800" indent="-230400" algn="l" rtl="0" eaLnBrk="1" fontAlgn="base" hangingPunct="1">
        <a:spcBef>
          <a:spcPts val="480"/>
        </a:spcBef>
        <a:spcAft>
          <a:spcPct val="0"/>
        </a:spcAft>
        <a:buSzPct val="80000"/>
        <a:buFont typeface="Arial" pitchFamily="34" charset="0"/>
        <a:buChar char="•"/>
        <a:defRPr sz="1600" kern="1200">
          <a:solidFill>
            <a:schemeClr val="tx1"/>
          </a:solidFill>
          <a:latin typeface="+mn-lt"/>
          <a:ea typeface="Arial" pitchFamily="-105" charset="-52"/>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3245681"/>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Lst>
  <p:hf hdr="0" ftr="0" dt="0"/>
  <p:txStyles>
    <p:titleStyle>
      <a:lvl1pPr algn="l" defTabSz="914309" rtl="0" eaLnBrk="1" latinLnBrk="0" hangingPunct="1">
        <a:lnSpc>
          <a:spcPts val="2600"/>
        </a:lnSpc>
        <a:spcBef>
          <a:spcPct val="0"/>
        </a:spcBef>
        <a:buNone/>
        <a:defRPr sz="2600" b="1" kern="1200">
          <a:solidFill>
            <a:srgbClr val="000000"/>
          </a:solidFill>
          <a:latin typeface="Arial" pitchFamily="34" charset="0"/>
          <a:ea typeface="+mj-ea"/>
          <a:cs typeface="Arial" pitchFamily="34" charset="0"/>
        </a:defRPr>
      </a:lvl1pPr>
    </p:titleStyle>
    <p:bodyStyle>
      <a:lvl1pPr marL="231752" indent="-231752" algn="l" defTabSz="914309" rtl="0" eaLnBrk="1" latinLnBrk="0" hangingPunct="1">
        <a:lnSpc>
          <a:spcPct val="100000"/>
        </a:lnSpc>
        <a:spcBef>
          <a:spcPts val="1200"/>
        </a:spcBef>
        <a:spcAft>
          <a:spcPts val="0"/>
        </a:spcAft>
        <a:buClr>
          <a:schemeClr val="tx1"/>
        </a:buClr>
        <a:buSzPct val="80000"/>
        <a:buFont typeface="Arial" pitchFamily="34" charset="0"/>
        <a:buChar char="•"/>
        <a:defRPr sz="2600" b="0" kern="1200">
          <a:solidFill>
            <a:schemeClr val="tx1"/>
          </a:solidFill>
          <a:latin typeface="Arial" pitchFamily="34" charset="0"/>
          <a:ea typeface="+mn-ea"/>
          <a:cs typeface="Arial" pitchFamily="34" charset="0"/>
        </a:defRPr>
      </a:lvl1pPr>
      <a:lvl2pPr marL="457154" indent="-231752" algn="l" defTabSz="914309" rtl="0" eaLnBrk="1" latinLnBrk="0" hangingPunct="1">
        <a:lnSpc>
          <a:spcPct val="100000"/>
        </a:lnSpc>
        <a:spcBef>
          <a:spcPts val="624"/>
        </a:spcBef>
        <a:spcAft>
          <a:spcPts val="0"/>
        </a:spcAft>
        <a:buClr>
          <a:schemeClr val="tx1"/>
        </a:buClr>
        <a:buSzPct val="80000"/>
        <a:buFont typeface="Arial" pitchFamily="34" charset="0"/>
        <a:buChar char="–"/>
        <a:defRPr sz="2400" kern="1200">
          <a:solidFill>
            <a:srgbClr val="000000"/>
          </a:solidFill>
          <a:latin typeface="Arial" pitchFamily="34" charset="0"/>
          <a:ea typeface="+mn-ea"/>
          <a:cs typeface="Arial" pitchFamily="34" charset="0"/>
        </a:defRPr>
      </a:lvl2pPr>
      <a:lvl3pPr marL="688906" indent="-231752" algn="l" defTabSz="914309" rtl="0" eaLnBrk="1" latinLnBrk="0" hangingPunct="1">
        <a:lnSpc>
          <a:spcPct val="100000"/>
        </a:lnSpc>
        <a:spcBef>
          <a:spcPts val="576"/>
        </a:spcBef>
        <a:spcAft>
          <a:spcPts val="0"/>
        </a:spcAft>
        <a:buClr>
          <a:schemeClr val="tx1"/>
        </a:buClr>
        <a:buSzPct val="80000"/>
        <a:buFont typeface="Arial" pitchFamily="34" charset="0"/>
        <a:buChar char="•"/>
        <a:defRPr sz="2000" kern="1200" baseline="0">
          <a:solidFill>
            <a:srgbClr val="000000"/>
          </a:solidFill>
          <a:latin typeface="Arial" pitchFamily="34" charset="0"/>
          <a:ea typeface="+mn-ea"/>
          <a:cs typeface="Arial" pitchFamily="34" charset="0"/>
        </a:defRPr>
      </a:lvl3pPr>
      <a:lvl4pPr marL="914309" indent="-225402" algn="l" defTabSz="914309" rtl="0" eaLnBrk="1" latinLnBrk="0" hangingPunct="1">
        <a:lnSpc>
          <a:spcPct val="100000"/>
        </a:lnSpc>
        <a:spcBef>
          <a:spcPts val="528"/>
        </a:spcBef>
        <a:spcAft>
          <a:spcPts val="0"/>
        </a:spcAft>
        <a:buClr>
          <a:schemeClr val="tx1"/>
        </a:buClr>
        <a:buSzPct val="80000"/>
        <a:buFont typeface="Arial" pitchFamily="34" charset="0"/>
        <a:buChar char="–"/>
        <a:defRPr sz="1800" kern="1200" baseline="0">
          <a:solidFill>
            <a:srgbClr val="000000"/>
          </a:solidFill>
          <a:latin typeface="Arial" pitchFamily="34" charset="0"/>
          <a:ea typeface="+mn-ea"/>
          <a:cs typeface="Arial" pitchFamily="34" charset="0"/>
        </a:defRPr>
      </a:lvl4pPr>
      <a:lvl5pPr marL="1146060" indent="-231752" algn="l" defTabSz="914309" rtl="0" eaLnBrk="1" latinLnBrk="0" hangingPunct="1">
        <a:lnSpc>
          <a:spcPct val="100000"/>
        </a:lnSpc>
        <a:spcBef>
          <a:spcPts val="480"/>
        </a:spcBef>
        <a:spcAft>
          <a:spcPts val="0"/>
        </a:spcAft>
        <a:buClr>
          <a:schemeClr val="tx1"/>
        </a:buClr>
        <a:buSzPct val="80000"/>
        <a:buFont typeface="Arial" pitchFamily="34" charset="0"/>
        <a:buChar char="•"/>
        <a:defRPr sz="1600" kern="1200" baseline="0">
          <a:solidFill>
            <a:srgbClr val="000000"/>
          </a:solidFill>
          <a:latin typeface="Arial" pitchFamily="34" charset="0"/>
          <a:ea typeface="+mn-ea"/>
          <a:cs typeface="Arial" pitchFamily="34" charset="0"/>
        </a:defRPr>
      </a:lvl5pPr>
      <a:lvl6pPr marL="2514349" indent="-228577" algn="l" defTabSz="914309"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03" indent="-228577" algn="l" defTabSz="914309"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7" indent="-228577" algn="l" defTabSz="91430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11" indent="-228577" algn="l" defTabSz="914309"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9.xml"/><Relationship Id="rId6" Type="http://schemas.microsoft.com/office/2007/relationships/hdphoto" Target="../media/hdphoto1.wdp"/><Relationship Id="rId5" Type="http://schemas.openxmlformats.org/officeDocument/2006/relationships/image" Target="../media/image18.png"/><Relationship Id="rId4" Type="http://schemas.openxmlformats.org/officeDocument/2006/relationships/image" Target="../media/image17.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slideLayout" Target="../slideLayouts/slideLayout19.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7.xml"/><Relationship Id="rId7" Type="http://schemas.openxmlformats.org/officeDocument/2006/relationships/notesSlide" Target="../notesSlides/notesSlide6.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slideLayout" Target="../slideLayouts/slideLayout19.xml"/><Relationship Id="rId5" Type="http://schemas.openxmlformats.org/officeDocument/2006/relationships/tags" Target="../tags/tag19.xml"/><Relationship Id="rId4" Type="http://schemas.openxmlformats.org/officeDocument/2006/relationships/tags" Target="../tags/tag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3.xml"/><Relationship Id="rId3" Type="http://schemas.openxmlformats.org/officeDocument/2006/relationships/tags" Target="../tags/tag22.xml"/><Relationship Id="rId7" Type="http://schemas.openxmlformats.org/officeDocument/2006/relationships/slideLayout" Target="../slideLayouts/slideLayout19.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9.xml"/><Relationship Id="rId6" Type="http://schemas.microsoft.com/office/2007/relationships/hdphoto" Target="../media/hdphoto1.wdp"/><Relationship Id="rId5" Type="http://schemas.openxmlformats.org/officeDocument/2006/relationships/image" Target="../media/image18.png"/><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22.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22.sv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9.xml"/><Relationship Id="rId1" Type="http://schemas.openxmlformats.org/officeDocument/2006/relationships/tags" Target="../tags/tag28.xml"/><Relationship Id="rId5" Type="http://schemas.openxmlformats.org/officeDocument/2006/relationships/chart" Target="../charts/chart2.xml"/><Relationship Id="rId4" Type="http://schemas.openxmlformats.org/officeDocument/2006/relationships/chart" Target="../charts/chart1.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1.xml"/><Relationship Id="rId1" Type="http://schemas.openxmlformats.org/officeDocument/2006/relationships/slideLayout" Target="../slideLayouts/slideLayout19.xml"/><Relationship Id="rId5" Type="http://schemas.openxmlformats.org/officeDocument/2006/relationships/image" Target="../media/image23.emf"/><Relationship Id="rId4" Type="http://schemas.openxmlformats.org/officeDocument/2006/relationships/customXml" Target="../ink/ink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4">
            <a:extLst>
              <a:ext uri="{FF2B5EF4-FFF2-40B4-BE49-F238E27FC236}">
                <a16:creationId xmlns:a16="http://schemas.microsoft.com/office/drawing/2014/main" id="{8E69CFA0-0F38-36B6-BB4F-8D741F2C91AD}"/>
              </a:ext>
            </a:extLst>
          </p:cNvPr>
          <p:cNvSpPr txBox="1">
            <a:spLocks/>
          </p:cNvSpPr>
          <p:nvPr/>
        </p:nvSpPr>
        <p:spPr>
          <a:xfrm>
            <a:off x="359093" y="71911"/>
            <a:ext cx="10239375" cy="3680460"/>
          </a:xfrm>
          <a:prstGeom prst="rect">
            <a:avLst/>
          </a:prstGeom>
        </p:spPr>
        <p:txBody>
          <a:bodyPr anchor="b">
            <a:normAutofit/>
          </a:bodyPr>
          <a:lstStyle>
            <a:lvl1pPr algn="l" defTabSz="914309" rtl="0" eaLnBrk="1" latinLnBrk="0" hangingPunct="1">
              <a:lnSpc>
                <a:spcPts val="2600"/>
              </a:lnSpc>
              <a:spcBef>
                <a:spcPct val="0"/>
              </a:spcBef>
              <a:buNone/>
              <a:defRPr sz="2600" b="1" kern="1200">
                <a:solidFill>
                  <a:srgbClr val="000000"/>
                </a:solidFill>
                <a:latin typeface="Arial" pitchFamily="34" charset="0"/>
                <a:ea typeface="+mj-ea"/>
                <a:cs typeface="Arial" pitchFamily="34" charset="0"/>
              </a:defRPr>
            </a:lvl1pPr>
          </a:lstStyle>
          <a:p>
            <a:pPr fontAlgn="auto">
              <a:lnSpc>
                <a:spcPct val="90000"/>
              </a:lnSpc>
              <a:spcAft>
                <a:spcPts val="0"/>
              </a:spcAft>
            </a:pPr>
            <a:r>
              <a:rPr lang="es-ES_tradnl" sz="2800" dirty="0">
                <a:solidFill>
                  <a:schemeClr val="bg1"/>
                </a:solidFill>
                <a:ea typeface="MS Mincho" panose="02020609040205080304" pitchFamily="49" charset="-128"/>
                <a:cs typeface="Times New Roman" panose="02020603050405020304" pitchFamily="18" charset="0"/>
              </a:rPr>
              <a:t>Magíster en Dirección de Empresas</a:t>
            </a:r>
            <a:br>
              <a:rPr kumimoji="0" lang="en-US" sz="2000" b="1" i="0" u="none" strike="noStrike" kern="1200" cap="none" spc="0" normalizeH="0" baseline="0" noProof="0" dirty="0">
                <a:ln>
                  <a:noFill/>
                </a:ln>
                <a:solidFill>
                  <a:srgbClr val="FFFFFF"/>
                </a:solidFill>
                <a:effectLst/>
                <a:uLnTx/>
                <a:uFillTx/>
                <a:latin typeface="Arial" pitchFamily="34" charset="0"/>
                <a:ea typeface="+mj-ea"/>
                <a:cs typeface="Arial" pitchFamily="34" charset="0"/>
              </a:rPr>
            </a:br>
            <a:r>
              <a:rPr kumimoji="0" lang="es-CL" sz="2000" b="1" i="0" u="none" strike="noStrike" kern="1200" cap="none" spc="0" normalizeH="0" baseline="0" noProof="0" dirty="0">
                <a:ln>
                  <a:noFill/>
                </a:ln>
                <a:solidFill>
                  <a:srgbClr val="FFFFFF"/>
                </a:solidFill>
                <a:effectLst/>
                <a:uLnTx/>
                <a:uFillTx/>
                <a:latin typeface="Arial" pitchFamily="34" charset="0"/>
                <a:ea typeface="+mj-ea"/>
                <a:cs typeface="Arial" pitchFamily="34" charset="0"/>
              </a:rPr>
              <a:t>Escuela de Negocios y Economía</a:t>
            </a:r>
            <a:br>
              <a:rPr kumimoji="0" lang="es-CL" sz="1400" b="1" i="0" u="none" strike="noStrike" kern="1200" cap="none" spc="0" normalizeH="0" baseline="0" noProof="0" dirty="0">
                <a:ln>
                  <a:noFill/>
                </a:ln>
                <a:solidFill>
                  <a:srgbClr val="FFFFFF"/>
                </a:solidFill>
                <a:effectLst/>
                <a:uLnTx/>
                <a:uFillTx/>
                <a:latin typeface="Arial" pitchFamily="34" charset="0"/>
                <a:ea typeface="+mj-ea"/>
                <a:cs typeface="Arial" pitchFamily="34" charset="0"/>
              </a:rPr>
            </a:br>
            <a:br>
              <a:rPr kumimoji="0" lang="es-CL" sz="1400" b="1" i="0" u="none" strike="noStrike" kern="1200" cap="none" spc="0" normalizeH="0" baseline="0" noProof="0" dirty="0">
                <a:ln>
                  <a:noFill/>
                </a:ln>
                <a:solidFill>
                  <a:srgbClr val="FFFFFF"/>
                </a:solidFill>
                <a:effectLst/>
                <a:uLnTx/>
                <a:uFillTx/>
                <a:latin typeface="Arial" pitchFamily="34" charset="0"/>
                <a:ea typeface="+mj-ea"/>
                <a:cs typeface="Arial" pitchFamily="34" charset="0"/>
              </a:rPr>
            </a:br>
            <a:br>
              <a:rPr kumimoji="0" lang="es-CL" sz="1400" b="1" i="0" u="none" strike="noStrike" kern="1200" cap="none" spc="0" normalizeH="0" baseline="0" noProof="0" dirty="0">
                <a:ln>
                  <a:noFill/>
                </a:ln>
                <a:solidFill>
                  <a:srgbClr val="FFFFFF"/>
                </a:solidFill>
                <a:effectLst/>
                <a:uLnTx/>
                <a:uFillTx/>
                <a:latin typeface="Arial" pitchFamily="34" charset="0"/>
                <a:ea typeface="+mj-ea"/>
                <a:cs typeface="Arial" pitchFamily="34" charset="0"/>
              </a:rPr>
            </a:br>
            <a:r>
              <a:rPr kumimoji="0" lang="es-ES" sz="3100" b="1" i="0" u="none" strike="noStrike" kern="1200" cap="none" spc="0" normalizeH="0" baseline="0" noProof="0" dirty="0">
                <a:ln>
                  <a:noFill/>
                </a:ln>
                <a:solidFill>
                  <a:srgbClr val="FFFFFF"/>
                </a:solidFill>
                <a:effectLst/>
                <a:uLnTx/>
                <a:uFillTx/>
                <a:latin typeface="Arial" pitchFamily="34" charset="0"/>
                <a:ea typeface="+mj-ea"/>
                <a:cs typeface="Arial" pitchFamily="34" charset="0"/>
              </a:rPr>
              <a:t>Internacionalización de Servicios de Ciberseguridad </a:t>
            </a:r>
            <a:br>
              <a:rPr kumimoji="0" lang="es-ES" sz="3100" b="1" i="0" u="none" strike="noStrike" kern="1200" cap="none" spc="0" normalizeH="0" baseline="0" noProof="0" dirty="0">
                <a:ln>
                  <a:noFill/>
                </a:ln>
                <a:solidFill>
                  <a:srgbClr val="FFFFFF"/>
                </a:solidFill>
                <a:effectLst/>
                <a:uLnTx/>
                <a:uFillTx/>
                <a:latin typeface="Arial" pitchFamily="34" charset="0"/>
                <a:ea typeface="+mj-ea"/>
                <a:cs typeface="Arial" pitchFamily="34" charset="0"/>
              </a:rPr>
            </a:br>
            <a:r>
              <a:rPr kumimoji="0" lang="es-ES" sz="3100" b="1" i="0" u="none" strike="noStrike" kern="1200" cap="none" spc="0" normalizeH="0" baseline="0" noProof="0" dirty="0">
                <a:ln>
                  <a:noFill/>
                </a:ln>
                <a:solidFill>
                  <a:srgbClr val="FFFFFF"/>
                </a:solidFill>
                <a:effectLst/>
                <a:uLnTx/>
                <a:uFillTx/>
                <a:latin typeface="Arial" pitchFamily="34" charset="0"/>
                <a:ea typeface="+mj-ea"/>
                <a:cs typeface="Arial" pitchFamily="34" charset="0"/>
              </a:rPr>
              <a:t>IT-Trail Services</a:t>
            </a:r>
            <a:endParaRPr kumimoji="0" lang="en-US" sz="1400" b="1" i="0" u="none" strike="noStrike" kern="1200" cap="none" spc="0" normalizeH="0" baseline="0" noProof="0" dirty="0">
              <a:ln>
                <a:noFill/>
              </a:ln>
              <a:solidFill>
                <a:srgbClr val="FFFFFF"/>
              </a:solidFill>
              <a:effectLst/>
              <a:uLnTx/>
              <a:uFillTx/>
              <a:latin typeface="Arial" pitchFamily="34" charset="0"/>
              <a:ea typeface="+mj-ea"/>
              <a:cs typeface="Arial" pitchFamily="34" charset="0"/>
            </a:endParaRPr>
          </a:p>
        </p:txBody>
      </p:sp>
      <p:sp>
        <p:nvSpPr>
          <p:cNvPr id="6" name="Marcador de número de diapositiva 1">
            <a:extLst>
              <a:ext uri="{FF2B5EF4-FFF2-40B4-BE49-F238E27FC236}">
                <a16:creationId xmlns:a16="http://schemas.microsoft.com/office/drawing/2014/main" id="{DF71ACE4-1A41-3ED9-30B7-4CD0F479DC7A}"/>
              </a:ext>
            </a:extLst>
          </p:cNvPr>
          <p:cNvSpPr txBox="1">
            <a:spLocks/>
          </p:cNvSpPr>
          <p:nvPr/>
        </p:nvSpPr>
        <p:spPr>
          <a:xfrm>
            <a:off x="11456988" y="6575425"/>
            <a:ext cx="730250" cy="128588"/>
          </a:xfrm>
          <a:prstGeom prst="rect">
            <a:avLst/>
          </a:prstGeom>
        </p:spPr>
        <p:txBody>
          <a:bodyPr wrap="square" anchor="ctr">
            <a:norm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l" defTabSz="914400" rtl="0" eaLnBrk="1" fontAlgn="base" latinLnBrk="0" hangingPunct="1">
              <a:lnSpc>
                <a:spcPct val="90000"/>
              </a:lnSpc>
              <a:spcBef>
                <a:spcPct val="0"/>
              </a:spcBef>
              <a:spcAft>
                <a:spcPts val="600"/>
              </a:spcAft>
              <a:buClrTx/>
              <a:buSzTx/>
              <a:buFontTx/>
              <a:buNone/>
              <a:tabLst/>
              <a:defRPr/>
            </a:pPr>
            <a:fld id="{90CBDC3A-D49F-4631-A8C7-55D59B33E5FA}" type="slidenum">
              <a:rPr kumimoji="0" lang="en-US" sz="200" b="0" i="0" u="none" strike="noStrike" kern="1200" cap="none" spc="0" normalizeH="0" baseline="0" noProof="0" smtClean="0">
                <a:ln>
                  <a:noFill/>
                </a:ln>
                <a:solidFill>
                  <a:srgbClr val="000000"/>
                </a:solidFill>
                <a:effectLst/>
                <a:uLnTx/>
                <a:uFillTx/>
                <a:latin typeface="Arial" charset="0"/>
                <a:ea typeface="+mn-ea"/>
                <a:cs typeface="Arial" charset="0"/>
              </a:rPr>
              <a:pPr marL="0" marR="0" lvl="0" indent="0" algn="l" defTabSz="914400" rtl="0" eaLnBrk="1" fontAlgn="base" latinLnBrk="0" hangingPunct="1">
                <a:lnSpc>
                  <a:spcPct val="90000"/>
                </a:lnSpc>
                <a:spcBef>
                  <a:spcPct val="0"/>
                </a:spcBef>
                <a:spcAft>
                  <a:spcPts val="600"/>
                </a:spcAft>
                <a:buClrTx/>
                <a:buSzTx/>
                <a:buFontTx/>
                <a:buNone/>
                <a:tabLst/>
                <a:defRPr/>
              </a:pPr>
              <a:t>1</a:t>
            </a:fld>
            <a:endParaRPr kumimoji="0" lang="en-US" sz="200" b="0" i="0" u="none" strike="noStrike" kern="1200" cap="none" spc="0" normalizeH="0" baseline="0" noProof="0">
              <a:ln>
                <a:noFill/>
              </a:ln>
              <a:solidFill>
                <a:srgbClr val="000000"/>
              </a:solidFill>
              <a:effectLst/>
              <a:uLnTx/>
              <a:uFillTx/>
              <a:latin typeface="Arial" charset="0"/>
              <a:ea typeface="+mn-ea"/>
              <a:cs typeface="Arial" charset="0"/>
            </a:endParaRPr>
          </a:p>
        </p:txBody>
      </p:sp>
      <p:graphicFrame>
        <p:nvGraphicFramePr>
          <p:cNvPr id="8" name="Table 7">
            <a:extLst>
              <a:ext uri="{FF2B5EF4-FFF2-40B4-BE49-F238E27FC236}">
                <a16:creationId xmlns:a16="http://schemas.microsoft.com/office/drawing/2014/main" id="{C52D0E84-8925-14BC-5166-F0AA3F290DCE}"/>
              </a:ext>
            </a:extLst>
          </p:cNvPr>
          <p:cNvGraphicFramePr>
            <a:graphicFrameLocks noGrp="1"/>
          </p:cNvGraphicFramePr>
          <p:nvPr>
            <p:extLst>
              <p:ext uri="{D42A27DB-BD31-4B8C-83A1-F6EECF244321}">
                <p14:modId xmlns:p14="http://schemas.microsoft.com/office/powerpoint/2010/main" val="793040475"/>
              </p:ext>
            </p:extLst>
          </p:nvPr>
        </p:nvGraphicFramePr>
        <p:xfrm>
          <a:off x="359093" y="5034280"/>
          <a:ext cx="4441507" cy="1371600"/>
        </p:xfrm>
        <a:graphic>
          <a:graphicData uri="http://schemas.openxmlformats.org/drawingml/2006/table">
            <a:tbl>
              <a:tblPr firstRow="1" firstCol="1" bandRow="1"/>
              <a:tblGrid>
                <a:gridCol w="4441507">
                  <a:extLst>
                    <a:ext uri="{9D8B030D-6E8A-4147-A177-3AD203B41FA5}">
                      <a16:colId xmlns:a16="http://schemas.microsoft.com/office/drawing/2014/main" val="2822572581"/>
                    </a:ext>
                  </a:extLst>
                </a:gridCol>
              </a:tblGrid>
              <a:tr h="1292063">
                <a:tc>
                  <a:txBody>
                    <a:bodyPr/>
                    <a:lstStyle>
                      <a:lvl1pPr marL="0" algn="l" defTabSz="914309" rtl="0" eaLnBrk="1" latinLnBrk="0" hangingPunct="1">
                        <a:defRPr sz="1800" b="1" kern="1200">
                          <a:solidFill>
                            <a:schemeClr val="lt1"/>
                          </a:solidFill>
                          <a:latin typeface="Arial"/>
                        </a:defRPr>
                      </a:lvl1pPr>
                      <a:lvl2pPr marL="457154" algn="l" defTabSz="914309" rtl="0" eaLnBrk="1" latinLnBrk="0" hangingPunct="1">
                        <a:defRPr sz="1800" b="1" kern="1200">
                          <a:solidFill>
                            <a:schemeClr val="lt1"/>
                          </a:solidFill>
                          <a:latin typeface="Arial"/>
                        </a:defRPr>
                      </a:lvl2pPr>
                      <a:lvl3pPr marL="914309" algn="l" defTabSz="914309" rtl="0" eaLnBrk="1" latinLnBrk="0" hangingPunct="1">
                        <a:defRPr sz="1800" b="1" kern="1200">
                          <a:solidFill>
                            <a:schemeClr val="lt1"/>
                          </a:solidFill>
                          <a:latin typeface="Arial"/>
                        </a:defRPr>
                      </a:lvl3pPr>
                      <a:lvl4pPr marL="1371463" algn="l" defTabSz="914309" rtl="0" eaLnBrk="1" latinLnBrk="0" hangingPunct="1">
                        <a:defRPr sz="1800" b="1" kern="1200">
                          <a:solidFill>
                            <a:schemeClr val="lt1"/>
                          </a:solidFill>
                          <a:latin typeface="Arial"/>
                        </a:defRPr>
                      </a:lvl4pPr>
                      <a:lvl5pPr marL="1828617" algn="l" defTabSz="914309" rtl="0" eaLnBrk="1" latinLnBrk="0" hangingPunct="1">
                        <a:defRPr sz="1800" b="1" kern="1200">
                          <a:solidFill>
                            <a:schemeClr val="lt1"/>
                          </a:solidFill>
                          <a:latin typeface="Arial"/>
                        </a:defRPr>
                      </a:lvl5pPr>
                      <a:lvl6pPr marL="2285771" algn="l" defTabSz="914309" rtl="0" eaLnBrk="1" latinLnBrk="0" hangingPunct="1">
                        <a:defRPr sz="1800" b="1" kern="1200">
                          <a:solidFill>
                            <a:schemeClr val="lt1"/>
                          </a:solidFill>
                          <a:latin typeface="Arial"/>
                        </a:defRPr>
                      </a:lvl6pPr>
                      <a:lvl7pPr marL="2742926" algn="l" defTabSz="914309" rtl="0" eaLnBrk="1" latinLnBrk="0" hangingPunct="1">
                        <a:defRPr sz="1800" b="1" kern="1200">
                          <a:solidFill>
                            <a:schemeClr val="lt1"/>
                          </a:solidFill>
                          <a:latin typeface="Arial"/>
                        </a:defRPr>
                      </a:lvl7pPr>
                      <a:lvl8pPr marL="3200080" algn="l" defTabSz="914309" rtl="0" eaLnBrk="1" latinLnBrk="0" hangingPunct="1">
                        <a:defRPr sz="1800" b="1" kern="1200">
                          <a:solidFill>
                            <a:schemeClr val="lt1"/>
                          </a:solidFill>
                          <a:latin typeface="Arial"/>
                        </a:defRPr>
                      </a:lvl8pPr>
                      <a:lvl9pPr marL="3657234" algn="l" defTabSz="914309" rtl="0" eaLnBrk="1" latinLnBrk="0" hangingPunct="1">
                        <a:defRPr sz="1800" b="1" kern="1200">
                          <a:solidFill>
                            <a:schemeClr val="lt1"/>
                          </a:solidFill>
                          <a:latin typeface="Arial"/>
                        </a:defRPr>
                      </a:lvl9pPr>
                    </a:lstStyle>
                    <a:p>
                      <a:pPr marL="342900" lvl="0" indent="-342900"/>
                      <a:r>
                        <a:rPr lang="en-US" dirty="0" err="1">
                          <a:effectLst/>
                        </a:rPr>
                        <a:t>Alumnos</a:t>
                      </a:r>
                      <a:r>
                        <a:rPr lang="en-US" dirty="0">
                          <a:effectLst/>
                        </a:rPr>
                        <a:t>:</a:t>
                      </a:r>
                      <a:endParaRPr lang="en-US" dirty="0"/>
                    </a:p>
                    <a:p>
                      <a:pPr marL="342900" lvl="0" indent="-342900">
                        <a:buFont typeface="Arial" panose="020B0604020202020204" pitchFamily="34" charset="0"/>
                        <a:buChar char="•"/>
                      </a:pPr>
                      <a:r>
                        <a:rPr lang="en-US" b="0" dirty="0">
                          <a:effectLst/>
                        </a:rPr>
                        <a:t>Pedro Luis Baeza Bustamante</a:t>
                      </a:r>
                    </a:p>
                    <a:p>
                      <a:pPr marL="342900" lvl="0" indent="-342900">
                        <a:buFont typeface="Arial" panose="020B0604020202020204" pitchFamily="34" charset="0"/>
                        <a:buChar char="•"/>
                      </a:pPr>
                      <a:r>
                        <a:rPr lang="en-US" b="0" dirty="0">
                          <a:effectLst/>
                        </a:rPr>
                        <a:t>Juan Carlos Henriquez </a:t>
                      </a:r>
                      <a:r>
                        <a:rPr lang="en-US" b="0" dirty="0" err="1">
                          <a:effectLst/>
                        </a:rPr>
                        <a:t>Estay</a:t>
                      </a:r>
                      <a:endParaRPr lang="en-US" b="0" dirty="0">
                        <a:effectLst/>
                      </a:endParaRPr>
                    </a:p>
                    <a:p>
                      <a:pPr marL="342900" lvl="0" indent="-342900">
                        <a:buFont typeface="Arial" panose="020B0604020202020204" pitchFamily="34" charset="0"/>
                        <a:buChar char="•"/>
                      </a:pPr>
                      <a:r>
                        <a:rPr lang="en-US" b="0" dirty="0">
                          <a:effectLst/>
                        </a:rPr>
                        <a:t>Carlos Rudy Oberreuter Mayorga</a:t>
                      </a:r>
                    </a:p>
                    <a:p>
                      <a:pPr marL="342900" lvl="0" indent="-342900">
                        <a:buFont typeface="Arial" panose="020B0604020202020204" pitchFamily="34" charset="0"/>
                        <a:buChar char="•"/>
                      </a:pPr>
                      <a:r>
                        <a:rPr lang="en-US" b="0" dirty="0">
                          <a:effectLst/>
                        </a:rPr>
                        <a:t>Gustavo Adolfo Reyes Vargas</a:t>
                      </a:r>
                    </a:p>
                  </a:txBody>
                  <a:tcPr marL="68580" marR="68580" marT="0" marB="0">
                    <a:lnL w="0">
                      <a:noFill/>
                    </a:lnL>
                    <a:lnR w="0">
                      <a:noFill/>
                    </a:lnR>
                    <a:lnT w="0">
                      <a:noFill/>
                    </a:lnT>
                    <a:lnB w="0">
                      <a:noFill/>
                    </a:lnB>
                    <a:lnTlToBr w="12700" cmpd="sng">
                      <a:noFill/>
                      <a:prstDash val="solid"/>
                    </a:lnTlToBr>
                    <a:lnBlToTr w="12700" cmpd="sng">
                      <a:noFill/>
                      <a:prstDash val="solid"/>
                    </a:lnBlToTr>
                    <a:noFill/>
                  </a:tcPr>
                </a:tc>
                <a:extLst>
                  <a:ext uri="{0D108BD9-81ED-4DB2-BD59-A6C34878D82A}">
                    <a16:rowId xmlns:a16="http://schemas.microsoft.com/office/drawing/2014/main" val="658833803"/>
                  </a:ext>
                </a:extLst>
              </a:tr>
            </a:tbl>
          </a:graphicData>
        </a:graphic>
      </p:graphicFrame>
      <p:pic>
        <p:nvPicPr>
          <p:cNvPr id="11" name="Picture 8" descr="See the source image">
            <a:extLst>
              <a:ext uri="{FF2B5EF4-FFF2-40B4-BE49-F238E27FC236}">
                <a16:creationId xmlns:a16="http://schemas.microsoft.com/office/drawing/2014/main" id="{62011CB5-9BCF-513E-8CBC-8CDE2E7AE794}"/>
              </a:ext>
            </a:extLst>
          </p:cNvPr>
          <p:cNvPicPr>
            <a:picLocks noChangeAspect="1" noChangeArrowheads="1"/>
          </p:cNvPicPr>
          <p:nvPr/>
        </p:nvPicPr>
        <p:blipFill>
          <a:blip r:embed="rId2">
            <a:duotone>
              <a:srgbClr val="00BBEE">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7732618" y="4833326"/>
            <a:ext cx="4804243" cy="1809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7532788"/>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3EB8D75A-FA36-FB31-CBAD-A6C77CC72A52}"/>
              </a:ext>
            </a:extLst>
          </p:cNvPr>
          <p:cNvSpPr txBox="1"/>
          <p:nvPr/>
        </p:nvSpPr>
        <p:spPr>
          <a:xfrm>
            <a:off x="375177" y="428726"/>
            <a:ext cx="8237063" cy="630942"/>
          </a:xfrm>
          <a:prstGeom prst="rect">
            <a:avLst/>
          </a:prstGeom>
          <a:noFill/>
        </p:spPr>
        <p:txBody>
          <a:bodyPr wrap="none" rtlCol="0">
            <a:spAutoFit/>
          </a:bodyPr>
          <a:lstStyle/>
          <a:p>
            <a:pPr defTabSz="914309" fontAlgn="auto">
              <a:spcBef>
                <a:spcPts val="0"/>
              </a:spcBef>
              <a:spcAft>
                <a:spcPts val="0"/>
              </a:spcAft>
            </a:pPr>
            <a:r>
              <a:rPr lang="en-US" sz="3500" spc="-30" dirty="0">
                <a:solidFill>
                  <a:prstClr val="white"/>
                </a:solidFill>
                <a:latin typeface="Arial"/>
              </a:rPr>
              <a:t>El plan de </a:t>
            </a:r>
            <a:r>
              <a:rPr lang="en-US" sz="3500" spc="-30" dirty="0" err="1">
                <a:solidFill>
                  <a:prstClr val="white"/>
                </a:solidFill>
                <a:latin typeface="Arial"/>
              </a:rPr>
              <a:t>Negocios</a:t>
            </a:r>
            <a:r>
              <a:rPr lang="en-US" sz="3500" spc="-30" dirty="0">
                <a:solidFill>
                  <a:prstClr val="white"/>
                </a:solidFill>
                <a:latin typeface="Arial"/>
              </a:rPr>
              <a:t>  de IT- Trail Services</a:t>
            </a:r>
          </a:p>
        </p:txBody>
      </p:sp>
      <p:sp>
        <p:nvSpPr>
          <p:cNvPr id="32" name="TextBox 31">
            <a:extLst>
              <a:ext uri="{FF2B5EF4-FFF2-40B4-BE49-F238E27FC236}">
                <a16:creationId xmlns:a16="http://schemas.microsoft.com/office/drawing/2014/main" id="{74894332-1AC0-D012-E63F-494F42BD03C1}"/>
              </a:ext>
            </a:extLst>
          </p:cNvPr>
          <p:cNvSpPr txBox="1"/>
          <p:nvPr/>
        </p:nvSpPr>
        <p:spPr>
          <a:xfrm>
            <a:off x="422142" y="3279360"/>
            <a:ext cx="6797410" cy="2862322"/>
          </a:xfrm>
          <a:prstGeom prst="rect">
            <a:avLst/>
          </a:prstGeom>
          <a:noFill/>
        </p:spPr>
        <p:txBody>
          <a:bodyPr wrap="square" rtlCol="0">
            <a:spAutoFit/>
          </a:bodyPr>
          <a:lstStyle/>
          <a:p>
            <a:pPr defTabSz="914309" fontAlgn="auto">
              <a:spcBef>
                <a:spcPts val="0"/>
              </a:spcBef>
              <a:spcAft>
                <a:spcPts val="0"/>
              </a:spcAft>
            </a:pPr>
            <a:r>
              <a:rPr lang="es-ES" sz="2000" spc="-50" dirty="0">
                <a:solidFill>
                  <a:prstClr val="white"/>
                </a:solidFill>
                <a:latin typeface="Arial"/>
              </a:rPr>
              <a:t>En este contexto se aprovechará el potencial de crecimiento en el mercado de ciberseguridad, especialmente en industrias que utilizan tecnologías Microsoft. </a:t>
            </a:r>
          </a:p>
          <a:p>
            <a:pPr defTabSz="914309" fontAlgn="auto">
              <a:spcBef>
                <a:spcPts val="0"/>
              </a:spcBef>
              <a:spcAft>
                <a:spcPts val="0"/>
              </a:spcAft>
            </a:pPr>
            <a:endParaRPr lang="en-US" sz="2000" spc="-50" dirty="0">
              <a:solidFill>
                <a:prstClr val="white"/>
              </a:solidFill>
              <a:latin typeface="Arial"/>
            </a:endParaRPr>
          </a:p>
          <a:p>
            <a:pPr defTabSz="914309" fontAlgn="auto">
              <a:spcBef>
                <a:spcPts val="0"/>
              </a:spcBef>
              <a:spcAft>
                <a:spcPts val="0"/>
              </a:spcAft>
            </a:pPr>
            <a:r>
              <a:rPr lang="es-ES" sz="2000" spc="-50" dirty="0">
                <a:solidFill>
                  <a:prstClr val="white"/>
                </a:solidFill>
                <a:latin typeface="Arial"/>
              </a:rPr>
              <a:t>Con un enfoque estratégico en ventas consultivas y respaldado por un el plan financiero que veremos a continuación, se espera que el proyecto sea rentable y genere los resultados esperados para la para la empresa.</a:t>
            </a:r>
            <a:endParaRPr lang="en-US" sz="2000" spc="-50" dirty="0">
              <a:solidFill>
                <a:prstClr val="white"/>
              </a:solidFill>
              <a:latin typeface="Arial"/>
            </a:endParaRPr>
          </a:p>
          <a:p>
            <a:pPr defTabSz="914309" fontAlgn="auto">
              <a:spcBef>
                <a:spcPts val="0"/>
              </a:spcBef>
              <a:spcAft>
                <a:spcPts val="0"/>
              </a:spcAft>
            </a:pPr>
            <a:endParaRPr lang="en-US" sz="2000" spc="-50" dirty="0">
              <a:solidFill>
                <a:prstClr val="white"/>
              </a:solidFill>
              <a:latin typeface="Arial"/>
            </a:endParaRPr>
          </a:p>
        </p:txBody>
      </p:sp>
      <p:grpSp>
        <p:nvGrpSpPr>
          <p:cNvPr id="33" name="Group 32">
            <a:extLst>
              <a:ext uri="{FF2B5EF4-FFF2-40B4-BE49-F238E27FC236}">
                <a16:creationId xmlns:a16="http://schemas.microsoft.com/office/drawing/2014/main" id="{9D6A5BFC-02E7-8FB4-7442-06A4EC41841E}"/>
              </a:ext>
            </a:extLst>
          </p:cNvPr>
          <p:cNvGrpSpPr/>
          <p:nvPr/>
        </p:nvGrpSpPr>
        <p:grpSpPr>
          <a:xfrm>
            <a:off x="0" y="1513725"/>
            <a:ext cx="8059206" cy="1294870"/>
            <a:chOff x="-1" y="5123224"/>
            <a:chExt cx="6457277" cy="1295039"/>
          </a:xfrm>
          <a:solidFill>
            <a:sysClr val="window" lastClr="FFFFFF"/>
          </a:solidFill>
        </p:grpSpPr>
        <p:sp>
          <p:nvSpPr>
            <p:cNvPr id="34" name="Rectangle 8">
              <a:extLst>
                <a:ext uri="{FF2B5EF4-FFF2-40B4-BE49-F238E27FC236}">
                  <a16:creationId xmlns:a16="http://schemas.microsoft.com/office/drawing/2014/main" id="{432BD13C-F113-0778-5C93-AF21F263F24A}"/>
                </a:ext>
              </a:extLst>
            </p:cNvPr>
            <p:cNvSpPr/>
            <p:nvPr/>
          </p:nvSpPr>
          <p:spPr>
            <a:xfrm>
              <a:off x="-1" y="5123224"/>
              <a:ext cx="6457277" cy="1295039"/>
            </a:xfrm>
            <a:custGeom>
              <a:avLst/>
              <a:gdLst>
                <a:gd name="connsiteX0" fmla="*/ 0 w 6099824"/>
                <a:gd name="connsiteY0" fmla="*/ 0 h 1295039"/>
                <a:gd name="connsiteX1" fmla="*/ 6099824 w 6099824"/>
                <a:gd name="connsiteY1" fmla="*/ 0 h 1295039"/>
                <a:gd name="connsiteX2" fmla="*/ 6099824 w 6099824"/>
                <a:gd name="connsiteY2" fmla="*/ 1295039 h 1295039"/>
                <a:gd name="connsiteX3" fmla="*/ 0 w 6099824"/>
                <a:gd name="connsiteY3" fmla="*/ 1295039 h 1295039"/>
                <a:gd name="connsiteX4" fmla="*/ 0 w 6099824"/>
                <a:gd name="connsiteY4" fmla="*/ 0 h 1295039"/>
                <a:gd name="connsiteX0" fmla="*/ 0 w 6840654"/>
                <a:gd name="connsiteY0" fmla="*/ 0 h 1295039"/>
                <a:gd name="connsiteX1" fmla="*/ 6840654 w 6840654"/>
                <a:gd name="connsiteY1" fmla="*/ 0 h 1295039"/>
                <a:gd name="connsiteX2" fmla="*/ 6099824 w 6840654"/>
                <a:gd name="connsiteY2" fmla="*/ 1295039 h 1295039"/>
                <a:gd name="connsiteX3" fmla="*/ 0 w 6840654"/>
                <a:gd name="connsiteY3" fmla="*/ 1295039 h 1295039"/>
                <a:gd name="connsiteX4" fmla="*/ 0 w 6840654"/>
                <a:gd name="connsiteY4" fmla="*/ 0 h 129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654" h="1295039">
                  <a:moveTo>
                    <a:pt x="0" y="0"/>
                  </a:moveTo>
                  <a:lnTo>
                    <a:pt x="6840654" y="0"/>
                  </a:lnTo>
                  <a:lnTo>
                    <a:pt x="6099824" y="1295039"/>
                  </a:lnTo>
                  <a:lnTo>
                    <a:pt x="0" y="1295039"/>
                  </a:lnTo>
                  <a:lnTo>
                    <a:pt x="0" y="0"/>
                  </a:lnTo>
                  <a:close/>
                </a:path>
              </a:pathLst>
            </a:custGeom>
            <a:grpFill/>
            <a:ln w="25400" cap="flat" cmpd="sng" algn="ctr">
              <a:noFill/>
              <a:prstDash val="solid"/>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a:ea typeface="+mn-ea"/>
                <a:cs typeface="+mn-cs"/>
              </a:endParaRPr>
            </a:p>
          </p:txBody>
        </p:sp>
        <p:sp>
          <p:nvSpPr>
            <p:cNvPr id="35" name="TextBox 34">
              <a:extLst>
                <a:ext uri="{FF2B5EF4-FFF2-40B4-BE49-F238E27FC236}">
                  <a16:creationId xmlns:a16="http://schemas.microsoft.com/office/drawing/2014/main" id="{29273D3A-20E9-4D2B-608C-904CF6BCDE44}"/>
                </a:ext>
              </a:extLst>
            </p:cNvPr>
            <p:cNvSpPr txBox="1"/>
            <p:nvPr/>
          </p:nvSpPr>
          <p:spPr>
            <a:xfrm>
              <a:off x="375225" y="5272182"/>
              <a:ext cx="5462599" cy="1015796"/>
            </a:xfrm>
            <a:prstGeom prst="rect">
              <a:avLst/>
            </a:prstGeom>
            <a:grpFill/>
          </p:spPr>
          <p:txBody>
            <a:bodyPr wrap="square" rtlCol="0">
              <a:spAutoFit/>
            </a:bodyPr>
            <a:lstStyle/>
            <a:p>
              <a:pPr marL="0" marR="0" lvl="0" indent="0" defTabSz="914309" eaLnBrk="1" fontAlgn="auto" latinLnBrk="0" hangingPunct="1">
                <a:lnSpc>
                  <a:spcPct val="100000"/>
                </a:lnSpc>
                <a:spcBef>
                  <a:spcPts val="0"/>
                </a:spcBef>
                <a:spcAft>
                  <a:spcPts val="0"/>
                </a:spcAft>
                <a:buClrTx/>
                <a:buSzTx/>
                <a:buFontTx/>
                <a:buNone/>
                <a:tabLst/>
                <a:defRPr/>
              </a:pPr>
              <a:r>
                <a:rPr kumimoji="0" lang="es-ES" sz="2000" b="0" i="0" u="none" strike="noStrike" kern="0" cap="none" spc="-50" normalizeH="0" baseline="0" noProof="0" dirty="0">
                  <a:ln>
                    <a:noFill/>
                  </a:ln>
                  <a:solidFill>
                    <a:srgbClr val="AA1133"/>
                  </a:solidFill>
                  <a:effectLst/>
                  <a:uLnTx/>
                  <a:uFillTx/>
                  <a:latin typeface="Arial"/>
                </a:rPr>
                <a:t>Tiene como objetivo la Internacionalización de IT-Trail Services y su servicio de Consultoría en Ciberseguridad en Colombia. </a:t>
              </a:r>
              <a:endParaRPr kumimoji="0" lang="en-US" sz="2000" b="0" i="0" u="none" strike="noStrike" kern="0" cap="none" spc="-50" normalizeH="0" baseline="0" noProof="0" dirty="0">
                <a:ln>
                  <a:noFill/>
                </a:ln>
                <a:solidFill>
                  <a:srgbClr val="AA1133"/>
                </a:solidFill>
                <a:effectLst/>
                <a:uLnTx/>
                <a:uFillTx/>
                <a:latin typeface="Arial"/>
              </a:endParaRPr>
            </a:p>
          </p:txBody>
        </p:sp>
      </p:grpSp>
      <p:grpSp>
        <p:nvGrpSpPr>
          <p:cNvPr id="36" name="Group 6">
            <a:extLst>
              <a:ext uri="{FF2B5EF4-FFF2-40B4-BE49-F238E27FC236}">
                <a16:creationId xmlns:a16="http://schemas.microsoft.com/office/drawing/2014/main" id="{2CF9D00D-380E-276E-B33F-B9671D423C10}"/>
              </a:ext>
            </a:extLst>
          </p:cNvPr>
          <p:cNvGrpSpPr/>
          <p:nvPr/>
        </p:nvGrpSpPr>
        <p:grpSpPr bwMode="auto">
          <a:xfrm>
            <a:off x="8699825" y="1513725"/>
            <a:ext cx="3246540" cy="4726881"/>
            <a:chOff x="2909636" y="1656420"/>
            <a:chExt cx="3246540" cy="4726881"/>
          </a:xfrm>
        </p:grpSpPr>
        <p:sp>
          <p:nvSpPr>
            <p:cNvPr id="37" name="Freeform 5">
              <a:extLst>
                <a:ext uri="{FF2B5EF4-FFF2-40B4-BE49-F238E27FC236}">
                  <a16:creationId xmlns:a16="http://schemas.microsoft.com/office/drawing/2014/main" id="{11A1E09E-D42C-998E-8A18-6293131561FE}"/>
                </a:ext>
              </a:extLst>
            </p:cNvPr>
            <p:cNvSpPr>
              <a:spLocks/>
            </p:cNvSpPr>
            <p:nvPr/>
          </p:nvSpPr>
          <p:spPr bwMode="auto">
            <a:xfrm>
              <a:off x="3066178" y="1656420"/>
              <a:ext cx="854174" cy="1146839"/>
            </a:xfrm>
            <a:custGeom>
              <a:avLst/>
              <a:gdLst/>
              <a:ahLst/>
              <a:cxnLst>
                <a:cxn ang="0">
                  <a:pos x="117" y="445"/>
                </a:cxn>
                <a:cxn ang="0">
                  <a:pos x="159" y="409"/>
                </a:cxn>
                <a:cxn ang="0">
                  <a:pos x="196" y="420"/>
                </a:cxn>
                <a:cxn ang="0">
                  <a:pos x="242" y="319"/>
                </a:cxn>
                <a:cxn ang="0">
                  <a:pos x="299" y="271"/>
                </a:cxn>
                <a:cxn ang="0">
                  <a:pos x="330" y="159"/>
                </a:cxn>
                <a:cxn ang="0">
                  <a:pos x="400" y="145"/>
                </a:cxn>
                <a:cxn ang="0">
                  <a:pos x="475" y="117"/>
                </a:cxn>
                <a:cxn ang="0">
                  <a:pos x="629" y="0"/>
                </a:cxn>
                <a:cxn ang="0">
                  <a:pos x="667" y="24"/>
                </a:cxn>
                <a:cxn ang="0">
                  <a:pos x="653" y="46"/>
                </a:cxn>
                <a:cxn ang="0">
                  <a:pos x="554" y="128"/>
                </a:cxn>
                <a:cxn ang="0">
                  <a:pos x="506" y="236"/>
                </a:cxn>
                <a:cxn ang="0">
                  <a:pos x="526" y="302"/>
                </a:cxn>
                <a:cxn ang="0">
                  <a:pos x="557" y="414"/>
                </a:cxn>
                <a:cxn ang="0">
                  <a:pos x="634" y="442"/>
                </a:cxn>
                <a:cxn ang="0">
                  <a:pos x="742" y="438"/>
                </a:cxn>
                <a:cxn ang="0">
                  <a:pos x="812" y="506"/>
                </a:cxn>
                <a:cxn ang="0">
                  <a:pos x="885" y="502"/>
                </a:cxn>
                <a:cxn ang="0">
                  <a:pos x="957" y="491"/>
                </a:cxn>
                <a:cxn ang="0">
                  <a:pos x="931" y="667"/>
                </a:cxn>
                <a:cxn ang="0">
                  <a:pos x="962" y="726"/>
                </a:cxn>
                <a:cxn ang="0">
                  <a:pos x="968" y="805"/>
                </a:cxn>
                <a:cxn ang="0">
                  <a:pos x="1003" y="887"/>
                </a:cxn>
                <a:cxn ang="0">
                  <a:pos x="973" y="852"/>
                </a:cxn>
                <a:cxn ang="0">
                  <a:pos x="904" y="845"/>
                </a:cxn>
                <a:cxn ang="0">
                  <a:pos x="768" y="867"/>
                </a:cxn>
                <a:cxn ang="0">
                  <a:pos x="757" y="916"/>
                </a:cxn>
                <a:cxn ang="0">
                  <a:pos x="814" y="953"/>
                </a:cxn>
                <a:cxn ang="0">
                  <a:pos x="761" y="960"/>
                </a:cxn>
                <a:cxn ang="0">
                  <a:pos x="744" y="1028"/>
                </a:cxn>
                <a:cxn ang="0">
                  <a:pos x="792" y="1118"/>
                </a:cxn>
                <a:cxn ang="0">
                  <a:pos x="704" y="1327"/>
                </a:cxn>
                <a:cxn ang="0">
                  <a:pos x="737" y="1252"/>
                </a:cxn>
                <a:cxn ang="0">
                  <a:pos x="673" y="1202"/>
                </a:cxn>
                <a:cxn ang="0">
                  <a:pos x="590" y="1208"/>
                </a:cxn>
                <a:cxn ang="0">
                  <a:pos x="544" y="1230"/>
                </a:cxn>
                <a:cxn ang="0">
                  <a:pos x="467" y="1180"/>
                </a:cxn>
                <a:cxn ang="0">
                  <a:pos x="442" y="1140"/>
                </a:cxn>
                <a:cxn ang="0">
                  <a:pos x="350" y="1063"/>
                </a:cxn>
                <a:cxn ang="0">
                  <a:pos x="257" y="1032"/>
                </a:cxn>
                <a:cxn ang="0">
                  <a:pos x="119" y="1017"/>
                </a:cxn>
                <a:cxn ang="0">
                  <a:pos x="15" y="977"/>
                </a:cxn>
                <a:cxn ang="0">
                  <a:pos x="35" y="935"/>
                </a:cxn>
                <a:cxn ang="0">
                  <a:pos x="57" y="856"/>
                </a:cxn>
                <a:cxn ang="0">
                  <a:pos x="126" y="801"/>
                </a:cxn>
                <a:cxn ang="0">
                  <a:pos x="126" y="740"/>
                </a:cxn>
                <a:cxn ang="0">
                  <a:pos x="130" y="563"/>
                </a:cxn>
                <a:cxn ang="0">
                  <a:pos x="99" y="476"/>
                </a:cxn>
              </a:cxnLst>
              <a:rect l="0" t="0" r="r" b="b"/>
              <a:pathLst>
                <a:path w="1003" h="1349">
                  <a:moveTo>
                    <a:pt x="99" y="476"/>
                  </a:moveTo>
                  <a:lnTo>
                    <a:pt x="117" y="445"/>
                  </a:lnTo>
                  <a:lnTo>
                    <a:pt x="139" y="434"/>
                  </a:lnTo>
                  <a:lnTo>
                    <a:pt x="159" y="409"/>
                  </a:lnTo>
                  <a:lnTo>
                    <a:pt x="147" y="361"/>
                  </a:lnTo>
                  <a:lnTo>
                    <a:pt x="196" y="420"/>
                  </a:lnTo>
                  <a:lnTo>
                    <a:pt x="200" y="357"/>
                  </a:lnTo>
                  <a:lnTo>
                    <a:pt x="242" y="319"/>
                  </a:lnTo>
                  <a:lnTo>
                    <a:pt x="264" y="282"/>
                  </a:lnTo>
                  <a:lnTo>
                    <a:pt x="299" y="271"/>
                  </a:lnTo>
                  <a:lnTo>
                    <a:pt x="308" y="189"/>
                  </a:lnTo>
                  <a:lnTo>
                    <a:pt x="330" y="159"/>
                  </a:lnTo>
                  <a:lnTo>
                    <a:pt x="365" y="143"/>
                  </a:lnTo>
                  <a:lnTo>
                    <a:pt x="400" y="145"/>
                  </a:lnTo>
                  <a:lnTo>
                    <a:pt x="420" y="115"/>
                  </a:lnTo>
                  <a:lnTo>
                    <a:pt x="475" y="117"/>
                  </a:lnTo>
                  <a:lnTo>
                    <a:pt x="579" y="53"/>
                  </a:lnTo>
                  <a:lnTo>
                    <a:pt x="629" y="0"/>
                  </a:lnTo>
                  <a:lnTo>
                    <a:pt x="656" y="5"/>
                  </a:lnTo>
                  <a:lnTo>
                    <a:pt x="667" y="24"/>
                  </a:lnTo>
                  <a:lnTo>
                    <a:pt x="653" y="47"/>
                  </a:lnTo>
                  <a:lnTo>
                    <a:pt x="653" y="46"/>
                  </a:lnTo>
                  <a:lnTo>
                    <a:pt x="614" y="57"/>
                  </a:lnTo>
                  <a:lnTo>
                    <a:pt x="554" y="128"/>
                  </a:lnTo>
                  <a:lnTo>
                    <a:pt x="528" y="163"/>
                  </a:lnTo>
                  <a:lnTo>
                    <a:pt x="506" y="236"/>
                  </a:lnTo>
                  <a:lnTo>
                    <a:pt x="491" y="258"/>
                  </a:lnTo>
                  <a:lnTo>
                    <a:pt x="526" y="302"/>
                  </a:lnTo>
                  <a:lnTo>
                    <a:pt x="557" y="363"/>
                  </a:lnTo>
                  <a:lnTo>
                    <a:pt x="557" y="414"/>
                  </a:lnTo>
                  <a:lnTo>
                    <a:pt x="603" y="440"/>
                  </a:lnTo>
                  <a:lnTo>
                    <a:pt x="634" y="442"/>
                  </a:lnTo>
                  <a:lnTo>
                    <a:pt x="691" y="427"/>
                  </a:lnTo>
                  <a:lnTo>
                    <a:pt x="742" y="438"/>
                  </a:lnTo>
                  <a:lnTo>
                    <a:pt x="790" y="498"/>
                  </a:lnTo>
                  <a:lnTo>
                    <a:pt x="812" y="506"/>
                  </a:lnTo>
                  <a:lnTo>
                    <a:pt x="834" y="495"/>
                  </a:lnTo>
                  <a:lnTo>
                    <a:pt x="885" y="502"/>
                  </a:lnTo>
                  <a:lnTo>
                    <a:pt x="933" y="484"/>
                  </a:lnTo>
                  <a:lnTo>
                    <a:pt x="957" y="491"/>
                  </a:lnTo>
                  <a:lnTo>
                    <a:pt x="920" y="619"/>
                  </a:lnTo>
                  <a:lnTo>
                    <a:pt x="931" y="667"/>
                  </a:lnTo>
                  <a:lnTo>
                    <a:pt x="962" y="702"/>
                  </a:lnTo>
                  <a:lnTo>
                    <a:pt x="962" y="726"/>
                  </a:lnTo>
                  <a:lnTo>
                    <a:pt x="927" y="762"/>
                  </a:lnTo>
                  <a:lnTo>
                    <a:pt x="968" y="805"/>
                  </a:lnTo>
                  <a:lnTo>
                    <a:pt x="1001" y="887"/>
                  </a:lnTo>
                  <a:lnTo>
                    <a:pt x="1003" y="887"/>
                  </a:lnTo>
                  <a:lnTo>
                    <a:pt x="979" y="876"/>
                  </a:lnTo>
                  <a:lnTo>
                    <a:pt x="973" y="852"/>
                  </a:lnTo>
                  <a:lnTo>
                    <a:pt x="955" y="832"/>
                  </a:lnTo>
                  <a:lnTo>
                    <a:pt x="904" y="845"/>
                  </a:lnTo>
                  <a:lnTo>
                    <a:pt x="882" y="858"/>
                  </a:lnTo>
                  <a:lnTo>
                    <a:pt x="768" y="867"/>
                  </a:lnTo>
                  <a:lnTo>
                    <a:pt x="757" y="891"/>
                  </a:lnTo>
                  <a:lnTo>
                    <a:pt x="757" y="916"/>
                  </a:lnTo>
                  <a:lnTo>
                    <a:pt x="806" y="931"/>
                  </a:lnTo>
                  <a:lnTo>
                    <a:pt x="814" y="953"/>
                  </a:lnTo>
                  <a:lnTo>
                    <a:pt x="784" y="951"/>
                  </a:lnTo>
                  <a:lnTo>
                    <a:pt x="761" y="960"/>
                  </a:lnTo>
                  <a:lnTo>
                    <a:pt x="739" y="979"/>
                  </a:lnTo>
                  <a:lnTo>
                    <a:pt x="744" y="1028"/>
                  </a:lnTo>
                  <a:lnTo>
                    <a:pt x="781" y="1069"/>
                  </a:lnTo>
                  <a:lnTo>
                    <a:pt x="792" y="1118"/>
                  </a:lnTo>
                  <a:lnTo>
                    <a:pt x="748" y="1349"/>
                  </a:lnTo>
                  <a:lnTo>
                    <a:pt x="704" y="1327"/>
                  </a:lnTo>
                  <a:lnTo>
                    <a:pt x="698" y="1301"/>
                  </a:lnTo>
                  <a:lnTo>
                    <a:pt x="737" y="1252"/>
                  </a:lnTo>
                  <a:lnTo>
                    <a:pt x="724" y="1226"/>
                  </a:lnTo>
                  <a:lnTo>
                    <a:pt x="673" y="1202"/>
                  </a:lnTo>
                  <a:lnTo>
                    <a:pt x="621" y="1213"/>
                  </a:lnTo>
                  <a:lnTo>
                    <a:pt x="590" y="1208"/>
                  </a:lnTo>
                  <a:lnTo>
                    <a:pt x="570" y="1224"/>
                  </a:lnTo>
                  <a:lnTo>
                    <a:pt x="544" y="1230"/>
                  </a:lnTo>
                  <a:lnTo>
                    <a:pt x="493" y="1228"/>
                  </a:lnTo>
                  <a:lnTo>
                    <a:pt x="467" y="1180"/>
                  </a:lnTo>
                  <a:lnTo>
                    <a:pt x="445" y="1166"/>
                  </a:lnTo>
                  <a:lnTo>
                    <a:pt x="442" y="1140"/>
                  </a:lnTo>
                  <a:lnTo>
                    <a:pt x="396" y="1116"/>
                  </a:lnTo>
                  <a:lnTo>
                    <a:pt x="350" y="1063"/>
                  </a:lnTo>
                  <a:lnTo>
                    <a:pt x="304" y="1054"/>
                  </a:lnTo>
                  <a:lnTo>
                    <a:pt x="257" y="1032"/>
                  </a:lnTo>
                  <a:lnTo>
                    <a:pt x="150" y="1048"/>
                  </a:lnTo>
                  <a:lnTo>
                    <a:pt x="119" y="1017"/>
                  </a:lnTo>
                  <a:lnTo>
                    <a:pt x="13" y="979"/>
                  </a:lnTo>
                  <a:lnTo>
                    <a:pt x="15" y="977"/>
                  </a:lnTo>
                  <a:lnTo>
                    <a:pt x="0" y="946"/>
                  </a:lnTo>
                  <a:lnTo>
                    <a:pt x="35" y="935"/>
                  </a:lnTo>
                  <a:lnTo>
                    <a:pt x="27" y="902"/>
                  </a:lnTo>
                  <a:lnTo>
                    <a:pt x="57" y="856"/>
                  </a:lnTo>
                  <a:lnTo>
                    <a:pt x="104" y="850"/>
                  </a:lnTo>
                  <a:lnTo>
                    <a:pt x="126" y="801"/>
                  </a:lnTo>
                  <a:lnTo>
                    <a:pt x="154" y="762"/>
                  </a:lnTo>
                  <a:lnTo>
                    <a:pt x="126" y="740"/>
                  </a:lnTo>
                  <a:lnTo>
                    <a:pt x="141" y="696"/>
                  </a:lnTo>
                  <a:lnTo>
                    <a:pt x="130" y="563"/>
                  </a:lnTo>
                  <a:lnTo>
                    <a:pt x="139" y="528"/>
                  </a:lnTo>
                  <a:lnTo>
                    <a:pt x="99" y="476"/>
                  </a:lnTo>
                  <a:close/>
                </a:path>
              </a:pathLst>
            </a:custGeom>
            <a:solidFill>
              <a:srgbClr val="FFFFFF"/>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8" name="Freeform 11">
              <a:extLst>
                <a:ext uri="{FF2B5EF4-FFF2-40B4-BE49-F238E27FC236}">
                  <a16:creationId xmlns:a16="http://schemas.microsoft.com/office/drawing/2014/main" id="{4249C639-F760-1CAD-4FAD-211DE9AA4D29}"/>
                </a:ext>
              </a:extLst>
            </p:cNvPr>
            <p:cNvSpPr>
              <a:spLocks/>
            </p:cNvSpPr>
            <p:nvPr/>
          </p:nvSpPr>
          <p:spPr bwMode="auto">
            <a:xfrm>
              <a:off x="3484757" y="1663226"/>
              <a:ext cx="930743" cy="781008"/>
            </a:xfrm>
            <a:custGeom>
              <a:avLst/>
              <a:gdLst/>
              <a:ahLst/>
              <a:cxnLst>
                <a:cxn ang="0">
                  <a:pos x="1091" y="304"/>
                </a:cxn>
                <a:cxn ang="0">
                  <a:pos x="1010" y="357"/>
                </a:cxn>
                <a:cxn ang="0">
                  <a:pos x="1034" y="398"/>
                </a:cxn>
                <a:cxn ang="0">
                  <a:pos x="977" y="480"/>
                </a:cxn>
                <a:cxn ang="0">
                  <a:pos x="1027" y="566"/>
                </a:cxn>
                <a:cxn ang="0">
                  <a:pos x="957" y="607"/>
                </a:cxn>
                <a:cxn ang="0">
                  <a:pos x="856" y="640"/>
                </a:cxn>
                <a:cxn ang="0">
                  <a:pos x="796" y="654"/>
                </a:cxn>
                <a:cxn ang="0">
                  <a:pos x="711" y="627"/>
                </a:cxn>
                <a:cxn ang="0">
                  <a:pos x="730" y="680"/>
                </a:cxn>
                <a:cxn ang="0">
                  <a:pos x="732" y="757"/>
                </a:cxn>
                <a:cxn ang="0">
                  <a:pos x="774" y="781"/>
                </a:cxn>
                <a:cxn ang="0">
                  <a:pos x="739" y="827"/>
                </a:cxn>
                <a:cxn ang="0">
                  <a:pos x="605" y="915"/>
                </a:cxn>
                <a:cxn ang="0">
                  <a:pos x="512" y="878"/>
                </a:cxn>
                <a:cxn ang="0">
                  <a:pos x="477" y="796"/>
                </a:cxn>
                <a:cxn ang="0">
                  <a:pos x="471" y="717"/>
                </a:cxn>
                <a:cxn ang="0">
                  <a:pos x="440" y="658"/>
                </a:cxn>
                <a:cxn ang="0">
                  <a:pos x="466" y="482"/>
                </a:cxn>
                <a:cxn ang="0">
                  <a:pos x="394" y="493"/>
                </a:cxn>
                <a:cxn ang="0">
                  <a:pos x="321" y="497"/>
                </a:cxn>
                <a:cxn ang="0">
                  <a:pos x="251" y="429"/>
                </a:cxn>
                <a:cxn ang="0">
                  <a:pos x="143" y="433"/>
                </a:cxn>
                <a:cxn ang="0">
                  <a:pos x="66" y="405"/>
                </a:cxn>
                <a:cxn ang="0">
                  <a:pos x="35" y="293"/>
                </a:cxn>
                <a:cxn ang="0">
                  <a:pos x="15" y="227"/>
                </a:cxn>
                <a:cxn ang="0">
                  <a:pos x="63" y="119"/>
                </a:cxn>
                <a:cxn ang="0">
                  <a:pos x="162" y="37"/>
                </a:cxn>
                <a:cxn ang="0">
                  <a:pos x="154" y="51"/>
                </a:cxn>
                <a:cxn ang="0">
                  <a:pos x="145" y="141"/>
                </a:cxn>
                <a:cxn ang="0">
                  <a:pos x="121" y="238"/>
                </a:cxn>
                <a:cxn ang="0">
                  <a:pos x="176" y="253"/>
                </a:cxn>
                <a:cxn ang="0">
                  <a:pos x="151" y="159"/>
                </a:cxn>
                <a:cxn ang="0">
                  <a:pos x="255" y="55"/>
                </a:cxn>
                <a:cxn ang="0">
                  <a:pos x="279" y="0"/>
                </a:cxn>
                <a:cxn ang="0">
                  <a:pos x="363" y="55"/>
                </a:cxn>
                <a:cxn ang="0">
                  <a:pos x="414" y="134"/>
                </a:cxn>
                <a:cxn ang="0">
                  <a:pos x="590" y="130"/>
                </a:cxn>
                <a:cxn ang="0">
                  <a:pos x="713" y="132"/>
                </a:cxn>
                <a:cxn ang="0">
                  <a:pos x="902" y="93"/>
                </a:cxn>
                <a:cxn ang="0">
                  <a:pos x="889" y="169"/>
                </a:cxn>
                <a:cxn ang="0">
                  <a:pos x="997" y="189"/>
                </a:cxn>
                <a:cxn ang="0">
                  <a:pos x="996" y="277"/>
                </a:cxn>
                <a:cxn ang="0">
                  <a:pos x="1095" y="288"/>
                </a:cxn>
              </a:cxnLst>
              <a:rect l="0" t="0" r="r" b="b"/>
              <a:pathLst>
                <a:path w="1095" h="917">
                  <a:moveTo>
                    <a:pt x="1095" y="288"/>
                  </a:moveTo>
                  <a:lnTo>
                    <a:pt x="1091" y="304"/>
                  </a:lnTo>
                  <a:lnTo>
                    <a:pt x="1023" y="335"/>
                  </a:lnTo>
                  <a:lnTo>
                    <a:pt x="1010" y="357"/>
                  </a:lnTo>
                  <a:lnTo>
                    <a:pt x="1014" y="381"/>
                  </a:lnTo>
                  <a:lnTo>
                    <a:pt x="1034" y="398"/>
                  </a:lnTo>
                  <a:lnTo>
                    <a:pt x="990" y="425"/>
                  </a:lnTo>
                  <a:lnTo>
                    <a:pt x="977" y="480"/>
                  </a:lnTo>
                  <a:lnTo>
                    <a:pt x="1027" y="544"/>
                  </a:lnTo>
                  <a:lnTo>
                    <a:pt x="1027" y="566"/>
                  </a:lnTo>
                  <a:lnTo>
                    <a:pt x="1005" y="590"/>
                  </a:lnTo>
                  <a:lnTo>
                    <a:pt x="957" y="607"/>
                  </a:lnTo>
                  <a:lnTo>
                    <a:pt x="939" y="623"/>
                  </a:lnTo>
                  <a:lnTo>
                    <a:pt x="856" y="640"/>
                  </a:lnTo>
                  <a:lnTo>
                    <a:pt x="825" y="654"/>
                  </a:lnTo>
                  <a:lnTo>
                    <a:pt x="796" y="654"/>
                  </a:lnTo>
                  <a:lnTo>
                    <a:pt x="735" y="631"/>
                  </a:lnTo>
                  <a:lnTo>
                    <a:pt x="711" y="627"/>
                  </a:lnTo>
                  <a:lnTo>
                    <a:pt x="686" y="640"/>
                  </a:lnTo>
                  <a:lnTo>
                    <a:pt x="730" y="680"/>
                  </a:lnTo>
                  <a:lnTo>
                    <a:pt x="724" y="706"/>
                  </a:lnTo>
                  <a:lnTo>
                    <a:pt x="732" y="757"/>
                  </a:lnTo>
                  <a:lnTo>
                    <a:pt x="746" y="777"/>
                  </a:lnTo>
                  <a:lnTo>
                    <a:pt x="774" y="781"/>
                  </a:lnTo>
                  <a:lnTo>
                    <a:pt x="790" y="799"/>
                  </a:lnTo>
                  <a:lnTo>
                    <a:pt x="739" y="827"/>
                  </a:lnTo>
                  <a:lnTo>
                    <a:pt x="724" y="856"/>
                  </a:lnTo>
                  <a:lnTo>
                    <a:pt x="605" y="915"/>
                  </a:lnTo>
                  <a:lnTo>
                    <a:pt x="548" y="917"/>
                  </a:lnTo>
                  <a:lnTo>
                    <a:pt x="512" y="878"/>
                  </a:lnTo>
                  <a:lnTo>
                    <a:pt x="510" y="878"/>
                  </a:lnTo>
                  <a:lnTo>
                    <a:pt x="477" y="796"/>
                  </a:lnTo>
                  <a:lnTo>
                    <a:pt x="436" y="753"/>
                  </a:lnTo>
                  <a:lnTo>
                    <a:pt x="471" y="717"/>
                  </a:lnTo>
                  <a:lnTo>
                    <a:pt x="471" y="693"/>
                  </a:lnTo>
                  <a:lnTo>
                    <a:pt x="440" y="658"/>
                  </a:lnTo>
                  <a:lnTo>
                    <a:pt x="429" y="610"/>
                  </a:lnTo>
                  <a:lnTo>
                    <a:pt x="466" y="482"/>
                  </a:lnTo>
                  <a:lnTo>
                    <a:pt x="442" y="475"/>
                  </a:lnTo>
                  <a:lnTo>
                    <a:pt x="394" y="493"/>
                  </a:lnTo>
                  <a:lnTo>
                    <a:pt x="343" y="486"/>
                  </a:lnTo>
                  <a:lnTo>
                    <a:pt x="321" y="497"/>
                  </a:lnTo>
                  <a:lnTo>
                    <a:pt x="299" y="489"/>
                  </a:lnTo>
                  <a:lnTo>
                    <a:pt x="251" y="429"/>
                  </a:lnTo>
                  <a:lnTo>
                    <a:pt x="200" y="418"/>
                  </a:lnTo>
                  <a:lnTo>
                    <a:pt x="143" y="433"/>
                  </a:lnTo>
                  <a:lnTo>
                    <a:pt x="112" y="431"/>
                  </a:lnTo>
                  <a:lnTo>
                    <a:pt x="66" y="405"/>
                  </a:lnTo>
                  <a:lnTo>
                    <a:pt x="66" y="354"/>
                  </a:lnTo>
                  <a:lnTo>
                    <a:pt x="35" y="293"/>
                  </a:lnTo>
                  <a:lnTo>
                    <a:pt x="0" y="249"/>
                  </a:lnTo>
                  <a:lnTo>
                    <a:pt x="15" y="227"/>
                  </a:lnTo>
                  <a:lnTo>
                    <a:pt x="37" y="154"/>
                  </a:lnTo>
                  <a:lnTo>
                    <a:pt x="63" y="119"/>
                  </a:lnTo>
                  <a:lnTo>
                    <a:pt x="123" y="48"/>
                  </a:lnTo>
                  <a:lnTo>
                    <a:pt x="162" y="37"/>
                  </a:lnTo>
                  <a:lnTo>
                    <a:pt x="162" y="38"/>
                  </a:lnTo>
                  <a:lnTo>
                    <a:pt x="154" y="51"/>
                  </a:lnTo>
                  <a:lnTo>
                    <a:pt x="116" y="70"/>
                  </a:lnTo>
                  <a:lnTo>
                    <a:pt x="145" y="141"/>
                  </a:lnTo>
                  <a:lnTo>
                    <a:pt x="101" y="213"/>
                  </a:lnTo>
                  <a:lnTo>
                    <a:pt x="121" y="238"/>
                  </a:lnTo>
                  <a:lnTo>
                    <a:pt x="127" y="271"/>
                  </a:lnTo>
                  <a:lnTo>
                    <a:pt x="176" y="253"/>
                  </a:lnTo>
                  <a:lnTo>
                    <a:pt x="176" y="205"/>
                  </a:lnTo>
                  <a:lnTo>
                    <a:pt x="151" y="159"/>
                  </a:lnTo>
                  <a:lnTo>
                    <a:pt x="152" y="112"/>
                  </a:lnTo>
                  <a:lnTo>
                    <a:pt x="255" y="55"/>
                  </a:lnTo>
                  <a:lnTo>
                    <a:pt x="244" y="22"/>
                  </a:lnTo>
                  <a:lnTo>
                    <a:pt x="279" y="0"/>
                  </a:lnTo>
                  <a:lnTo>
                    <a:pt x="290" y="53"/>
                  </a:lnTo>
                  <a:lnTo>
                    <a:pt x="363" y="55"/>
                  </a:lnTo>
                  <a:lnTo>
                    <a:pt x="396" y="73"/>
                  </a:lnTo>
                  <a:lnTo>
                    <a:pt x="414" y="134"/>
                  </a:lnTo>
                  <a:lnTo>
                    <a:pt x="579" y="112"/>
                  </a:lnTo>
                  <a:lnTo>
                    <a:pt x="590" y="130"/>
                  </a:lnTo>
                  <a:lnTo>
                    <a:pt x="673" y="148"/>
                  </a:lnTo>
                  <a:lnTo>
                    <a:pt x="713" y="132"/>
                  </a:lnTo>
                  <a:lnTo>
                    <a:pt x="754" y="97"/>
                  </a:lnTo>
                  <a:lnTo>
                    <a:pt x="902" y="93"/>
                  </a:lnTo>
                  <a:lnTo>
                    <a:pt x="834" y="108"/>
                  </a:lnTo>
                  <a:lnTo>
                    <a:pt x="889" y="169"/>
                  </a:lnTo>
                  <a:lnTo>
                    <a:pt x="915" y="161"/>
                  </a:lnTo>
                  <a:lnTo>
                    <a:pt x="997" y="189"/>
                  </a:lnTo>
                  <a:lnTo>
                    <a:pt x="1008" y="229"/>
                  </a:lnTo>
                  <a:lnTo>
                    <a:pt x="996" y="277"/>
                  </a:lnTo>
                  <a:lnTo>
                    <a:pt x="1058" y="264"/>
                  </a:lnTo>
                  <a:lnTo>
                    <a:pt x="1095" y="288"/>
                  </a:lnTo>
                  <a:lnTo>
                    <a:pt x="1095" y="288"/>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9" name="Freeform 13">
              <a:extLst>
                <a:ext uri="{FF2B5EF4-FFF2-40B4-BE49-F238E27FC236}">
                  <a16:creationId xmlns:a16="http://schemas.microsoft.com/office/drawing/2014/main" id="{26BFBD13-978B-AB9C-0784-8353737106DD}"/>
                </a:ext>
              </a:extLst>
            </p:cNvPr>
            <p:cNvSpPr>
              <a:spLocks/>
            </p:cNvSpPr>
            <p:nvPr/>
          </p:nvSpPr>
          <p:spPr bwMode="auto">
            <a:xfrm>
              <a:off x="4316810" y="1908248"/>
              <a:ext cx="335204" cy="491746"/>
            </a:xfrm>
            <a:custGeom>
              <a:avLst/>
              <a:gdLst/>
              <a:ahLst/>
              <a:cxnLst>
                <a:cxn ang="0">
                  <a:pos x="50" y="256"/>
                </a:cxn>
                <a:cxn ang="0">
                  <a:pos x="0" y="192"/>
                </a:cxn>
                <a:cxn ang="0">
                  <a:pos x="13" y="137"/>
                </a:cxn>
                <a:cxn ang="0">
                  <a:pos x="57" y="110"/>
                </a:cxn>
                <a:cxn ang="0">
                  <a:pos x="37" y="93"/>
                </a:cxn>
                <a:cxn ang="0">
                  <a:pos x="33" y="69"/>
                </a:cxn>
                <a:cxn ang="0">
                  <a:pos x="46" y="47"/>
                </a:cxn>
                <a:cxn ang="0">
                  <a:pos x="114" y="16"/>
                </a:cxn>
                <a:cxn ang="0">
                  <a:pos x="118" y="0"/>
                </a:cxn>
                <a:cxn ang="0">
                  <a:pos x="118" y="0"/>
                </a:cxn>
                <a:cxn ang="0">
                  <a:pos x="209" y="58"/>
                </a:cxn>
                <a:cxn ang="0">
                  <a:pos x="222" y="93"/>
                </a:cxn>
                <a:cxn ang="0">
                  <a:pos x="217" y="126"/>
                </a:cxn>
                <a:cxn ang="0">
                  <a:pos x="250" y="121"/>
                </a:cxn>
                <a:cxn ang="0">
                  <a:pos x="319" y="168"/>
                </a:cxn>
                <a:cxn ang="0">
                  <a:pos x="343" y="209"/>
                </a:cxn>
                <a:cxn ang="0">
                  <a:pos x="345" y="209"/>
                </a:cxn>
                <a:cxn ang="0">
                  <a:pos x="314" y="271"/>
                </a:cxn>
                <a:cxn ang="0">
                  <a:pos x="271" y="288"/>
                </a:cxn>
                <a:cxn ang="0">
                  <a:pos x="259" y="335"/>
                </a:cxn>
                <a:cxn ang="0">
                  <a:pos x="266" y="359"/>
                </a:cxn>
                <a:cxn ang="0">
                  <a:pos x="301" y="407"/>
                </a:cxn>
                <a:cxn ang="0">
                  <a:pos x="326" y="418"/>
                </a:cxn>
                <a:cxn ang="0">
                  <a:pos x="361" y="489"/>
                </a:cxn>
                <a:cxn ang="0">
                  <a:pos x="394" y="524"/>
                </a:cxn>
                <a:cxn ang="0">
                  <a:pos x="365" y="528"/>
                </a:cxn>
                <a:cxn ang="0">
                  <a:pos x="341" y="519"/>
                </a:cxn>
                <a:cxn ang="0">
                  <a:pos x="204" y="577"/>
                </a:cxn>
                <a:cxn ang="0">
                  <a:pos x="158" y="559"/>
                </a:cxn>
                <a:cxn ang="0">
                  <a:pos x="140" y="541"/>
                </a:cxn>
                <a:cxn ang="0">
                  <a:pos x="112" y="464"/>
                </a:cxn>
                <a:cxn ang="0">
                  <a:pos x="125" y="383"/>
                </a:cxn>
                <a:cxn ang="0">
                  <a:pos x="140" y="363"/>
                </a:cxn>
                <a:cxn ang="0">
                  <a:pos x="132" y="339"/>
                </a:cxn>
                <a:cxn ang="0">
                  <a:pos x="119" y="313"/>
                </a:cxn>
                <a:cxn ang="0">
                  <a:pos x="99" y="299"/>
                </a:cxn>
                <a:cxn ang="0">
                  <a:pos x="105" y="266"/>
                </a:cxn>
                <a:cxn ang="0">
                  <a:pos x="81" y="255"/>
                </a:cxn>
                <a:cxn ang="0">
                  <a:pos x="50" y="256"/>
                </a:cxn>
              </a:cxnLst>
              <a:rect l="0" t="0" r="r" b="b"/>
              <a:pathLst>
                <a:path w="394" h="577">
                  <a:moveTo>
                    <a:pt x="50" y="256"/>
                  </a:moveTo>
                  <a:lnTo>
                    <a:pt x="0" y="192"/>
                  </a:lnTo>
                  <a:lnTo>
                    <a:pt x="13" y="137"/>
                  </a:lnTo>
                  <a:lnTo>
                    <a:pt x="57" y="110"/>
                  </a:lnTo>
                  <a:lnTo>
                    <a:pt x="37" y="93"/>
                  </a:lnTo>
                  <a:lnTo>
                    <a:pt x="33" y="69"/>
                  </a:lnTo>
                  <a:lnTo>
                    <a:pt x="46" y="47"/>
                  </a:lnTo>
                  <a:lnTo>
                    <a:pt x="114" y="16"/>
                  </a:lnTo>
                  <a:lnTo>
                    <a:pt x="118" y="0"/>
                  </a:lnTo>
                  <a:lnTo>
                    <a:pt x="118" y="0"/>
                  </a:lnTo>
                  <a:lnTo>
                    <a:pt x="209" y="58"/>
                  </a:lnTo>
                  <a:lnTo>
                    <a:pt x="222" y="93"/>
                  </a:lnTo>
                  <a:lnTo>
                    <a:pt x="217" y="126"/>
                  </a:lnTo>
                  <a:lnTo>
                    <a:pt x="250" y="121"/>
                  </a:lnTo>
                  <a:lnTo>
                    <a:pt x="319" y="168"/>
                  </a:lnTo>
                  <a:lnTo>
                    <a:pt x="343" y="209"/>
                  </a:lnTo>
                  <a:lnTo>
                    <a:pt x="345" y="209"/>
                  </a:lnTo>
                  <a:lnTo>
                    <a:pt x="314" y="271"/>
                  </a:lnTo>
                  <a:lnTo>
                    <a:pt x="271" y="288"/>
                  </a:lnTo>
                  <a:lnTo>
                    <a:pt x="259" y="335"/>
                  </a:lnTo>
                  <a:lnTo>
                    <a:pt x="266" y="359"/>
                  </a:lnTo>
                  <a:lnTo>
                    <a:pt x="301" y="407"/>
                  </a:lnTo>
                  <a:lnTo>
                    <a:pt x="326" y="418"/>
                  </a:lnTo>
                  <a:lnTo>
                    <a:pt x="361" y="489"/>
                  </a:lnTo>
                  <a:lnTo>
                    <a:pt x="394" y="524"/>
                  </a:lnTo>
                  <a:lnTo>
                    <a:pt x="365" y="528"/>
                  </a:lnTo>
                  <a:lnTo>
                    <a:pt x="341" y="519"/>
                  </a:lnTo>
                  <a:lnTo>
                    <a:pt x="204" y="577"/>
                  </a:lnTo>
                  <a:lnTo>
                    <a:pt x="158" y="559"/>
                  </a:lnTo>
                  <a:lnTo>
                    <a:pt x="140" y="541"/>
                  </a:lnTo>
                  <a:lnTo>
                    <a:pt x="112" y="464"/>
                  </a:lnTo>
                  <a:lnTo>
                    <a:pt x="125" y="383"/>
                  </a:lnTo>
                  <a:lnTo>
                    <a:pt x="140" y="363"/>
                  </a:lnTo>
                  <a:lnTo>
                    <a:pt x="132" y="339"/>
                  </a:lnTo>
                  <a:lnTo>
                    <a:pt x="119" y="313"/>
                  </a:lnTo>
                  <a:lnTo>
                    <a:pt x="99" y="299"/>
                  </a:lnTo>
                  <a:lnTo>
                    <a:pt x="105" y="266"/>
                  </a:lnTo>
                  <a:lnTo>
                    <a:pt x="81" y="255"/>
                  </a:lnTo>
                  <a:lnTo>
                    <a:pt x="50" y="256"/>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40" name="Freeform 15">
              <a:extLst>
                <a:ext uri="{FF2B5EF4-FFF2-40B4-BE49-F238E27FC236}">
                  <a16:creationId xmlns:a16="http://schemas.microsoft.com/office/drawing/2014/main" id="{C094B559-0197-9826-F6DF-1308BAE7FC65}"/>
                </a:ext>
              </a:extLst>
            </p:cNvPr>
            <p:cNvSpPr>
              <a:spLocks/>
            </p:cNvSpPr>
            <p:nvPr/>
          </p:nvSpPr>
          <p:spPr bwMode="auto">
            <a:xfrm>
              <a:off x="4536309" y="2083506"/>
              <a:ext cx="287561" cy="279053"/>
            </a:xfrm>
            <a:custGeom>
              <a:avLst/>
              <a:gdLst/>
              <a:ahLst/>
              <a:cxnLst>
                <a:cxn ang="0">
                  <a:pos x="304" y="297"/>
                </a:cxn>
                <a:cxn ang="0">
                  <a:pos x="322" y="279"/>
                </a:cxn>
                <a:cxn ang="0">
                  <a:pos x="339" y="191"/>
                </a:cxn>
                <a:cxn ang="0">
                  <a:pos x="311" y="141"/>
                </a:cxn>
                <a:cxn ang="0">
                  <a:pos x="308" y="83"/>
                </a:cxn>
                <a:cxn ang="0">
                  <a:pos x="313" y="59"/>
                </a:cxn>
                <a:cxn ang="0">
                  <a:pos x="335" y="35"/>
                </a:cxn>
                <a:cxn ang="0">
                  <a:pos x="335" y="33"/>
                </a:cxn>
                <a:cxn ang="0">
                  <a:pos x="251" y="0"/>
                </a:cxn>
                <a:cxn ang="0">
                  <a:pos x="128" y="0"/>
                </a:cxn>
                <a:cxn ang="0">
                  <a:pos x="84" y="4"/>
                </a:cxn>
                <a:cxn ang="0">
                  <a:pos x="86" y="4"/>
                </a:cxn>
                <a:cxn ang="0">
                  <a:pos x="55" y="66"/>
                </a:cxn>
                <a:cxn ang="0">
                  <a:pos x="12" y="83"/>
                </a:cxn>
                <a:cxn ang="0">
                  <a:pos x="0" y="130"/>
                </a:cxn>
                <a:cxn ang="0">
                  <a:pos x="7" y="154"/>
                </a:cxn>
                <a:cxn ang="0">
                  <a:pos x="42" y="202"/>
                </a:cxn>
                <a:cxn ang="0">
                  <a:pos x="67" y="213"/>
                </a:cxn>
                <a:cxn ang="0">
                  <a:pos x="102" y="284"/>
                </a:cxn>
                <a:cxn ang="0">
                  <a:pos x="135" y="319"/>
                </a:cxn>
                <a:cxn ang="0">
                  <a:pos x="170" y="328"/>
                </a:cxn>
                <a:cxn ang="0">
                  <a:pos x="192" y="282"/>
                </a:cxn>
                <a:cxn ang="0">
                  <a:pos x="218" y="288"/>
                </a:cxn>
                <a:cxn ang="0">
                  <a:pos x="247" y="281"/>
                </a:cxn>
                <a:cxn ang="0">
                  <a:pos x="304" y="297"/>
                </a:cxn>
              </a:cxnLst>
              <a:rect l="0" t="0" r="r" b="b"/>
              <a:pathLst>
                <a:path w="339" h="328">
                  <a:moveTo>
                    <a:pt x="304" y="297"/>
                  </a:moveTo>
                  <a:lnTo>
                    <a:pt x="322" y="279"/>
                  </a:lnTo>
                  <a:lnTo>
                    <a:pt x="339" y="191"/>
                  </a:lnTo>
                  <a:lnTo>
                    <a:pt x="311" y="141"/>
                  </a:lnTo>
                  <a:lnTo>
                    <a:pt x="308" y="83"/>
                  </a:lnTo>
                  <a:lnTo>
                    <a:pt x="313" y="59"/>
                  </a:lnTo>
                  <a:lnTo>
                    <a:pt x="335" y="35"/>
                  </a:lnTo>
                  <a:lnTo>
                    <a:pt x="335" y="33"/>
                  </a:lnTo>
                  <a:lnTo>
                    <a:pt x="251" y="0"/>
                  </a:lnTo>
                  <a:lnTo>
                    <a:pt x="128" y="0"/>
                  </a:lnTo>
                  <a:lnTo>
                    <a:pt x="84" y="4"/>
                  </a:lnTo>
                  <a:lnTo>
                    <a:pt x="86" y="4"/>
                  </a:lnTo>
                  <a:lnTo>
                    <a:pt x="55" y="66"/>
                  </a:lnTo>
                  <a:lnTo>
                    <a:pt x="12" y="83"/>
                  </a:lnTo>
                  <a:lnTo>
                    <a:pt x="0" y="130"/>
                  </a:lnTo>
                  <a:lnTo>
                    <a:pt x="7" y="154"/>
                  </a:lnTo>
                  <a:lnTo>
                    <a:pt x="42" y="202"/>
                  </a:lnTo>
                  <a:lnTo>
                    <a:pt x="67" y="213"/>
                  </a:lnTo>
                  <a:lnTo>
                    <a:pt x="102" y="284"/>
                  </a:lnTo>
                  <a:lnTo>
                    <a:pt x="135" y="319"/>
                  </a:lnTo>
                  <a:lnTo>
                    <a:pt x="170" y="328"/>
                  </a:lnTo>
                  <a:lnTo>
                    <a:pt x="192" y="282"/>
                  </a:lnTo>
                  <a:lnTo>
                    <a:pt x="218" y="288"/>
                  </a:lnTo>
                  <a:lnTo>
                    <a:pt x="247" y="281"/>
                  </a:lnTo>
                  <a:lnTo>
                    <a:pt x="304" y="297"/>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41" name="Freeform 17">
              <a:extLst>
                <a:ext uri="{FF2B5EF4-FFF2-40B4-BE49-F238E27FC236}">
                  <a16:creationId xmlns:a16="http://schemas.microsoft.com/office/drawing/2014/main" id="{F3B19515-A9E9-BD1E-BA40-A05D694751B6}"/>
                </a:ext>
              </a:extLst>
            </p:cNvPr>
            <p:cNvSpPr>
              <a:spLocks/>
            </p:cNvSpPr>
            <p:nvPr/>
          </p:nvSpPr>
          <p:spPr bwMode="auto">
            <a:xfrm>
              <a:off x="4794943" y="2112433"/>
              <a:ext cx="195678" cy="246724"/>
            </a:xfrm>
            <a:custGeom>
              <a:avLst/>
              <a:gdLst/>
              <a:ahLst/>
              <a:cxnLst>
                <a:cxn ang="0">
                  <a:pos x="0" y="264"/>
                </a:cxn>
                <a:cxn ang="0">
                  <a:pos x="18" y="284"/>
                </a:cxn>
                <a:cxn ang="0">
                  <a:pos x="42" y="292"/>
                </a:cxn>
                <a:cxn ang="0">
                  <a:pos x="66" y="282"/>
                </a:cxn>
                <a:cxn ang="0">
                  <a:pos x="90" y="288"/>
                </a:cxn>
                <a:cxn ang="0">
                  <a:pos x="117" y="281"/>
                </a:cxn>
                <a:cxn ang="0">
                  <a:pos x="156" y="249"/>
                </a:cxn>
                <a:cxn ang="0">
                  <a:pos x="167" y="220"/>
                </a:cxn>
                <a:cxn ang="0">
                  <a:pos x="229" y="136"/>
                </a:cxn>
                <a:cxn ang="0">
                  <a:pos x="231" y="136"/>
                </a:cxn>
                <a:cxn ang="0">
                  <a:pos x="132" y="35"/>
                </a:cxn>
                <a:cxn ang="0">
                  <a:pos x="31" y="0"/>
                </a:cxn>
                <a:cxn ang="0">
                  <a:pos x="31" y="2"/>
                </a:cxn>
                <a:cxn ang="0">
                  <a:pos x="9" y="26"/>
                </a:cxn>
                <a:cxn ang="0">
                  <a:pos x="4" y="50"/>
                </a:cxn>
                <a:cxn ang="0">
                  <a:pos x="7" y="108"/>
                </a:cxn>
                <a:cxn ang="0">
                  <a:pos x="35" y="158"/>
                </a:cxn>
                <a:cxn ang="0">
                  <a:pos x="18" y="246"/>
                </a:cxn>
                <a:cxn ang="0">
                  <a:pos x="0" y="264"/>
                </a:cxn>
              </a:cxnLst>
              <a:rect l="0" t="0" r="r" b="b"/>
              <a:pathLst>
                <a:path w="231" h="292">
                  <a:moveTo>
                    <a:pt x="0" y="264"/>
                  </a:moveTo>
                  <a:lnTo>
                    <a:pt x="18" y="284"/>
                  </a:lnTo>
                  <a:lnTo>
                    <a:pt x="42" y="292"/>
                  </a:lnTo>
                  <a:lnTo>
                    <a:pt x="66" y="282"/>
                  </a:lnTo>
                  <a:lnTo>
                    <a:pt x="90" y="288"/>
                  </a:lnTo>
                  <a:lnTo>
                    <a:pt x="117" y="281"/>
                  </a:lnTo>
                  <a:lnTo>
                    <a:pt x="156" y="249"/>
                  </a:lnTo>
                  <a:lnTo>
                    <a:pt x="167" y="220"/>
                  </a:lnTo>
                  <a:lnTo>
                    <a:pt x="229" y="136"/>
                  </a:lnTo>
                  <a:lnTo>
                    <a:pt x="231" y="136"/>
                  </a:lnTo>
                  <a:lnTo>
                    <a:pt x="132" y="35"/>
                  </a:lnTo>
                  <a:lnTo>
                    <a:pt x="31" y="0"/>
                  </a:lnTo>
                  <a:lnTo>
                    <a:pt x="31" y="2"/>
                  </a:lnTo>
                  <a:lnTo>
                    <a:pt x="9" y="26"/>
                  </a:lnTo>
                  <a:lnTo>
                    <a:pt x="4" y="50"/>
                  </a:lnTo>
                  <a:lnTo>
                    <a:pt x="7" y="108"/>
                  </a:lnTo>
                  <a:lnTo>
                    <a:pt x="35" y="158"/>
                  </a:lnTo>
                  <a:lnTo>
                    <a:pt x="18" y="246"/>
                  </a:lnTo>
                  <a:lnTo>
                    <a:pt x="0" y="264"/>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42" name="Freeform 19">
              <a:extLst>
                <a:ext uri="{FF2B5EF4-FFF2-40B4-BE49-F238E27FC236}">
                  <a16:creationId xmlns:a16="http://schemas.microsoft.com/office/drawing/2014/main" id="{B446424F-AAF1-75A0-E653-910F5F6B9B94}"/>
                </a:ext>
              </a:extLst>
            </p:cNvPr>
            <p:cNvSpPr>
              <a:spLocks/>
            </p:cNvSpPr>
            <p:nvPr/>
          </p:nvSpPr>
          <p:spPr bwMode="auto">
            <a:xfrm>
              <a:off x="3445621" y="2126045"/>
              <a:ext cx="2710555" cy="2732675"/>
            </a:xfrm>
            <a:custGeom>
              <a:avLst/>
              <a:gdLst/>
              <a:ahLst/>
              <a:cxnLst>
                <a:cxn ang="0">
                  <a:pos x="1648" y="3110"/>
                </a:cxn>
                <a:cxn ang="0">
                  <a:pos x="1936" y="2799"/>
                </a:cxn>
                <a:cxn ang="0">
                  <a:pos x="2196" y="2421"/>
                </a:cxn>
                <a:cxn ang="0">
                  <a:pos x="2282" y="2373"/>
                </a:cxn>
                <a:cxn ang="0">
                  <a:pos x="2490" y="2355"/>
                </a:cxn>
                <a:cxn ang="0">
                  <a:pos x="2634" y="2207"/>
                </a:cxn>
                <a:cxn ang="0">
                  <a:pos x="2754" y="1988"/>
                </a:cxn>
                <a:cxn ang="0">
                  <a:pos x="2810" y="1638"/>
                </a:cxn>
                <a:cxn ang="0">
                  <a:pos x="3069" y="1400"/>
                </a:cxn>
                <a:cxn ang="0">
                  <a:pos x="3183" y="1173"/>
                </a:cxn>
                <a:cxn ang="0">
                  <a:pos x="3012" y="989"/>
                </a:cxn>
                <a:cxn ang="0">
                  <a:pos x="2770" y="771"/>
                </a:cxn>
                <a:cxn ang="0">
                  <a:pos x="2523" y="713"/>
                </a:cxn>
                <a:cxn ang="0">
                  <a:pos x="2372" y="615"/>
                </a:cxn>
                <a:cxn ang="0">
                  <a:pos x="2174" y="528"/>
                </a:cxn>
                <a:cxn ang="0">
                  <a:pos x="2050" y="579"/>
                </a:cxn>
                <a:cxn ang="0">
                  <a:pos x="1947" y="469"/>
                </a:cxn>
                <a:cxn ang="0">
                  <a:pos x="1877" y="533"/>
                </a:cxn>
                <a:cxn ang="0">
                  <a:pos x="1954" y="313"/>
                </a:cxn>
                <a:cxn ang="0">
                  <a:pos x="1855" y="148"/>
                </a:cxn>
                <a:cxn ang="0">
                  <a:pos x="1742" y="232"/>
                </a:cxn>
                <a:cxn ang="0">
                  <a:pos x="1628" y="275"/>
                </a:cxn>
                <a:cxn ang="0">
                  <a:pos x="1500" y="238"/>
                </a:cxn>
                <a:cxn ang="0">
                  <a:pos x="1388" y="273"/>
                </a:cxn>
                <a:cxn ang="0">
                  <a:pos x="1163" y="286"/>
                </a:cxn>
                <a:cxn ang="0">
                  <a:pos x="1155" y="84"/>
                </a:cxn>
                <a:cxn ang="0">
                  <a:pos x="1104" y="0"/>
                </a:cxn>
                <a:cxn ang="0">
                  <a:pos x="1003" y="64"/>
                </a:cxn>
                <a:cxn ang="0">
                  <a:pos x="842" y="111"/>
                </a:cxn>
                <a:cxn ang="0">
                  <a:pos x="776" y="137"/>
                </a:cxn>
                <a:cxn ang="0">
                  <a:pos x="820" y="238"/>
                </a:cxn>
                <a:cxn ang="0">
                  <a:pos x="651" y="372"/>
                </a:cxn>
                <a:cxn ang="0">
                  <a:pos x="528" y="300"/>
                </a:cxn>
                <a:cxn ang="0">
                  <a:pos x="323" y="315"/>
                </a:cxn>
                <a:cxn ang="0">
                  <a:pos x="369" y="401"/>
                </a:cxn>
                <a:cxn ang="0">
                  <a:pos x="299" y="476"/>
                </a:cxn>
                <a:cxn ang="0">
                  <a:pos x="165" y="843"/>
                </a:cxn>
                <a:cxn ang="0">
                  <a:pos x="24" y="1022"/>
                </a:cxn>
                <a:cxn ang="0">
                  <a:pos x="72" y="1209"/>
                </a:cxn>
                <a:cxn ang="0">
                  <a:pos x="158" y="1283"/>
                </a:cxn>
                <a:cxn ang="0">
                  <a:pos x="274" y="1352"/>
                </a:cxn>
                <a:cxn ang="0">
                  <a:pos x="453" y="1345"/>
                </a:cxn>
                <a:cxn ang="0">
                  <a:pos x="680" y="1231"/>
                </a:cxn>
                <a:cxn ang="0">
                  <a:pos x="701" y="1404"/>
                </a:cxn>
                <a:cxn ang="0">
                  <a:pos x="893" y="1492"/>
                </a:cxn>
                <a:cxn ang="0">
                  <a:pos x="1049" y="1543"/>
                </a:cxn>
                <a:cxn ang="0">
                  <a:pos x="1084" y="1682"/>
                </a:cxn>
                <a:cxn ang="0">
                  <a:pos x="1245" y="1825"/>
                </a:cxn>
                <a:cxn ang="0">
                  <a:pos x="1282" y="2043"/>
                </a:cxn>
                <a:cxn ang="0">
                  <a:pos x="1278" y="2227"/>
                </a:cxn>
                <a:cxn ang="0">
                  <a:pos x="1425" y="2262"/>
                </a:cxn>
                <a:cxn ang="0">
                  <a:pos x="1547" y="2428"/>
                </a:cxn>
                <a:cxn ang="0">
                  <a:pos x="1588" y="2592"/>
                </a:cxn>
                <a:cxn ang="0">
                  <a:pos x="1423" y="2771"/>
                </a:cxn>
                <a:cxn ang="0">
                  <a:pos x="1335" y="2901"/>
                </a:cxn>
                <a:cxn ang="0">
                  <a:pos x="1461" y="3002"/>
                </a:cxn>
                <a:cxn ang="0">
                  <a:pos x="1562" y="3094"/>
                </a:cxn>
                <a:cxn ang="0">
                  <a:pos x="1573" y="3211"/>
                </a:cxn>
              </a:cxnLst>
              <a:rect l="0" t="0" r="r" b="b"/>
              <a:pathLst>
                <a:path w="3186" h="3211">
                  <a:moveTo>
                    <a:pt x="1573" y="3211"/>
                  </a:moveTo>
                  <a:lnTo>
                    <a:pt x="1604" y="3191"/>
                  </a:lnTo>
                  <a:lnTo>
                    <a:pt x="1635" y="3151"/>
                  </a:lnTo>
                  <a:lnTo>
                    <a:pt x="1648" y="3110"/>
                  </a:lnTo>
                  <a:lnTo>
                    <a:pt x="1755" y="3033"/>
                  </a:lnTo>
                  <a:lnTo>
                    <a:pt x="1850" y="2874"/>
                  </a:lnTo>
                  <a:lnTo>
                    <a:pt x="1885" y="2837"/>
                  </a:lnTo>
                  <a:lnTo>
                    <a:pt x="1936" y="2799"/>
                  </a:lnTo>
                  <a:lnTo>
                    <a:pt x="1962" y="2718"/>
                  </a:lnTo>
                  <a:lnTo>
                    <a:pt x="1967" y="2581"/>
                  </a:lnTo>
                  <a:lnTo>
                    <a:pt x="2110" y="2454"/>
                  </a:lnTo>
                  <a:lnTo>
                    <a:pt x="2196" y="2421"/>
                  </a:lnTo>
                  <a:lnTo>
                    <a:pt x="2220" y="2438"/>
                  </a:lnTo>
                  <a:lnTo>
                    <a:pt x="2255" y="2399"/>
                  </a:lnTo>
                  <a:lnTo>
                    <a:pt x="2292" y="2403"/>
                  </a:lnTo>
                  <a:lnTo>
                    <a:pt x="2282" y="2373"/>
                  </a:lnTo>
                  <a:lnTo>
                    <a:pt x="2334" y="2373"/>
                  </a:lnTo>
                  <a:lnTo>
                    <a:pt x="2370" y="2383"/>
                  </a:lnTo>
                  <a:lnTo>
                    <a:pt x="2484" y="2390"/>
                  </a:lnTo>
                  <a:lnTo>
                    <a:pt x="2490" y="2355"/>
                  </a:lnTo>
                  <a:lnTo>
                    <a:pt x="2568" y="2324"/>
                  </a:lnTo>
                  <a:lnTo>
                    <a:pt x="2576" y="2282"/>
                  </a:lnTo>
                  <a:lnTo>
                    <a:pt x="2592" y="2243"/>
                  </a:lnTo>
                  <a:lnTo>
                    <a:pt x="2634" y="2207"/>
                  </a:lnTo>
                  <a:lnTo>
                    <a:pt x="2653" y="2168"/>
                  </a:lnTo>
                  <a:lnTo>
                    <a:pt x="2697" y="2131"/>
                  </a:lnTo>
                  <a:lnTo>
                    <a:pt x="2724" y="2012"/>
                  </a:lnTo>
                  <a:lnTo>
                    <a:pt x="2754" y="1988"/>
                  </a:lnTo>
                  <a:lnTo>
                    <a:pt x="2770" y="1900"/>
                  </a:lnTo>
                  <a:lnTo>
                    <a:pt x="2788" y="1855"/>
                  </a:lnTo>
                  <a:lnTo>
                    <a:pt x="2788" y="1732"/>
                  </a:lnTo>
                  <a:lnTo>
                    <a:pt x="2810" y="1638"/>
                  </a:lnTo>
                  <a:lnTo>
                    <a:pt x="2889" y="1587"/>
                  </a:lnTo>
                  <a:lnTo>
                    <a:pt x="2981" y="1470"/>
                  </a:lnTo>
                  <a:lnTo>
                    <a:pt x="3045" y="1431"/>
                  </a:lnTo>
                  <a:lnTo>
                    <a:pt x="3069" y="1400"/>
                  </a:lnTo>
                  <a:lnTo>
                    <a:pt x="3106" y="1373"/>
                  </a:lnTo>
                  <a:lnTo>
                    <a:pt x="3175" y="1268"/>
                  </a:lnTo>
                  <a:lnTo>
                    <a:pt x="3186" y="1215"/>
                  </a:lnTo>
                  <a:lnTo>
                    <a:pt x="3183" y="1173"/>
                  </a:lnTo>
                  <a:lnTo>
                    <a:pt x="3142" y="1022"/>
                  </a:lnTo>
                  <a:lnTo>
                    <a:pt x="3095" y="1002"/>
                  </a:lnTo>
                  <a:lnTo>
                    <a:pt x="3052" y="1002"/>
                  </a:lnTo>
                  <a:lnTo>
                    <a:pt x="3012" y="989"/>
                  </a:lnTo>
                  <a:lnTo>
                    <a:pt x="2986" y="958"/>
                  </a:lnTo>
                  <a:lnTo>
                    <a:pt x="2946" y="933"/>
                  </a:lnTo>
                  <a:lnTo>
                    <a:pt x="2893" y="868"/>
                  </a:lnTo>
                  <a:lnTo>
                    <a:pt x="2770" y="771"/>
                  </a:lnTo>
                  <a:lnTo>
                    <a:pt x="2645" y="768"/>
                  </a:lnTo>
                  <a:lnTo>
                    <a:pt x="2605" y="742"/>
                  </a:lnTo>
                  <a:lnTo>
                    <a:pt x="2563" y="738"/>
                  </a:lnTo>
                  <a:lnTo>
                    <a:pt x="2523" y="713"/>
                  </a:lnTo>
                  <a:lnTo>
                    <a:pt x="2482" y="702"/>
                  </a:lnTo>
                  <a:lnTo>
                    <a:pt x="2392" y="725"/>
                  </a:lnTo>
                  <a:lnTo>
                    <a:pt x="2407" y="685"/>
                  </a:lnTo>
                  <a:lnTo>
                    <a:pt x="2372" y="615"/>
                  </a:lnTo>
                  <a:lnTo>
                    <a:pt x="2332" y="625"/>
                  </a:lnTo>
                  <a:lnTo>
                    <a:pt x="2317" y="595"/>
                  </a:lnTo>
                  <a:lnTo>
                    <a:pt x="2222" y="559"/>
                  </a:lnTo>
                  <a:lnTo>
                    <a:pt x="2174" y="528"/>
                  </a:lnTo>
                  <a:lnTo>
                    <a:pt x="2127" y="524"/>
                  </a:lnTo>
                  <a:lnTo>
                    <a:pt x="2097" y="535"/>
                  </a:lnTo>
                  <a:lnTo>
                    <a:pt x="2070" y="593"/>
                  </a:lnTo>
                  <a:lnTo>
                    <a:pt x="2050" y="579"/>
                  </a:lnTo>
                  <a:lnTo>
                    <a:pt x="2079" y="491"/>
                  </a:lnTo>
                  <a:lnTo>
                    <a:pt x="2030" y="474"/>
                  </a:lnTo>
                  <a:lnTo>
                    <a:pt x="1989" y="478"/>
                  </a:lnTo>
                  <a:lnTo>
                    <a:pt x="1947" y="469"/>
                  </a:lnTo>
                  <a:lnTo>
                    <a:pt x="1912" y="487"/>
                  </a:lnTo>
                  <a:lnTo>
                    <a:pt x="1912" y="535"/>
                  </a:lnTo>
                  <a:lnTo>
                    <a:pt x="1899" y="588"/>
                  </a:lnTo>
                  <a:lnTo>
                    <a:pt x="1877" y="533"/>
                  </a:lnTo>
                  <a:lnTo>
                    <a:pt x="1830" y="550"/>
                  </a:lnTo>
                  <a:lnTo>
                    <a:pt x="1850" y="462"/>
                  </a:lnTo>
                  <a:lnTo>
                    <a:pt x="1947" y="372"/>
                  </a:lnTo>
                  <a:lnTo>
                    <a:pt x="1954" y="313"/>
                  </a:lnTo>
                  <a:lnTo>
                    <a:pt x="1907" y="300"/>
                  </a:lnTo>
                  <a:lnTo>
                    <a:pt x="1892" y="245"/>
                  </a:lnTo>
                  <a:lnTo>
                    <a:pt x="1865" y="188"/>
                  </a:lnTo>
                  <a:lnTo>
                    <a:pt x="1855" y="148"/>
                  </a:lnTo>
                  <a:lnTo>
                    <a:pt x="1817" y="119"/>
                  </a:lnTo>
                  <a:lnTo>
                    <a:pt x="1815" y="119"/>
                  </a:lnTo>
                  <a:lnTo>
                    <a:pt x="1753" y="203"/>
                  </a:lnTo>
                  <a:lnTo>
                    <a:pt x="1742" y="232"/>
                  </a:lnTo>
                  <a:lnTo>
                    <a:pt x="1703" y="264"/>
                  </a:lnTo>
                  <a:lnTo>
                    <a:pt x="1676" y="271"/>
                  </a:lnTo>
                  <a:lnTo>
                    <a:pt x="1652" y="265"/>
                  </a:lnTo>
                  <a:lnTo>
                    <a:pt x="1628" y="275"/>
                  </a:lnTo>
                  <a:lnTo>
                    <a:pt x="1604" y="267"/>
                  </a:lnTo>
                  <a:lnTo>
                    <a:pt x="1586" y="247"/>
                  </a:lnTo>
                  <a:lnTo>
                    <a:pt x="1529" y="231"/>
                  </a:lnTo>
                  <a:lnTo>
                    <a:pt x="1500" y="238"/>
                  </a:lnTo>
                  <a:lnTo>
                    <a:pt x="1474" y="232"/>
                  </a:lnTo>
                  <a:lnTo>
                    <a:pt x="1452" y="278"/>
                  </a:lnTo>
                  <a:lnTo>
                    <a:pt x="1417" y="269"/>
                  </a:lnTo>
                  <a:lnTo>
                    <a:pt x="1388" y="273"/>
                  </a:lnTo>
                  <a:lnTo>
                    <a:pt x="1364" y="264"/>
                  </a:lnTo>
                  <a:lnTo>
                    <a:pt x="1227" y="322"/>
                  </a:lnTo>
                  <a:lnTo>
                    <a:pt x="1181" y="304"/>
                  </a:lnTo>
                  <a:lnTo>
                    <a:pt x="1163" y="286"/>
                  </a:lnTo>
                  <a:lnTo>
                    <a:pt x="1135" y="209"/>
                  </a:lnTo>
                  <a:lnTo>
                    <a:pt x="1148" y="128"/>
                  </a:lnTo>
                  <a:lnTo>
                    <a:pt x="1163" y="108"/>
                  </a:lnTo>
                  <a:lnTo>
                    <a:pt x="1155" y="84"/>
                  </a:lnTo>
                  <a:lnTo>
                    <a:pt x="1142" y="58"/>
                  </a:lnTo>
                  <a:lnTo>
                    <a:pt x="1122" y="44"/>
                  </a:lnTo>
                  <a:lnTo>
                    <a:pt x="1128" y="11"/>
                  </a:lnTo>
                  <a:lnTo>
                    <a:pt x="1104" y="0"/>
                  </a:lnTo>
                  <a:lnTo>
                    <a:pt x="1073" y="1"/>
                  </a:lnTo>
                  <a:lnTo>
                    <a:pt x="1073" y="23"/>
                  </a:lnTo>
                  <a:lnTo>
                    <a:pt x="1051" y="47"/>
                  </a:lnTo>
                  <a:lnTo>
                    <a:pt x="1003" y="64"/>
                  </a:lnTo>
                  <a:lnTo>
                    <a:pt x="985" y="80"/>
                  </a:lnTo>
                  <a:lnTo>
                    <a:pt x="902" y="97"/>
                  </a:lnTo>
                  <a:lnTo>
                    <a:pt x="871" y="111"/>
                  </a:lnTo>
                  <a:lnTo>
                    <a:pt x="842" y="111"/>
                  </a:lnTo>
                  <a:lnTo>
                    <a:pt x="781" y="88"/>
                  </a:lnTo>
                  <a:lnTo>
                    <a:pt x="757" y="84"/>
                  </a:lnTo>
                  <a:lnTo>
                    <a:pt x="732" y="97"/>
                  </a:lnTo>
                  <a:lnTo>
                    <a:pt x="776" y="137"/>
                  </a:lnTo>
                  <a:lnTo>
                    <a:pt x="770" y="163"/>
                  </a:lnTo>
                  <a:lnTo>
                    <a:pt x="778" y="214"/>
                  </a:lnTo>
                  <a:lnTo>
                    <a:pt x="792" y="234"/>
                  </a:lnTo>
                  <a:lnTo>
                    <a:pt x="820" y="238"/>
                  </a:lnTo>
                  <a:lnTo>
                    <a:pt x="836" y="256"/>
                  </a:lnTo>
                  <a:lnTo>
                    <a:pt x="785" y="284"/>
                  </a:lnTo>
                  <a:lnTo>
                    <a:pt x="770" y="313"/>
                  </a:lnTo>
                  <a:lnTo>
                    <a:pt x="651" y="372"/>
                  </a:lnTo>
                  <a:lnTo>
                    <a:pt x="594" y="374"/>
                  </a:lnTo>
                  <a:lnTo>
                    <a:pt x="558" y="335"/>
                  </a:lnTo>
                  <a:lnTo>
                    <a:pt x="534" y="324"/>
                  </a:lnTo>
                  <a:lnTo>
                    <a:pt x="528" y="300"/>
                  </a:lnTo>
                  <a:lnTo>
                    <a:pt x="510" y="280"/>
                  </a:lnTo>
                  <a:lnTo>
                    <a:pt x="459" y="293"/>
                  </a:lnTo>
                  <a:lnTo>
                    <a:pt x="437" y="306"/>
                  </a:lnTo>
                  <a:lnTo>
                    <a:pt x="323" y="315"/>
                  </a:lnTo>
                  <a:lnTo>
                    <a:pt x="312" y="339"/>
                  </a:lnTo>
                  <a:lnTo>
                    <a:pt x="312" y="364"/>
                  </a:lnTo>
                  <a:lnTo>
                    <a:pt x="361" y="379"/>
                  </a:lnTo>
                  <a:lnTo>
                    <a:pt x="369" y="401"/>
                  </a:lnTo>
                  <a:lnTo>
                    <a:pt x="339" y="399"/>
                  </a:lnTo>
                  <a:lnTo>
                    <a:pt x="316" y="408"/>
                  </a:lnTo>
                  <a:lnTo>
                    <a:pt x="294" y="427"/>
                  </a:lnTo>
                  <a:lnTo>
                    <a:pt x="299" y="476"/>
                  </a:lnTo>
                  <a:lnTo>
                    <a:pt x="336" y="517"/>
                  </a:lnTo>
                  <a:lnTo>
                    <a:pt x="347" y="566"/>
                  </a:lnTo>
                  <a:lnTo>
                    <a:pt x="303" y="797"/>
                  </a:lnTo>
                  <a:lnTo>
                    <a:pt x="165" y="843"/>
                  </a:lnTo>
                  <a:lnTo>
                    <a:pt x="114" y="876"/>
                  </a:lnTo>
                  <a:lnTo>
                    <a:pt x="57" y="953"/>
                  </a:lnTo>
                  <a:lnTo>
                    <a:pt x="54" y="1013"/>
                  </a:lnTo>
                  <a:lnTo>
                    <a:pt x="24" y="1022"/>
                  </a:lnTo>
                  <a:lnTo>
                    <a:pt x="0" y="1083"/>
                  </a:lnTo>
                  <a:lnTo>
                    <a:pt x="0" y="1109"/>
                  </a:lnTo>
                  <a:lnTo>
                    <a:pt x="28" y="1167"/>
                  </a:lnTo>
                  <a:lnTo>
                    <a:pt x="72" y="1209"/>
                  </a:lnTo>
                  <a:lnTo>
                    <a:pt x="66" y="1237"/>
                  </a:lnTo>
                  <a:lnTo>
                    <a:pt x="118" y="1246"/>
                  </a:lnTo>
                  <a:lnTo>
                    <a:pt x="132" y="1270"/>
                  </a:lnTo>
                  <a:lnTo>
                    <a:pt x="158" y="1283"/>
                  </a:lnTo>
                  <a:lnTo>
                    <a:pt x="193" y="1279"/>
                  </a:lnTo>
                  <a:lnTo>
                    <a:pt x="257" y="1228"/>
                  </a:lnTo>
                  <a:lnTo>
                    <a:pt x="270" y="1250"/>
                  </a:lnTo>
                  <a:lnTo>
                    <a:pt x="274" y="1352"/>
                  </a:lnTo>
                  <a:lnTo>
                    <a:pt x="301" y="1360"/>
                  </a:lnTo>
                  <a:lnTo>
                    <a:pt x="341" y="1347"/>
                  </a:lnTo>
                  <a:lnTo>
                    <a:pt x="393" y="1352"/>
                  </a:lnTo>
                  <a:lnTo>
                    <a:pt x="453" y="1345"/>
                  </a:lnTo>
                  <a:lnTo>
                    <a:pt x="510" y="1316"/>
                  </a:lnTo>
                  <a:lnTo>
                    <a:pt x="580" y="1242"/>
                  </a:lnTo>
                  <a:lnTo>
                    <a:pt x="655" y="1228"/>
                  </a:lnTo>
                  <a:lnTo>
                    <a:pt x="680" y="1231"/>
                  </a:lnTo>
                  <a:lnTo>
                    <a:pt x="693" y="1253"/>
                  </a:lnTo>
                  <a:lnTo>
                    <a:pt x="697" y="1286"/>
                  </a:lnTo>
                  <a:lnTo>
                    <a:pt x="684" y="1358"/>
                  </a:lnTo>
                  <a:lnTo>
                    <a:pt x="701" y="1404"/>
                  </a:lnTo>
                  <a:lnTo>
                    <a:pt x="719" y="1420"/>
                  </a:lnTo>
                  <a:lnTo>
                    <a:pt x="759" y="1448"/>
                  </a:lnTo>
                  <a:lnTo>
                    <a:pt x="853" y="1459"/>
                  </a:lnTo>
                  <a:lnTo>
                    <a:pt x="893" y="1492"/>
                  </a:lnTo>
                  <a:lnTo>
                    <a:pt x="946" y="1506"/>
                  </a:lnTo>
                  <a:lnTo>
                    <a:pt x="968" y="1527"/>
                  </a:lnTo>
                  <a:lnTo>
                    <a:pt x="1029" y="1530"/>
                  </a:lnTo>
                  <a:lnTo>
                    <a:pt x="1049" y="1543"/>
                  </a:lnTo>
                  <a:lnTo>
                    <a:pt x="1071" y="1560"/>
                  </a:lnTo>
                  <a:lnTo>
                    <a:pt x="1097" y="1635"/>
                  </a:lnTo>
                  <a:lnTo>
                    <a:pt x="1095" y="1660"/>
                  </a:lnTo>
                  <a:lnTo>
                    <a:pt x="1084" y="1682"/>
                  </a:lnTo>
                  <a:lnTo>
                    <a:pt x="1109" y="1756"/>
                  </a:lnTo>
                  <a:lnTo>
                    <a:pt x="1229" y="1767"/>
                  </a:lnTo>
                  <a:lnTo>
                    <a:pt x="1249" y="1776"/>
                  </a:lnTo>
                  <a:lnTo>
                    <a:pt x="1245" y="1825"/>
                  </a:lnTo>
                  <a:lnTo>
                    <a:pt x="1282" y="1866"/>
                  </a:lnTo>
                  <a:lnTo>
                    <a:pt x="1304" y="1922"/>
                  </a:lnTo>
                  <a:lnTo>
                    <a:pt x="1298" y="1999"/>
                  </a:lnTo>
                  <a:lnTo>
                    <a:pt x="1282" y="2043"/>
                  </a:lnTo>
                  <a:lnTo>
                    <a:pt x="1285" y="2073"/>
                  </a:lnTo>
                  <a:lnTo>
                    <a:pt x="1271" y="2080"/>
                  </a:lnTo>
                  <a:lnTo>
                    <a:pt x="1282" y="2131"/>
                  </a:lnTo>
                  <a:lnTo>
                    <a:pt x="1278" y="2227"/>
                  </a:lnTo>
                  <a:lnTo>
                    <a:pt x="1309" y="2247"/>
                  </a:lnTo>
                  <a:lnTo>
                    <a:pt x="1342" y="2256"/>
                  </a:lnTo>
                  <a:lnTo>
                    <a:pt x="1388" y="2254"/>
                  </a:lnTo>
                  <a:lnTo>
                    <a:pt x="1425" y="2262"/>
                  </a:lnTo>
                  <a:lnTo>
                    <a:pt x="1448" y="2278"/>
                  </a:lnTo>
                  <a:lnTo>
                    <a:pt x="1465" y="2388"/>
                  </a:lnTo>
                  <a:lnTo>
                    <a:pt x="1544" y="2405"/>
                  </a:lnTo>
                  <a:lnTo>
                    <a:pt x="1547" y="2428"/>
                  </a:lnTo>
                  <a:lnTo>
                    <a:pt x="1529" y="2535"/>
                  </a:lnTo>
                  <a:lnTo>
                    <a:pt x="1555" y="2535"/>
                  </a:lnTo>
                  <a:lnTo>
                    <a:pt x="1573" y="2542"/>
                  </a:lnTo>
                  <a:lnTo>
                    <a:pt x="1588" y="2592"/>
                  </a:lnTo>
                  <a:lnTo>
                    <a:pt x="1584" y="2656"/>
                  </a:lnTo>
                  <a:lnTo>
                    <a:pt x="1535" y="2691"/>
                  </a:lnTo>
                  <a:lnTo>
                    <a:pt x="1507" y="2696"/>
                  </a:lnTo>
                  <a:lnTo>
                    <a:pt x="1423" y="2771"/>
                  </a:lnTo>
                  <a:lnTo>
                    <a:pt x="1375" y="2835"/>
                  </a:lnTo>
                  <a:lnTo>
                    <a:pt x="1291" y="2914"/>
                  </a:lnTo>
                  <a:lnTo>
                    <a:pt x="1313" y="2916"/>
                  </a:lnTo>
                  <a:lnTo>
                    <a:pt x="1335" y="2901"/>
                  </a:lnTo>
                  <a:lnTo>
                    <a:pt x="1357" y="2912"/>
                  </a:lnTo>
                  <a:lnTo>
                    <a:pt x="1414" y="2980"/>
                  </a:lnTo>
                  <a:lnTo>
                    <a:pt x="1436" y="2965"/>
                  </a:lnTo>
                  <a:lnTo>
                    <a:pt x="1461" y="3002"/>
                  </a:lnTo>
                  <a:lnTo>
                    <a:pt x="1502" y="3019"/>
                  </a:lnTo>
                  <a:lnTo>
                    <a:pt x="1513" y="3039"/>
                  </a:lnTo>
                  <a:lnTo>
                    <a:pt x="1555" y="3063"/>
                  </a:lnTo>
                  <a:lnTo>
                    <a:pt x="1562" y="3094"/>
                  </a:lnTo>
                  <a:lnTo>
                    <a:pt x="1597" y="3130"/>
                  </a:lnTo>
                  <a:lnTo>
                    <a:pt x="1571" y="3169"/>
                  </a:lnTo>
                  <a:lnTo>
                    <a:pt x="1571" y="3211"/>
                  </a:lnTo>
                  <a:lnTo>
                    <a:pt x="1573" y="3211"/>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3" name="Freeform 22">
              <a:extLst>
                <a:ext uri="{FF2B5EF4-FFF2-40B4-BE49-F238E27FC236}">
                  <a16:creationId xmlns:a16="http://schemas.microsoft.com/office/drawing/2014/main" id="{0B6B8F0F-5C61-2670-4AC7-1BCB27C59A10}"/>
                </a:ext>
              </a:extLst>
            </p:cNvPr>
            <p:cNvSpPr>
              <a:spLocks/>
            </p:cNvSpPr>
            <p:nvPr/>
          </p:nvSpPr>
          <p:spPr bwMode="auto">
            <a:xfrm>
              <a:off x="4498875" y="4594981"/>
              <a:ext cx="304576" cy="333502"/>
            </a:xfrm>
            <a:custGeom>
              <a:avLst/>
              <a:gdLst/>
              <a:ahLst/>
              <a:cxnLst>
                <a:cxn ang="0">
                  <a:pos x="0" y="321"/>
                </a:cxn>
                <a:cxn ang="0">
                  <a:pos x="3" y="288"/>
                </a:cxn>
                <a:cxn ang="0">
                  <a:pos x="14" y="231"/>
                </a:cxn>
                <a:cxn ang="0">
                  <a:pos x="36" y="30"/>
                </a:cxn>
                <a:cxn ang="0">
                  <a:pos x="53" y="13"/>
                </a:cxn>
                <a:cxn ang="0">
                  <a:pos x="75" y="15"/>
                </a:cxn>
                <a:cxn ang="0">
                  <a:pos x="97" y="0"/>
                </a:cxn>
                <a:cxn ang="0">
                  <a:pos x="119" y="11"/>
                </a:cxn>
                <a:cxn ang="0">
                  <a:pos x="176" y="79"/>
                </a:cxn>
                <a:cxn ang="0">
                  <a:pos x="198" y="64"/>
                </a:cxn>
                <a:cxn ang="0">
                  <a:pos x="223" y="101"/>
                </a:cxn>
                <a:cxn ang="0">
                  <a:pos x="264" y="118"/>
                </a:cxn>
                <a:cxn ang="0">
                  <a:pos x="275" y="138"/>
                </a:cxn>
                <a:cxn ang="0">
                  <a:pos x="317" y="162"/>
                </a:cxn>
                <a:cxn ang="0">
                  <a:pos x="324" y="193"/>
                </a:cxn>
                <a:cxn ang="0">
                  <a:pos x="359" y="229"/>
                </a:cxn>
                <a:cxn ang="0">
                  <a:pos x="333" y="268"/>
                </a:cxn>
                <a:cxn ang="0">
                  <a:pos x="333" y="310"/>
                </a:cxn>
                <a:cxn ang="0">
                  <a:pos x="335" y="310"/>
                </a:cxn>
                <a:cxn ang="0">
                  <a:pos x="322" y="343"/>
                </a:cxn>
                <a:cxn ang="0">
                  <a:pos x="258" y="389"/>
                </a:cxn>
                <a:cxn ang="0">
                  <a:pos x="139" y="393"/>
                </a:cxn>
                <a:cxn ang="0">
                  <a:pos x="100" y="378"/>
                </a:cxn>
                <a:cxn ang="0">
                  <a:pos x="78" y="356"/>
                </a:cxn>
                <a:cxn ang="0">
                  <a:pos x="33" y="354"/>
                </a:cxn>
                <a:cxn ang="0">
                  <a:pos x="0" y="321"/>
                </a:cxn>
                <a:cxn ang="0">
                  <a:pos x="0" y="321"/>
                </a:cxn>
              </a:cxnLst>
              <a:rect l="0" t="0" r="r" b="b"/>
              <a:pathLst>
                <a:path w="359" h="393">
                  <a:moveTo>
                    <a:pt x="0" y="321"/>
                  </a:moveTo>
                  <a:lnTo>
                    <a:pt x="3" y="288"/>
                  </a:lnTo>
                  <a:lnTo>
                    <a:pt x="14" y="231"/>
                  </a:lnTo>
                  <a:lnTo>
                    <a:pt x="36" y="30"/>
                  </a:lnTo>
                  <a:lnTo>
                    <a:pt x="53" y="13"/>
                  </a:lnTo>
                  <a:lnTo>
                    <a:pt x="75" y="15"/>
                  </a:lnTo>
                  <a:lnTo>
                    <a:pt x="97" y="0"/>
                  </a:lnTo>
                  <a:lnTo>
                    <a:pt x="119" y="11"/>
                  </a:lnTo>
                  <a:lnTo>
                    <a:pt x="176" y="79"/>
                  </a:lnTo>
                  <a:lnTo>
                    <a:pt x="198" y="64"/>
                  </a:lnTo>
                  <a:lnTo>
                    <a:pt x="223" y="101"/>
                  </a:lnTo>
                  <a:lnTo>
                    <a:pt x="264" y="118"/>
                  </a:lnTo>
                  <a:lnTo>
                    <a:pt x="275" y="138"/>
                  </a:lnTo>
                  <a:lnTo>
                    <a:pt x="317" y="162"/>
                  </a:lnTo>
                  <a:lnTo>
                    <a:pt x="324" y="193"/>
                  </a:lnTo>
                  <a:lnTo>
                    <a:pt x="359" y="229"/>
                  </a:lnTo>
                  <a:lnTo>
                    <a:pt x="333" y="268"/>
                  </a:lnTo>
                  <a:lnTo>
                    <a:pt x="333" y="310"/>
                  </a:lnTo>
                  <a:lnTo>
                    <a:pt x="335" y="310"/>
                  </a:lnTo>
                  <a:lnTo>
                    <a:pt x="322" y="343"/>
                  </a:lnTo>
                  <a:lnTo>
                    <a:pt x="258" y="389"/>
                  </a:lnTo>
                  <a:lnTo>
                    <a:pt x="139" y="393"/>
                  </a:lnTo>
                  <a:lnTo>
                    <a:pt x="100" y="378"/>
                  </a:lnTo>
                  <a:lnTo>
                    <a:pt x="78" y="356"/>
                  </a:lnTo>
                  <a:lnTo>
                    <a:pt x="33" y="354"/>
                  </a:lnTo>
                  <a:lnTo>
                    <a:pt x="0" y="321"/>
                  </a:lnTo>
                  <a:lnTo>
                    <a:pt x="0" y="321"/>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44" name="Freeform 24">
              <a:extLst>
                <a:ext uri="{FF2B5EF4-FFF2-40B4-BE49-F238E27FC236}">
                  <a16:creationId xmlns:a16="http://schemas.microsoft.com/office/drawing/2014/main" id="{EE9797F0-C1D6-45CB-8E2D-F39B915DDB96}"/>
                </a:ext>
              </a:extLst>
            </p:cNvPr>
            <p:cNvSpPr>
              <a:spLocks/>
            </p:cNvSpPr>
            <p:nvPr/>
          </p:nvSpPr>
          <p:spPr bwMode="auto">
            <a:xfrm>
              <a:off x="4224927" y="3834393"/>
              <a:ext cx="537687" cy="578524"/>
            </a:xfrm>
            <a:custGeom>
              <a:avLst/>
              <a:gdLst/>
              <a:ahLst/>
              <a:cxnLst>
                <a:cxn ang="0">
                  <a:pos x="612" y="526"/>
                </a:cxn>
                <a:cxn ang="0">
                  <a:pos x="630" y="419"/>
                </a:cxn>
                <a:cxn ang="0">
                  <a:pos x="627" y="396"/>
                </a:cxn>
                <a:cxn ang="0">
                  <a:pos x="548" y="379"/>
                </a:cxn>
                <a:cxn ang="0">
                  <a:pos x="531" y="269"/>
                </a:cxn>
                <a:cxn ang="0">
                  <a:pos x="508" y="253"/>
                </a:cxn>
                <a:cxn ang="0">
                  <a:pos x="471" y="245"/>
                </a:cxn>
                <a:cxn ang="0">
                  <a:pos x="425" y="247"/>
                </a:cxn>
                <a:cxn ang="0">
                  <a:pos x="392" y="238"/>
                </a:cxn>
                <a:cxn ang="0">
                  <a:pos x="361" y="218"/>
                </a:cxn>
                <a:cxn ang="0">
                  <a:pos x="365" y="122"/>
                </a:cxn>
                <a:cxn ang="0">
                  <a:pos x="354" y="71"/>
                </a:cxn>
                <a:cxn ang="0">
                  <a:pos x="323" y="27"/>
                </a:cxn>
                <a:cxn ang="0">
                  <a:pos x="301" y="7"/>
                </a:cxn>
                <a:cxn ang="0">
                  <a:pos x="277" y="0"/>
                </a:cxn>
                <a:cxn ang="0">
                  <a:pos x="205" y="0"/>
                </a:cxn>
                <a:cxn ang="0">
                  <a:pos x="66" y="40"/>
                </a:cxn>
                <a:cxn ang="0">
                  <a:pos x="31" y="106"/>
                </a:cxn>
                <a:cxn ang="0">
                  <a:pos x="22" y="135"/>
                </a:cxn>
                <a:cxn ang="0">
                  <a:pos x="20" y="190"/>
                </a:cxn>
                <a:cxn ang="0">
                  <a:pos x="0" y="253"/>
                </a:cxn>
                <a:cxn ang="0">
                  <a:pos x="0" y="253"/>
                </a:cxn>
                <a:cxn ang="0">
                  <a:pos x="29" y="267"/>
                </a:cxn>
                <a:cxn ang="0">
                  <a:pos x="44" y="295"/>
                </a:cxn>
                <a:cxn ang="0">
                  <a:pos x="126" y="361"/>
                </a:cxn>
                <a:cxn ang="0">
                  <a:pos x="141" y="386"/>
                </a:cxn>
                <a:cxn ang="0">
                  <a:pos x="238" y="410"/>
                </a:cxn>
                <a:cxn ang="0">
                  <a:pos x="357" y="485"/>
                </a:cxn>
                <a:cxn ang="0">
                  <a:pos x="372" y="506"/>
                </a:cxn>
                <a:cxn ang="0">
                  <a:pos x="370" y="537"/>
                </a:cxn>
                <a:cxn ang="0">
                  <a:pos x="341" y="579"/>
                </a:cxn>
                <a:cxn ang="0">
                  <a:pos x="319" y="645"/>
                </a:cxn>
                <a:cxn ang="0">
                  <a:pos x="403" y="660"/>
                </a:cxn>
                <a:cxn ang="0">
                  <a:pos x="425" y="674"/>
                </a:cxn>
                <a:cxn ang="0">
                  <a:pos x="458" y="680"/>
                </a:cxn>
                <a:cxn ang="0">
                  <a:pos x="511" y="669"/>
                </a:cxn>
                <a:cxn ang="0">
                  <a:pos x="588" y="612"/>
                </a:cxn>
                <a:cxn ang="0">
                  <a:pos x="603" y="583"/>
                </a:cxn>
                <a:cxn ang="0">
                  <a:pos x="612" y="526"/>
                </a:cxn>
              </a:cxnLst>
              <a:rect l="0" t="0" r="r" b="b"/>
              <a:pathLst>
                <a:path w="630" h="680">
                  <a:moveTo>
                    <a:pt x="612" y="526"/>
                  </a:moveTo>
                  <a:lnTo>
                    <a:pt x="630" y="419"/>
                  </a:lnTo>
                  <a:lnTo>
                    <a:pt x="627" y="396"/>
                  </a:lnTo>
                  <a:lnTo>
                    <a:pt x="548" y="379"/>
                  </a:lnTo>
                  <a:lnTo>
                    <a:pt x="531" y="269"/>
                  </a:lnTo>
                  <a:lnTo>
                    <a:pt x="508" y="253"/>
                  </a:lnTo>
                  <a:lnTo>
                    <a:pt x="471" y="245"/>
                  </a:lnTo>
                  <a:lnTo>
                    <a:pt x="425" y="247"/>
                  </a:lnTo>
                  <a:lnTo>
                    <a:pt x="392" y="238"/>
                  </a:lnTo>
                  <a:lnTo>
                    <a:pt x="361" y="218"/>
                  </a:lnTo>
                  <a:lnTo>
                    <a:pt x="365" y="122"/>
                  </a:lnTo>
                  <a:lnTo>
                    <a:pt x="354" y="71"/>
                  </a:lnTo>
                  <a:lnTo>
                    <a:pt x="323" y="27"/>
                  </a:lnTo>
                  <a:lnTo>
                    <a:pt x="301" y="7"/>
                  </a:lnTo>
                  <a:lnTo>
                    <a:pt x="277" y="0"/>
                  </a:lnTo>
                  <a:lnTo>
                    <a:pt x="205" y="0"/>
                  </a:lnTo>
                  <a:lnTo>
                    <a:pt x="66" y="40"/>
                  </a:lnTo>
                  <a:lnTo>
                    <a:pt x="31" y="106"/>
                  </a:lnTo>
                  <a:lnTo>
                    <a:pt x="22" y="135"/>
                  </a:lnTo>
                  <a:lnTo>
                    <a:pt x="20" y="190"/>
                  </a:lnTo>
                  <a:lnTo>
                    <a:pt x="0" y="253"/>
                  </a:lnTo>
                  <a:lnTo>
                    <a:pt x="0" y="253"/>
                  </a:lnTo>
                  <a:lnTo>
                    <a:pt x="29" y="267"/>
                  </a:lnTo>
                  <a:lnTo>
                    <a:pt x="44" y="295"/>
                  </a:lnTo>
                  <a:lnTo>
                    <a:pt x="126" y="361"/>
                  </a:lnTo>
                  <a:lnTo>
                    <a:pt x="141" y="386"/>
                  </a:lnTo>
                  <a:lnTo>
                    <a:pt x="238" y="410"/>
                  </a:lnTo>
                  <a:lnTo>
                    <a:pt x="357" y="485"/>
                  </a:lnTo>
                  <a:lnTo>
                    <a:pt x="372" y="506"/>
                  </a:lnTo>
                  <a:lnTo>
                    <a:pt x="370" y="537"/>
                  </a:lnTo>
                  <a:lnTo>
                    <a:pt x="341" y="579"/>
                  </a:lnTo>
                  <a:lnTo>
                    <a:pt x="319" y="645"/>
                  </a:lnTo>
                  <a:lnTo>
                    <a:pt x="403" y="660"/>
                  </a:lnTo>
                  <a:lnTo>
                    <a:pt x="425" y="674"/>
                  </a:lnTo>
                  <a:lnTo>
                    <a:pt x="458" y="680"/>
                  </a:lnTo>
                  <a:lnTo>
                    <a:pt x="511" y="669"/>
                  </a:lnTo>
                  <a:lnTo>
                    <a:pt x="588" y="612"/>
                  </a:lnTo>
                  <a:lnTo>
                    <a:pt x="603" y="583"/>
                  </a:lnTo>
                  <a:lnTo>
                    <a:pt x="612" y="526"/>
                  </a:lnTo>
                  <a:close/>
                </a:path>
              </a:pathLst>
            </a:custGeom>
            <a:solidFill>
              <a:srgbClr val="778888">
                <a:lumMod val="20000"/>
                <a:lumOff val="8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45" name="Freeform 25">
              <a:extLst>
                <a:ext uri="{FF2B5EF4-FFF2-40B4-BE49-F238E27FC236}">
                  <a16:creationId xmlns:a16="http://schemas.microsoft.com/office/drawing/2014/main" id="{647EB7B0-EF73-F883-07C1-7888A7804EC4}"/>
                </a:ext>
              </a:extLst>
            </p:cNvPr>
            <p:cNvSpPr>
              <a:spLocks/>
            </p:cNvSpPr>
            <p:nvPr/>
          </p:nvSpPr>
          <p:spPr bwMode="auto">
            <a:xfrm>
              <a:off x="4224927" y="3834393"/>
              <a:ext cx="537687" cy="578524"/>
            </a:xfrm>
            <a:custGeom>
              <a:avLst/>
              <a:gdLst/>
              <a:ahLst/>
              <a:cxnLst>
                <a:cxn ang="0">
                  <a:pos x="612" y="526"/>
                </a:cxn>
                <a:cxn ang="0">
                  <a:pos x="630" y="419"/>
                </a:cxn>
                <a:cxn ang="0">
                  <a:pos x="627" y="396"/>
                </a:cxn>
                <a:cxn ang="0">
                  <a:pos x="548" y="379"/>
                </a:cxn>
                <a:cxn ang="0">
                  <a:pos x="531" y="269"/>
                </a:cxn>
                <a:cxn ang="0">
                  <a:pos x="508" y="253"/>
                </a:cxn>
                <a:cxn ang="0">
                  <a:pos x="471" y="245"/>
                </a:cxn>
                <a:cxn ang="0">
                  <a:pos x="425" y="247"/>
                </a:cxn>
                <a:cxn ang="0">
                  <a:pos x="392" y="238"/>
                </a:cxn>
                <a:cxn ang="0">
                  <a:pos x="361" y="218"/>
                </a:cxn>
                <a:cxn ang="0">
                  <a:pos x="365" y="122"/>
                </a:cxn>
                <a:cxn ang="0">
                  <a:pos x="354" y="71"/>
                </a:cxn>
                <a:cxn ang="0">
                  <a:pos x="323" y="27"/>
                </a:cxn>
                <a:cxn ang="0">
                  <a:pos x="301" y="7"/>
                </a:cxn>
                <a:cxn ang="0">
                  <a:pos x="277" y="0"/>
                </a:cxn>
                <a:cxn ang="0">
                  <a:pos x="205" y="0"/>
                </a:cxn>
                <a:cxn ang="0">
                  <a:pos x="66" y="40"/>
                </a:cxn>
                <a:cxn ang="0">
                  <a:pos x="31" y="106"/>
                </a:cxn>
                <a:cxn ang="0">
                  <a:pos x="22" y="135"/>
                </a:cxn>
                <a:cxn ang="0">
                  <a:pos x="20" y="190"/>
                </a:cxn>
                <a:cxn ang="0">
                  <a:pos x="0" y="253"/>
                </a:cxn>
                <a:cxn ang="0">
                  <a:pos x="0" y="253"/>
                </a:cxn>
                <a:cxn ang="0">
                  <a:pos x="29" y="267"/>
                </a:cxn>
                <a:cxn ang="0">
                  <a:pos x="44" y="295"/>
                </a:cxn>
                <a:cxn ang="0">
                  <a:pos x="126" y="361"/>
                </a:cxn>
                <a:cxn ang="0">
                  <a:pos x="141" y="386"/>
                </a:cxn>
                <a:cxn ang="0">
                  <a:pos x="238" y="410"/>
                </a:cxn>
                <a:cxn ang="0">
                  <a:pos x="357" y="485"/>
                </a:cxn>
                <a:cxn ang="0">
                  <a:pos x="372" y="506"/>
                </a:cxn>
                <a:cxn ang="0">
                  <a:pos x="370" y="537"/>
                </a:cxn>
                <a:cxn ang="0">
                  <a:pos x="341" y="579"/>
                </a:cxn>
                <a:cxn ang="0">
                  <a:pos x="319" y="645"/>
                </a:cxn>
                <a:cxn ang="0">
                  <a:pos x="403" y="660"/>
                </a:cxn>
                <a:cxn ang="0">
                  <a:pos x="425" y="674"/>
                </a:cxn>
                <a:cxn ang="0">
                  <a:pos x="458" y="680"/>
                </a:cxn>
                <a:cxn ang="0">
                  <a:pos x="511" y="669"/>
                </a:cxn>
                <a:cxn ang="0">
                  <a:pos x="588" y="612"/>
                </a:cxn>
                <a:cxn ang="0">
                  <a:pos x="603" y="583"/>
                </a:cxn>
                <a:cxn ang="0">
                  <a:pos x="612" y="526"/>
                </a:cxn>
              </a:cxnLst>
              <a:rect l="0" t="0" r="r" b="b"/>
              <a:pathLst>
                <a:path w="630" h="680">
                  <a:moveTo>
                    <a:pt x="612" y="526"/>
                  </a:moveTo>
                  <a:lnTo>
                    <a:pt x="630" y="419"/>
                  </a:lnTo>
                  <a:lnTo>
                    <a:pt x="627" y="396"/>
                  </a:lnTo>
                  <a:lnTo>
                    <a:pt x="548" y="379"/>
                  </a:lnTo>
                  <a:lnTo>
                    <a:pt x="531" y="269"/>
                  </a:lnTo>
                  <a:lnTo>
                    <a:pt x="508" y="253"/>
                  </a:lnTo>
                  <a:lnTo>
                    <a:pt x="471" y="245"/>
                  </a:lnTo>
                  <a:lnTo>
                    <a:pt x="425" y="247"/>
                  </a:lnTo>
                  <a:lnTo>
                    <a:pt x="392" y="238"/>
                  </a:lnTo>
                  <a:lnTo>
                    <a:pt x="361" y="218"/>
                  </a:lnTo>
                  <a:lnTo>
                    <a:pt x="365" y="122"/>
                  </a:lnTo>
                  <a:lnTo>
                    <a:pt x="354" y="71"/>
                  </a:lnTo>
                  <a:lnTo>
                    <a:pt x="323" y="27"/>
                  </a:lnTo>
                  <a:lnTo>
                    <a:pt x="301" y="7"/>
                  </a:lnTo>
                  <a:lnTo>
                    <a:pt x="277" y="0"/>
                  </a:lnTo>
                  <a:lnTo>
                    <a:pt x="205" y="0"/>
                  </a:lnTo>
                  <a:lnTo>
                    <a:pt x="66" y="40"/>
                  </a:lnTo>
                  <a:lnTo>
                    <a:pt x="31" y="106"/>
                  </a:lnTo>
                  <a:lnTo>
                    <a:pt x="22" y="135"/>
                  </a:lnTo>
                  <a:lnTo>
                    <a:pt x="20" y="190"/>
                  </a:lnTo>
                  <a:lnTo>
                    <a:pt x="0" y="253"/>
                  </a:lnTo>
                  <a:lnTo>
                    <a:pt x="0" y="253"/>
                  </a:lnTo>
                  <a:lnTo>
                    <a:pt x="29" y="267"/>
                  </a:lnTo>
                  <a:lnTo>
                    <a:pt x="44" y="295"/>
                  </a:lnTo>
                  <a:lnTo>
                    <a:pt x="126" y="361"/>
                  </a:lnTo>
                  <a:lnTo>
                    <a:pt x="141" y="386"/>
                  </a:lnTo>
                  <a:lnTo>
                    <a:pt x="238" y="410"/>
                  </a:lnTo>
                  <a:lnTo>
                    <a:pt x="357" y="485"/>
                  </a:lnTo>
                  <a:lnTo>
                    <a:pt x="372" y="506"/>
                  </a:lnTo>
                  <a:lnTo>
                    <a:pt x="370" y="537"/>
                  </a:lnTo>
                  <a:lnTo>
                    <a:pt x="341" y="579"/>
                  </a:lnTo>
                  <a:lnTo>
                    <a:pt x="319" y="645"/>
                  </a:lnTo>
                  <a:lnTo>
                    <a:pt x="403" y="660"/>
                  </a:lnTo>
                  <a:lnTo>
                    <a:pt x="425" y="674"/>
                  </a:lnTo>
                  <a:lnTo>
                    <a:pt x="458" y="680"/>
                  </a:lnTo>
                  <a:lnTo>
                    <a:pt x="511" y="669"/>
                  </a:lnTo>
                  <a:lnTo>
                    <a:pt x="588" y="612"/>
                  </a:lnTo>
                  <a:lnTo>
                    <a:pt x="603" y="583"/>
                  </a:lnTo>
                  <a:lnTo>
                    <a:pt x="612" y="526"/>
                  </a:lnTo>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46" name="Freeform 26">
              <a:extLst>
                <a:ext uri="{FF2B5EF4-FFF2-40B4-BE49-F238E27FC236}">
                  <a16:creationId xmlns:a16="http://schemas.microsoft.com/office/drawing/2014/main" id="{6EA19D05-DF77-3855-5DD7-3EEBDAF8AFA5}"/>
                </a:ext>
              </a:extLst>
            </p:cNvPr>
            <p:cNvSpPr>
              <a:spLocks/>
            </p:cNvSpPr>
            <p:nvPr/>
          </p:nvSpPr>
          <p:spPr bwMode="auto">
            <a:xfrm>
              <a:off x="3736585" y="3170792"/>
              <a:ext cx="818442" cy="932445"/>
            </a:xfrm>
            <a:custGeom>
              <a:avLst/>
              <a:gdLst/>
              <a:ahLst/>
              <a:cxnLst>
                <a:cxn ang="0">
                  <a:pos x="52" y="124"/>
                </a:cxn>
                <a:cxn ang="0">
                  <a:pos x="169" y="88"/>
                </a:cxn>
                <a:cxn ang="0">
                  <a:pos x="314" y="0"/>
                </a:cxn>
                <a:cxn ang="0">
                  <a:pos x="352" y="25"/>
                </a:cxn>
                <a:cxn ang="0">
                  <a:pos x="343" y="130"/>
                </a:cxn>
                <a:cxn ang="0">
                  <a:pos x="378" y="192"/>
                </a:cxn>
                <a:cxn ang="0">
                  <a:pos x="512" y="231"/>
                </a:cxn>
                <a:cxn ang="0">
                  <a:pos x="605" y="278"/>
                </a:cxn>
                <a:cxn ang="0">
                  <a:pos x="688" y="302"/>
                </a:cxn>
                <a:cxn ang="0">
                  <a:pos x="730" y="332"/>
                </a:cxn>
                <a:cxn ang="0">
                  <a:pos x="754" y="432"/>
                </a:cxn>
                <a:cxn ang="0">
                  <a:pos x="768" y="528"/>
                </a:cxn>
                <a:cxn ang="0">
                  <a:pos x="908" y="548"/>
                </a:cxn>
                <a:cxn ang="0">
                  <a:pos x="941" y="638"/>
                </a:cxn>
                <a:cxn ang="0">
                  <a:pos x="957" y="771"/>
                </a:cxn>
                <a:cxn ang="0">
                  <a:pos x="944" y="845"/>
                </a:cxn>
                <a:cxn ang="0">
                  <a:pos x="899" y="808"/>
                </a:cxn>
                <a:cxn ang="0">
                  <a:pos x="853" y="781"/>
                </a:cxn>
                <a:cxn ang="0">
                  <a:pos x="642" y="821"/>
                </a:cxn>
                <a:cxn ang="0">
                  <a:pos x="598" y="916"/>
                </a:cxn>
                <a:cxn ang="0">
                  <a:pos x="576" y="1034"/>
                </a:cxn>
                <a:cxn ang="0">
                  <a:pos x="534" y="1013"/>
                </a:cxn>
                <a:cxn ang="0">
                  <a:pos x="464" y="1028"/>
                </a:cxn>
                <a:cxn ang="0">
                  <a:pos x="433" y="1046"/>
                </a:cxn>
                <a:cxn ang="0">
                  <a:pos x="350" y="1023"/>
                </a:cxn>
                <a:cxn ang="0">
                  <a:pos x="235" y="1090"/>
                </a:cxn>
                <a:cxn ang="0">
                  <a:pos x="178" y="1090"/>
                </a:cxn>
                <a:cxn ang="0">
                  <a:pos x="119" y="918"/>
                </a:cxn>
                <a:cxn ang="0">
                  <a:pos x="101" y="870"/>
                </a:cxn>
                <a:cxn ang="0">
                  <a:pos x="110" y="797"/>
                </a:cxn>
                <a:cxn ang="0">
                  <a:pos x="64" y="702"/>
                </a:cxn>
                <a:cxn ang="0">
                  <a:pos x="22" y="643"/>
                </a:cxn>
                <a:cxn ang="0">
                  <a:pos x="61" y="551"/>
                </a:cxn>
                <a:cxn ang="0">
                  <a:pos x="37" y="511"/>
                </a:cxn>
                <a:cxn ang="0">
                  <a:pos x="44" y="443"/>
                </a:cxn>
                <a:cxn ang="0">
                  <a:pos x="61" y="399"/>
                </a:cxn>
                <a:cxn ang="0">
                  <a:pos x="61" y="258"/>
                </a:cxn>
                <a:cxn ang="0">
                  <a:pos x="0" y="119"/>
                </a:cxn>
              </a:cxnLst>
              <a:rect l="0" t="0" r="r" b="b"/>
              <a:pathLst>
                <a:path w="963" h="1096">
                  <a:moveTo>
                    <a:pt x="0" y="119"/>
                  </a:moveTo>
                  <a:lnTo>
                    <a:pt x="52" y="124"/>
                  </a:lnTo>
                  <a:lnTo>
                    <a:pt x="112" y="117"/>
                  </a:lnTo>
                  <a:lnTo>
                    <a:pt x="169" y="88"/>
                  </a:lnTo>
                  <a:lnTo>
                    <a:pt x="239" y="14"/>
                  </a:lnTo>
                  <a:lnTo>
                    <a:pt x="314" y="0"/>
                  </a:lnTo>
                  <a:lnTo>
                    <a:pt x="339" y="3"/>
                  </a:lnTo>
                  <a:lnTo>
                    <a:pt x="352" y="25"/>
                  </a:lnTo>
                  <a:lnTo>
                    <a:pt x="356" y="58"/>
                  </a:lnTo>
                  <a:lnTo>
                    <a:pt x="343" y="130"/>
                  </a:lnTo>
                  <a:lnTo>
                    <a:pt x="360" y="176"/>
                  </a:lnTo>
                  <a:lnTo>
                    <a:pt x="378" y="192"/>
                  </a:lnTo>
                  <a:lnTo>
                    <a:pt x="418" y="220"/>
                  </a:lnTo>
                  <a:lnTo>
                    <a:pt x="512" y="231"/>
                  </a:lnTo>
                  <a:lnTo>
                    <a:pt x="552" y="264"/>
                  </a:lnTo>
                  <a:lnTo>
                    <a:pt x="605" y="278"/>
                  </a:lnTo>
                  <a:lnTo>
                    <a:pt x="627" y="299"/>
                  </a:lnTo>
                  <a:lnTo>
                    <a:pt x="688" y="302"/>
                  </a:lnTo>
                  <a:lnTo>
                    <a:pt x="708" y="315"/>
                  </a:lnTo>
                  <a:lnTo>
                    <a:pt x="730" y="332"/>
                  </a:lnTo>
                  <a:lnTo>
                    <a:pt x="756" y="407"/>
                  </a:lnTo>
                  <a:lnTo>
                    <a:pt x="754" y="432"/>
                  </a:lnTo>
                  <a:lnTo>
                    <a:pt x="743" y="454"/>
                  </a:lnTo>
                  <a:lnTo>
                    <a:pt x="768" y="528"/>
                  </a:lnTo>
                  <a:lnTo>
                    <a:pt x="888" y="539"/>
                  </a:lnTo>
                  <a:lnTo>
                    <a:pt x="908" y="548"/>
                  </a:lnTo>
                  <a:lnTo>
                    <a:pt x="904" y="597"/>
                  </a:lnTo>
                  <a:lnTo>
                    <a:pt x="941" y="638"/>
                  </a:lnTo>
                  <a:lnTo>
                    <a:pt x="963" y="694"/>
                  </a:lnTo>
                  <a:lnTo>
                    <a:pt x="957" y="771"/>
                  </a:lnTo>
                  <a:lnTo>
                    <a:pt x="941" y="815"/>
                  </a:lnTo>
                  <a:lnTo>
                    <a:pt x="944" y="845"/>
                  </a:lnTo>
                  <a:lnTo>
                    <a:pt x="930" y="852"/>
                  </a:lnTo>
                  <a:lnTo>
                    <a:pt x="899" y="808"/>
                  </a:lnTo>
                  <a:lnTo>
                    <a:pt x="877" y="788"/>
                  </a:lnTo>
                  <a:lnTo>
                    <a:pt x="853" y="781"/>
                  </a:lnTo>
                  <a:lnTo>
                    <a:pt x="781" y="781"/>
                  </a:lnTo>
                  <a:lnTo>
                    <a:pt x="642" y="821"/>
                  </a:lnTo>
                  <a:lnTo>
                    <a:pt x="607" y="887"/>
                  </a:lnTo>
                  <a:lnTo>
                    <a:pt x="598" y="916"/>
                  </a:lnTo>
                  <a:lnTo>
                    <a:pt x="596" y="971"/>
                  </a:lnTo>
                  <a:lnTo>
                    <a:pt x="576" y="1034"/>
                  </a:lnTo>
                  <a:lnTo>
                    <a:pt x="576" y="1034"/>
                  </a:lnTo>
                  <a:lnTo>
                    <a:pt x="534" y="1013"/>
                  </a:lnTo>
                  <a:lnTo>
                    <a:pt x="482" y="1012"/>
                  </a:lnTo>
                  <a:lnTo>
                    <a:pt x="464" y="1028"/>
                  </a:lnTo>
                  <a:lnTo>
                    <a:pt x="459" y="1050"/>
                  </a:lnTo>
                  <a:lnTo>
                    <a:pt x="433" y="1046"/>
                  </a:lnTo>
                  <a:lnTo>
                    <a:pt x="415" y="1030"/>
                  </a:lnTo>
                  <a:lnTo>
                    <a:pt x="350" y="1023"/>
                  </a:lnTo>
                  <a:lnTo>
                    <a:pt x="310" y="999"/>
                  </a:lnTo>
                  <a:lnTo>
                    <a:pt x="235" y="1090"/>
                  </a:lnTo>
                  <a:lnTo>
                    <a:pt x="202" y="1096"/>
                  </a:lnTo>
                  <a:lnTo>
                    <a:pt x="178" y="1090"/>
                  </a:lnTo>
                  <a:lnTo>
                    <a:pt x="138" y="931"/>
                  </a:lnTo>
                  <a:lnTo>
                    <a:pt x="119" y="918"/>
                  </a:lnTo>
                  <a:lnTo>
                    <a:pt x="116" y="892"/>
                  </a:lnTo>
                  <a:lnTo>
                    <a:pt x="101" y="870"/>
                  </a:lnTo>
                  <a:lnTo>
                    <a:pt x="116" y="847"/>
                  </a:lnTo>
                  <a:lnTo>
                    <a:pt x="110" y="797"/>
                  </a:lnTo>
                  <a:lnTo>
                    <a:pt x="74" y="760"/>
                  </a:lnTo>
                  <a:lnTo>
                    <a:pt x="64" y="702"/>
                  </a:lnTo>
                  <a:lnTo>
                    <a:pt x="28" y="663"/>
                  </a:lnTo>
                  <a:lnTo>
                    <a:pt x="22" y="643"/>
                  </a:lnTo>
                  <a:lnTo>
                    <a:pt x="68" y="575"/>
                  </a:lnTo>
                  <a:lnTo>
                    <a:pt x="61" y="551"/>
                  </a:lnTo>
                  <a:lnTo>
                    <a:pt x="41" y="537"/>
                  </a:lnTo>
                  <a:lnTo>
                    <a:pt x="37" y="511"/>
                  </a:lnTo>
                  <a:lnTo>
                    <a:pt x="53" y="467"/>
                  </a:lnTo>
                  <a:lnTo>
                    <a:pt x="44" y="443"/>
                  </a:lnTo>
                  <a:lnTo>
                    <a:pt x="46" y="418"/>
                  </a:lnTo>
                  <a:lnTo>
                    <a:pt x="61" y="399"/>
                  </a:lnTo>
                  <a:lnTo>
                    <a:pt x="55" y="297"/>
                  </a:lnTo>
                  <a:lnTo>
                    <a:pt x="61" y="258"/>
                  </a:lnTo>
                  <a:lnTo>
                    <a:pt x="74" y="236"/>
                  </a:lnTo>
                  <a:lnTo>
                    <a:pt x="0" y="119"/>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47" name="Freeform 28">
              <a:extLst>
                <a:ext uri="{FF2B5EF4-FFF2-40B4-BE49-F238E27FC236}">
                  <a16:creationId xmlns:a16="http://schemas.microsoft.com/office/drawing/2014/main" id="{73D0963C-E8A7-0AAD-92E2-2B434D014E63}"/>
                </a:ext>
              </a:extLst>
            </p:cNvPr>
            <p:cNvSpPr>
              <a:spLocks/>
            </p:cNvSpPr>
            <p:nvPr/>
          </p:nvSpPr>
          <p:spPr bwMode="auto">
            <a:xfrm>
              <a:off x="2909636" y="2553132"/>
              <a:ext cx="888204" cy="1233618"/>
            </a:xfrm>
            <a:custGeom>
              <a:avLst/>
              <a:gdLst/>
              <a:ahLst/>
              <a:cxnLst>
                <a:cxn ang="0">
                  <a:pos x="469" y="16"/>
                </a:cxn>
                <a:cxn ang="0">
                  <a:pos x="456" y="137"/>
                </a:cxn>
                <a:cxn ang="0">
                  <a:pos x="278" y="269"/>
                </a:cxn>
                <a:cxn ang="0">
                  <a:pos x="214" y="396"/>
                </a:cxn>
                <a:cxn ang="0">
                  <a:pos x="150" y="431"/>
                </a:cxn>
                <a:cxn ang="0">
                  <a:pos x="113" y="412"/>
                </a:cxn>
                <a:cxn ang="0">
                  <a:pos x="60" y="379"/>
                </a:cxn>
                <a:cxn ang="0">
                  <a:pos x="77" y="326"/>
                </a:cxn>
                <a:cxn ang="0">
                  <a:pos x="0" y="399"/>
                </a:cxn>
                <a:cxn ang="0">
                  <a:pos x="14" y="471"/>
                </a:cxn>
                <a:cxn ang="0">
                  <a:pos x="18" y="539"/>
                </a:cxn>
                <a:cxn ang="0">
                  <a:pos x="117" y="594"/>
                </a:cxn>
                <a:cxn ang="0">
                  <a:pos x="163" y="671"/>
                </a:cxn>
                <a:cxn ang="0">
                  <a:pos x="234" y="729"/>
                </a:cxn>
                <a:cxn ang="0">
                  <a:pos x="324" y="896"/>
                </a:cxn>
                <a:cxn ang="0">
                  <a:pos x="387" y="1001"/>
                </a:cxn>
                <a:cxn ang="0">
                  <a:pos x="462" y="1116"/>
                </a:cxn>
                <a:cxn ang="0">
                  <a:pos x="493" y="1195"/>
                </a:cxn>
                <a:cxn ang="0">
                  <a:pos x="605" y="1274"/>
                </a:cxn>
                <a:cxn ang="0">
                  <a:pos x="687" y="1307"/>
                </a:cxn>
                <a:cxn ang="0">
                  <a:pos x="850" y="1375"/>
                </a:cxn>
                <a:cxn ang="0">
                  <a:pos x="926" y="1450"/>
                </a:cxn>
                <a:cxn ang="0">
                  <a:pos x="942" y="1435"/>
                </a:cxn>
                <a:cxn ang="0">
                  <a:pos x="999" y="1389"/>
                </a:cxn>
                <a:cxn ang="0">
                  <a:pos x="1039" y="1301"/>
                </a:cxn>
                <a:cxn ang="0">
                  <a:pos x="1012" y="1263"/>
                </a:cxn>
                <a:cxn ang="0">
                  <a:pos x="1024" y="1193"/>
                </a:cxn>
                <a:cxn ang="0">
                  <a:pos x="1017" y="1144"/>
                </a:cxn>
                <a:cxn ang="0">
                  <a:pos x="1026" y="1023"/>
                </a:cxn>
                <a:cxn ang="0">
                  <a:pos x="1045" y="962"/>
                </a:cxn>
                <a:cxn ang="0">
                  <a:pos x="931" y="858"/>
                </a:cxn>
                <a:cxn ang="0">
                  <a:pos x="900" y="748"/>
                </a:cxn>
                <a:cxn ang="0">
                  <a:pos x="823" y="777"/>
                </a:cxn>
                <a:cxn ang="0">
                  <a:pos x="762" y="768"/>
                </a:cxn>
                <a:cxn ang="0">
                  <a:pos x="696" y="735"/>
                </a:cxn>
                <a:cxn ang="0">
                  <a:pos x="658" y="665"/>
                </a:cxn>
                <a:cxn ang="0">
                  <a:pos x="630" y="581"/>
                </a:cxn>
                <a:cxn ang="0">
                  <a:pos x="684" y="511"/>
                </a:cxn>
                <a:cxn ang="0">
                  <a:pos x="744" y="374"/>
                </a:cxn>
                <a:cxn ang="0">
                  <a:pos x="933" y="295"/>
                </a:cxn>
                <a:cxn ang="0">
                  <a:pos x="883" y="247"/>
                </a:cxn>
                <a:cxn ang="0">
                  <a:pos x="909" y="172"/>
                </a:cxn>
                <a:cxn ang="0">
                  <a:pos x="806" y="159"/>
                </a:cxn>
                <a:cxn ang="0">
                  <a:pos x="755" y="170"/>
                </a:cxn>
                <a:cxn ang="0">
                  <a:pos x="678" y="174"/>
                </a:cxn>
                <a:cxn ang="0">
                  <a:pos x="630" y="112"/>
                </a:cxn>
                <a:cxn ang="0">
                  <a:pos x="581" y="62"/>
                </a:cxn>
                <a:cxn ang="0">
                  <a:pos x="489" y="0"/>
                </a:cxn>
              </a:cxnLst>
              <a:rect l="0" t="0" r="r" b="b"/>
              <a:pathLst>
                <a:path w="1045" h="1450">
                  <a:moveTo>
                    <a:pt x="489" y="0"/>
                  </a:moveTo>
                  <a:lnTo>
                    <a:pt x="469" y="16"/>
                  </a:lnTo>
                  <a:lnTo>
                    <a:pt x="497" y="64"/>
                  </a:lnTo>
                  <a:lnTo>
                    <a:pt x="456" y="137"/>
                  </a:lnTo>
                  <a:lnTo>
                    <a:pt x="396" y="207"/>
                  </a:lnTo>
                  <a:lnTo>
                    <a:pt x="278" y="269"/>
                  </a:lnTo>
                  <a:lnTo>
                    <a:pt x="220" y="341"/>
                  </a:lnTo>
                  <a:lnTo>
                    <a:pt x="214" y="396"/>
                  </a:lnTo>
                  <a:lnTo>
                    <a:pt x="174" y="438"/>
                  </a:lnTo>
                  <a:lnTo>
                    <a:pt x="150" y="431"/>
                  </a:lnTo>
                  <a:lnTo>
                    <a:pt x="137" y="409"/>
                  </a:lnTo>
                  <a:lnTo>
                    <a:pt x="113" y="412"/>
                  </a:lnTo>
                  <a:lnTo>
                    <a:pt x="66" y="403"/>
                  </a:lnTo>
                  <a:lnTo>
                    <a:pt x="60" y="379"/>
                  </a:lnTo>
                  <a:lnTo>
                    <a:pt x="84" y="363"/>
                  </a:lnTo>
                  <a:lnTo>
                    <a:pt x="77" y="326"/>
                  </a:lnTo>
                  <a:lnTo>
                    <a:pt x="75" y="326"/>
                  </a:lnTo>
                  <a:lnTo>
                    <a:pt x="0" y="399"/>
                  </a:lnTo>
                  <a:lnTo>
                    <a:pt x="0" y="434"/>
                  </a:lnTo>
                  <a:lnTo>
                    <a:pt x="14" y="471"/>
                  </a:lnTo>
                  <a:lnTo>
                    <a:pt x="46" y="509"/>
                  </a:lnTo>
                  <a:lnTo>
                    <a:pt x="18" y="539"/>
                  </a:lnTo>
                  <a:lnTo>
                    <a:pt x="90" y="572"/>
                  </a:lnTo>
                  <a:lnTo>
                    <a:pt x="117" y="594"/>
                  </a:lnTo>
                  <a:lnTo>
                    <a:pt x="146" y="625"/>
                  </a:lnTo>
                  <a:lnTo>
                    <a:pt x="163" y="671"/>
                  </a:lnTo>
                  <a:lnTo>
                    <a:pt x="205" y="693"/>
                  </a:lnTo>
                  <a:lnTo>
                    <a:pt x="234" y="729"/>
                  </a:lnTo>
                  <a:lnTo>
                    <a:pt x="282" y="849"/>
                  </a:lnTo>
                  <a:lnTo>
                    <a:pt x="324" y="896"/>
                  </a:lnTo>
                  <a:lnTo>
                    <a:pt x="341" y="937"/>
                  </a:lnTo>
                  <a:lnTo>
                    <a:pt x="387" y="1001"/>
                  </a:lnTo>
                  <a:lnTo>
                    <a:pt x="414" y="1025"/>
                  </a:lnTo>
                  <a:lnTo>
                    <a:pt x="462" y="1116"/>
                  </a:lnTo>
                  <a:lnTo>
                    <a:pt x="458" y="1158"/>
                  </a:lnTo>
                  <a:lnTo>
                    <a:pt x="493" y="1195"/>
                  </a:lnTo>
                  <a:lnTo>
                    <a:pt x="550" y="1244"/>
                  </a:lnTo>
                  <a:lnTo>
                    <a:pt x="605" y="1274"/>
                  </a:lnTo>
                  <a:lnTo>
                    <a:pt x="647" y="1276"/>
                  </a:lnTo>
                  <a:lnTo>
                    <a:pt x="687" y="1307"/>
                  </a:lnTo>
                  <a:lnTo>
                    <a:pt x="770" y="1334"/>
                  </a:lnTo>
                  <a:lnTo>
                    <a:pt x="850" y="1375"/>
                  </a:lnTo>
                  <a:lnTo>
                    <a:pt x="878" y="1408"/>
                  </a:lnTo>
                  <a:lnTo>
                    <a:pt x="926" y="1450"/>
                  </a:lnTo>
                  <a:lnTo>
                    <a:pt x="926" y="1448"/>
                  </a:lnTo>
                  <a:lnTo>
                    <a:pt x="942" y="1435"/>
                  </a:lnTo>
                  <a:lnTo>
                    <a:pt x="966" y="1433"/>
                  </a:lnTo>
                  <a:lnTo>
                    <a:pt x="999" y="1389"/>
                  </a:lnTo>
                  <a:lnTo>
                    <a:pt x="993" y="1369"/>
                  </a:lnTo>
                  <a:lnTo>
                    <a:pt x="1039" y="1301"/>
                  </a:lnTo>
                  <a:lnTo>
                    <a:pt x="1032" y="1277"/>
                  </a:lnTo>
                  <a:lnTo>
                    <a:pt x="1012" y="1263"/>
                  </a:lnTo>
                  <a:lnTo>
                    <a:pt x="1008" y="1237"/>
                  </a:lnTo>
                  <a:lnTo>
                    <a:pt x="1024" y="1193"/>
                  </a:lnTo>
                  <a:lnTo>
                    <a:pt x="1015" y="1169"/>
                  </a:lnTo>
                  <a:lnTo>
                    <a:pt x="1017" y="1144"/>
                  </a:lnTo>
                  <a:lnTo>
                    <a:pt x="1032" y="1125"/>
                  </a:lnTo>
                  <a:lnTo>
                    <a:pt x="1026" y="1023"/>
                  </a:lnTo>
                  <a:lnTo>
                    <a:pt x="1032" y="984"/>
                  </a:lnTo>
                  <a:lnTo>
                    <a:pt x="1045" y="962"/>
                  </a:lnTo>
                  <a:lnTo>
                    <a:pt x="971" y="845"/>
                  </a:lnTo>
                  <a:lnTo>
                    <a:pt x="931" y="858"/>
                  </a:lnTo>
                  <a:lnTo>
                    <a:pt x="904" y="850"/>
                  </a:lnTo>
                  <a:lnTo>
                    <a:pt x="900" y="748"/>
                  </a:lnTo>
                  <a:lnTo>
                    <a:pt x="887" y="726"/>
                  </a:lnTo>
                  <a:lnTo>
                    <a:pt x="823" y="777"/>
                  </a:lnTo>
                  <a:lnTo>
                    <a:pt x="788" y="781"/>
                  </a:lnTo>
                  <a:lnTo>
                    <a:pt x="762" y="768"/>
                  </a:lnTo>
                  <a:lnTo>
                    <a:pt x="748" y="744"/>
                  </a:lnTo>
                  <a:lnTo>
                    <a:pt x="696" y="735"/>
                  </a:lnTo>
                  <a:lnTo>
                    <a:pt x="702" y="707"/>
                  </a:lnTo>
                  <a:lnTo>
                    <a:pt x="658" y="665"/>
                  </a:lnTo>
                  <a:lnTo>
                    <a:pt x="630" y="607"/>
                  </a:lnTo>
                  <a:lnTo>
                    <a:pt x="630" y="581"/>
                  </a:lnTo>
                  <a:lnTo>
                    <a:pt x="654" y="520"/>
                  </a:lnTo>
                  <a:lnTo>
                    <a:pt x="684" y="511"/>
                  </a:lnTo>
                  <a:lnTo>
                    <a:pt x="687" y="451"/>
                  </a:lnTo>
                  <a:lnTo>
                    <a:pt x="744" y="374"/>
                  </a:lnTo>
                  <a:lnTo>
                    <a:pt x="795" y="341"/>
                  </a:lnTo>
                  <a:lnTo>
                    <a:pt x="933" y="295"/>
                  </a:lnTo>
                  <a:lnTo>
                    <a:pt x="889" y="273"/>
                  </a:lnTo>
                  <a:lnTo>
                    <a:pt x="883" y="247"/>
                  </a:lnTo>
                  <a:lnTo>
                    <a:pt x="922" y="198"/>
                  </a:lnTo>
                  <a:lnTo>
                    <a:pt x="909" y="172"/>
                  </a:lnTo>
                  <a:lnTo>
                    <a:pt x="858" y="148"/>
                  </a:lnTo>
                  <a:lnTo>
                    <a:pt x="806" y="159"/>
                  </a:lnTo>
                  <a:lnTo>
                    <a:pt x="775" y="154"/>
                  </a:lnTo>
                  <a:lnTo>
                    <a:pt x="755" y="170"/>
                  </a:lnTo>
                  <a:lnTo>
                    <a:pt x="729" y="176"/>
                  </a:lnTo>
                  <a:lnTo>
                    <a:pt x="678" y="174"/>
                  </a:lnTo>
                  <a:lnTo>
                    <a:pt x="652" y="126"/>
                  </a:lnTo>
                  <a:lnTo>
                    <a:pt x="630" y="112"/>
                  </a:lnTo>
                  <a:lnTo>
                    <a:pt x="627" y="86"/>
                  </a:lnTo>
                  <a:lnTo>
                    <a:pt x="581" y="62"/>
                  </a:lnTo>
                  <a:lnTo>
                    <a:pt x="535" y="9"/>
                  </a:lnTo>
                  <a:lnTo>
                    <a:pt x="489" y="0"/>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48" name="Freeform 30">
              <a:extLst>
                <a:ext uri="{FF2B5EF4-FFF2-40B4-BE49-F238E27FC236}">
                  <a16:creationId xmlns:a16="http://schemas.microsoft.com/office/drawing/2014/main" id="{19FC385A-A879-8B74-B029-22248F87C6F4}"/>
                </a:ext>
              </a:extLst>
            </p:cNvPr>
            <p:cNvSpPr>
              <a:spLocks/>
            </p:cNvSpPr>
            <p:nvPr/>
          </p:nvSpPr>
          <p:spPr bwMode="auto">
            <a:xfrm>
              <a:off x="2933458" y="2486772"/>
              <a:ext cx="398161" cy="438998"/>
            </a:xfrm>
            <a:custGeom>
              <a:avLst/>
              <a:gdLst/>
              <a:ahLst/>
              <a:cxnLst>
                <a:cxn ang="0">
                  <a:pos x="50" y="403"/>
                </a:cxn>
                <a:cxn ang="0">
                  <a:pos x="57" y="440"/>
                </a:cxn>
                <a:cxn ang="0">
                  <a:pos x="33" y="456"/>
                </a:cxn>
                <a:cxn ang="0">
                  <a:pos x="39" y="480"/>
                </a:cxn>
                <a:cxn ang="0">
                  <a:pos x="86" y="489"/>
                </a:cxn>
                <a:cxn ang="0">
                  <a:pos x="110" y="486"/>
                </a:cxn>
                <a:cxn ang="0">
                  <a:pos x="123" y="508"/>
                </a:cxn>
                <a:cxn ang="0">
                  <a:pos x="147" y="515"/>
                </a:cxn>
                <a:cxn ang="0">
                  <a:pos x="187" y="473"/>
                </a:cxn>
                <a:cxn ang="0">
                  <a:pos x="193" y="418"/>
                </a:cxn>
                <a:cxn ang="0">
                  <a:pos x="251" y="346"/>
                </a:cxn>
                <a:cxn ang="0">
                  <a:pos x="369" y="284"/>
                </a:cxn>
                <a:cxn ang="0">
                  <a:pos x="429" y="214"/>
                </a:cxn>
                <a:cxn ang="0">
                  <a:pos x="470" y="141"/>
                </a:cxn>
                <a:cxn ang="0">
                  <a:pos x="442" y="93"/>
                </a:cxn>
                <a:cxn ang="0">
                  <a:pos x="462" y="77"/>
                </a:cxn>
                <a:cxn ang="0">
                  <a:pos x="415" y="55"/>
                </a:cxn>
                <a:cxn ang="0">
                  <a:pos x="308" y="71"/>
                </a:cxn>
                <a:cxn ang="0">
                  <a:pos x="277" y="40"/>
                </a:cxn>
                <a:cxn ang="0">
                  <a:pos x="171" y="2"/>
                </a:cxn>
                <a:cxn ang="0">
                  <a:pos x="173" y="0"/>
                </a:cxn>
                <a:cxn ang="0">
                  <a:pos x="75" y="60"/>
                </a:cxn>
                <a:cxn ang="0">
                  <a:pos x="68" y="115"/>
                </a:cxn>
                <a:cxn ang="0">
                  <a:pos x="33" y="148"/>
                </a:cxn>
                <a:cxn ang="0">
                  <a:pos x="35" y="189"/>
                </a:cxn>
                <a:cxn ang="0">
                  <a:pos x="0" y="207"/>
                </a:cxn>
                <a:cxn ang="0">
                  <a:pos x="15" y="260"/>
                </a:cxn>
                <a:cxn ang="0">
                  <a:pos x="15" y="300"/>
                </a:cxn>
                <a:cxn ang="0">
                  <a:pos x="2" y="315"/>
                </a:cxn>
                <a:cxn ang="0">
                  <a:pos x="30" y="324"/>
                </a:cxn>
                <a:cxn ang="0">
                  <a:pos x="66" y="361"/>
                </a:cxn>
                <a:cxn ang="0">
                  <a:pos x="72" y="321"/>
                </a:cxn>
                <a:cxn ang="0">
                  <a:pos x="107" y="315"/>
                </a:cxn>
                <a:cxn ang="0">
                  <a:pos x="81" y="387"/>
                </a:cxn>
                <a:cxn ang="0">
                  <a:pos x="48" y="403"/>
                </a:cxn>
                <a:cxn ang="0">
                  <a:pos x="50" y="403"/>
                </a:cxn>
              </a:cxnLst>
              <a:rect l="0" t="0" r="r" b="b"/>
              <a:pathLst>
                <a:path w="470" h="515">
                  <a:moveTo>
                    <a:pt x="50" y="403"/>
                  </a:moveTo>
                  <a:lnTo>
                    <a:pt x="57" y="440"/>
                  </a:lnTo>
                  <a:lnTo>
                    <a:pt x="33" y="456"/>
                  </a:lnTo>
                  <a:lnTo>
                    <a:pt x="39" y="480"/>
                  </a:lnTo>
                  <a:lnTo>
                    <a:pt x="86" y="489"/>
                  </a:lnTo>
                  <a:lnTo>
                    <a:pt x="110" y="486"/>
                  </a:lnTo>
                  <a:lnTo>
                    <a:pt x="123" y="508"/>
                  </a:lnTo>
                  <a:lnTo>
                    <a:pt x="147" y="515"/>
                  </a:lnTo>
                  <a:lnTo>
                    <a:pt x="187" y="473"/>
                  </a:lnTo>
                  <a:lnTo>
                    <a:pt x="193" y="418"/>
                  </a:lnTo>
                  <a:lnTo>
                    <a:pt x="251" y="346"/>
                  </a:lnTo>
                  <a:lnTo>
                    <a:pt x="369" y="284"/>
                  </a:lnTo>
                  <a:lnTo>
                    <a:pt x="429" y="214"/>
                  </a:lnTo>
                  <a:lnTo>
                    <a:pt x="470" y="141"/>
                  </a:lnTo>
                  <a:lnTo>
                    <a:pt x="442" y="93"/>
                  </a:lnTo>
                  <a:lnTo>
                    <a:pt x="462" y="77"/>
                  </a:lnTo>
                  <a:lnTo>
                    <a:pt x="415" y="55"/>
                  </a:lnTo>
                  <a:lnTo>
                    <a:pt x="308" y="71"/>
                  </a:lnTo>
                  <a:lnTo>
                    <a:pt x="277" y="40"/>
                  </a:lnTo>
                  <a:lnTo>
                    <a:pt x="171" y="2"/>
                  </a:lnTo>
                  <a:lnTo>
                    <a:pt x="173" y="0"/>
                  </a:lnTo>
                  <a:lnTo>
                    <a:pt x="75" y="60"/>
                  </a:lnTo>
                  <a:lnTo>
                    <a:pt x="68" y="115"/>
                  </a:lnTo>
                  <a:lnTo>
                    <a:pt x="33" y="148"/>
                  </a:lnTo>
                  <a:lnTo>
                    <a:pt x="35" y="189"/>
                  </a:lnTo>
                  <a:lnTo>
                    <a:pt x="0" y="207"/>
                  </a:lnTo>
                  <a:lnTo>
                    <a:pt x="15" y="260"/>
                  </a:lnTo>
                  <a:lnTo>
                    <a:pt x="15" y="300"/>
                  </a:lnTo>
                  <a:lnTo>
                    <a:pt x="2" y="315"/>
                  </a:lnTo>
                  <a:lnTo>
                    <a:pt x="30" y="324"/>
                  </a:lnTo>
                  <a:lnTo>
                    <a:pt x="66" y="361"/>
                  </a:lnTo>
                  <a:lnTo>
                    <a:pt x="72" y="321"/>
                  </a:lnTo>
                  <a:lnTo>
                    <a:pt x="107" y="315"/>
                  </a:lnTo>
                  <a:lnTo>
                    <a:pt x="81" y="387"/>
                  </a:lnTo>
                  <a:lnTo>
                    <a:pt x="48" y="403"/>
                  </a:lnTo>
                  <a:lnTo>
                    <a:pt x="50" y="403"/>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49" name="Freeform 32">
              <a:extLst>
                <a:ext uri="{FF2B5EF4-FFF2-40B4-BE49-F238E27FC236}">
                  <a16:creationId xmlns:a16="http://schemas.microsoft.com/office/drawing/2014/main" id="{18EEFBFD-672B-F291-072D-AC63D98C17A2}"/>
                </a:ext>
              </a:extLst>
            </p:cNvPr>
            <p:cNvSpPr>
              <a:spLocks/>
            </p:cNvSpPr>
            <p:nvPr/>
          </p:nvSpPr>
          <p:spPr bwMode="auto">
            <a:xfrm>
              <a:off x="3772317" y="4019860"/>
              <a:ext cx="1024328" cy="2138837"/>
            </a:xfrm>
            <a:custGeom>
              <a:avLst/>
              <a:gdLst/>
              <a:ahLst/>
              <a:cxnLst>
                <a:cxn ang="0">
                  <a:pos x="156" y="2504"/>
                </a:cxn>
                <a:cxn ang="0">
                  <a:pos x="48" y="2405"/>
                </a:cxn>
                <a:cxn ang="0">
                  <a:pos x="66" y="2201"/>
                </a:cxn>
                <a:cxn ang="0">
                  <a:pos x="74" y="1935"/>
                </a:cxn>
                <a:cxn ang="0">
                  <a:pos x="66" y="1880"/>
                </a:cxn>
                <a:cxn ang="0">
                  <a:pos x="10" y="1726"/>
                </a:cxn>
                <a:cxn ang="0">
                  <a:pos x="2" y="1510"/>
                </a:cxn>
                <a:cxn ang="0">
                  <a:pos x="13" y="1345"/>
                </a:cxn>
                <a:cxn ang="0">
                  <a:pos x="44" y="1189"/>
                </a:cxn>
                <a:cxn ang="0">
                  <a:pos x="66" y="1010"/>
                </a:cxn>
                <a:cxn ang="0">
                  <a:pos x="0" y="819"/>
                </a:cxn>
                <a:cxn ang="0">
                  <a:pos x="28" y="643"/>
                </a:cxn>
                <a:cxn ang="0">
                  <a:pos x="92" y="453"/>
                </a:cxn>
                <a:cxn ang="0">
                  <a:pos x="109" y="267"/>
                </a:cxn>
                <a:cxn ang="0">
                  <a:pos x="186" y="190"/>
                </a:cxn>
                <a:cxn ang="0">
                  <a:pos x="193" y="91"/>
                </a:cxn>
                <a:cxn ang="0">
                  <a:pos x="373" y="31"/>
                </a:cxn>
                <a:cxn ang="0">
                  <a:pos x="422" y="29"/>
                </a:cxn>
                <a:cxn ang="0">
                  <a:pos x="534" y="35"/>
                </a:cxn>
                <a:cxn ang="0">
                  <a:pos x="660" y="143"/>
                </a:cxn>
                <a:cxn ang="0">
                  <a:pos x="891" y="267"/>
                </a:cxn>
                <a:cxn ang="0">
                  <a:pos x="875" y="361"/>
                </a:cxn>
                <a:cxn ang="0">
                  <a:pos x="959" y="456"/>
                </a:cxn>
                <a:cxn ang="0">
                  <a:pos x="1122" y="394"/>
                </a:cxn>
                <a:cxn ang="0">
                  <a:pos x="1172" y="308"/>
                </a:cxn>
                <a:cxn ang="0">
                  <a:pos x="1201" y="429"/>
                </a:cxn>
                <a:cxn ang="0">
                  <a:pos x="1040" y="544"/>
                </a:cxn>
                <a:cxn ang="0">
                  <a:pos x="891" y="704"/>
                </a:cxn>
                <a:cxn ang="0">
                  <a:pos x="855" y="995"/>
                </a:cxn>
                <a:cxn ang="0">
                  <a:pos x="853" y="1048"/>
                </a:cxn>
                <a:cxn ang="0">
                  <a:pos x="913" y="1145"/>
                </a:cxn>
                <a:cxn ang="0">
                  <a:pos x="959" y="1230"/>
                </a:cxn>
                <a:cxn ang="0">
                  <a:pos x="825" y="1371"/>
                </a:cxn>
                <a:cxn ang="0">
                  <a:pos x="596" y="1386"/>
                </a:cxn>
                <a:cxn ang="0">
                  <a:pos x="589" y="1516"/>
                </a:cxn>
                <a:cxn ang="0">
                  <a:pos x="554" y="1585"/>
                </a:cxn>
                <a:cxn ang="0">
                  <a:pos x="420" y="1574"/>
                </a:cxn>
                <a:cxn ang="0">
                  <a:pos x="466" y="1683"/>
                </a:cxn>
                <a:cxn ang="0">
                  <a:pos x="519" y="1723"/>
                </a:cxn>
                <a:cxn ang="0">
                  <a:pos x="439" y="1725"/>
                </a:cxn>
                <a:cxn ang="0">
                  <a:pos x="429" y="1794"/>
                </a:cxn>
                <a:cxn ang="0">
                  <a:pos x="417" y="1904"/>
                </a:cxn>
                <a:cxn ang="0">
                  <a:pos x="329" y="1950"/>
                </a:cxn>
                <a:cxn ang="0">
                  <a:pos x="376" y="2084"/>
                </a:cxn>
                <a:cxn ang="0">
                  <a:pos x="420" y="2152"/>
                </a:cxn>
                <a:cxn ang="0">
                  <a:pos x="294" y="2337"/>
                </a:cxn>
                <a:cxn ang="0">
                  <a:pos x="292" y="2474"/>
                </a:cxn>
              </a:cxnLst>
              <a:rect l="0" t="0" r="r" b="b"/>
              <a:pathLst>
                <a:path w="1205" h="2513">
                  <a:moveTo>
                    <a:pt x="316" y="2513"/>
                  </a:moveTo>
                  <a:lnTo>
                    <a:pt x="246" y="2496"/>
                  </a:lnTo>
                  <a:lnTo>
                    <a:pt x="156" y="2504"/>
                  </a:lnTo>
                  <a:lnTo>
                    <a:pt x="125" y="2496"/>
                  </a:lnTo>
                  <a:lnTo>
                    <a:pt x="96" y="2394"/>
                  </a:lnTo>
                  <a:lnTo>
                    <a:pt x="48" y="2405"/>
                  </a:lnTo>
                  <a:lnTo>
                    <a:pt x="37" y="2324"/>
                  </a:lnTo>
                  <a:lnTo>
                    <a:pt x="65" y="2234"/>
                  </a:lnTo>
                  <a:lnTo>
                    <a:pt x="66" y="2201"/>
                  </a:lnTo>
                  <a:lnTo>
                    <a:pt x="55" y="2152"/>
                  </a:lnTo>
                  <a:lnTo>
                    <a:pt x="81" y="2066"/>
                  </a:lnTo>
                  <a:lnTo>
                    <a:pt x="74" y="1935"/>
                  </a:lnTo>
                  <a:lnTo>
                    <a:pt x="54" y="1910"/>
                  </a:lnTo>
                  <a:lnTo>
                    <a:pt x="77" y="1908"/>
                  </a:lnTo>
                  <a:lnTo>
                    <a:pt x="66" y="1880"/>
                  </a:lnTo>
                  <a:lnTo>
                    <a:pt x="44" y="1879"/>
                  </a:lnTo>
                  <a:lnTo>
                    <a:pt x="41" y="1831"/>
                  </a:lnTo>
                  <a:lnTo>
                    <a:pt x="10" y="1726"/>
                  </a:lnTo>
                  <a:lnTo>
                    <a:pt x="24" y="1677"/>
                  </a:lnTo>
                  <a:lnTo>
                    <a:pt x="4" y="1631"/>
                  </a:lnTo>
                  <a:lnTo>
                    <a:pt x="2" y="1510"/>
                  </a:lnTo>
                  <a:lnTo>
                    <a:pt x="11" y="1452"/>
                  </a:lnTo>
                  <a:lnTo>
                    <a:pt x="30" y="1398"/>
                  </a:lnTo>
                  <a:lnTo>
                    <a:pt x="13" y="1345"/>
                  </a:lnTo>
                  <a:lnTo>
                    <a:pt x="6" y="1254"/>
                  </a:lnTo>
                  <a:lnTo>
                    <a:pt x="10" y="1230"/>
                  </a:lnTo>
                  <a:lnTo>
                    <a:pt x="44" y="1189"/>
                  </a:lnTo>
                  <a:lnTo>
                    <a:pt x="33" y="1123"/>
                  </a:lnTo>
                  <a:lnTo>
                    <a:pt x="44" y="1100"/>
                  </a:lnTo>
                  <a:lnTo>
                    <a:pt x="66" y="1010"/>
                  </a:lnTo>
                  <a:lnTo>
                    <a:pt x="19" y="870"/>
                  </a:lnTo>
                  <a:lnTo>
                    <a:pt x="15" y="843"/>
                  </a:lnTo>
                  <a:lnTo>
                    <a:pt x="0" y="819"/>
                  </a:lnTo>
                  <a:lnTo>
                    <a:pt x="0" y="795"/>
                  </a:lnTo>
                  <a:lnTo>
                    <a:pt x="32" y="696"/>
                  </a:lnTo>
                  <a:lnTo>
                    <a:pt x="28" y="643"/>
                  </a:lnTo>
                  <a:lnTo>
                    <a:pt x="44" y="548"/>
                  </a:lnTo>
                  <a:lnTo>
                    <a:pt x="74" y="500"/>
                  </a:lnTo>
                  <a:lnTo>
                    <a:pt x="92" y="453"/>
                  </a:lnTo>
                  <a:lnTo>
                    <a:pt x="125" y="410"/>
                  </a:lnTo>
                  <a:lnTo>
                    <a:pt x="101" y="291"/>
                  </a:lnTo>
                  <a:lnTo>
                    <a:pt x="109" y="267"/>
                  </a:lnTo>
                  <a:lnTo>
                    <a:pt x="103" y="240"/>
                  </a:lnTo>
                  <a:lnTo>
                    <a:pt x="123" y="222"/>
                  </a:lnTo>
                  <a:lnTo>
                    <a:pt x="186" y="190"/>
                  </a:lnTo>
                  <a:lnTo>
                    <a:pt x="197" y="168"/>
                  </a:lnTo>
                  <a:lnTo>
                    <a:pt x="202" y="113"/>
                  </a:lnTo>
                  <a:lnTo>
                    <a:pt x="193" y="91"/>
                  </a:lnTo>
                  <a:lnTo>
                    <a:pt x="268" y="0"/>
                  </a:lnTo>
                  <a:lnTo>
                    <a:pt x="308" y="24"/>
                  </a:lnTo>
                  <a:lnTo>
                    <a:pt x="373" y="31"/>
                  </a:lnTo>
                  <a:lnTo>
                    <a:pt x="391" y="47"/>
                  </a:lnTo>
                  <a:lnTo>
                    <a:pt x="417" y="51"/>
                  </a:lnTo>
                  <a:lnTo>
                    <a:pt x="422" y="29"/>
                  </a:lnTo>
                  <a:lnTo>
                    <a:pt x="440" y="13"/>
                  </a:lnTo>
                  <a:lnTo>
                    <a:pt x="492" y="14"/>
                  </a:lnTo>
                  <a:lnTo>
                    <a:pt x="534" y="35"/>
                  </a:lnTo>
                  <a:lnTo>
                    <a:pt x="563" y="49"/>
                  </a:lnTo>
                  <a:lnTo>
                    <a:pt x="578" y="77"/>
                  </a:lnTo>
                  <a:lnTo>
                    <a:pt x="660" y="143"/>
                  </a:lnTo>
                  <a:lnTo>
                    <a:pt x="675" y="168"/>
                  </a:lnTo>
                  <a:lnTo>
                    <a:pt x="772" y="192"/>
                  </a:lnTo>
                  <a:lnTo>
                    <a:pt x="891" y="267"/>
                  </a:lnTo>
                  <a:lnTo>
                    <a:pt x="906" y="288"/>
                  </a:lnTo>
                  <a:lnTo>
                    <a:pt x="904" y="319"/>
                  </a:lnTo>
                  <a:lnTo>
                    <a:pt x="875" y="361"/>
                  </a:lnTo>
                  <a:lnTo>
                    <a:pt x="853" y="427"/>
                  </a:lnTo>
                  <a:lnTo>
                    <a:pt x="937" y="442"/>
                  </a:lnTo>
                  <a:lnTo>
                    <a:pt x="959" y="456"/>
                  </a:lnTo>
                  <a:lnTo>
                    <a:pt x="992" y="462"/>
                  </a:lnTo>
                  <a:lnTo>
                    <a:pt x="1045" y="451"/>
                  </a:lnTo>
                  <a:lnTo>
                    <a:pt x="1122" y="394"/>
                  </a:lnTo>
                  <a:lnTo>
                    <a:pt x="1137" y="365"/>
                  </a:lnTo>
                  <a:lnTo>
                    <a:pt x="1146" y="308"/>
                  </a:lnTo>
                  <a:lnTo>
                    <a:pt x="1172" y="308"/>
                  </a:lnTo>
                  <a:lnTo>
                    <a:pt x="1190" y="315"/>
                  </a:lnTo>
                  <a:lnTo>
                    <a:pt x="1205" y="365"/>
                  </a:lnTo>
                  <a:lnTo>
                    <a:pt x="1201" y="429"/>
                  </a:lnTo>
                  <a:lnTo>
                    <a:pt x="1152" y="464"/>
                  </a:lnTo>
                  <a:lnTo>
                    <a:pt x="1124" y="469"/>
                  </a:lnTo>
                  <a:lnTo>
                    <a:pt x="1040" y="544"/>
                  </a:lnTo>
                  <a:lnTo>
                    <a:pt x="992" y="608"/>
                  </a:lnTo>
                  <a:lnTo>
                    <a:pt x="908" y="687"/>
                  </a:lnTo>
                  <a:lnTo>
                    <a:pt x="891" y="704"/>
                  </a:lnTo>
                  <a:lnTo>
                    <a:pt x="869" y="905"/>
                  </a:lnTo>
                  <a:lnTo>
                    <a:pt x="858" y="962"/>
                  </a:lnTo>
                  <a:lnTo>
                    <a:pt x="855" y="995"/>
                  </a:lnTo>
                  <a:lnTo>
                    <a:pt x="855" y="995"/>
                  </a:lnTo>
                  <a:lnTo>
                    <a:pt x="842" y="1021"/>
                  </a:lnTo>
                  <a:lnTo>
                    <a:pt x="853" y="1048"/>
                  </a:lnTo>
                  <a:lnTo>
                    <a:pt x="910" y="1078"/>
                  </a:lnTo>
                  <a:lnTo>
                    <a:pt x="930" y="1105"/>
                  </a:lnTo>
                  <a:lnTo>
                    <a:pt x="913" y="1145"/>
                  </a:lnTo>
                  <a:lnTo>
                    <a:pt x="928" y="1180"/>
                  </a:lnTo>
                  <a:lnTo>
                    <a:pt x="955" y="1188"/>
                  </a:lnTo>
                  <a:lnTo>
                    <a:pt x="959" y="1230"/>
                  </a:lnTo>
                  <a:lnTo>
                    <a:pt x="908" y="1303"/>
                  </a:lnTo>
                  <a:lnTo>
                    <a:pt x="897" y="1338"/>
                  </a:lnTo>
                  <a:lnTo>
                    <a:pt x="825" y="1371"/>
                  </a:lnTo>
                  <a:lnTo>
                    <a:pt x="710" y="1398"/>
                  </a:lnTo>
                  <a:lnTo>
                    <a:pt x="613" y="1406"/>
                  </a:lnTo>
                  <a:lnTo>
                    <a:pt x="596" y="1386"/>
                  </a:lnTo>
                  <a:lnTo>
                    <a:pt x="591" y="1420"/>
                  </a:lnTo>
                  <a:lnTo>
                    <a:pt x="613" y="1448"/>
                  </a:lnTo>
                  <a:lnTo>
                    <a:pt x="589" y="1516"/>
                  </a:lnTo>
                  <a:lnTo>
                    <a:pt x="600" y="1536"/>
                  </a:lnTo>
                  <a:lnTo>
                    <a:pt x="596" y="1563"/>
                  </a:lnTo>
                  <a:lnTo>
                    <a:pt x="554" y="1585"/>
                  </a:lnTo>
                  <a:lnTo>
                    <a:pt x="503" y="1585"/>
                  </a:lnTo>
                  <a:lnTo>
                    <a:pt x="440" y="1554"/>
                  </a:lnTo>
                  <a:lnTo>
                    <a:pt x="420" y="1574"/>
                  </a:lnTo>
                  <a:lnTo>
                    <a:pt x="433" y="1615"/>
                  </a:lnTo>
                  <a:lnTo>
                    <a:pt x="435" y="1664"/>
                  </a:lnTo>
                  <a:lnTo>
                    <a:pt x="466" y="1683"/>
                  </a:lnTo>
                  <a:lnTo>
                    <a:pt x="512" y="1661"/>
                  </a:lnTo>
                  <a:lnTo>
                    <a:pt x="523" y="1701"/>
                  </a:lnTo>
                  <a:lnTo>
                    <a:pt x="519" y="1723"/>
                  </a:lnTo>
                  <a:lnTo>
                    <a:pt x="488" y="1723"/>
                  </a:lnTo>
                  <a:lnTo>
                    <a:pt x="468" y="1697"/>
                  </a:lnTo>
                  <a:lnTo>
                    <a:pt x="439" y="1725"/>
                  </a:lnTo>
                  <a:lnTo>
                    <a:pt x="481" y="1737"/>
                  </a:lnTo>
                  <a:lnTo>
                    <a:pt x="440" y="1765"/>
                  </a:lnTo>
                  <a:lnTo>
                    <a:pt x="429" y="1794"/>
                  </a:lnTo>
                  <a:lnTo>
                    <a:pt x="437" y="1862"/>
                  </a:lnTo>
                  <a:lnTo>
                    <a:pt x="415" y="1877"/>
                  </a:lnTo>
                  <a:lnTo>
                    <a:pt x="417" y="1904"/>
                  </a:lnTo>
                  <a:lnTo>
                    <a:pt x="382" y="1906"/>
                  </a:lnTo>
                  <a:lnTo>
                    <a:pt x="345" y="1928"/>
                  </a:lnTo>
                  <a:lnTo>
                    <a:pt x="329" y="1950"/>
                  </a:lnTo>
                  <a:lnTo>
                    <a:pt x="312" y="1992"/>
                  </a:lnTo>
                  <a:lnTo>
                    <a:pt x="321" y="2033"/>
                  </a:lnTo>
                  <a:lnTo>
                    <a:pt x="376" y="2084"/>
                  </a:lnTo>
                  <a:lnTo>
                    <a:pt x="418" y="2082"/>
                  </a:lnTo>
                  <a:lnTo>
                    <a:pt x="426" y="2110"/>
                  </a:lnTo>
                  <a:lnTo>
                    <a:pt x="420" y="2152"/>
                  </a:lnTo>
                  <a:lnTo>
                    <a:pt x="336" y="2238"/>
                  </a:lnTo>
                  <a:lnTo>
                    <a:pt x="327" y="2320"/>
                  </a:lnTo>
                  <a:lnTo>
                    <a:pt x="294" y="2337"/>
                  </a:lnTo>
                  <a:lnTo>
                    <a:pt x="270" y="2366"/>
                  </a:lnTo>
                  <a:lnTo>
                    <a:pt x="266" y="2407"/>
                  </a:lnTo>
                  <a:lnTo>
                    <a:pt x="292" y="2474"/>
                  </a:lnTo>
                  <a:lnTo>
                    <a:pt x="316" y="2513"/>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nvGrpSpPr>
            <p:cNvPr id="50" name="Gruppieren 5">
              <a:extLst>
                <a:ext uri="{FF2B5EF4-FFF2-40B4-BE49-F238E27FC236}">
                  <a16:creationId xmlns:a16="http://schemas.microsoft.com/office/drawing/2014/main" id="{AE0923BC-371F-BA05-9EF9-64AA27EBB4C9}"/>
                </a:ext>
              </a:extLst>
            </p:cNvPr>
            <p:cNvGrpSpPr/>
            <p:nvPr/>
          </p:nvGrpSpPr>
          <p:grpSpPr bwMode="auto">
            <a:xfrm>
              <a:off x="3646403" y="3735703"/>
              <a:ext cx="411773" cy="2647598"/>
              <a:chOff x="3983038" y="3878263"/>
              <a:chExt cx="384175" cy="2470150"/>
            </a:xfrm>
            <a:solidFill>
              <a:srgbClr val="778888">
                <a:lumMod val="20000"/>
                <a:lumOff val="80000"/>
              </a:srgbClr>
            </a:solidFill>
          </p:grpSpPr>
          <p:sp>
            <p:nvSpPr>
              <p:cNvPr id="51" name="Freeform 37">
                <a:extLst>
                  <a:ext uri="{FF2B5EF4-FFF2-40B4-BE49-F238E27FC236}">
                    <a16:creationId xmlns:a16="http://schemas.microsoft.com/office/drawing/2014/main" id="{664D5929-F032-7968-B837-EBDC53E3DF57}"/>
                  </a:ext>
                </a:extLst>
              </p:cNvPr>
              <p:cNvSpPr>
                <a:spLocks/>
              </p:cNvSpPr>
              <p:nvPr/>
            </p:nvSpPr>
            <p:spPr bwMode="auto">
              <a:xfrm>
                <a:off x="4008438" y="5476875"/>
                <a:ext cx="38100" cy="101600"/>
              </a:xfrm>
              <a:custGeom>
                <a:avLst/>
                <a:gdLst/>
                <a:ahLst/>
                <a:cxnLst>
                  <a:cxn ang="0">
                    <a:pos x="0" y="0"/>
                  </a:cxn>
                  <a:cxn ang="0">
                    <a:pos x="2" y="124"/>
                  </a:cxn>
                  <a:cxn ang="0">
                    <a:pos x="37" y="128"/>
                  </a:cxn>
                  <a:cxn ang="0">
                    <a:pos x="46" y="93"/>
                  </a:cxn>
                  <a:cxn ang="0">
                    <a:pos x="31" y="68"/>
                  </a:cxn>
                  <a:cxn ang="0">
                    <a:pos x="48" y="36"/>
                  </a:cxn>
                  <a:cxn ang="0">
                    <a:pos x="39" y="11"/>
                  </a:cxn>
                  <a:cxn ang="0">
                    <a:pos x="0" y="0"/>
                  </a:cxn>
                </a:cxnLst>
                <a:rect l="0" t="0" r="r" b="b"/>
                <a:pathLst>
                  <a:path w="48" h="128">
                    <a:moveTo>
                      <a:pt x="0" y="0"/>
                    </a:moveTo>
                    <a:lnTo>
                      <a:pt x="2" y="124"/>
                    </a:lnTo>
                    <a:lnTo>
                      <a:pt x="37" y="128"/>
                    </a:lnTo>
                    <a:lnTo>
                      <a:pt x="46" y="93"/>
                    </a:lnTo>
                    <a:lnTo>
                      <a:pt x="31" y="68"/>
                    </a:lnTo>
                    <a:lnTo>
                      <a:pt x="48" y="36"/>
                    </a:lnTo>
                    <a:lnTo>
                      <a:pt x="39" y="11"/>
                    </a:lnTo>
                    <a:lnTo>
                      <a:pt x="0" y="0"/>
                    </a:lnTo>
                  </a:path>
                </a:pathLst>
              </a:custGeom>
              <a:grp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nvGrpSpPr>
              <p:cNvPr id="52" name="Gruppieren 4">
                <a:extLst>
                  <a:ext uri="{FF2B5EF4-FFF2-40B4-BE49-F238E27FC236}">
                    <a16:creationId xmlns:a16="http://schemas.microsoft.com/office/drawing/2014/main" id="{A3645808-766F-E1AB-B21E-6220E609B20E}"/>
                  </a:ext>
                </a:extLst>
              </p:cNvPr>
              <p:cNvGrpSpPr/>
              <p:nvPr/>
            </p:nvGrpSpPr>
            <p:grpSpPr bwMode="auto">
              <a:xfrm>
                <a:off x="3983038" y="3878263"/>
                <a:ext cx="384175" cy="2470150"/>
                <a:chOff x="3983038" y="3878263"/>
                <a:chExt cx="384175" cy="2470150"/>
              </a:xfrm>
              <a:grpFill/>
            </p:grpSpPr>
            <p:sp>
              <p:nvSpPr>
                <p:cNvPr id="53" name="Freeform 38">
                  <a:extLst>
                    <a:ext uri="{FF2B5EF4-FFF2-40B4-BE49-F238E27FC236}">
                      <a16:creationId xmlns:a16="http://schemas.microsoft.com/office/drawing/2014/main" id="{5EBF6E17-8F50-D047-D55B-D6C1F77521D9}"/>
                    </a:ext>
                  </a:extLst>
                </p:cNvPr>
                <p:cNvSpPr>
                  <a:spLocks/>
                </p:cNvSpPr>
                <p:nvPr/>
              </p:nvSpPr>
              <p:spPr bwMode="auto">
                <a:xfrm>
                  <a:off x="3983038" y="3878263"/>
                  <a:ext cx="366713" cy="2366963"/>
                </a:xfrm>
                <a:custGeom>
                  <a:avLst/>
                  <a:gdLst/>
                  <a:ahLst/>
                  <a:cxnLst>
                    <a:cxn ang="0">
                      <a:pos x="115" y="2389"/>
                    </a:cxn>
                    <a:cxn ang="0">
                      <a:pos x="90" y="2394"/>
                    </a:cxn>
                    <a:cxn ang="0">
                      <a:pos x="59" y="2345"/>
                    </a:cxn>
                    <a:cxn ang="0">
                      <a:pos x="15" y="2413"/>
                    </a:cxn>
                    <a:cxn ang="0">
                      <a:pos x="75" y="2427"/>
                    </a:cxn>
                    <a:cxn ang="0">
                      <a:pos x="97" y="2548"/>
                    </a:cxn>
                    <a:cxn ang="0">
                      <a:pos x="44" y="2541"/>
                    </a:cxn>
                    <a:cxn ang="0">
                      <a:pos x="68" y="2678"/>
                    </a:cxn>
                    <a:cxn ang="0">
                      <a:pos x="93" y="2724"/>
                    </a:cxn>
                    <a:cxn ang="0">
                      <a:pos x="135" y="2746"/>
                    </a:cxn>
                    <a:cxn ang="0">
                      <a:pos x="145" y="2796"/>
                    </a:cxn>
                    <a:cxn ang="0">
                      <a:pos x="161" y="2834"/>
                    </a:cxn>
                    <a:cxn ang="0">
                      <a:pos x="163" y="2854"/>
                    </a:cxn>
                    <a:cxn ang="0">
                      <a:pos x="216" y="2898"/>
                    </a:cxn>
                    <a:cxn ang="0">
                      <a:pos x="315" y="2897"/>
                    </a:cxn>
                    <a:cxn ang="0">
                      <a:pos x="288" y="2953"/>
                    </a:cxn>
                    <a:cxn ang="0">
                      <a:pos x="357" y="2975"/>
                    </a:cxn>
                    <a:cxn ang="0">
                      <a:pos x="407" y="2867"/>
                    </a:cxn>
                    <a:cxn ang="0">
                      <a:pos x="392" y="2832"/>
                    </a:cxn>
                    <a:cxn ang="0">
                      <a:pos x="242" y="2730"/>
                    </a:cxn>
                    <a:cxn ang="0">
                      <a:pos x="211" y="2570"/>
                    </a:cxn>
                    <a:cxn ang="0">
                      <a:pos x="227" y="2402"/>
                    </a:cxn>
                    <a:cxn ang="0">
                      <a:pos x="223" y="2244"/>
                    </a:cxn>
                    <a:cxn ang="0">
                      <a:pos x="187" y="2167"/>
                    </a:cxn>
                    <a:cxn ang="0">
                      <a:pos x="150" y="1967"/>
                    </a:cxn>
                    <a:cxn ang="0">
                      <a:pos x="176" y="1734"/>
                    </a:cxn>
                    <a:cxn ang="0">
                      <a:pos x="156" y="1566"/>
                    </a:cxn>
                    <a:cxn ang="0">
                      <a:pos x="190" y="1436"/>
                    </a:cxn>
                    <a:cxn ang="0">
                      <a:pos x="161" y="1179"/>
                    </a:cxn>
                    <a:cxn ang="0">
                      <a:pos x="178" y="1032"/>
                    </a:cxn>
                    <a:cxn ang="0">
                      <a:pos x="220" y="836"/>
                    </a:cxn>
                    <a:cxn ang="0">
                      <a:pos x="247" y="627"/>
                    </a:cxn>
                    <a:cxn ang="0">
                      <a:pos x="269" y="558"/>
                    </a:cxn>
                    <a:cxn ang="0">
                      <a:pos x="348" y="449"/>
                    </a:cxn>
                    <a:cxn ang="0">
                      <a:pos x="282" y="427"/>
                    </a:cxn>
                    <a:cxn ang="0">
                      <a:pos x="220" y="229"/>
                    </a:cxn>
                    <a:cxn ang="0">
                      <a:pos x="214" y="134"/>
                    </a:cxn>
                    <a:cxn ang="0">
                      <a:pos x="132" y="0"/>
                    </a:cxn>
                    <a:cxn ang="0">
                      <a:pos x="59" y="59"/>
                    </a:cxn>
                    <a:cxn ang="0">
                      <a:pos x="108" y="204"/>
                    </a:cxn>
                    <a:cxn ang="0">
                      <a:pos x="108" y="411"/>
                    </a:cxn>
                    <a:cxn ang="0">
                      <a:pos x="108" y="651"/>
                    </a:cxn>
                    <a:cxn ang="0">
                      <a:pos x="86" y="783"/>
                    </a:cxn>
                    <a:cxn ang="0">
                      <a:pos x="75" y="975"/>
                    </a:cxn>
                    <a:cxn ang="0">
                      <a:pos x="64" y="1095"/>
                    </a:cxn>
                    <a:cxn ang="0">
                      <a:pos x="84" y="1293"/>
                    </a:cxn>
                    <a:cxn ang="0">
                      <a:pos x="81" y="1403"/>
                    </a:cxn>
                    <a:cxn ang="0">
                      <a:pos x="26" y="1588"/>
                    </a:cxn>
                    <a:cxn ang="0">
                      <a:pos x="0" y="1678"/>
                    </a:cxn>
                    <a:cxn ang="0">
                      <a:pos x="27" y="1863"/>
                    </a:cxn>
                    <a:cxn ang="0">
                      <a:pos x="40" y="1980"/>
                    </a:cxn>
                    <a:cxn ang="0">
                      <a:pos x="88" y="1982"/>
                    </a:cxn>
                    <a:cxn ang="0">
                      <a:pos x="126" y="2033"/>
                    </a:cxn>
                    <a:cxn ang="0">
                      <a:pos x="112" y="2139"/>
                    </a:cxn>
                    <a:cxn ang="0">
                      <a:pos x="124" y="2220"/>
                    </a:cxn>
                    <a:cxn ang="0">
                      <a:pos x="115" y="2295"/>
                    </a:cxn>
                  </a:cxnLst>
                  <a:rect l="0" t="0" r="r" b="b"/>
                  <a:pathLst>
                    <a:path w="462" h="2983">
                      <a:moveTo>
                        <a:pt x="112" y="2325"/>
                      </a:moveTo>
                      <a:lnTo>
                        <a:pt x="119" y="2370"/>
                      </a:lnTo>
                      <a:lnTo>
                        <a:pt x="115" y="2389"/>
                      </a:lnTo>
                      <a:lnTo>
                        <a:pt x="106" y="2378"/>
                      </a:lnTo>
                      <a:lnTo>
                        <a:pt x="97" y="2394"/>
                      </a:lnTo>
                      <a:lnTo>
                        <a:pt x="90" y="2394"/>
                      </a:lnTo>
                      <a:lnTo>
                        <a:pt x="90" y="2372"/>
                      </a:lnTo>
                      <a:lnTo>
                        <a:pt x="82" y="2358"/>
                      </a:lnTo>
                      <a:lnTo>
                        <a:pt x="59" y="2345"/>
                      </a:lnTo>
                      <a:lnTo>
                        <a:pt x="31" y="2354"/>
                      </a:lnTo>
                      <a:lnTo>
                        <a:pt x="49" y="2374"/>
                      </a:lnTo>
                      <a:lnTo>
                        <a:pt x="15" y="2413"/>
                      </a:lnTo>
                      <a:lnTo>
                        <a:pt x="20" y="2440"/>
                      </a:lnTo>
                      <a:lnTo>
                        <a:pt x="44" y="2416"/>
                      </a:lnTo>
                      <a:lnTo>
                        <a:pt x="75" y="2427"/>
                      </a:lnTo>
                      <a:lnTo>
                        <a:pt x="101" y="2424"/>
                      </a:lnTo>
                      <a:lnTo>
                        <a:pt x="88" y="2475"/>
                      </a:lnTo>
                      <a:lnTo>
                        <a:pt x="97" y="2548"/>
                      </a:lnTo>
                      <a:lnTo>
                        <a:pt x="66" y="2504"/>
                      </a:lnTo>
                      <a:lnTo>
                        <a:pt x="44" y="2513"/>
                      </a:lnTo>
                      <a:lnTo>
                        <a:pt x="44" y="2541"/>
                      </a:lnTo>
                      <a:lnTo>
                        <a:pt x="75" y="2612"/>
                      </a:lnTo>
                      <a:lnTo>
                        <a:pt x="66" y="2644"/>
                      </a:lnTo>
                      <a:lnTo>
                        <a:pt x="68" y="2678"/>
                      </a:lnTo>
                      <a:lnTo>
                        <a:pt x="97" y="2682"/>
                      </a:lnTo>
                      <a:lnTo>
                        <a:pt x="82" y="2704"/>
                      </a:lnTo>
                      <a:lnTo>
                        <a:pt x="93" y="2724"/>
                      </a:lnTo>
                      <a:lnTo>
                        <a:pt x="123" y="2700"/>
                      </a:lnTo>
                      <a:lnTo>
                        <a:pt x="121" y="2721"/>
                      </a:lnTo>
                      <a:lnTo>
                        <a:pt x="135" y="2746"/>
                      </a:lnTo>
                      <a:lnTo>
                        <a:pt x="117" y="2743"/>
                      </a:lnTo>
                      <a:lnTo>
                        <a:pt x="121" y="2807"/>
                      </a:lnTo>
                      <a:lnTo>
                        <a:pt x="145" y="2796"/>
                      </a:lnTo>
                      <a:lnTo>
                        <a:pt x="148" y="2766"/>
                      </a:lnTo>
                      <a:lnTo>
                        <a:pt x="165" y="2807"/>
                      </a:lnTo>
                      <a:lnTo>
                        <a:pt x="161" y="2834"/>
                      </a:lnTo>
                      <a:lnTo>
                        <a:pt x="126" y="2832"/>
                      </a:lnTo>
                      <a:lnTo>
                        <a:pt x="134" y="2873"/>
                      </a:lnTo>
                      <a:lnTo>
                        <a:pt x="163" y="2854"/>
                      </a:lnTo>
                      <a:lnTo>
                        <a:pt x="203" y="2847"/>
                      </a:lnTo>
                      <a:lnTo>
                        <a:pt x="190" y="2895"/>
                      </a:lnTo>
                      <a:lnTo>
                        <a:pt x="216" y="2898"/>
                      </a:lnTo>
                      <a:lnTo>
                        <a:pt x="220" y="2919"/>
                      </a:lnTo>
                      <a:lnTo>
                        <a:pt x="277" y="2955"/>
                      </a:lnTo>
                      <a:lnTo>
                        <a:pt x="315" y="2897"/>
                      </a:lnTo>
                      <a:lnTo>
                        <a:pt x="337" y="2900"/>
                      </a:lnTo>
                      <a:lnTo>
                        <a:pt x="328" y="2930"/>
                      </a:lnTo>
                      <a:lnTo>
                        <a:pt x="288" y="2953"/>
                      </a:lnTo>
                      <a:lnTo>
                        <a:pt x="304" y="2974"/>
                      </a:lnTo>
                      <a:lnTo>
                        <a:pt x="343" y="2983"/>
                      </a:lnTo>
                      <a:lnTo>
                        <a:pt x="357" y="2975"/>
                      </a:lnTo>
                      <a:lnTo>
                        <a:pt x="352" y="2893"/>
                      </a:lnTo>
                      <a:lnTo>
                        <a:pt x="387" y="2869"/>
                      </a:lnTo>
                      <a:lnTo>
                        <a:pt x="407" y="2867"/>
                      </a:lnTo>
                      <a:lnTo>
                        <a:pt x="409" y="2847"/>
                      </a:lnTo>
                      <a:lnTo>
                        <a:pt x="462" y="2849"/>
                      </a:lnTo>
                      <a:lnTo>
                        <a:pt x="392" y="2832"/>
                      </a:lnTo>
                      <a:lnTo>
                        <a:pt x="302" y="2840"/>
                      </a:lnTo>
                      <a:lnTo>
                        <a:pt x="271" y="2832"/>
                      </a:lnTo>
                      <a:lnTo>
                        <a:pt x="242" y="2730"/>
                      </a:lnTo>
                      <a:lnTo>
                        <a:pt x="194" y="2741"/>
                      </a:lnTo>
                      <a:lnTo>
                        <a:pt x="183" y="2660"/>
                      </a:lnTo>
                      <a:lnTo>
                        <a:pt x="211" y="2570"/>
                      </a:lnTo>
                      <a:lnTo>
                        <a:pt x="212" y="2537"/>
                      </a:lnTo>
                      <a:lnTo>
                        <a:pt x="201" y="2488"/>
                      </a:lnTo>
                      <a:lnTo>
                        <a:pt x="227" y="2402"/>
                      </a:lnTo>
                      <a:lnTo>
                        <a:pt x="220" y="2271"/>
                      </a:lnTo>
                      <a:lnTo>
                        <a:pt x="200" y="2246"/>
                      </a:lnTo>
                      <a:lnTo>
                        <a:pt x="223" y="2244"/>
                      </a:lnTo>
                      <a:lnTo>
                        <a:pt x="212" y="2216"/>
                      </a:lnTo>
                      <a:lnTo>
                        <a:pt x="190" y="2215"/>
                      </a:lnTo>
                      <a:lnTo>
                        <a:pt x="187" y="2167"/>
                      </a:lnTo>
                      <a:lnTo>
                        <a:pt x="156" y="2062"/>
                      </a:lnTo>
                      <a:lnTo>
                        <a:pt x="170" y="2013"/>
                      </a:lnTo>
                      <a:lnTo>
                        <a:pt x="150" y="1967"/>
                      </a:lnTo>
                      <a:lnTo>
                        <a:pt x="148" y="1846"/>
                      </a:lnTo>
                      <a:lnTo>
                        <a:pt x="157" y="1788"/>
                      </a:lnTo>
                      <a:lnTo>
                        <a:pt x="176" y="1734"/>
                      </a:lnTo>
                      <a:lnTo>
                        <a:pt x="159" y="1681"/>
                      </a:lnTo>
                      <a:lnTo>
                        <a:pt x="152" y="1590"/>
                      </a:lnTo>
                      <a:lnTo>
                        <a:pt x="156" y="1566"/>
                      </a:lnTo>
                      <a:lnTo>
                        <a:pt x="190" y="1525"/>
                      </a:lnTo>
                      <a:lnTo>
                        <a:pt x="179" y="1459"/>
                      </a:lnTo>
                      <a:lnTo>
                        <a:pt x="190" y="1436"/>
                      </a:lnTo>
                      <a:lnTo>
                        <a:pt x="212" y="1346"/>
                      </a:lnTo>
                      <a:lnTo>
                        <a:pt x="165" y="1206"/>
                      </a:lnTo>
                      <a:lnTo>
                        <a:pt x="161" y="1179"/>
                      </a:lnTo>
                      <a:lnTo>
                        <a:pt x="146" y="1155"/>
                      </a:lnTo>
                      <a:lnTo>
                        <a:pt x="146" y="1131"/>
                      </a:lnTo>
                      <a:lnTo>
                        <a:pt x="178" y="1032"/>
                      </a:lnTo>
                      <a:lnTo>
                        <a:pt x="174" y="979"/>
                      </a:lnTo>
                      <a:lnTo>
                        <a:pt x="190" y="884"/>
                      </a:lnTo>
                      <a:lnTo>
                        <a:pt x="220" y="836"/>
                      </a:lnTo>
                      <a:lnTo>
                        <a:pt x="238" y="789"/>
                      </a:lnTo>
                      <a:lnTo>
                        <a:pt x="271" y="746"/>
                      </a:lnTo>
                      <a:lnTo>
                        <a:pt x="247" y="627"/>
                      </a:lnTo>
                      <a:lnTo>
                        <a:pt x="255" y="603"/>
                      </a:lnTo>
                      <a:lnTo>
                        <a:pt x="249" y="576"/>
                      </a:lnTo>
                      <a:lnTo>
                        <a:pt x="269" y="558"/>
                      </a:lnTo>
                      <a:lnTo>
                        <a:pt x="332" y="526"/>
                      </a:lnTo>
                      <a:lnTo>
                        <a:pt x="343" y="504"/>
                      </a:lnTo>
                      <a:lnTo>
                        <a:pt x="348" y="449"/>
                      </a:lnTo>
                      <a:lnTo>
                        <a:pt x="339" y="427"/>
                      </a:lnTo>
                      <a:lnTo>
                        <a:pt x="306" y="433"/>
                      </a:lnTo>
                      <a:lnTo>
                        <a:pt x="282" y="427"/>
                      </a:lnTo>
                      <a:lnTo>
                        <a:pt x="242" y="268"/>
                      </a:lnTo>
                      <a:lnTo>
                        <a:pt x="223" y="255"/>
                      </a:lnTo>
                      <a:lnTo>
                        <a:pt x="220" y="229"/>
                      </a:lnTo>
                      <a:lnTo>
                        <a:pt x="205" y="207"/>
                      </a:lnTo>
                      <a:lnTo>
                        <a:pt x="220" y="184"/>
                      </a:lnTo>
                      <a:lnTo>
                        <a:pt x="214" y="134"/>
                      </a:lnTo>
                      <a:lnTo>
                        <a:pt x="178" y="97"/>
                      </a:lnTo>
                      <a:lnTo>
                        <a:pt x="168" y="39"/>
                      </a:lnTo>
                      <a:lnTo>
                        <a:pt x="132" y="0"/>
                      </a:lnTo>
                      <a:lnTo>
                        <a:pt x="99" y="44"/>
                      </a:lnTo>
                      <a:lnTo>
                        <a:pt x="75" y="46"/>
                      </a:lnTo>
                      <a:lnTo>
                        <a:pt x="59" y="59"/>
                      </a:lnTo>
                      <a:lnTo>
                        <a:pt x="59" y="61"/>
                      </a:lnTo>
                      <a:lnTo>
                        <a:pt x="82" y="103"/>
                      </a:lnTo>
                      <a:lnTo>
                        <a:pt x="108" y="204"/>
                      </a:lnTo>
                      <a:lnTo>
                        <a:pt x="104" y="246"/>
                      </a:lnTo>
                      <a:lnTo>
                        <a:pt x="115" y="327"/>
                      </a:lnTo>
                      <a:lnTo>
                        <a:pt x="108" y="411"/>
                      </a:lnTo>
                      <a:lnTo>
                        <a:pt x="91" y="453"/>
                      </a:lnTo>
                      <a:lnTo>
                        <a:pt x="95" y="576"/>
                      </a:lnTo>
                      <a:lnTo>
                        <a:pt x="108" y="651"/>
                      </a:lnTo>
                      <a:lnTo>
                        <a:pt x="90" y="680"/>
                      </a:lnTo>
                      <a:lnTo>
                        <a:pt x="106" y="726"/>
                      </a:lnTo>
                      <a:lnTo>
                        <a:pt x="86" y="783"/>
                      </a:lnTo>
                      <a:lnTo>
                        <a:pt x="90" y="823"/>
                      </a:lnTo>
                      <a:lnTo>
                        <a:pt x="59" y="950"/>
                      </a:lnTo>
                      <a:lnTo>
                        <a:pt x="75" y="975"/>
                      </a:lnTo>
                      <a:lnTo>
                        <a:pt x="86" y="1030"/>
                      </a:lnTo>
                      <a:lnTo>
                        <a:pt x="64" y="1052"/>
                      </a:lnTo>
                      <a:lnTo>
                        <a:pt x="64" y="1095"/>
                      </a:lnTo>
                      <a:lnTo>
                        <a:pt x="86" y="1210"/>
                      </a:lnTo>
                      <a:lnTo>
                        <a:pt x="101" y="1236"/>
                      </a:lnTo>
                      <a:lnTo>
                        <a:pt x="84" y="1293"/>
                      </a:lnTo>
                      <a:lnTo>
                        <a:pt x="95" y="1333"/>
                      </a:lnTo>
                      <a:lnTo>
                        <a:pt x="81" y="1360"/>
                      </a:lnTo>
                      <a:lnTo>
                        <a:pt x="81" y="1403"/>
                      </a:lnTo>
                      <a:lnTo>
                        <a:pt x="51" y="1489"/>
                      </a:lnTo>
                      <a:lnTo>
                        <a:pt x="40" y="1571"/>
                      </a:lnTo>
                      <a:lnTo>
                        <a:pt x="26" y="1588"/>
                      </a:lnTo>
                      <a:lnTo>
                        <a:pt x="31" y="1628"/>
                      </a:lnTo>
                      <a:lnTo>
                        <a:pt x="4" y="1630"/>
                      </a:lnTo>
                      <a:lnTo>
                        <a:pt x="0" y="1678"/>
                      </a:lnTo>
                      <a:lnTo>
                        <a:pt x="22" y="1712"/>
                      </a:lnTo>
                      <a:lnTo>
                        <a:pt x="48" y="1821"/>
                      </a:lnTo>
                      <a:lnTo>
                        <a:pt x="27" y="1863"/>
                      </a:lnTo>
                      <a:lnTo>
                        <a:pt x="35" y="1910"/>
                      </a:lnTo>
                      <a:lnTo>
                        <a:pt x="29" y="1945"/>
                      </a:lnTo>
                      <a:lnTo>
                        <a:pt x="40" y="1980"/>
                      </a:lnTo>
                      <a:lnTo>
                        <a:pt x="55" y="2006"/>
                      </a:lnTo>
                      <a:lnTo>
                        <a:pt x="82" y="2011"/>
                      </a:lnTo>
                      <a:lnTo>
                        <a:pt x="88" y="1982"/>
                      </a:lnTo>
                      <a:lnTo>
                        <a:pt x="119" y="1993"/>
                      </a:lnTo>
                      <a:lnTo>
                        <a:pt x="108" y="2022"/>
                      </a:lnTo>
                      <a:lnTo>
                        <a:pt x="126" y="2033"/>
                      </a:lnTo>
                      <a:lnTo>
                        <a:pt x="113" y="2048"/>
                      </a:lnTo>
                      <a:lnTo>
                        <a:pt x="121" y="2105"/>
                      </a:lnTo>
                      <a:lnTo>
                        <a:pt x="112" y="2139"/>
                      </a:lnTo>
                      <a:lnTo>
                        <a:pt x="126" y="2165"/>
                      </a:lnTo>
                      <a:lnTo>
                        <a:pt x="112" y="2202"/>
                      </a:lnTo>
                      <a:lnTo>
                        <a:pt x="124" y="2220"/>
                      </a:lnTo>
                      <a:lnTo>
                        <a:pt x="104" y="2244"/>
                      </a:lnTo>
                      <a:lnTo>
                        <a:pt x="113" y="2270"/>
                      </a:lnTo>
                      <a:lnTo>
                        <a:pt x="115" y="2295"/>
                      </a:lnTo>
                      <a:lnTo>
                        <a:pt x="112" y="2325"/>
                      </a:lnTo>
                      <a:close/>
                    </a:path>
                  </a:pathLst>
                </a:custGeom>
                <a:solidFill>
                  <a:srgbClr val="FFFFFF"/>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54" name="Freeform 40">
                  <a:extLst>
                    <a:ext uri="{FF2B5EF4-FFF2-40B4-BE49-F238E27FC236}">
                      <a16:creationId xmlns:a16="http://schemas.microsoft.com/office/drawing/2014/main" id="{C65E8EF3-18A9-9A74-AAFA-BA06CF03D2CF}"/>
                    </a:ext>
                  </a:extLst>
                </p:cNvPr>
                <p:cNvSpPr>
                  <a:spLocks/>
                </p:cNvSpPr>
                <p:nvPr/>
              </p:nvSpPr>
              <p:spPr bwMode="auto">
                <a:xfrm>
                  <a:off x="4110038" y="6156325"/>
                  <a:ext cx="257175" cy="192088"/>
                </a:xfrm>
                <a:custGeom>
                  <a:avLst/>
                  <a:gdLst/>
                  <a:ahLst/>
                  <a:cxnLst>
                    <a:cxn ang="0">
                      <a:pos x="295" y="7"/>
                    </a:cxn>
                    <a:cxn ang="0">
                      <a:pos x="325" y="233"/>
                    </a:cxn>
                    <a:cxn ang="0">
                      <a:pos x="323" y="233"/>
                    </a:cxn>
                    <a:cxn ang="0">
                      <a:pos x="294" y="242"/>
                    </a:cxn>
                    <a:cxn ang="0">
                      <a:pos x="268" y="231"/>
                    </a:cxn>
                    <a:cxn ang="0">
                      <a:pos x="257" y="203"/>
                    </a:cxn>
                    <a:cxn ang="0">
                      <a:pos x="250" y="233"/>
                    </a:cxn>
                    <a:cxn ang="0">
                      <a:pos x="217" y="222"/>
                    </a:cxn>
                    <a:cxn ang="0">
                      <a:pos x="187" y="183"/>
                    </a:cxn>
                    <a:cxn ang="0">
                      <a:pos x="184" y="163"/>
                    </a:cxn>
                    <a:cxn ang="0">
                      <a:pos x="145" y="152"/>
                    </a:cxn>
                    <a:cxn ang="0">
                      <a:pos x="118" y="139"/>
                    </a:cxn>
                    <a:cxn ang="0">
                      <a:pos x="86" y="143"/>
                    </a:cxn>
                    <a:cxn ang="0">
                      <a:pos x="83" y="123"/>
                    </a:cxn>
                    <a:cxn ang="0">
                      <a:pos x="55" y="104"/>
                    </a:cxn>
                    <a:cxn ang="0">
                      <a:pos x="68" y="82"/>
                    </a:cxn>
                    <a:cxn ang="0">
                      <a:pos x="42" y="77"/>
                    </a:cxn>
                    <a:cxn ang="0">
                      <a:pos x="13" y="60"/>
                    </a:cxn>
                    <a:cxn ang="0">
                      <a:pos x="0" y="40"/>
                    </a:cxn>
                    <a:cxn ang="0">
                      <a:pos x="198" y="139"/>
                    </a:cxn>
                    <a:cxn ang="0">
                      <a:pos x="217" y="97"/>
                    </a:cxn>
                    <a:cxn ang="0">
                      <a:pos x="231" y="136"/>
                    </a:cxn>
                    <a:cxn ang="0">
                      <a:pos x="248" y="141"/>
                    </a:cxn>
                    <a:cxn ang="0">
                      <a:pos x="239" y="101"/>
                    </a:cxn>
                    <a:cxn ang="0">
                      <a:pos x="272" y="77"/>
                    </a:cxn>
                    <a:cxn ang="0">
                      <a:pos x="266" y="64"/>
                    </a:cxn>
                    <a:cxn ang="0">
                      <a:pos x="231" y="81"/>
                    </a:cxn>
                    <a:cxn ang="0">
                      <a:pos x="217" y="68"/>
                    </a:cxn>
                    <a:cxn ang="0">
                      <a:pos x="218" y="26"/>
                    </a:cxn>
                    <a:cxn ang="0">
                      <a:pos x="244" y="26"/>
                    </a:cxn>
                    <a:cxn ang="0">
                      <a:pos x="253" y="4"/>
                    </a:cxn>
                    <a:cxn ang="0">
                      <a:pos x="270" y="9"/>
                    </a:cxn>
                    <a:cxn ang="0">
                      <a:pos x="290" y="0"/>
                    </a:cxn>
                    <a:cxn ang="0">
                      <a:pos x="295" y="7"/>
                    </a:cxn>
                  </a:cxnLst>
                  <a:rect l="0" t="0" r="r" b="b"/>
                  <a:pathLst>
                    <a:path w="325" h="242">
                      <a:moveTo>
                        <a:pt x="295" y="7"/>
                      </a:moveTo>
                      <a:lnTo>
                        <a:pt x="325" y="233"/>
                      </a:lnTo>
                      <a:lnTo>
                        <a:pt x="323" y="233"/>
                      </a:lnTo>
                      <a:lnTo>
                        <a:pt x="294" y="242"/>
                      </a:lnTo>
                      <a:lnTo>
                        <a:pt x="268" y="231"/>
                      </a:lnTo>
                      <a:lnTo>
                        <a:pt x="257" y="203"/>
                      </a:lnTo>
                      <a:lnTo>
                        <a:pt x="250" y="233"/>
                      </a:lnTo>
                      <a:lnTo>
                        <a:pt x="217" y="222"/>
                      </a:lnTo>
                      <a:lnTo>
                        <a:pt x="187" y="183"/>
                      </a:lnTo>
                      <a:lnTo>
                        <a:pt x="184" y="163"/>
                      </a:lnTo>
                      <a:lnTo>
                        <a:pt x="145" y="152"/>
                      </a:lnTo>
                      <a:lnTo>
                        <a:pt x="118" y="139"/>
                      </a:lnTo>
                      <a:lnTo>
                        <a:pt x="86" y="143"/>
                      </a:lnTo>
                      <a:lnTo>
                        <a:pt x="83" y="123"/>
                      </a:lnTo>
                      <a:lnTo>
                        <a:pt x="55" y="104"/>
                      </a:lnTo>
                      <a:lnTo>
                        <a:pt x="68" y="82"/>
                      </a:lnTo>
                      <a:lnTo>
                        <a:pt x="42" y="77"/>
                      </a:lnTo>
                      <a:lnTo>
                        <a:pt x="13" y="60"/>
                      </a:lnTo>
                      <a:lnTo>
                        <a:pt x="0" y="40"/>
                      </a:lnTo>
                      <a:lnTo>
                        <a:pt x="198" y="139"/>
                      </a:lnTo>
                      <a:lnTo>
                        <a:pt x="217" y="97"/>
                      </a:lnTo>
                      <a:lnTo>
                        <a:pt x="231" y="136"/>
                      </a:lnTo>
                      <a:lnTo>
                        <a:pt x="248" y="141"/>
                      </a:lnTo>
                      <a:lnTo>
                        <a:pt x="239" y="101"/>
                      </a:lnTo>
                      <a:lnTo>
                        <a:pt x="272" y="77"/>
                      </a:lnTo>
                      <a:lnTo>
                        <a:pt x="266" y="64"/>
                      </a:lnTo>
                      <a:lnTo>
                        <a:pt x="231" y="81"/>
                      </a:lnTo>
                      <a:lnTo>
                        <a:pt x="217" y="68"/>
                      </a:lnTo>
                      <a:lnTo>
                        <a:pt x="218" y="26"/>
                      </a:lnTo>
                      <a:lnTo>
                        <a:pt x="244" y="26"/>
                      </a:lnTo>
                      <a:lnTo>
                        <a:pt x="253" y="4"/>
                      </a:lnTo>
                      <a:lnTo>
                        <a:pt x="270" y="9"/>
                      </a:lnTo>
                      <a:lnTo>
                        <a:pt x="290" y="0"/>
                      </a:lnTo>
                      <a:lnTo>
                        <a:pt x="295" y="7"/>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grpSp>
      </p:grpSp>
      <p:pic>
        <p:nvPicPr>
          <p:cNvPr id="55" name="Picture 31">
            <a:extLst>
              <a:ext uri="{FF2B5EF4-FFF2-40B4-BE49-F238E27FC236}">
                <a16:creationId xmlns:a16="http://schemas.microsoft.com/office/drawing/2014/main" id="{C74033FA-3D03-779A-BF0C-E218F25D55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26756" y="1968703"/>
            <a:ext cx="260525" cy="269740"/>
          </a:xfrm>
          <a:prstGeom prst="rect">
            <a:avLst/>
          </a:prstGeom>
          <a:ln>
            <a:noFill/>
          </a:ln>
        </p:spPr>
      </p:pic>
      <p:pic>
        <p:nvPicPr>
          <p:cNvPr id="56" name="Picture 30">
            <a:extLst>
              <a:ext uri="{FF2B5EF4-FFF2-40B4-BE49-F238E27FC236}">
                <a16:creationId xmlns:a16="http://schemas.microsoft.com/office/drawing/2014/main" id="{E5EE609C-7748-C1E7-8C11-9BBD4499862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72443" y="5115473"/>
            <a:ext cx="289640" cy="299885"/>
          </a:xfrm>
          <a:prstGeom prst="ellipse">
            <a:avLst/>
          </a:prstGeom>
          <a:ln>
            <a:noFill/>
          </a:ln>
          <a:effectLst/>
        </p:spPr>
      </p:pic>
      <p:pic>
        <p:nvPicPr>
          <p:cNvPr id="57" name="Imagen 3">
            <a:extLst>
              <a:ext uri="{FF2B5EF4-FFF2-40B4-BE49-F238E27FC236}">
                <a16:creationId xmlns:a16="http://schemas.microsoft.com/office/drawing/2014/main" id="{550FF863-629B-A5B9-27CD-A803E9C8FC5B}"/>
              </a:ext>
            </a:extLst>
          </p:cNvPr>
          <p:cNvPicPr>
            <a:picLocks noChangeAspect="1"/>
          </p:cNvPicPr>
          <p:nvPr/>
        </p:nvPicPr>
        <p:blipFill>
          <a:blip r:embed="rId5">
            <a:duotone>
              <a:srgbClr val="AA1133">
                <a:shade val="45000"/>
                <a:satMod val="135000"/>
              </a:srgbClr>
              <a:prstClr val="white"/>
            </a:duotone>
            <a:extLst>
              <a:ext uri="{BEBA8EAE-BF5A-486C-A8C5-ECC9F3942E4B}">
                <a14:imgProps xmlns:a14="http://schemas.microsoft.com/office/drawing/2010/main">
                  <a14:imgLayer r:embed="rId6">
                    <a14:imgEffect>
                      <a14:saturation sat="0"/>
                    </a14:imgEffect>
                    <a14:imgEffect>
                      <a14:brightnessContrast bright="40000"/>
                    </a14:imgEffect>
                  </a14:imgLayer>
                </a14:imgProps>
              </a:ext>
            </a:extLst>
          </a:blip>
          <a:stretch>
            <a:fillRect/>
          </a:stretch>
        </p:blipFill>
        <p:spPr>
          <a:xfrm>
            <a:off x="7382919" y="3002790"/>
            <a:ext cx="1422400" cy="1079500"/>
          </a:xfrm>
          <a:prstGeom prst="rect">
            <a:avLst/>
          </a:prstGeom>
        </p:spPr>
      </p:pic>
      <p:cxnSp>
        <p:nvCxnSpPr>
          <p:cNvPr id="58" name="Connector: Curved 34">
            <a:extLst>
              <a:ext uri="{FF2B5EF4-FFF2-40B4-BE49-F238E27FC236}">
                <a16:creationId xmlns:a16="http://schemas.microsoft.com/office/drawing/2014/main" id="{E7E6C441-5135-6B39-BAE5-F9151FA9AB16}"/>
              </a:ext>
            </a:extLst>
          </p:cNvPr>
          <p:cNvCxnSpPr>
            <a:cxnSpLocks/>
          </p:cNvCxnSpPr>
          <p:nvPr/>
        </p:nvCxnSpPr>
        <p:spPr>
          <a:xfrm rot="16200000" flipH="1">
            <a:off x="7991029" y="4184002"/>
            <a:ext cx="1191242" cy="971586"/>
          </a:xfrm>
          <a:prstGeom prst="curvedConnector2">
            <a:avLst/>
          </a:prstGeom>
          <a:noFill/>
          <a:ln w="9525" cap="flat" cmpd="sng" algn="ctr">
            <a:solidFill>
              <a:srgbClr val="FFFFFF"/>
            </a:solidFill>
            <a:prstDash val="dash"/>
          </a:ln>
          <a:effectLst/>
        </p:spPr>
      </p:cxnSp>
      <p:cxnSp>
        <p:nvCxnSpPr>
          <p:cNvPr id="59" name="Connector: Curved 33">
            <a:extLst>
              <a:ext uri="{FF2B5EF4-FFF2-40B4-BE49-F238E27FC236}">
                <a16:creationId xmlns:a16="http://schemas.microsoft.com/office/drawing/2014/main" id="{6CC0892D-62E3-9665-6C53-7FD736022A94}"/>
              </a:ext>
            </a:extLst>
          </p:cNvPr>
          <p:cNvCxnSpPr>
            <a:cxnSpLocks/>
            <a:endCxn id="57" idx="0"/>
          </p:cNvCxnSpPr>
          <p:nvPr/>
        </p:nvCxnSpPr>
        <p:spPr>
          <a:xfrm rot="10800000" flipV="1">
            <a:off x="8094120" y="2081592"/>
            <a:ext cx="933325" cy="921198"/>
          </a:xfrm>
          <a:prstGeom prst="curvedConnector2">
            <a:avLst/>
          </a:prstGeom>
          <a:noFill/>
          <a:ln w="9525" cap="flat" cmpd="sng" algn="ctr">
            <a:solidFill>
              <a:srgbClr val="FFFFFF"/>
            </a:solidFill>
            <a:prstDash val="dash"/>
          </a:ln>
          <a:effectLst/>
        </p:spPr>
      </p:cxnSp>
    </p:spTree>
    <p:extLst>
      <p:ext uri="{BB962C8B-B14F-4D97-AF65-F5344CB8AC3E}">
        <p14:creationId xmlns:p14="http://schemas.microsoft.com/office/powerpoint/2010/main" val="285943770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16B555-B461-B6DA-D54C-34178F2FDD8D}"/>
              </a:ext>
            </a:extLst>
          </p:cNvPr>
          <p:cNvSpPr txBox="1"/>
          <p:nvPr/>
        </p:nvSpPr>
        <p:spPr>
          <a:xfrm>
            <a:off x="347951" y="428726"/>
            <a:ext cx="10129311" cy="630942"/>
          </a:xfrm>
          <a:prstGeom prst="rect">
            <a:avLst/>
          </a:prstGeom>
          <a:noFill/>
        </p:spPr>
        <p:txBody>
          <a:bodyPr wrap="none" lIns="91440" tIns="45720" rIns="91440" bIns="45720" rtlCol="0" anchor="t">
            <a:spAutoFit/>
          </a:bodyPr>
          <a:lstStyle/>
          <a:p>
            <a:pPr defTabSz="914309" fontAlgn="auto">
              <a:spcBef>
                <a:spcPts val="0"/>
              </a:spcBef>
              <a:spcAft>
                <a:spcPts val="0"/>
              </a:spcAft>
            </a:pPr>
            <a:r>
              <a:rPr lang="en-US" sz="3500" spc="-30" dirty="0">
                <a:solidFill>
                  <a:prstClr val="white"/>
                </a:solidFill>
                <a:latin typeface="Arial"/>
              </a:rPr>
              <a:t>IT-Trail Services y sus </a:t>
            </a:r>
            <a:r>
              <a:rPr lang="en-US" sz="3500" spc="-30" dirty="0" err="1">
                <a:solidFill>
                  <a:prstClr val="white"/>
                </a:solidFill>
                <a:latin typeface="Arial"/>
              </a:rPr>
              <a:t>Servicios</a:t>
            </a:r>
            <a:r>
              <a:rPr lang="en-US" sz="3500" spc="-30" dirty="0">
                <a:solidFill>
                  <a:prstClr val="white"/>
                </a:solidFill>
                <a:latin typeface="Arial"/>
              </a:rPr>
              <a:t> de </a:t>
            </a:r>
            <a:r>
              <a:rPr lang="en-US" sz="3500" spc="-30" dirty="0" err="1">
                <a:solidFill>
                  <a:prstClr val="white"/>
                </a:solidFill>
                <a:latin typeface="Arial"/>
              </a:rPr>
              <a:t>Ciberseguridad</a:t>
            </a:r>
            <a:endParaRPr lang="en-US" sz="3500" spc="-30" dirty="0">
              <a:solidFill>
                <a:prstClr val="white"/>
              </a:solidFill>
              <a:latin typeface="Arial"/>
              <a:cs typeface="Arial"/>
            </a:endParaRPr>
          </a:p>
        </p:txBody>
      </p:sp>
      <p:sp>
        <p:nvSpPr>
          <p:cNvPr id="3" name="Oval 2">
            <a:extLst>
              <a:ext uri="{FF2B5EF4-FFF2-40B4-BE49-F238E27FC236}">
                <a16:creationId xmlns:a16="http://schemas.microsoft.com/office/drawing/2014/main" id="{6F99629C-5FB0-D66F-EC72-1B506C9320CD}"/>
              </a:ext>
            </a:extLst>
          </p:cNvPr>
          <p:cNvSpPr/>
          <p:nvPr/>
        </p:nvSpPr>
        <p:spPr>
          <a:xfrm>
            <a:off x="543808" y="1971903"/>
            <a:ext cx="926951" cy="926951"/>
          </a:xfrm>
          <a:prstGeom prst="ellipse">
            <a:avLst/>
          </a:prstGeom>
          <a:noFill/>
          <a:ln w="3175" cap="flat" cmpd="sng" algn="ctr">
            <a:solidFill>
              <a:sysClr val="window" lastClr="FFFFFF"/>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4" name="Oval 3">
            <a:extLst>
              <a:ext uri="{FF2B5EF4-FFF2-40B4-BE49-F238E27FC236}">
                <a16:creationId xmlns:a16="http://schemas.microsoft.com/office/drawing/2014/main" id="{15061B8B-133E-2373-2279-8EE69C2CB4C6}"/>
              </a:ext>
            </a:extLst>
          </p:cNvPr>
          <p:cNvSpPr/>
          <p:nvPr/>
        </p:nvSpPr>
        <p:spPr>
          <a:xfrm>
            <a:off x="6273803" y="1971903"/>
            <a:ext cx="926951" cy="926951"/>
          </a:xfrm>
          <a:prstGeom prst="ellipse">
            <a:avLst/>
          </a:prstGeom>
          <a:noFill/>
          <a:ln w="3175" cap="flat" cmpd="sng" algn="ctr">
            <a:solidFill>
              <a:sysClr val="window" lastClr="FFFFFF"/>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5" name="Oval 4">
            <a:extLst>
              <a:ext uri="{FF2B5EF4-FFF2-40B4-BE49-F238E27FC236}">
                <a16:creationId xmlns:a16="http://schemas.microsoft.com/office/drawing/2014/main" id="{A762A78D-CB8B-58AD-EA88-F87E42B97E8E}"/>
              </a:ext>
            </a:extLst>
          </p:cNvPr>
          <p:cNvSpPr/>
          <p:nvPr/>
        </p:nvSpPr>
        <p:spPr>
          <a:xfrm>
            <a:off x="6273803" y="4521657"/>
            <a:ext cx="926951" cy="926951"/>
          </a:xfrm>
          <a:prstGeom prst="ellipse">
            <a:avLst/>
          </a:prstGeom>
          <a:noFill/>
          <a:ln w="3175" cap="flat" cmpd="sng" algn="ctr">
            <a:solidFill>
              <a:sysClr val="window" lastClr="FFFFFF"/>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6" name="Oval 5">
            <a:extLst>
              <a:ext uri="{FF2B5EF4-FFF2-40B4-BE49-F238E27FC236}">
                <a16:creationId xmlns:a16="http://schemas.microsoft.com/office/drawing/2014/main" id="{2B28E173-E363-4160-3FE2-3282D4BB02A4}"/>
              </a:ext>
            </a:extLst>
          </p:cNvPr>
          <p:cNvSpPr/>
          <p:nvPr/>
        </p:nvSpPr>
        <p:spPr>
          <a:xfrm>
            <a:off x="543808" y="4521657"/>
            <a:ext cx="926951" cy="926951"/>
          </a:xfrm>
          <a:prstGeom prst="ellipse">
            <a:avLst/>
          </a:prstGeom>
          <a:noFill/>
          <a:ln w="3175" cap="flat" cmpd="sng" algn="ctr">
            <a:solidFill>
              <a:sysClr val="window" lastClr="FFFFFF"/>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7" name="TextBox 6">
            <a:extLst>
              <a:ext uri="{FF2B5EF4-FFF2-40B4-BE49-F238E27FC236}">
                <a16:creationId xmlns:a16="http://schemas.microsoft.com/office/drawing/2014/main" id="{2B3A3E29-9BAD-6B00-CFA3-1E4945ADE086}"/>
              </a:ext>
            </a:extLst>
          </p:cNvPr>
          <p:cNvSpPr txBox="1"/>
          <p:nvPr/>
        </p:nvSpPr>
        <p:spPr>
          <a:xfrm>
            <a:off x="1523925" y="2080902"/>
            <a:ext cx="4628746" cy="120032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1800" b="0" i="0" u="none" strike="noStrike" kern="0" cap="none" spc="-50" normalizeH="0" baseline="0" noProof="0" dirty="0">
                <a:ln>
                  <a:noFill/>
                </a:ln>
                <a:solidFill>
                  <a:prstClr val="white"/>
                </a:solidFill>
                <a:effectLst/>
                <a:uLnTx/>
                <a:uFillTx/>
              </a:rPr>
              <a:t>Está compuesta por 5 </a:t>
            </a:r>
            <a:r>
              <a:rPr kumimoji="0" lang="es-ES" sz="1800" b="1" i="0" u="none" strike="noStrike" kern="0" cap="none" spc="-50" normalizeH="0" baseline="0" noProof="0" dirty="0">
                <a:ln>
                  <a:noFill/>
                </a:ln>
                <a:solidFill>
                  <a:srgbClr val="AADDEE"/>
                </a:solidFill>
                <a:effectLst/>
                <a:uLnTx/>
                <a:uFillTx/>
              </a:rPr>
              <a:t>consultores</a:t>
            </a:r>
            <a:r>
              <a:rPr kumimoji="0" lang="es-ES" sz="1800" b="0" i="0" u="none" strike="noStrike" kern="0" cap="none" spc="-50" normalizeH="0" baseline="0" noProof="0" dirty="0">
                <a:ln>
                  <a:noFill/>
                </a:ln>
                <a:solidFill>
                  <a:prstClr val="white"/>
                </a:solidFill>
                <a:effectLst/>
                <a:uLnTx/>
                <a:uFillTx/>
              </a:rPr>
              <a:t> en el campo de la tecnología con + </a:t>
            </a:r>
            <a:r>
              <a:rPr kumimoji="0" lang="es-CL" sz="1800" b="0" i="0" u="none" strike="noStrike" kern="0" cap="none" spc="-50" normalizeH="0" baseline="0" noProof="0" dirty="0">
                <a:ln>
                  <a:noFill/>
                </a:ln>
                <a:solidFill>
                  <a:prstClr val="white"/>
                </a:solidFill>
                <a:effectLst/>
                <a:uLnTx/>
                <a:uFillTx/>
              </a:rPr>
              <a:t>20 años de experiencia en Servicios de Consultoría</a:t>
            </a:r>
            <a:endParaRPr kumimoji="0" lang="en-US" sz="1800" b="0" i="0" u="none" strike="noStrike" kern="0" cap="none" spc="-5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50" normalizeH="0" baseline="0" noProof="0" dirty="0">
              <a:ln>
                <a:noFill/>
              </a:ln>
              <a:solidFill>
                <a:prstClr val="white"/>
              </a:solidFill>
              <a:effectLst/>
              <a:uLnTx/>
              <a:uFillTx/>
            </a:endParaRPr>
          </a:p>
        </p:txBody>
      </p:sp>
      <p:sp>
        <p:nvSpPr>
          <p:cNvPr id="8" name="TextBox 7">
            <a:extLst>
              <a:ext uri="{FF2B5EF4-FFF2-40B4-BE49-F238E27FC236}">
                <a16:creationId xmlns:a16="http://schemas.microsoft.com/office/drawing/2014/main" id="{81B99D97-96BA-F0D6-E5DE-9CCDB179B7A1}"/>
              </a:ext>
            </a:extLst>
          </p:cNvPr>
          <p:cNvSpPr txBox="1"/>
          <p:nvPr/>
        </p:nvSpPr>
        <p:spPr>
          <a:xfrm>
            <a:off x="7321886" y="2063084"/>
            <a:ext cx="4345980" cy="120032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50" normalizeH="0" baseline="0" noProof="0" dirty="0">
                <a:ln>
                  <a:noFill/>
                </a:ln>
                <a:solidFill>
                  <a:srgbClr val="AADDEE"/>
                </a:solidFill>
                <a:effectLst/>
                <a:uLnTx/>
                <a:uFillTx/>
              </a:rPr>
              <a:t>Como Socio </a:t>
            </a:r>
            <a:r>
              <a:rPr kumimoji="0" lang="en-US" sz="1800" b="0" i="0" u="none" strike="noStrike" kern="0" cap="none" spc="-50" normalizeH="0" baseline="0" noProof="0" dirty="0">
                <a:ln>
                  <a:noFill/>
                </a:ln>
                <a:solidFill>
                  <a:prstClr val="white"/>
                </a:solidFill>
                <a:effectLst/>
                <a:uLnTx/>
                <a:uFillTx/>
              </a:rPr>
              <a:t>Microsoft </a:t>
            </a:r>
            <a:r>
              <a:rPr kumimoji="0" lang="es-ES" sz="1800" b="0" i="0" u="none" strike="noStrike" kern="0" cap="none" spc="-50" normalizeH="0" baseline="0" noProof="0" dirty="0">
                <a:ln>
                  <a:noFill/>
                </a:ln>
                <a:solidFill>
                  <a:prstClr val="white"/>
                </a:solidFill>
                <a:effectLst/>
                <a:uLnTx/>
                <a:uFillTx/>
              </a:rPr>
              <a:t>ofrecen servicios para soluciones del Portafolio Seguridad en un modelo B2B en contratos de Soporte que van de 1 a 3 años con sus clientes</a:t>
            </a:r>
            <a:endParaRPr kumimoji="0" lang="en-US" sz="1800" b="0" i="0" u="none" strike="noStrike" kern="0" cap="none" spc="-50" normalizeH="0" baseline="0" noProof="0" dirty="0">
              <a:ln>
                <a:noFill/>
              </a:ln>
              <a:solidFill>
                <a:prstClr val="white"/>
              </a:solidFill>
              <a:effectLst/>
              <a:uLnTx/>
              <a:uFillTx/>
            </a:endParaRPr>
          </a:p>
        </p:txBody>
      </p:sp>
      <p:sp>
        <p:nvSpPr>
          <p:cNvPr id="9" name="TextBox 8">
            <a:extLst>
              <a:ext uri="{FF2B5EF4-FFF2-40B4-BE49-F238E27FC236}">
                <a16:creationId xmlns:a16="http://schemas.microsoft.com/office/drawing/2014/main" id="{2E1604E4-09AC-5B0D-6500-810AE6672326}"/>
              </a:ext>
            </a:extLst>
          </p:cNvPr>
          <p:cNvSpPr txBox="1"/>
          <p:nvPr/>
        </p:nvSpPr>
        <p:spPr>
          <a:xfrm>
            <a:off x="1509094" y="4445235"/>
            <a:ext cx="4202007" cy="175432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50" normalizeH="0" baseline="0" noProof="0" dirty="0">
                <a:ln>
                  <a:noFill/>
                </a:ln>
                <a:solidFill>
                  <a:srgbClr val="AADDEE"/>
                </a:solidFill>
                <a:effectLst/>
                <a:uLnTx/>
                <a:uFillTx/>
              </a:rPr>
              <a:t>Su </a:t>
            </a:r>
            <a:r>
              <a:rPr kumimoji="0" lang="en-US" sz="1800" b="1" i="0" u="none" strike="noStrike" kern="0" cap="none" spc="-50" normalizeH="0" baseline="0" noProof="0" dirty="0" err="1">
                <a:ln>
                  <a:noFill/>
                </a:ln>
                <a:solidFill>
                  <a:srgbClr val="AADDEE"/>
                </a:solidFill>
                <a:effectLst/>
                <a:uLnTx/>
                <a:uFillTx/>
              </a:rPr>
              <a:t>facturación</a:t>
            </a:r>
            <a:r>
              <a:rPr kumimoji="0" lang="en-US" sz="1800" b="1" i="0" u="none" strike="noStrike" kern="0" cap="none" spc="-50" normalizeH="0" baseline="0" noProof="0" dirty="0">
                <a:ln>
                  <a:noFill/>
                </a:ln>
                <a:solidFill>
                  <a:srgbClr val="AADDEE"/>
                </a:solidFill>
                <a:effectLst/>
                <a:uLnTx/>
                <a:uFillTx/>
              </a:rPr>
              <a:t> </a:t>
            </a:r>
            <a:r>
              <a:rPr kumimoji="0" lang="en-US" sz="1800" b="0" i="0" u="none" strike="noStrike" kern="0" cap="none" spc="-50" normalizeH="0" baseline="0" noProof="0" dirty="0" err="1">
                <a:ln>
                  <a:noFill/>
                </a:ln>
                <a:solidFill>
                  <a:prstClr val="white"/>
                </a:solidFill>
                <a:effectLst/>
                <a:uLnTx/>
                <a:uFillTx/>
              </a:rPr>
              <a:t>promedio</a:t>
            </a:r>
            <a:r>
              <a:rPr kumimoji="0" lang="en-US" sz="1800" b="0" i="0" u="none" strike="noStrike" kern="0" cap="none" spc="-50" normalizeH="0" baseline="0" noProof="0" dirty="0">
                <a:ln>
                  <a:noFill/>
                </a:ln>
                <a:solidFill>
                  <a:prstClr val="white"/>
                </a:solidFill>
                <a:effectLst/>
                <a:uLnTx/>
                <a:uFillTx/>
              </a:rPr>
              <a:t> </a:t>
            </a:r>
            <a:r>
              <a:rPr kumimoji="0" lang="en-US" sz="1800" b="0" i="0" u="none" strike="noStrike" kern="0" cap="none" spc="-50" normalizeH="0" baseline="0" noProof="0" dirty="0" err="1">
                <a:ln>
                  <a:noFill/>
                </a:ln>
                <a:solidFill>
                  <a:prstClr val="white"/>
                </a:solidFill>
                <a:effectLst/>
                <a:uLnTx/>
                <a:uFillTx/>
              </a:rPr>
              <a:t>en</a:t>
            </a:r>
            <a:r>
              <a:rPr kumimoji="0" lang="en-US" sz="1800" b="0" i="0" u="none" strike="noStrike" kern="0" cap="none" spc="-50" normalizeH="0" baseline="0" noProof="0" dirty="0">
                <a:ln>
                  <a:noFill/>
                </a:ln>
                <a:solidFill>
                  <a:prstClr val="white"/>
                </a:solidFill>
                <a:effectLst/>
                <a:uLnTx/>
                <a:uFillTx/>
              </a:rPr>
              <a:t> </a:t>
            </a:r>
            <a:r>
              <a:rPr kumimoji="0" lang="en-US" sz="1800" b="0" i="0" u="none" strike="noStrike" kern="0" cap="none" spc="-50" normalizeH="0" baseline="0" noProof="0" dirty="0" err="1">
                <a:ln>
                  <a:noFill/>
                </a:ln>
                <a:solidFill>
                  <a:prstClr val="white"/>
                </a:solidFill>
                <a:effectLst/>
                <a:uLnTx/>
                <a:uFillTx/>
              </a:rPr>
              <a:t>los</a:t>
            </a:r>
            <a:r>
              <a:rPr kumimoji="0" lang="en-US" sz="1800" b="0" i="0" u="none" strike="noStrike" kern="0" cap="none" spc="-50" normalizeH="0" baseline="0" noProof="0" dirty="0">
                <a:ln>
                  <a:noFill/>
                </a:ln>
                <a:solidFill>
                  <a:prstClr val="white"/>
                </a:solidFill>
                <a:effectLst/>
                <a:uLnTx/>
                <a:uFillTx/>
              </a:rPr>
              <a:t> </a:t>
            </a:r>
            <a:r>
              <a:rPr kumimoji="0" lang="en-US" sz="1800" b="0" i="0" u="none" strike="noStrike" kern="0" cap="none" spc="-50" normalizeH="0" baseline="0" noProof="0" dirty="0" err="1">
                <a:ln>
                  <a:noFill/>
                </a:ln>
                <a:solidFill>
                  <a:prstClr val="white"/>
                </a:solidFill>
                <a:effectLst/>
                <a:uLnTx/>
                <a:uFillTx/>
              </a:rPr>
              <a:t>últimos</a:t>
            </a:r>
            <a:r>
              <a:rPr kumimoji="0" lang="en-US" sz="1800" b="0" i="0" u="none" strike="noStrike" kern="0" cap="none" spc="-50" normalizeH="0" baseline="0" noProof="0" dirty="0">
                <a:ln>
                  <a:noFill/>
                </a:ln>
                <a:solidFill>
                  <a:prstClr val="white"/>
                </a:solidFill>
                <a:effectLst/>
                <a:uLnTx/>
                <a:uFillTx/>
              </a:rPr>
              <a:t> </a:t>
            </a:r>
            <a:r>
              <a:rPr kumimoji="0" lang="en-US" sz="1800" b="0" i="0" u="none" strike="noStrike" kern="0" cap="none" spc="-50" normalizeH="0" baseline="0" noProof="0" dirty="0" err="1">
                <a:ln>
                  <a:noFill/>
                </a:ln>
                <a:solidFill>
                  <a:prstClr val="white"/>
                </a:solidFill>
                <a:effectLst/>
                <a:uLnTx/>
                <a:uFillTx/>
              </a:rPr>
              <a:t>años</a:t>
            </a:r>
            <a:r>
              <a:rPr kumimoji="0" lang="en-US" sz="1800" b="0" i="0" u="none" strike="noStrike" kern="0" cap="none" spc="-50" normalizeH="0" baseline="0" noProof="0" dirty="0">
                <a:ln>
                  <a:noFill/>
                </a:ln>
                <a:solidFill>
                  <a:prstClr val="white"/>
                </a:solidFill>
                <a:effectLst/>
                <a:uLnTx/>
                <a:uFillTx/>
              </a:rPr>
              <a:t> </a:t>
            </a:r>
            <a:r>
              <a:rPr kumimoji="0" lang="en-US" sz="1800" b="0" i="0" u="none" strike="noStrike" kern="0" cap="none" spc="-50" normalizeH="0" baseline="0" noProof="0" dirty="0" err="1">
                <a:ln>
                  <a:noFill/>
                </a:ln>
                <a:solidFill>
                  <a:prstClr val="white"/>
                </a:solidFill>
                <a:effectLst/>
                <a:uLnTx/>
                <a:uFillTx/>
              </a:rPr>
              <a:t>viene</a:t>
            </a:r>
            <a:r>
              <a:rPr kumimoji="0" lang="en-US" sz="1800" b="0" i="0" u="none" strike="noStrike" kern="0" cap="none" spc="-50" normalizeH="0" baseline="0" noProof="0" dirty="0">
                <a:ln>
                  <a:noFill/>
                </a:ln>
                <a:solidFill>
                  <a:prstClr val="white"/>
                </a:solidFill>
                <a:effectLst/>
                <a:uLnTx/>
                <a:uFillTx/>
              </a:rPr>
              <a:t> </a:t>
            </a:r>
            <a:r>
              <a:rPr kumimoji="0" lang="en-US" sz="1800" b="0" i="0" u="none" strike="noStrike" kern="0" cap="none" spc="-50" normalizeH="0" baseline="0" noProof="0" dirty="0" err="1">
                <a:ln>
                  <a:noFill/>
                </a:ln>
                <a:solidFill>
                  <a:prstClr val="white"/>
                </a:solidFill>
                <a:effectLst/>
                <a:uLnTx/>
                <a:uFillTx/>
              </a:rPr>
              <a:t>creciendo</a:t>
            </a:r>
            <a:r>
              <a:rPr kumimoji="0" lang="en-US" sz="1800" b="0" i="0" u="none" strike="noStrike" kern="0" cap="none" spc="-50" normalizeH="0" baseline="0" noProof="0" dirty="0">
                <a:ln>
                  <a:noFill/>
                </a:ln>
                <a:solidFill>
                  <a:prstClr val="white"/>
                </a:solidFill>
                <a:effectLst/>
                <a:uLnTx/>
                <a:uFillTx/>
              </a:rPr>
              <a:t> a un 30%, </a:t>
            </a:r>
            <a:r>
              <a:rPr kumimoji="0" lang="en-US" sz="1800" b="0" i="0" u="none" strike="noStrike" kern="0" cap="none" spc="-50" normalizeH="0" baseline="0" noProof="0" dirty="0" err="1">
                <a:ln>
                  <a:noFill/>
                </a:ln>
                <a:solidFill>
                  <a:prstClr val="white"/>
                </a:solidFill>
                <a:effectLst/>
                <a:uLnTx/>
                <a:uFillTx/>
              </a:rPr>
              <a:t>facturando</a:t>
            </a:r>
            <a:r>
              <a:rPr kumimoji="0" lang="en-US" sz="1800" b="0" i="0" u="none" strike="noStrike" kern="0" cap="none" spc="-50" normalizeH="0" baseline="0" noProof="0" dirty="0">
                <a:ln>
                  <a:noFill/>
                </a:ln>
                <a:solidFill>
                  <a:prstClr val="white"/>
                </a:solidFill>
                <a:effectLst/>
                <a:uLnTx/>
                <a:uFillTx/>
              </a:rPr>
              <a:t>  </a:t>
            </a:r>
            <a:r>
              <a:rPr kumimoji="0" lang="es-CL" sz="1800" b="0" i="0" u="none" strike="noStrike" kern="0" cap="none" spc="-50" normalizeH="0" baseline="0" noProof="0" dirty="0">
                <a:ln>
                  <a:noFill/>
                </a:ln>
                <a:solidFill>
                  <a:prstClr val="white"/>
                </a:solidFill>
                <a:effectLst/>
                <a:uLnTx/>
                <a:uFillTx/>
              </a:rPr>
              <a:t>$727MM</a:t>
            </a:r>
            <a:r>
              <a:rPr kumimoji="0" lang="en-US" sz="1800" b="0" i="0" u="none" strike="noStrike" kern="0" cap="none" spc="-50" normalizeH="0" baseline="0" noProof="0" dirty="0">
                <a:ln>
                  <a:noFill/>
                </a:ln>
                <a:solidFill>
                  <a:prstClr val="white"/>
                </a:solidFill>
                <a:effectLst/>
                <a:uLnTx/>
                <a:uFillTx/>
              </a:rPr>
              <a:t> </a:t>
            </a:r>
            <a:r>
              <a:rPr kumimoji="0" lang="en-US" sz="1800" b="0" i="0" u="none" strike="noStrike" kern="0" cap="none" spc="-50" normalizeH="0" baseline="0" noProof="0" dirty="0" err="1">
                <a:ln>
                  <a:noFill/>
                </a:ln>
                <a:solidFill>
                  <a:prstClr val="white"/>
                </a:solidFill>
                <a:effectLst/>
                <a:uLnTx/>
                <a:uFillTx/>
              </a:rPr>
              <a:t>el</a:t>
            </a:r>
            <a:r>
              <a:rPr kumimoji="0" lang="en-US" sz="1800" b="0" i="0" u="none" strike="noStrike" kern="0" cap="none" spc="-50" normalizeH="0" baseline="0" noProof="0" dirty="0">
                <a:ln>
                  <a:noFill/>
                </a:ln>
                <a:solidFill>
                  <a:prstClr val="white"/>
                </a:solidFill>
                <a:effectLst/>
                <a:uLnTx/>
                <a:uFillTx/>
              </a:rPr>
              <a:t> </a:t>
            </a:r>
            <a:r>
              <a:rPr kumimoji="0" lang="en-US" sz="1800" b="0" i="0" u="none" strike="noStrike" kern="0" cap="none" spc="-50" normalizeH="0" baseline="0" noProof="0" dirty="0" err="1">
                <a:ln>
                  <a:noFill/>
                </a:ln>
                <a:solidFill>
                  <a:prstClr val="white"/>
                </a:solidFill>
                <a:effectLst/>
                <a:uLnTx/>
                <a:uFillTx/>
              </a:rPr>
              <a:t>año</a:t>
            </a:r>
            <a:r>
              <a:rPr kumimoji="0" lang="en-US" sz="1800" b="0" i="0" u="none" strike="noStrike" kern="0" cap="none" spc="-50" normalizeH="0" baseline="0" noProof="0" dirty="0">
                <a:ln>
                  <a:noFill/>
                </a:ln>
                <a:solidFill>
                  <a:prstClr val="white"/>
                </a:solidFill>
                <a:effectLst/>
                <a:uLnTx/>
                <a:uFillTx/>
              </a:rPr>
              <a:t> 2021. </a:t>
            </a:r>
            <a:r>
              <a:rPr kumimoji="0" lang="en-US" sz="1800" b="0" i="0" u="none" strike="noStrike" kern="0" cap="none" spc="-50" normalizeH="0" baseline="0" noProof="0" dirty="0" err="1">
                <a:ln>
                  <a:noFill/>
                </a:ln>
                <a:solidFill>
                  <a:prstClr val="white"/>
                </a:solidFill>
                <a:effectLst/>
                <a:uLnTx/>
                <a:uFillTx/>
              </a:rPr>
              <a:t>Obteniendo</a:t>
            </a:r>
            <a:r>
              <a:rPr kumimoji="0" lang="en-US" sz="1800" b="0" i="0" u="none" strike="noStrike" kern="0" cap="none" spc="-50" normalizeH="0" baseline="0" noProof="0" dirty="0">
                <a:ln>
                  <a:noFill/>
                </a:ln>
                <a:solidFill>
                  <a:prstClr val="white"/>
                </a:solidFill>
                <a:effectLst/>
                <a:uLnTx/>
                <a:uFillTx/>
              </a:rPr>
              <a:t> </a:t>
            </a:r>
            <a:r>
              <a:rPr kumimoji="0" lang="en-US" sz="1800" b="0" i="0" u="none" strike="noStrike" kern="0" cap="none" spc="-50" normalizeH="0" baseline="0" noProof="0" dirty="0" err="1">
                <a:ln>
                  <a:noFill/>
                </a:ln>
                <a:solidFill>
                  <a:prstClr val="white"/>
                </a:solidFill>
                <a:effectLst/>
                <a:uLnTx/>
                <a:uFillTx/>
              </a:rPr>
              <a:t>una</a:t>
            </a:r>
            <a:r>
              <a:rPr kumimoji="0" lang="en-US" sz="1800" b="0" i="0" u="none" strike="noStrike" kern="0" cap="none" spc="-50" normalizeH="0" baseline="0" noProof="0" dirty="0">
                <a:ln>
                  <a:noFill/>
                </a:ln>
                <a:solidFill>
                  <a:prstClr val="white"/>
                </a:solidFill>
                <a:effectLst/>
                <a:uLnTx/>
                <a:uFillTx/>
              </a:rPr>
              <a:t> </a:t>
            </a:r>
            <a:r>
              <a:rPr kumimoji="0" lang="en-US" sz="1800" b="0" i="0" u="none" strike="noStrike" kern="0" cap="none" spc="-50" normalizeH="0" baseline="0" noProof="0" dirty="0" err="1">
                <a:ln>
                  <a:noFill/>
                </a:ln>
                <a:solidFill>
                  <a:prstClr val="white"/>
                </a:solidFill>
                <a:effectLst/>
                <a:uLnTx/>
                <a:uFillTx/>
              </a:rPr>
              <a:t>rentabilidad</a:t>
            </a:r>
            <a:r>
              <a:rPr kumimoji="0" lang="en-US" sz="1800" b="0" i="0" u="none" strike="noStrike" kern="0" cap="none" spc="-50" normalizeH="0" baseline="0" noProof="0" dirty="0">
                <a:ln>
                  <a:noFill/>
                </a:ln>
                <a:solidFill>
                  <a:prstClr val="white"/>
                </a:solidFill>
                <a:effectLst/>
                <a:uLnTx/>
                <a:uFillTx/>
              </a:rPr>
              <a:t> Bruta </a:t>
            </a:r>
            <a:r>
              <a:rPr kumimoji="0" lang="en-US" sz="1800" b="0" i="0" u="none" strike="noStrike" kern="0" cap="none" spc="-50" normalizeH="0" baseline="0" noProof="0" dirty="0" err="1">
                <a:ln>
                  <a:noFill/>
                </a:ln>
                <a:solidFill>
                  <a:prstClr val="white"/>
                </a:solidFill>
                <a:effectLst/>
                <a:uLnTx/>
                <a:uFillTx/>
              </a:rPr>
              <a:t>cercana</a:t>
            </a:r>
            <a:r>
              <a:rPr kumimoji="0" lang="en-US" sz="1800" b="0" i="0" u="none" strike="noStrike" kern="0" cap="none" spc="-50" normalizeH="0" baseline="0" noProof="0" dirty="0">
                <a:ln>
                  <a:noFill/>
                </a:ln>
                <a:solidFill>
                  <a:prstClr val="white"/>
                </a:solidFill>
                <a:effectLst/>
                <a:uLnTx/>
                <a:uFillTx/>
              </a:rPr>
              <a:t> al 50%</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50" normalizeH="0" baseline="0" noProof="0" dirty="0">
              <a:ln>
                <a:noFill/>
              </a:ln>
              <a:solidFill>
                <a:prstClr val="white"/>
              </a:solidFill>
              <a:effectLst/>
              <a:uLnTx/>
              <a:uFillTx/>
            </a:endParaRPr>
          </a:p>
        </p:txBody>
      </p:sp>
      <p:sp>
        <p:nvSpPr>
          <p:cNvPr id="10" name="TextBox 9">
            <a:extLst>
              <a:ext uri="{FF2B5EF4-FFF2-40B4-BE49-F238E27FC236}">
                <a16:creationId xmlns:a16="http://schemas.microsoft.com/office/drawing/2014/main" id="{6812E320-B1C4-C3CE-0A4C-CCEECE1EC77B}"/>
              </a:ext>
            </a:extLst>
          </p:cNvPr>
          <p:cNvSpPr txBox="1"/>
          <p:nvPr/>
        </p:nvSpPr>
        <p:spPr>
          <a:xfrm>
            <a:off x="7321886" y="4530760"/>
            <a:ext cx="4548866" cy="120032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50" normalizeH="0" baseline="0" noProof="0" dirty="0" err="1">
                <a:ln>
                  <a:noFill/>
                </a:ln>
                <a:solidFill>
                  <a:srgbClr val="AADDEE"/>
                </a:solidFill>
                <a:effectLst/>
                <a:uLnTx/>
                <a:uFillTx/>
              </a:rPr>
              <a:t>Busca</a:t>
            </a:r>
            <a:r>
              <a:rPr kumimoji="0" lang="en-US" sz="1800" b="1" i="0" u="none" strike="noStrike" kern="0" cap="none" spc="-50" normalizeH="0" baseline="0" noProof="0" dirty="0">
                <a:ln>
                  <a:noFill/>
                </a:ln>
                <a:solidFill>
                  <a:srgbClr val="AADDEE"/>
                </a:solidFill>
                <a:effectLst/>
                <a:uLnTx/>
                <a:uFillTx/>
              </a:rPr>
              <a:t> </a:t>
            </a:r>
            <a:r>
              <a:rPr kumimoji="0" lang="es-CL" sz="1800" b="0" i="0" u="none" strike="noStrike" kern="0" cap="none" spc="0" normalizeH="0" baseline="0" noProof="0" dirty="0">
                <a:ln>
                  <a:noFill/>
                </a:ln>
                <a:solidFill>
                  <a:srgbClr val="000000"/>
                </a:solidFill>
                <a:effectLst/>
                <a:uLnTx/>
                <a:uFillTx/>
                <a:latin typeface="Arial" panose="020B0604020202020204" pitchFamily="34" charset="0"/>
                <a:ea typeface="Times New Roman" panose="02020603050405020304" pitchFamily="18" charset="0"/>
              </a:rPr>
              <a:t> </a:t>
            </a:r>
            <a:r>
              <a:rPr kumimoji="0" lang="es-CL" sz="1800" b="0" i="0" u="none" strike="noStrike" kern="0" cap="none" spc="0" normalizeH="0" baseline="0" noProof="0" dirty="0">
                <a:ln>
                  <a:noFill/>
                </a:ln>
                <a:solidFill>
                  <a:prstClr val="white"/>
                </a:solidFill>
                <a:effectLst/>
                <a:uLnTx/>
                <a:uFillTx/>
                <a:latin typeface="Arial" panose="020B0604020202020204" pitchFamily="34" charset="0"/>
                <a:ea typeface="Times New Roman" panose="02020603050405020304" pitchFamily="18" charset="0"/>
              </a:rPr>
              <a:t>extender y aumentar rentabilidad actual de su portafolio de servicios, en una</a:t>
            </a:r>
            <a:r>
              <a:rPr kumimoji="0" lang="es-CL" sz="1800" b="0" i="0" u="none" strike="noStrike" kern="0" cap="none" spc="-50" normalizeH="0" baseline="0" noProof="0" dirty="0">
                <a:ln>
                  <a:noFill/>
                </a:ln>
                <a:solidFill>
                  <a:prstClr val="white"/>
                </a:solidFill>
                <a:effectLst/>
                <a:uLnTx/>
                <a:uFillTx/>
                <a:latin typeface="Arial" panose="020B0604020202020204" pitchFamily="34" charset="0"/>
              </a:rPr>
              <a:t> </a:t>
            </a:r>
            <a:r>
              <a:rPr kumimoji="0" lang="es-CL" sz="1800" b="0" i="0" u="none" strike="noStrike" kern="0" cap="none" spc="-50" normalizeH="0" baseline="0" noProof="0" dirty="0">
                <a:ln>
                  <a:noFill/>
                </a:ln>
                <a:solidFill>
                  <a:prstClr val="white"/>
                </a:solidFill>
                <a:effectLst/>
                <a:uLnTx/>
                <a:uFillTx/>
              </a:rPr>
              <a:t>nueva cuota de mercado, aprovechando la alianza de Socios con Microsoft </a:t>
            </a:r>
            <a:endParaRPr kumimoji="0" lang="en-US" sz="1800" b="0" i="0" u="none" strike="noStrike" kern="0" cap="none" spc="-50" normalizeH="0" baseline="0" noProof="0" dirty="0">
              <a:ln>
                <a:noFill/>
              </a:ln>
              <a:solidFill>
                <a:prstClr val="white"/>
              </a:solidFill>
              <a:effectLst/>
              <a:uLnTx/>
              <a:uFillTx/>
            </a:endParaRPr>
          </a:p>
        </p:txBody>
      </p:sp>
      <p:grpSp>
        <p:nvGrpSpPr>
          <p:cNvPr id="11" name="Group 100">
            <a:extLst>
              <a:ext uri="{FF2B5EF4-FFF2-40B4-BE49-F238E27FC236}">
                <a16:creationId xmlns:a16="http://schemas.microsoft.com/office/drawing/2014/main" id="{AFE55540-B9DF-D1E3-B315-6DE7495F4ABC}"/>
              </a:ext>
            </a:extLst>
          </p:cNvPr>
          <p:cNvGrpSpPr>
            <a:grpSpLocks noChangeAspect="1"/>
          </p:cNvGrpSpPr>
          <p:nvPr/>
        </p:nvGrpSpPr>
        <p:grpSpPr bwMode="auto">
          <a:xfrm>
            <a:off x="688567" y="2199281"/>
            <a:ext cx="644525" cy="411163"/>
            <a:chOff x="2335" y="2594"/>
            <a:chExt cx="406" cy="259"/>
          </a:xfrm>
        </p:grpSpPr>
        <p:sp>
          <p:nvSpPr>
            <p:cNvPr id="12" name="AutoShape 99">
              <a:extLst>
                <a:ext uri="{FF2B5EF4-FFF2-40B4-BE49-F238E27FC236}">
                  <a16:creationId xmlns:a16="http://schemas.microsoft.com/office/drawing/2014/main" id="{89D4DD89-1B49-4909-DF8E-AEDE468BB363}"/>
                </a:ext>
              </a:extLst>
            </p:cNvPr>
            <p:cNvSpPr>
              <a:spLocks noChangeAspect="1" noChangeArrowheads="1" noTextEdit="1"/>
            </p:cNvSpPr>
            <p:nvPr/>
          </p:nvSpPr>
          <p:spPr bwMode="auto">
            <a:xfrm>
              <a:off x="2335" y="2594"/>
              <a:ext cx="406"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3" name="Freeform 101">
              <a:extLst>
                <a:ext uri="{FF2B5EF4-FFF2-40B4-BE49-F238E27FC236}">
                  <a16:creationId xmlns:a16="http://schemas.microsoft.com/office/drawing/2014/main" id="{1FC50F3E-2949-1622-0259-E3B77FCACA9F}"/>
                </a:ext>
              </a:extLst>
            </p:cNvPr>
            <p:cNvSpPr>
              <a:spLocks noEditPoints="1"/>
            </p:cNvSpPr>
            <p:nvPr/>
          </p:nvSpPr>
          <p:spPr bwMode="auto">
            <a:xfrm>
              <a:off x="2441" y="2594"/>
              <a:ext cx="299" cy="258"/>
            </a:xfrm>
            <a:custGeom>
              <a:avLst/>
              <a:gdLst>
                <a:gd name="T0" fmla="*/ 351 w 351"/>
                <a:gd name="T1" fmla="*/ 236 h 302"/>
                <a:gd name="T2" fmla="*/ 344 w 351"/>
                <a:gd name="T3" fmla="*/ 237 h 302"/>
                <a:gd name="T4" fmla="*/ 351 w 351"/>
                <a:gd name="T5" fmla="*/ 236 h 302"/>
                <a:gd name="T6" fmla="*/ 321 w 351"/>
                <a:gd name="T7" fmla="*/ 165 h 302"/>
                <a:gd name="T8" fmla="*/ 293 w 351"/>
                <a:gd name="T9" fmla="*/ 144 h 302"/>
                <a:gd name="T10" fmla="*/ 283 w 351"/>
                <a:gd name="T11" fmla="*/ 140 h 302"/>
                <a:gd name="T12" fmla="*/ 298 w 351"/>
                <a:gd name="T13" fmla="*/ 129 h 302"/>
                <a:gd name="T14" fmla="*/ 314 w 351"/>
                <a:gd name="T15" fmla="*/ 90 h 302"/>
                <a:gd name="T16" fmla="*/ 298 w 351"/>
                <a:gd name="T17" fmla="*/ 50 h 302"/>
                <a:gd name="T18" fmla="*/ 258 w 351"/>
                <a:gd name="T19" fmla="*/ 34 h 302"/>
                <a:gd name="T20" fmla="*/ 219 w 351"/>
                <a:gd name="T21" fmla="*/ 50 h 302"/>
                <a:gd name="T22" fmla="*/ 203 w 351"/>
                <a:gd name="T23" fmla="*/ 90 h 302"/>
                <a:gd name="T24" fmla="*/ 219 w 351"/>
                <a:gd name="T25" fmla="*/ 129 h 302"/>
                <a:gd name="T26" fmla="*/ 234 w 351"/>
                <a:gd name="T27" fmla="*/ 140 h 302"/>
                <a:gd name="T28" fmla="*/ 224 w 351"/>
                <a:gd name="T29" fmla="*/ 144 h 302"/>
                <a:gd name="T30" fmla="*/ 200 w 351"/>
                <a:gd name="T31" fmla="*/ 160 h 302"/>
                <a:gd name="T32" fmla="*/ 209 w 351"/>
                <a:gd name="T33" fmla="*/ 171 h 302"/>
                <a:gd name="T34" fmla="*/ 230 w 351"/>
                <a:gd name="T35" fmla="*/ 156 h 302"/>
                <a:gd name="T36" fmla="*/ 258 w 351"/>
                <a:gd name="T37" fmla="*/ 149 h 302"/>
                <a:gd name="T38" fmla="*/ 287 w 351"/>
                <a:gd name="T39" fmla="*/ 156 h 302"/>
                <a:gd name="T40" fmla="*/ 321 w 351"/>
                <a:gd name="T41" fmla="*/ 187 h 302"/>
                <a:gd name="T42" fmla="*/ 338 w 351"/>
                <a:gd name="T43" fmla="*/ 237 h 302"/>
                <a:gd name="T44" fmla="*/ 338 w 351"/>
                <a:gd name="T45" fmla="*/ 237 h 302"/>
                <a:gd name="T46" fmla="*/ 338 w 351"/>
                <a:gd name="T47" fmla="*/ 238 h 302"/>
                <a:gd name="T48" fmla="*/ 337 w 351"/>
                <a:gd name="T49" fmla="*/ 241 h 302"/>
                <a:gd name="T50" fmla="*/ 335 w 351"/>
                <a:gd name="T51" fmla="*/ 243 h 302"/>
                <a:gd name="T52" fmla="*/ 335 w 351"/>
                <a:gd name="T53" fmla="*/ 244 h 302"/>
                <a:gd name="T54" fmla="*/ 258 w 351"/>
                <a:gd name="T55" fmla="*/ 264 h 302"/>
                <a:gd name="T56" fmla="*/ 240 w 351"/>
                <a:gd name="T57" fmla="*/ 263 h 302"/>
                <a:gd name="T58" fmla="*/ 236 w 351"/>
                <a:gd name="T59" fmla="*/ 275 h 302"/>
                <a:gd name="T60" fmla="*/ 235 w 351"/>
                <a:gd name="T61" fmla="*/ 276 h 302"/>
                <a:gd name="T62" fmla="*/ 258 w 351"/>
                <a:gd name="T63" fmla="*/ 278 h 302"/>
                <a:gd name="T64" fmla="*/ 341 w 351"/>
                <a:gd name="T65" fmla="*/ 255 h 302"/>
                <a:gd name="T66" fmla="*/ 346 w 351"/>
                <a:gd name="T67" fmla="*/ 252 h 302"/>
                <a:gd name="T68" fmla="*/ 349 w 351"/>
                <a:gd name="T69" fmla="*/ 245 h 302"/>
                <a:gd name="T70" fmla="*/ 351 w 351"/>
                <a:gd name="T71" fmla="*/ 238 h 302"/>
                <a:gd name="T72" fmla="*/ 351 w 351"/>
                <a:gd name="T73" fmla="*/ 236 h 302"/>
                <a:gd name="T74" fmla="*/ 228 w 351"/>
                <a:gd name="T75" fmla="*/ 120 h 302"/>
                <a:gd name="T76" fmla="*/ 216 w 351"/>
                <a:gd name="T77" fmla="*/ 90 h 302"/>
                <a:gd name="T78" fmla="*/ 228 w 351"/>
                <a:gd name="T79" fmla="*/ 59 h 302"/>
                <a:gd name="T80" fmla="*/ 258 w 351"/>
                <a:gd name="T81" fmla="*/ 47 h 302"/>
                <a:gd name="T82" fmla="*/ 288 w 351"/>
                <a:gd name="T83" fmla="*/ 59 h 302"/>
                <a:gd name="T84" fmla="*/ 301 w 351"/>
                <a:gd name="T85" fmla="*/ 90 h 302"/>
                <a:gd name="T86" fmla="*/ 288 w 351"/>
                <a:gd name="T87" fmla="*/ 120 h 302"/>
                <a:gd name="T88" fmla="*/ 258 w 351"/>
                <a:gd name="T89" fmla="*/ 132 h 302"/>
                <a:gd name="T90" fmla="*/ 228 w 351"/>
                <a:gd name="T91" fmla="*/ 120 h 302"/>
                <a:gd name="T92" fmla="*/ 113 w 351"/>
                <a:gd name="T93" fmla="*/ 129 h 302"/>
                <a:gd name="T94" fmla="*/ 178 w 351"/>
                <a:gd name="T95" fmla="*/ 64 h 302"/>
                <a:gd name="T96" fmla="*/ 113 w 351"/>
                <a:gd name="T97" fmla="*/ 0 h 302"/>
                <a:gd name="T98" fmla="*/ 49 w 351"/>
                <a:gd name="T99" fmla="*/ 64 h 302"/>
                <a:gd name="T100" fmla="*/ 113 w 351"/>
                <a:gd name="T101" fmla="*/ 129 h 302"/>
                <a:gd name="T102" fmla="*/ 113 w 351"/>
                <a:gd name="T103" fmla="*/ 133 h 302"/>
                <a:gd name="T104" fmla="*/ 1 w 351"/>
                <a:gd name="T105" fmla="*/ 257 h 302"/>
                <a:gd name="T106" fmla="*/ 9 w 351"/>
                <a:gd name="T107" fmla="*/ 274 h 302"/>
                <a:gd name="T108" fmla="*/ 113 w 351"/>
                <a:gd name="T109" fmla="*/ 302 h 302"/>
                <a:gd name="T110" fmla="*/ 218 w 351"/>
                <a:gd name="T111" fmla="*/ 274 h 302"/>
                <a:gd name="T112" fmla="*/ 226 w 351"/>
                <a:gd name="T113" fmla="*/ 257 h 302"/>
                <a:gd name="T114" fmla="*/ 113 w 351"/>
                <a:gd name="T115" fmla="*/ 133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1" h="302">
                  <a:moveTo>
                    <a:pt x="351" y="236"/>
                  </a:moveTo>
                  <a:cubicBezTo>
                    <a:pt x="344" y="237"/>
                    <a:pt x="344" y="237"/>
                    <a:pt x="344" y="237"/>
                  </a:cubicBezTo>
                  <a:cubicBezTo>
                    <a:pt x="351" y="236"/>
                    <a:pt x="351" y="236"/>
                    <a:pt x="351" y="236"/>
                  </a:cubicBezTo>
                  <a:cubicBezTo>
                    <a:pt x="348" y="208"/>
                    <a:pt x="338" y="183"/>
                    <a:pt x="321" y="165"/>
                  </a:cubicBezTo>
                  <a:cubicBezTo>
                    <a:pt x="313" y="156"/>
                    <a:pt x="303" y="149"/>
                    <a:pt x="293" y="144"/>
                  </a:cubicBezTo>
                  <a:cubicBezTo>
                    <a:pt x="290" y="142"/>
                    <a:pt x="286" y="141"/>
                    <a:pt x="283" y="140"/>
                  </a:cubicBezTo>
                  <a:cubicBezTo>
                    <a:pt x="289" y="137"/>
                    <a:pt x="294" y="133"/>
                    <a:pt x="298" y="129"/>
                  </a:cubicBezTo>
                  <a:cubicBezTo>
                    <a:pt x="308" y="119"/>
                    <a:pt x="314" y="105"/>
                    <a:pt x="314" y="90"/>
                  </a:cubicBezTo>
                  <a:cubicBezTo>
                    <a:pt x="314" y="74"/>
                    <a:pt x="308" y="60"/>
                    <a:pt x="298" y="50"/>
                  </a:cubicBezTo>
                  <a:cubicBezTo>
                    <a:pt x="288" y="40"/>
                    <a:pt x="274" y="34"/>
                    <a:pt x="258" y="34"/>
                  </a:cubicBezTo>
                  <a:cubicBezTo>
                    <a:pt x="243" y="34"/>
                    <a:pt x="229" y="40"/>
                    <a:pt x="219" y="50"/>
                  </a:cubicBezTo>
                  <a:cubicBezTo>
                    <a:pt x="209" y="60"/>
                    <a:pt x="203" y="74"/>
                    <a:pt x="203" y="90"/>
                  </a:cubicBezTo>
                  <a:cubicBezTo>
                    <a:pt x="203" y="105"/>
                    <a:pt x="209" y="119"/>
                    <a:pt x="219" y="129"/>
                  </a:cubicBezTo>
                  <a:cubicBezTo>
                    <a:pt x="223" y="133"/>
                    <a:pt x="228" y="137"/>
                    <a:pt x="234" y="140"/>
                  </a:cubicBezTo>
                  <a:cubicBezTo>
                    <a:pt x="230" y="141"/>
                    <a:pt x="227" y="142"/>
                    <a:pt x="224" y="144"/>
                  </a:cubicBezTo>
                  <a:cubicBezTo>
                    <a:pt x="215" y="148"/>
                    <a:pt x="207" y="153"/>
                    <a:pt x="200" y="160"/>
                  </a:cubicBezTo>
                  <a:cubicBezTo>
                    <a:pt x="203" y="164"/>
                    <a:pt x="206" y="167"/>
                    <a:pt x="209" y="171"/>
                  </a:cubicBezTo>
                  <a:cubicBezTo>
                    <a:pt x="215" y="164"/>
                    <a:pt x="222" y="159"/>
                    <a:pt x="230" y="156"/>
                  </a:cubicBezTo>
                  <a:cubicBezTo>
                    <a:pt x="239" y="151"/>
                    <a:pt x="248" y="149"/>
                    <a:pt x="258" y="149"/>
                  </a:cubicBezTo>
                  <a:cubicBezTo>
                    <a:pt x="268" y="149"/>
                    <a:pt x="278" y="151"/>
                    <a:pt x="287" y="156"/>
                  </a:cubicBezTo>
                  <a:cubicBezTo>
                    <a:pt x="301" y="162"/>
                    <a:pt x="312" y="173"/>
                    <a:pt x="321" y="187"/>
                  </a:cubicBezTo>
                  <a:cubicBezTo>
                    <a:pt x="330" y="201"/>
                    <a:pt x="336" y="218"/>
                    <a:pt x="338" y="237"/>
                  </a:cubicBezTo>
                  <a:cubicBezTo>
                    <a:pt x="338" y="237"/>
                    <a:pt x="338" y="237"/>
                    <a:pt x="338" y="237"/>
                  </a:cubicBezTo>
                  <a:cubicBezTo>
                    <a:pt x="338" y="237"/>
                    <a:pt x="338" y="238"/>
                    <a:pt x="338" y="238"/>
                  </a:cubicBezTo>
                  <a:cubicBezTo>
                    <a:pt x="338" y="238"/>
                    <a:pt x="337" y="240"/>
                    <a:pt x="337" y="241"/>
                  </a:cubicBezTo>
                  <a:cubicBezTo>
                    <a:pt x="336" y="242"/>
                    <a:pt x="336" y="243"/>
                    <a:pt x="335" y="243"/>
                  </a:cubicBezTo>
                  <a:cubicBezTo>
                    <a:pt x="335" y="243"/>
                    <a:pt x="335" y="244"/>
                    <a:pt x="335" y="244"/>
                  </a:cubicBezTo>
                  <a:cubicBezTo>
                    <a:pt x="314" y="257"/>
                    <a:pt x="287" y="264"/>
                    <a:pt x="258" y="264"/>
                  </a:cubicBezTo>
                  <a:cubicBezTo>
                    <a:pt x="252" y="264"/>
                    <a:pt x="246" y="264"/>
                    <a:pt x="240" y="263"/>
                  </a:cubicBezTo>
                  <a:cubicBezTo>
                    <a:pt x="239" y="267"/>
                    <a:pt x="238" y="271"/>
                    <a:pt x="236" y="275"/>
                  </a:cubicBezTo>
                  <a:cubicBezTo>
                    <a:pt x="236" y="275"/>
                    <a:pt x="236" y="276"/>
                    <a:pt x="235" y="276"/>
                  </a:cubicBezTo>
                  <a:cubicBezTo>
                    <a:pt x="243" y="277"/>
                    <a:pt x="251" y="278"/>
                    <a:pt x="258" y="278"/>
                  </a:cubicBezTo>
                  <a:cubicBezTo>
                    <a:pt x="290" y="278"/>
                    <a:pt x="319" y="269"/>
                    <a:pt x="341" y="255"/>
                  </a:cubicBezTo>
                  <a:cubicBezTo>
                    <a:pt x="343" y="254"/>
                    <a:pt x="344" y="253"/>
                    <a:pt x="346" y="252"/>
                  </a:cubicBezTo>
                  <a:cubicBezTo>
                    <a:pt x="347" y="250"/>
                    <a:pt x="349" y="248"/>
                    <a:pt x="349" y="245"/>
                  </a:cubicBezTo>
                  <a:cubicBezTo>
                    <a:pt x="350" y="243"/>
                    <a:pt x="351" y="240"/>
                    <a:pt x="351" y="238"/>
                  </a:cubicBezTo>
                  <a:cubicBezTo>
                    <a:pt x="351" y="237"/>
                    <a:pt x="351" y="237"/>
                    <a:pt x="351" y="236"/>
                  </a:cubicBezTo>
                  <a:close/>
                  <a:moveTo>
                    <a:pt x="228" y="120"/>
                  </a:moveTo>
                  <a:cubicBezTo>
                    <a:pt x="221" y="112"/>
                    <a:pt x="216" y="101"/>
                    <a:pt x="216" y="90"/>
                  </a:cubicBezTo>
                  <a:cubicBezTo>
                    <a:pt x="216" y="78"/>
                    <a:pt x="221" y="67"/>
                    <a:pt x="228" y="59"/>
                  </a:cubicBezTo>
                  <a:cubicBezTo>
                    <a:pt x="236" y="52"/>
                    <a:pt x="247" y="47"/>
                    <a:pt x="258" y="47"/>
                  </a:cubicBezTo>
                  <a:cubicBezTo>
                    <a:pt x="270" y="47"/>
                    <a:pt x="281" y="52"/>
                    <a:pt x="288" y="59"/>
                  </a:cubicBezTo>
                  <a:cubicBezTo>
                    <a:pt x="296" y="67"/>
                    <a:pt x="301" y="78"/>
                    <a:pt x="301" y="90"/>
                  </a:cubicBezTo>
                  <a:cubicBezTo>
                    <a:pt x="301" y="101"/>
                    <a:pt x="296" y="112"/>
                    <a:pt x="288" y="120"/>
                  </a:cubicBezTo>
                  <a:cubicBezTo>
                    <a:pt x="281" y="127"/>
                    <a:pt x="270" y="132"/>
                    <a:pt x="258" y="132"/>
                  </a:cubicBezTo>
                  <a:cubicBezTo>
                    <a:pt x="247" y="132"/>
                    <a:pt x="236" y="127"/>
                    <a:pt x="228" y="120"/>
                  </a:cubicBezTo>
                  <a:close/>
                  <a:moveTo>
                    <a:pt x="113" y="129"/>
                  </a:moveTo>
                  <a:cubicBezTo>
                    <a:pt x="149" y="129"/>
                    <a:pt x="178" y="100"/>
                    <a:pt x="178" y="64"/>
                  </a:cubicBezTo>
                  <a:cubicBezTo>
                    <a:pt x="178" y="29"/>
                    <a:pt x="149" y="0"/>
                    <a:pt x="113" y="0"/>
                  </a:cubicBezTo>
                  <a:cubicBezTo>
                    <a:pt x="78" y="0"/>
                    <a:pt x="49" y="29"/>
                    <a:pt x="49" y="64"/>
                  </a:cubicBezTo>
                  <a:cubicBezTo>
                    <a:pt x="49" y="100"/>
                    <a:pt x="78" y="129"/>
                    <a:pt x="113" y="129"/>
                  </a:cubicBezTo>
                  <a:close/>
                  <a:moveTo>
                    <a:pt x="113" y="133"/>
                  </a:moveTo>
                  <a:cubicBezTo>
                    <a:pt x="55" y="133"/>
                    <a:pt x="7" y="187"/>
                    <a:pt x="1" y="257"/>
                  </a:cubicBezTo>
                  <a:cubicBezTo>
                    <a:pt x="0" y="263"/>
                    <a:pt x="4" y="271"/>
                    <a:pt x="9" y="274"/>
                  </a:cubicBezTo>
                  <a:cubicBezTo>
                    <a:pt x="38" y="291"/>
                    <a:pt x="74" y="302"/>
                    <a:pt x="113" y="302"/>
                  </a:cubicBezTo>
                  <a:cubicBezTo>
                    <a:pt x="153" y="302"/>
                    <a:pt x="189" y="291"/>
                    <a:pt x="218" y="274"/>
                  </a:cubicBezTo>
                  <a:cubicBezTo>
                    <a:pt x="223" y="271"/>
                    <a:pt x="226" y="263"/>
                    <a:pt x="226" y="257"/>
                  </a:cubicBezTo>
                  <a:cubicBezTo>
                    <a:pt x="220" y="187"/>
                    <a:pt x="172" y="133"/>
                    <a:pt x="113" y="1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4" name="Freeform 102">
              <a:extLst>
                <a:ext uri="{FF2B5EF4-FFF2-40B4-BE49-F238E27FC236}">
                  <a16:creationId xmlns:a16="http://schemas.microsoft.com/office/drawing/2014/main" id="{4151EB03-06A4-0EEE-F54E-A7F5E4D742F3}"/>
                </a:ext>
              </a:extLst>
            </p:cNvPr>
            <p:cNvSpPr>
              <a:spLocks noEditPoints="1"/>
            </p:cNvSpPr>
            <p:nvPr/>
          </p:nvSpPr>
          <p:spPr bwMode="auto">
            <a:xfrm>
              <a:off x="2335" y="2594"/>
              <a:ext cx="298" cy="258"/>
            </a:xfrm>
            <a:custGeom>
              <a:avLst/>
              <a:gdLst>
                <a:gd name="T0" fmla="*/ 0 w 350"/>
                <a:gd name="T1" fmla="*/ 238 h 302"/>
                <a:gd name="T2" fmla="*/ 1 w 350"/>
                <a:gd name="T3" fmla="*/ 245 h 302"/>
                <a:gd name="T4" fmla="*/ 5 w 350"/>
                <a:gd name="T5" fmla="*/ 252 h 302"/>
                <a:gd name="T6" fmla="*/ 9 w 350"/>
                <a:gd name="T7" fmla="*/ 255 h 302"/>
                <a:gd name="T8" fmla="*/ 92 w 350"/>
                <a:gd name="T9" fmla="*/ 278 h 302"/>
                <a:gd name="T10" fmla="*/ 115 w 350"/>
                <a:gd name="T11" fmla="*/ 276 h 302"/>
                <a:gd name="T12" fmla="*/ 115 w 350"/>
                <a:gd name="T13" fmla="*/ 275 h 302"/>
                <a:gd name="T14" fmla="*/ 111 w 350"/>
                <a:gd name="T15" fmla="*/ 263 h 302"/>
                <a:gd name="T16" fmla="*/ 92 w 350"/>
                <a:gd name="T17" fmla="*/ 264 h 302"/>
                <a:gd name="T18" fmla="*/ 16 w 350"/>
                <a:gd name="T19" fmla="*/ 244 h 302"/>
                <a:gd name="T20" fmla="*/ 15 w 350"/>
                <a:gd name="T21" fmla="*/ 243 h 302"/>
                <a:gd name="T22" fmla="*/ 14 w 350"/>
                <a:gd name="T23" fmla="*/ 241 h 302"/>
                <a:gd name="T24" fmla="*/ 13 w 350"/>
                <a:gd name="T25" fmla="*/ 238 h 302"/>
                <a:gd name="T26" fmla="*/ 13 w 350"/>
                <a:gd name="T27" fmla="*/ 237 h 302"/>
                <a:gd name="T28" fmla="*/ 13 w 350"/>
                <a:gd name="T29" fmla="*/ 237 h 302"/>
                <a:gd name="T30" fmla="*/ 29 w 350"/>
                <a:gd name="T31" fmla="*/ 187 h 302"/>
                <a:gd name="T32" fmla="*/ 63 w 350"/>
                <a:gd name="T33" fmla="*/ 156 h 302"/>
                <a:gd name="T34" fmla="*/ 92 w 350"/>
                <a:gd name="T35" fmla="*/ 149 h 302"/>
                <a:gd name="T36" fmla="*/ 121 w 350"/>
                <a:gd name="T37" fmla="*/ 156 h 302"/>
                <a:gd name="T38" fmla="*/ 142 w 350"/>
                <a:gd name="T39" fmla="*/ 171 h 302"/>
                <a:gd name="T40" fmla="*/ 150 w 350"/>
                <a:gd name="T41" fmla="*/ 160 h 302"/>
                <a:gd name="T42" fmla="*/ 127 w 350"/>
                <a:gd name="T43" fmla="*/ 144 h 302"/>
                <a:gd name="T44" fmla="*/ 117 w 350"/>
                <a:gd name="T45" fmla="*/ 140 h 302"/>
                <a:gd name="T46" fmla="*/ 132 w 350"/>
                <a:gd name="T47" fmla="*/ 129 h 302"/>
                <a:gd name="T48" fmla="*/ 148 w 350"/>
                <a:gd name="T49" fmla="*/ 90 h 302"/>
                <a:gd name="T50" fmla="*/ 132 w 350"/>
                <a:gd name="T51" fmla="*/ 50 h 302"/>
                <a:gd name="T52" fmla="*/ 92 w 350"/>
                <a:gd name="T53" fmla="*/ 34 h 302"/>
                <a:gd name="T54" fmla="*/ 53 w 350"/>
                <a:gd name="T55" fmla="*/ 50 h 302"/>
                <a:gd name="T56" fmla="*/ 36 w 350"/>
                <a:gd name="T57" fmla="*/ 90 h 302"/>
                <a:gd name="T58" fmla="*/ 53 w 350"/>
                <a:gd name="T59" fmla="*/ 129 h 302"/>
                <a:gd name="T60" fmla="*/ 67 w 350"/>
                <a:gd name="T61" fmla="*/ 140 h 302"/>
                <a:gd name="T62" fmla="*/ 58 w 350"/>
                <a:gd name="T63" fmla="*/ 144 h 302"/>
                <a:gd name="T64" fmla="*/ 29 w 350"/>
                <a:gd name="T65" fmla="*/ 165 h 302"/>
                <a:gd name="T66" fmla="*/ 0 w 350"/>
                <a:gd name="T67" fmla="*/ 236 h 302"/>
                <a:gd name="T68" fmla="*/ 6 w 350"/>
                <a:gd name="T69" fmla="*/ 237 h 302"/>
                <a:gd name="T70" fmla="*/ 0 w 350"/>
                <a:gd name="T71" fmla="*/ 236 h 302"/>
                <a:gd name="T72" fmla="*/ 0 w 350"/>
                <a:gd name="T73" fmla="*/ 238 h 302"/>
                <a:gd name="T74" fmla="*/ 92 w 350"/>
                <a:gd name="T75" fmla="*/ 132 h 302"/>
                <a:gd name="T76" fmla="*/ 62 w 350"/>
                <a:gd name="T77" fmla="*/ 120 h 302"/>
                <a:gd name="T78" fmla="*/ 50 w 350"/>
                <a:gd name="T79" fmla="*/ 90 h 302"/>
                <a:gd name="T80" fmla="*/ 62 w 350"/>
                <a:gd name="T81" fmla="*/ 59 h 302"/>
                <a:gd name="T82" fmla="*/ 92 w 350"/>
                <a:gd name="T83" fmla="*/ 47 h 302"/>
                <a:gd name="T84" fmla="*/ 122 w 350"/>
                <a:gd name="T85" fmla="*/ 59 h 302"/>
                <a:gd name="T86" fmla="*/ 135 w 350"/>
                <a:gd name="T87" fmla="*/ 90 h 302"/>
                <a:gd name="T88" fmla="*/ 122 w 350"/>
                <a:gd name="T89" fmla="*/ 120 h 302"/>
                <a:gd name="T90" fmla="*/ 92 w 350"/>
                <a:gd name="T91" fmla="*/ 132 h 302"/>
                <a:gd name="T92" fmla="*/ 302 w 350"/>
                <a:gd name="T93" fmla="*/ 64 h 302"/>
                <a:gd name="T94" fmla="*/ 237 w 350"/>
                <a:gd name="T95" fmla="*/ 0 h 302"/>
                <a:gd name="T96" fmla="*/ 173 w 350"/>
                <a:gd name="T97" fmla="*/ 64 h 302"/>
                <a:gd name="T98" fmla="*/ 237 w 350"/>
                <a:gd name="T99" fmla="*/ 129 h 302"/>
                <a:gd name="T100" fmla="*/ 302 w 350"/>
                <a:gd name="T101" fmla="*/ 64 h 302"/>
                <a:gd name="T102" fmla="*/ 125 w 350"/>
                <a:gd name="T103" fmla="*/ 257 h 302"/>
                <a:gd name="T104" fmla="*/ 133 w 350"/>
                <a:gd name="T105" fmla="*/ 274 h 302"/>
                <a:gd name="T106" fmla="*/ 237 w 350"/>
                <a:gd name="T107" fmla="*/ 302 h 302"/>
                <a:gd name="T108" fmla="*/ 341 w 350"/>
                <a:gd name="T109" fmla="*/ 274 h 302"/>
                <a:gd name="T110" fmla="*/ 350 w 350"/>
                <a:gd name="T111" fmla="*/ 257 h 302"/>
                <a:gd name="T112" fmla="*/ 237 w 350"/>
                <a:gd name="T113" fmla="*/ 133 h 302"/>
                <a:gd name="T114" fmla="*/ 125 w 350"/>
                <a:gd name="T115" fmla="*/ 257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0" h="302">
                  <a:moveTo>
                    <a:pt x="0" y="238"/>
                  </a:moveTo>
                  <a:cubicBezTo>
                    <a:pt x="0" y="240"/>
                    <a:pt x="0" y="243"/>
                    <a:pt x="1" y="245"/>
                  </a:cubicBezTo>
                  <a:cubicBezTo>
                    <a:pt x="2" y="248"/>
                    <a:pt x="3" y="250"/>
                    <a:pt x="5" y="252"/>
                  </a:cubicBezTo>
                  <a:cubicBezTo>
                    <a:pt x="6" y="253"/>
                    <a:pt x="7" y="254"/>
                    <a:pt x="9" y="255"/>
                  </a:cubicBezTo>
                  <a:cubicBezTo>
                    <a:pt x="32" y="269"/>
                    <a:pt x="61" y="278"/>
                    <a:pt x="92" y="278"/>
                  </a:cubicBezTo>
                  <a:cubicBezTo>
                    <a:pt x="100" y="278"/>
                    <a:pt x="108" y="277"/>
                    <a:pt x="115" y="276"/>
                  </a:cubicBezTo>
                  <a:cubicBezTo>
                    <a:pt x="115" y="276"/>
                    <a:pt x="115" y="275"/>
                    <a:pt x="115" y="275"/>
                  </a:cubicBezTo>
                  <a:cubicBezTo>
                    <a:pt x="113" y="271"/>
                    <a:pt x="111" y="267"/>
                    <a:pt x="111" y="263"/>
                  </a:cubicBezTo>
                  <a:cubicBezTo>
                    <a:pt x="105" y="264"/>
                    <a:pt x="99" y="264"/>
                    <a:pt x="92" y="264"/>
                  </a:cubicBezTo>
                  <a:cubicBezTo>
                    <a:pt x="63" y="264"/>
                    <a:pt x="37" y="257"/>
                    <a:pt x="16" y="244"/>
                  </a:cubicBezTo>
                  <a:cubicBezTo>
                    <a:pt x="16" y="244"/>
                    <a:pt x="15" y="243"/>
                    <a:pt x="15" y="243"/>
                  </a:cubicBezTo>
                  <a:cubicBezTo>
                    <a:pt x="15" y="243"/>
                    <a:pt x="14" y="242"/>
                    <a:pt x="14" y="241"/>
                  </a:cubicBezTo>
                  <a:cubicBezTo>
                    <a:pt x="13" y="240"/>
                    <a:pt x="13" y="238"/>
                    <a:pt x="13" y="238"/>
                  </a:cubicBezTo>
                  <a:cubicBezTo>
                    <a:pt x="13" y="238"/>
                    <a:pt x="13" y="237"/>
                    <a:pt x="13" y="237"/>
                  </a:cubicBezTo>
                  <a:cubicBezTo>
                    <a:pt x="13" y="237"/>
                    <a:pt x="13" y="237"/>
                    <a:pt x="13" y="237"/>
                  </a:cubicBezTo>
                  <a:cubicBezTo>
                    <a:pt x="15" y="218"/>
                    <a:pt x="20" y="201"/>
                    <a:pt x="29" y="187"/>
                  </a:cubicBezTo>
                  <a:cubicBezTo>
                    <a:pt x="38" y="173"/>
                    <a:pt x="50" y="162"/>
                    <a:pt x="63" y="156"/>
                  </a:cubicBezTo>
                  <a:cubicBezTo>
                    <a:pt x="72" y="151"/>
                    <a:pt x="82" y="149"/>
                    <a:pt x="92" y="149"/>
                  </a:cubicBezTo>
                  <a:cubicBezTo>
                    <a:pt x="102" y="149"/>
                    <a:pt x="112" y="151"/>
                    <a:pt x="121" y="156"/>
                  </a:cubicBezTo>
                  <a:cubicBezTo>
                    <a:pt x="128" y="159"/>
                    <a:pt x="136" y="164"/>
                    <a:pt x="142" y="171"/>
                  </a:cubicBezTo>
                  <a:cubicBezTo>
                    <a:pt x="145" y="167"/>
                    <a:pt x="147" y="164"/>
                    <a:pt x="150" y="160"/>
                  </a:cubicBezTo>
                  <a:cubicBezTo>
                    <a:pt x="143" y="153"/>
                    <a:pt x="135" y="148"/>
                    <a:pt x="127" y="144"/>
                  </a:cubicBezTo>
                  <a:cubicBezTo>
                    <a:pt x="123" y="142"/>
                    <a:pt x="120" y="141"/>
                    <a:pt x="117" y="140"/>
                  </a:cubicBezTo>
                  <a:cubicBezTo>
                    <a:pt x="122" y="137"/>
                    <a:pt x="127" y="133"/>
                    <a:pt x="132" y="129"/>
                  </a:cubicBezTo>
                  <a:cubicBezTo>
                    <a:pt x="142" y="119"/>
                    <a:pt x="148" y="105"/>
                    <a:pt x="148" y="90"/>
                  </a:cubicBezTo>
                  <a:cubicBezTo>
                    <a:pt x="148" y="74"/>
                    <a:pt x="142" y="60"/>
                    <a:pt x="132" y="50"/>
                  </a:cubicBezTo>
                  <a:cubicBezTo>
                    <a:pt x="122" y="40"/>
                    <a:pt x="108" y="34"/>
                    <a:pt x="92" y="34"/>
                  </a:cubicBezTo>
                  <a:cubicBezTo>
                    <a:pt x="77" y="34"/>
                    <a:pt x="63" y="40"/>
                    <a:pt x="53" y="50"/>
                  </a:cubicBezTo>
                  <a:cubicBezTo>
                    <a:pt x="43" y="60"/>
                    <a:pt x="36" y="74"/>
                    <a:pt x="36" y="90"/>
                  </a:cubicBezTo>
                  <a:cubicBezTo>
                    <a:pt x="36" y="105"/>
                    <a:pt x="43" y="119"/>
                    <a:pt x="53" y="129"/>
                  </a:cubicBezTo>
                  <a:cubicBezTo>
                    <a:pt x="57" y="133"/>
                    <a:pt x="62" y="137"/>
                    <a:pt x="67" y="140"/>
                  </a:cubicBezTo>
                  <a:cubicBezTo>
                    <a:pt x="64" y="141"/>
                    <a:pt x="61" y="142"/>
                    <a:pt x="58" y="144"/>
                  </a:cubicBezTo>
                  <a:cubicBezTo>
                    <a:pt x="47" y="149"/>
                    <a:pt x="37" y="156"/>
                    <a:pt x="29" y="165"/>
                  </a:cubicBezTo>
                  <a:cubicBezTo>
                    <a:pt x="13" y="183"/>
                    <a:pt x="2" y="208"/>
                    <a:pt x="0" y="236"/>
                  </a:cubicBezTo>
                  <a:cubicBezTo>
                    <a:pt x="6" y="237"/>
                    <a:pt x="6" y="237"/>
                    <a:pt x="6" y="237"/>
                  </a:cubicBezTo>
                  <a:cubicBezTo>
                    <a:pt x="0" y="236"/>
                    <a:pt x="0" y="236"/>
                    <a:pt x="0" y="236"/>
                  </a:cubicBezTo>
                  <a:cubicBezTo>
                    <a:pt x="0" y="237"/>
                    <a:pt x="0" y="237"/>
                    <a:pt x="0" y="238"/>
                  </a:cubicBezTo>
                  <a:close/>
                  <a:moveTo>
                    <a:pt x="92" y="132"/>
                  </a:moveTo>
                  <a:cubicBezTo>
                    <a:pt x="80" y="132"/>
                    <a:pt x="70" y="127"/>
                    <a:pt x="62" y="120"/>
                  </a:cubicBezTo>
                  <a:cubicBezTo>
                    <a:pt x="54" y="112"/>
                    <a:pt x="50" y="101"/>
                    <a:pt x="50" y="90"/>
                  </a:cubicBezTo>
                  <a:cubicBezTo>
                    <a:pt x="50" y="78"/>
                    <a:pt x="54" y="67"/>
                    <a:pt x="62" y="59"/>
                  </a:cubicBezTo>
                  <a:cubicBezTo>
                    <a:pt x="70" y="52"/>
                    <a:pt x="80" y="47"/>
                    <a:pt x="92" y="47"/>
                  </a:cubicBezTo>
                  <a:cubicBezTo>
                    <a:pt x="104" y="47"/>
                    <a:pt x="115" y="52"/>
                    <a:pt x="122" y="59"/>
                  </a:cubicBezTo>
                  <a:cubicBezTo>
                    <a:pt x="130" y="67"/>
                    <a:pt x="135" y="78"/>
                    <a:pt x="135" y="90"/>
                  </a:cubicBezTo>
                  <a:cubicBezTo>
                    <a:pt x="135" y="101"/>
                    <a:pt x="130" y="112"/>
                    <a:pt x="122" y="120"/>
                  </a:cubicBezTo>
                  <a:cubicBezTo>
                    <a:pt x="115" y="127"/>
                    <a:pt x="104" y="132"/>
                    <a:pt x="92" y="132"/>
                  </a:cubicBezTo>
                  <a:close/>
                  <a:moveTo>
                    <a:pt x="302" y="64"/>
                  </a:moveTo>
                  <a:cubicBezTo>
                    <a:pt x="302" y="29"/>
                    <a:pt x="273" y="0"/>
                    <a:pt x="237" y="0"/>
                  </a:cubicBezTo>
                  <a:cubicBezTo>
                    <a:pt x="202" y="0"/>
                    <a:pt x="173" y="29"/>
                    <a:pt x="173" y="64"/>
                  </a:cubicBezTo>
                  <a:cubicBezTo>
                    <a:pt x="173" y="100"/>
                    <a:pt x="202" y="129"/>
                    <a:pt x="237" y="129"/>
                  </a:cubicBezTo>
                  <a:cubicBezTo>
                    <a:pt x="273" y="129"/>
                    <a:pt x="302" y="100"/>
                    <a:pt x="302" y="64"/>
                  </a:cubicBezTo>
                  <a:close/>
                  <a:moveTo>
                    <a:pt x="125" y="257"/>
                  </a:moveTo>
                  <a:cubicBezTo>
                    <a:pt x="124" y="263"/>
                    <a:pt x="128" y="271"/>
                    <a:pt x="133" y="274"/>
                  </a:cubicBezTo>
                  <a:cubicBezTo>
                    <a:pt x="162" y="291"/>
                    <a:pt x="198" y="302"/>
                    <a:pt x="237" y="302"/>
                  </a:cubicBezTo>
                  <a:cubicBezTo>
                    <a:pt x="277" y="302"/>
                    <a:pt x="313" y="291"/>
                    <a:pt x="341" y="274"/>
                  </a:cubicBezTo>
                  <a:cubicBezTo>
                    <a:pt x="346" y="271"/>
                    <a:pt x="350" y="263"/>
                    <a:pt x="350" y="257"/>
                  </a:cubicBezTo>
                  <a:cubicBezTo>
                    <a:pt x="344" y="187"/>
                    <a:pt x="296" y="133"/>
                    <a:pt x="237" y="133"/>
                  </a:cubicBezTo>
                  <a:cubicBezTo>
                    <a:pt x="179" y="133"/>
                    <a:pt x="131" y="187"/>
                    <a:pt x="125" y="25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grpSp>
        <p:nvGrpSpPr>
          <p:cNvPr id="15" name="Group 14">
            <a:extLst>
              <a:ext uri="{FF2B5EF4-FFF2-40B4-BE49-F238E27FC236}">
                <a16:creationId xmlns:a16="http://schemas.microsoft.com/office/drawing/2014/main" id="{86F5FD78-31CE-B5FF-EB4D-1EEF5EBB97DA}"/>
              </a:ext>
            </a:extLst>
          </p:cNvPr>
          <p:cNvGrpSpPr/>
          <p:nvPr/>
        </p:nvGrpSpPr>
        <p:grpSpPr>
          <a:xfrm>
            <a:off x="6472701" y="2276275"/>
            <a:ext cx="529154" cy="332581"/>
            <a:chOff x="1654410" y="1353376"/>
            <a:chExt cx="790575" cy="496888"/>
          </a:xfrm>
          <a:solidFill>
            <a:srgbClr val="666666">
              <a:lumMod val="20000"/>
              <a:lumOff val="80000"/>
            </a:srgbClr>
          </a:solidFill>
          <a:effectLst>
            <a:outerShdw blurRad="63500" sx="102000" sy="102000" algn="ctr" rotWithShape="0">
              <a:prstClr val="black">
                <a:alpha val="40000"/>
              </a:prstClr>
            </a:outerShdw>
          </a:effectLst>
        </p:grpSpPr>
        <p:sp>
          <p:nvSpPr>
            <p:cNvPr id="16" name="Freeform 12">
              <a:extLst>
                <a:ext uri="{FF2B5EF4-FFF2-40B4-BE49-F238E27FC236}">
                  <a16:creationId xmlns:a16="http://schemas.microsoft.com/office/drawing/2014/main" id="{7ED30F9F-44DB-8783-AB3D-CF68D9FB5AB7}"/>
                </a:ext>
              </a:extLst>
            </p:cNvPr>
            <p:cNvSpPr>
              <a:spLocks/>
            </p:cNvSpPr>
            <p:nvPr/>
          </p:nvSpPr>
          <p:spPr bwMode="auto">
            <a:xfrm>
              <a:off x="1835385" y="1353376"/>
              <a:ext cx="530225" cy="304800"/>
            </a:xfrm>
            <a:custGeom>
              <a:avLst/>
              <a:gdLst>
                <a:gd name="T0" fmla="*/ 141 w 141"/>
                <a:gd name="T1" fmla="*/ 79 h 81"/>
                <a:gd name="T2" fmla="*/ 131 w 141"/>
                <a:gd name="T3" fmla="*/ 81 h 81"/>
                <a:gd name="T4" fmla="*/ 47 w 141"/>
                <a:gd name="T5" fmla="*/ 25 h 81"/>
                <a:gd name="T6" fmla="*/ 12 w 141"/>
                <a:gd name="T7" fmla="*/ 42 h 81"/>
                <a:gd name="T8" fmla="*/ 1 w 141"/>
                <a:gd name="T9" fmla="*/ 28 h 81"/>
                <a:gd name="T10" fmla="*/ 19 w 141"/>
                <a:gd name="T11" fmla="*/ 13 h 81"/>
                <a:gd name="T12" fmla="*/ 44 w 141"/>
                <a:gd name="T13" fmla="*/ 0 h 81"/>
                <a:gd name="T14" fmla="*/ 105 w 141"/>
                <a:gd name="T15" fmla="*/ 25 h 81"/>
                <a:gd name="T16" fmla="*/ 124 w 141"/>
                <a:gd name="T17" fmla="*/ 24 h 81"/>
                <a:gd name="T18" fmla="*/ 137 w 141"/>
                <a:gd name="T19" fmla="*/ 47 h 81"/>
                <a:gd name="T20" fmla="*/ 141 w 141"/>
                <a:gd name="T21" fmla="*/ 7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 h="81">
                  <a:moveTo>
                    <a:pt x="141" y="79"/>
                  </a:moveTo>
                  <a:cubicBezTo>
                    <a:pt x="137" y="79"/>
                    <a:pt x="134" y="80"/>
                    <a:pt x="131" y="81"/>
                  </a:cubicBezTo>
                  <a:cubicBezTo>
                    <a:pt x="102" y="64"/>
                    <a:pt x="79" y="40"/>
                    <a:pt x="47" y="25"/>
                  </a:cubicBezTo>
                  <a:cubicBezTo>
                    <a:pt x="32" y="28"/>
                    <a:pt x="26" y="43"/>
                    <a:pt x="12" y="42"/>
                  </a:cubicBezTo>
                  <a:cubicBezTo>
                    <a:pt x="6" y="42"/>
                    <a:pt x="0" y="37"/>
                    <a:pt x="1" y="28"/>
                  </a:cubicBezTo>
                  <a:cubicBezTo>
                    <a:pt x="2" y="21"/>
                    <a:pt x="14" y="16"/>
                    <a:pt x="19" y="13"/>
                  </a:cubicBezTo>
                  <a:cubicBezTo>
                    <a:pt x="25" y="9"/>
                    <a:pt x="38" y="0"/>
                    <a:pt x="44" y="0"/>
                  </a:cubicBezTo>
                  <a:cubicBezTo>
                    <a:pt x="64" y="1"/>
                    <a:pt x="88" y="23"/>
                    <a:pt x="105" y="25"/>
                  </a:cubicBezTo>
                  <a:cubicBezTo>
                    <a:pt x="111" y="26"/>
                    <a:pt x="119" y="22"/>
                    <a:pt x="124" y="24"/>
                  </a:cubicBezTo>
                  <a:cubicBezTo>
                    <a:pt x="131" y="25"/>
                    <a:pt x="135" y="39"/>
                    <a:pt x="137" y="47"/>
                  </a:cubicBezTo>
                  <a:cubicBezTo>
                    <a:pt x="140" y="57"/>
                    <a:pt x="141" y="67"/>
                    <a:pt x="141"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7" name="Freeform 13">
              <a:extLst>
                <a:ext uri="{FF2B5EF4-FFF2-40B4-BE49-F238E27FC236}">
                  <a16:creationId xmlns:a16="http://schemas.microsoft.com/office/drawing/2014/main" id="{365600A3-4A1C-0B48-EC20-A882377D4345}"/>
                </a:ext>
              </a:extLst>
            </p:cNvPr>
            <p:cNvSpPr>
              <a:spLocks/>
            </p:cNvSpPr>
            <p:nvPr/>
          </p:nvSpPr>
          <p:spPr bwMode="auto">
            <a:xfrm>
              <a:off x="1654410" y="1377189"/>
              <a:ext cx="136525" cy="280988"/>
            </a:xfrm>
            <a:custGeom>
              <a:avLst/>
              <a:gdLst>
                <a:gd name="T0" fmla="*/ 36 w 36"/>
                <a:gd name="T1" fmla="*/ 6 h 75"/>
                <a:gd name="T2" fmla="*/ 19 w 36"/>
                <a:gd name="T3" fmla="*/ 75 h 75"/>
                <a:gd name="T4" fmla="*/ 0 w 36"/>
                <a:gd name="T5" fmla="*/ 70 h 75"/>
                <a:gd name="T6" fmla="*/ 22 w 36"/>
                <a:gd name="T7" fmla="*/ 1 h 75"/>
                <a:gd name="T8" fmla="*/ 36 w 36"/>
                <a:gd name="T9" fmla="*/ 6 h 75"/>
              </a:gdLst>
              <a:ahLst/>
              <a:cxnLst>
                <a:cxn ang="0">
                  <a:pos x="T0" y="T1"/>
                </a:cxn>
                <a:cxn ang="0">
                  <a:pos x="T2" y="T3"/>
                </a:cxn>
                <a:cxn ang="0">
                  <a:pos x="T4" y="T5"/>
                </a:cxn>
                <a:cxn ang="0">
                  <a:pos x="T6" y="T7"/>
                </a:cxn>
                <a:cxn ang="0">
                  <a:pos x="T8" y="T9"/>
                </a:cxn>
              </a:cxnLst>
              <a:rect l="0" t="0" r="r" b="b"/>
              <a:pathLst>
                <a:path w="36" h="75">
                  <a:moveTo>
                    <a:pt x="36" y="6"/>
                  </a:moveTo>
                  <a:cubicBezTo>
                    <a:pt x="28" y="27"/>
                    <a:pt x="18" y="46"/>
                    <a:pt x="19" y="75"/>
                  </a:cubicBezTo>
                  <a:cubicBezTo>
                    <a:pt x="12" y="74"/>
                    <a:pt x="3" y="74"/>
                    <a:pt x="0" y="70"/>
                  </a:cubicBezTo>
                  <a:cubicBezTo>
                    <a:pt x="4" y="47"/>
                    <a:pt x="12" y="21"/>
                    <a:pt x="22" y="1"/>
                  </a:cubicBezTo>
                  <a:cubicBezTo>
                    <a:pt x="29" y="0"/>
                    <a:pt x="31" y="5"/>
                    <a:pt x="3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8" name="Freeform 14">
              <a:extLst>
                <a:ext uri="{FF2B5EF4-FFF2-40B4-BE49-F238E27FC236}">
                  <a16:creationId xmlns:a16="http://schemas.microsoft.com/office/drawing/2014/main" id="{078C027C-BFA2-B67C-9698-90BBAD816EA7}"/>
                </a:ext>
              </a:extLst>
            </p:cNvPr>
            <p:cNvSpPr>
              <a:spLocks/>
            </p:cNvSpPr>
            <p:nvPr/>
          </p:nvSpPr>
          <p:spPr bwMode="auto">
            <a:xfrm>
              <a:off x="2321160" y="1391476"/>
              <a:ext cx="123825" cy="271463"/>
            </a:xfrm>
            <a:custGeom>
              <a:avLst/>
              <a:gdLst>
                <a:gd name="T0" fmla="*/ 25 w 33"/>
                <a:gd name="T1" fmla="*/ 5 h 72"/>
                <a:gd name="T2" fmla="*/ 31 w 33"/>
                <a:gd name="T3" fmla="*/ 70 h 72"/>
                <a:gd name="T4" fmla="*/ 18 w 33"/>
                <a:gd name="T5" fmla="*/ 72 h 72"/>
                <a:gd name="T6" fmla="*/ 0 w 33"/>
                <a:gd name="T7" fmla="*/ 7 h 72"/>
                <a:gd name="T8" fmla="*/ 25 w 33"/>
                <a:gd name="T9" fmla="*/ 5 h 72"/>
              </a:gdLst>
              <a:ahLst/>
              <a:cxnLst>
                <a:cxn ang="0">
                  <a:pos x="T0" y="T1"/>
                </a:cxn>
                <a:cxn ang="0">
                  <a:pos x="T2" y="T3"/>
                </a:cxn>
                <a:cxn ang="0">
                  <a:pos x="T4" y="T5"/>
                </a:cxn>
                <a:cxn ang="0">
                  <a:pos x="T6" y="T7"/>
                </a:cxn>
                <a:cxn ang="0">
                  <a:pos x="T8" y="T9"/>
                </a:cxn>
              </a:cxnLst>
              <a:rect l="0" t="0" r="r" b="b"/>
              <a:pathLst>
                <a:path w="33" h="72">
                  <a:moveTo>
                    <a:pt x="25" y="5"/>
                  </a:moveTo>
                  <a:cubicBezTo>
                    <a:pt x="28" y="25"/>
                    <a:pt x="33" y="51"/>
                    <a:pt x="31" y="70"/>
                  </a:cubicBezTo>
                  <a:cubicBezTo>
                    <a:pt x="28" y="72"/>
                    <a:pt x="21" y="70"/>
                    <a:pt x="18" y="72"/>
                  </a:cubicBezTo>
                  <a:cubicBezTo>
                    <a:pt x="19" y="44"/>
                    <a:pt x="11" y="24"/>
                    <a:pt x="0" y="7"/>
                  </a:cubicBezTo>
                  <a:cubicBezTo>
                    <a:pt x="9" y="7"/>
                    <a:pt x="18" y="0"/>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9" name="Freeform 15">
              <a:extLst>
                <a:ext uri="{FF2B5EF4-FFF2-40B4-BE49-F238E27FC236}">
                  <a16:creationId xmlns:a16="http://schemas.microsoft.com/office/drawing/2014/main" id="{D427FF84-535A-264C-C469-9275D5439572}"/>
                </a:ext>
              </a:extLst>
            </p:cNvPr>
            <p:cNvSpPr>
              <a:spLocks/>
            </p:cNvSpPr>
            <p:nvPr/>
          </p:nvSpPr>
          <p:spPr bwMode="auto">
            <a:xfrm>
              <a:off x="1744897" y="1413701"/>
              <a:ext cx="571500" cy="436563"/>
            </a:xfrm>
            <a:custGeom>
              <a:avLst/>
              <a:gdLst>
                <a:gd name="T0" fmla="*/ 24 w 152"/>
                <a:gd name="T1" fmla="*/ 0 h 116"/>
                <a:gd name="T2" fmla="*/ 41 w 152"/>
                <a:gd name="T3" fmla="*/ 32 h 116"/>
                <a:gd name="T4" fmla="*/ 70 w 152"/>
                <a:gd name="T5" fmla="*/ 16 h 116"/>
                <a:gd name="T6" fmla="*/ 112 w 152"/>
                <a:gd name="T7" fmla="*/ 42 h 116"/>
                <a:gd name="T8" fmla="*/ 151 w 152"/>
                <a:gd name="T9" fmla="*/ 71 h 116"/>
                <a:gd name="T10" fmla="*/ 111 w 152"/>
                <a:gd name="T11" fmla="*/ 64 h 116"/>
                <a:gd name="T12" fmla="*/ 136 w 152"/>
                <a:gd name="T13" fmla="*/ 85 h 116"/>
                <a:gd name="T14" fmla="*/ 95 w 152"/>
                <a:gd name="T15" fmla="*/ 73 h 116"/>
                <a:gd name="T16" fmla="*/ 120 w 152"/>
                <a:gd name="T17" fmla="*/ 95 h 116"/>
                <a:gd name="T18" fmla="*/ 87 w 152"/>
                <a:gd name="T19" fmla="*/ 89 h 116"/>
                <a:gd name="T20" fmla="*/ 102 w 152"/>
                <a:gd name="T21" fmla="*/ 103 h 116"/>
                <a:gd name="T22" fmla="*/ 95 w 152"/>
                <a:gd name="T23" fmla="*/ 112 h 116"/>
                <a:gd name="T24" fmla="*/ 79 w 152"/>
                <a:gd name="T25" fmla="*/ 101 h 116"/>
                <a:gd name="T26" fmla="*/ 65 w 152"/>
                <a:gd name="T27" fmla="*/ 72 h 116"/>
                <a:gd name="T28" fmla="*/ 55 w 152"/>
                <a:gd name="T29" fmla="*/ 61 h 116"/>
                <a:gd name="T30" fmla="*/ 44 w 152"/>
                <a:gd name="T31" fmla="*/ 63 h 116"/>
                <a:gd name="T32" fmla="*/ 36 w 152"/>
                <a:gd name="T33" fmla="*/ 59 h 116"/>
                <a:gd name="T34" fmla="*/ 25 w 152"/>
                <a:gd name="T35" fmla="*/ 61 h 116"/>
                <a:gd name="T36" fmla="*/ 16 w 152"/>
                <a:gd name="T37" fmla="*/ 57 h 116"/>
                <a:gd name="T38" fmla="*/ 0 w 152"/>
                <a:gd name="T39" fmla="*/ 65 h 116"/>
                <a:gd name="T40" fmla="*/ 16 w 152"/>
                <a:gd name="T41" fmla="*/ 0 h 116"/>
                <a:gd name="T42" fmla="*/ 24 w 152"/>
                <a:gd name="T43"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2" h="116">
                  <a:moveTo>
                    <a:pt x="24" y="0"/>
                  </a:moveTo>
                  <a:cubicBezTo>
                    <a:pt x="13" y="13"/>
                    <a:pt x="22" y="35"/>
                    <a:pt x="41" y="32"/>
                  </a:cubicBezTo>
                  <a:cubicBezTo>
                    <a:pt x="54" y="30"/>
                    <a:pt x="62" y="17"/>
                    <a:pt x="70" y="16"/>
                  </a:cubicBezTo>
                  <a:cubicBezTo>
                    <a:pt x="81" y="16"/>
                    <a:pt x="105" y="37"/>
                    <a:pt x="112" y="42"/>
                  </a:cubicBezTo>
                  <a:cubicBezTo>
                    <a:pt x="126" y="52"/>
                    <a:pt x="139" y="61"/>
                    <a:pt x="151" y="71"/>
                  </a:cubicBezTo>
                  <a:cubicBezTo>
                    <a:pt x="152" y="103"/>
                    <a:pt x="124" y="65"/>
                    <a:pt x="111" y="64"/>
                  </a:cubicBezTo>
                  <a:cubicBezTo>
                    <a:pt x="115" y="72"/>
                    <a:pt x="130" y="77"/>
                    <a:pt x="136" y="85"/>
                  </a:cubicBezTo>
                  <a:cubicBezTo>
                    <a:pt x="131" y="111"/>
                    <a:pt x="106" y="72"/>
                    <a:pt x="95" y="73"/>
                  </a:cubicBezTo>
                  <a:cubicBezTo>
                    <a:pt x="100" y="83"/>
                    <a:pt x="113" y="86"/>
                    <a:pt x="120" y="95"/>
                  </a:cubicBezTo>
                  <a:cubicBezTo>
                    <a:pt x="114" y="116"/>
                    <a:pt x="99" y="91"/>
                    <a:pt x="87" y="89"/>
                  </a:cubicBezTo>
                  <a:cubicBezTo>
                    <a:pt x="89" y="96"/>
                    <a:pt x="98" y="97"/>
                    <a:pt x="102" y="103"/>
                  </a:cubicBezTo>
                  <a:cubicBezTo>
                    <a:pt x="102" y="109"/>
                    <a:pt x="98" y="110"/>
                    <a:pt x="95" y="112"/>
                  </a:cubicBezTo>
                  <a:cubicBezTo>
                    <a:pt x="88" y="109"/>
                    <a:pt x="83" y="106"/>
                    <a:pt x="79" y="101"/>
                  </a:cubicBezTo>
                  <a:cubicBezTo>
                    <a:pt x="83" y="87"/>
                    <a:pt x="82" y="73"/>
                    <a:pt x="65" y="72"/>
                  </a:cubicBezTo>
                  <a:cubicBezTo>
                    <a:pt x="64" y="66"/>
                    <a:pt x="62" y="62"/>
                    <a:pt x="55" y="61"/>
                  </a:cubicBezTo>
                  <a:cubicBezTo>
                    <a:pt x="51" y="60"/>
                    <a:pt x="48" y="63"/>
                    <a:pt x="44" y="63"/>
                  </a:cubicBezTo>
                  <a:cubicBezTo>
                    <a:pt x="41" y="62"/>
                    <a:pt x="38" y="59"/>
                    <a:pt x="36" y="59"/>
                  </a:cubicBezTo>
                  <a:cubicBezTo>
                    <a:pt x="33" y="59"/>
                    <a:pt x="29" y="61"/>
                    <a:pt x="25" y="61"/>
                  </a:cubicBezTo>
                  <a:cubicBezTo>
                    <a:pt x="22" y="60"/>
                    <a:pt x="19" y="57"/>
                    <a:pt x="16" y="57"/>
                  </a:cubicBezTo>
                  <a:cubicBezTo>
                    <a:pt x="9" y="57"/>
                    <a:pt x="6" y="64"/>
                    <a:pt x="0" y="65"/>
                  </a:cubicBezTo>
                  <a:cubicBezTo>
                    <a:pt x="0" y="38"/>
                    <a:pt x="9" y="19"/>
                    <a:pt x="16" y="0"/>
                  </a:cubicBezTo>
                  <a:cubicBezTo>
                    <a:pt x="19" y="0"/>
                    <a:pt x="22"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20" name="Freeform 16">
              <a:extLst>
                <a:ext uri="{FF2B5EF4-FFF2-40B4-BE49-F238E27FC236}">
                  <a16:creationId xmlns:a16="http://schemas.microsoft.com/office/drawing/2014/main" id="{0593F3C7-67CE-2FE5-B832-71D4C82CFBD4}"/>
                </a:ext>
              </a:extLst>
            </p:cNvPr>
            <p:cNvSpPr>
              <a:spLocks/>
            </p:cNvSpPr>
            <p:nvPr/>
          </p:nvSpPr>
          <p:spPr bwMode="auto">
            <a:xfrm>
              <a:off x="1736960" y="1586739"/>
              <a:ext cx="301625" cy="252413"/>
            </a:xfrm>
            <a:custGeom>
              <a:avLst/>
              <a:gdLst>
                <a:gd name="T0" fmla="*/ 26 w 80"/>
                <a:gd name="T1" fmla="*/ 24 h 67"/>
                <a:gd name="T2" fmla="*/ 44 w 80"/>
                <a:gd name="T3" fmla="*/ 26 h 67"/>
                <a:gd name="T4" fmla="*/ 61 w 80"/>
                <a:gd name="T5" fmla="*/ 34 h 67"/>
                <a:gd name="T6" fmla="*/ 73 w 80"/>
                <a:gd name="T7" fmla="*/ 61 h 67"/>
                <a:gd name="T8" fmla="*/ 56 w 80"/>
                <a:gd name="T9" fmla="*/ 56 h 67"/>
                <a:gd name="T10" fmla="*/ 40 w 80"/>
                <a:gd name="T11" fmla="*/ 48 h 67"/>
                <a:gd name="T12" fmla="*/ 25 w 80"/>
                <a:gd name="T13" fmla="*/ 46 h 67"/>
                <a:gd name="T14" fmla="*/ 26 w 80"/>
                <a:gd name="T15" fmla="*/ 24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67">
                  <a:moveTo>
                    <a:pt x="26" y="24"/>
                  </a:moveTo>
                  <a:cubicBezTo>
                    <a:pt x="30" y="17"/>
                    <a:pt x="43" y="17"/>
                    <a:pt x="44" y="26"/>
                  </a:cubicBezTo>
                  <a:cubicBezTo>
                    <a:pt x="48" y="16"/>
                    <a:pt x="68" y="22"/>
                    <a:pt x="61" y="34"/>
                  </a:cubicBezTo>
                  <a:cubicBezTo>
                    <a:pt x="78" y="25"/>
                    <a:pt x="80" y="49"/>
                    <a:pt x="73" y="61"/>
                  </a:cubicBezTo>
                  <a:cubicBezTo>
                    <a:pt x="68" y="67"/>
                    <a:pt x="56" y="65"/>
                    <a:pt x="56" y="56"/>
                  </a:cubicBezTo>
                  <a:cubicBezTo>
                    <a:pt x="50" y="61"/>
                    <a:pt x="38" y="59"/>
                    <a:pt x="40" y="48"/>
                  </a:cubicBezTo>
                  <a:cubicBezTo>
                    <a:pt x="37" y="53"/>
                    <a:pt x="25" y="53"/>
                    <a:pt x="25" y="46"/>
                  </a:cubicBezTo>
                  <a:cubicBezTo>
                    <a:pt x="0" y="50"/>
                    <a:pt x="10" y="0"/>
                    <a:pt x="2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21" name="Freeform 17">
              <a:extLst>
                <a:ext uri="{FF2B5EF4-FFF2-40B4-BE49-F238E27FC236}">
                  <a16:creationId xmlns:a16="http://schemas.microsoft.com/office/drawing/2014/main" id="{1CF5FD4B-DC3C-696D-AE83-859C9E3FBBBF}"/>
                </a:ext>
              </a:extLst>
            </p:cNvPr>
            <p:cNvSpPr>
              <a:spLocks noEditPoints="1"/>
            </p:cNvSpPr>
            <p:nvPr/>
          </p:nvSpPr>
          <p:spPr bwMode="auto">
            <a:xfrm>
              <a:off x="1654410" y="1353376"/>
              <a:ext cx="790575" cy="496888"/>
            </a:xfrm>
            <a:custGeom>
              <a:avLst/>
              <a:gdLst>
                <a:gd name="T0" fmla="*/ 185 w 210"/>
                <a:gd name="T1" fmla="*/ 47 h 132"/>
                <a:gd name="T2" fmla="*/ 172 w 210"/>
                <a:gd name="T3" fmla="*/ 24 h 132"/>
                <a:gd name="T4" fmla="*/ 153 w 210"/>
                <a:gd name="T5" fmla="*/ 25 h 132"/>
                <a:gd name="T6" fmla="*/ 92 w 210"/>
                <a:gd name="T7" fmla="*/ 0 h 132"/>
                <a:gd name="T8" fmla="*/ 67 w 210"/>
                <a:gd name="T9" fmla="*/ 13 h 132"/>
                <a:gd name="T10" fmla="*/ 49 w 210"/>
                <a:gd name="T11" fmla="*/ 28 h 132"/>
                <a:gd name="T12" fmla="*/ 60 w 210"/>
                <a:gd name="T13" fmla="*/ 42 h 132"/>
                <a:gd name="T14" fmla="*/ 95 w 210"/>
                <a:gd name="T15" fmla="*/ 25 h 132"/>
                <a:gd name="T16" fmla="*/ 179 w 210"/>
                <a:gd name="T17" fmla="*/ 81 h 132"/>
                <a:gd name="T18" fmla="*/ 189 w 210"/>
                <a:gd name="T19" fmla="*/ 79 h 132"/>
                <a:gd name="T20" fmla="*/ 185 w 210"/>
                <a:gd name="T21" fmla="*/ 47 h 132"/>
                <a:gd name="T22" fmla="*/ 22 w 210"/>
                <a:gd name="T23" fmla="*/ 7 h 132"/>
                <a:gd name="T24" fmla="*/ 0 w 210"/>
                <a:gd name="T25" fmla="*/ 76 h 132"/>
                <a:gd name="T26" fmla="*/ 19 w 210"/>
                <a:gd name="T27" fmla="*/ 81 h 132"/>
                <a:gd name="T28" fmla="*/ 36 w 210"/>
                <a:gd name="T29" fmla="*/ 12 h 132"/>
                <a:gd name="T30" fmla="*/ 22 w 210"/>
                <a:gd name="T31" fmla="*/ 7 h 132"/>
                <a:gd name="T32" fmla="*/ 177 w 210"/>
                <a:gd name="T33" fmla="*/ 17 h 132"/>
                <a:gd name="T34" fmla="*/ 195 w 210"/>
                <a:gd name="T35" fmla="*/ 82 h 132"/>
                <a:gd name="T36" fmla="*/ 208 w 210"/>
                <a:gd name="T37" fmla="*/ 80 h 132"/>
                <a:gd name="T38" fmla="*/ 202 w 210"/>
                <a:gd name="T39" fmla="*/ 15 h 132"/>
                <a:gd name="T40" fmla="*/ 177 w 210"/>
                <a:gd name="T41" fmla="*/ 17 h 132"/>
                <a:gd name="T42" fmla="*/ 40 w 210"/>
                <a:gd name="T43" fmla="*/ 16 h 132"/>
                <a:gd name="T44" fmla="*/ 24 w 210"/>
                <a:gd name="T45" fmla="*/ 81 h 132"/>
                <a:gd name="T46" fmla="*/ 40 w 210"/>
                <a:gd name="T47" fmla="*/ 73 h 132"/>
                <a:gd name="T48" fmla="*/ 49 w 210"/>
                <a:gd name="T49" fmla="*/ 77 h 132"/>
                <a:gd name="T50" fmla="*/ 60 w 210"/>
                <a:gd name="T51" fmla="*/ 75 h 132"/>
                <a:gd name="T52" fmla="*/ 68 w 210"/>
                <a:gd name="T53" fmla="*/ 79 h 132"/>
                <a:gd name="T54" fmla="*/ 79 w 210"/>
                <a:gd name="T55" fmla="*/ 77 h 132"/>
                <a:gd name="T56" fmla="*/ 89 w 210"/>
                <a:gd name="T57" fmla="*/ 88 h 132"/>
                <a:gd name="T58" fmla="*/ 103 w 210"/>
                <a:gd name="T59" fmla="*/ 117 h 132"/>
                <a:gd name="T60" fmla="*/ 119 w 210"/>
                <a:gd name="T61" fmla="*/ 128 h 132"/>
                <a:gd name="T62" fmla="*/ 126 w 210"/>
                <a:gd name="T63" fmla="*/ 119 h 132"/>
                <a:gd name="T64" fmla="*/ 111 w 210"/>
                <a:gd name="T65" fmla="*/ 105 h 132"/>
                <a:gd name="T66" fmla="*/ 144 w 210"/>
                <a:gd name="T67" fmla="*/ 111 h 132"/>
                <a:gd name="T68" fmla="*/ 119 w 210"/>
                <a:gd name="T69" fmla="*/ 89 h 132"/>
                <a:gd name="T70" fmla="*/ 160 w 210"/>
                <a:gd name="T71" fmla="*/ 101 h 132"/>
                <a:gd name="T72" fmla="*/ 135 w 210"/>
                <a:gd name="T73" fmla="*/ 80 h 132"/>
                <a:gd name="T74" fmla="*/ 175 w 210"/>
                <a:gd name="T75" fmla="*/ 87 h 132"/>
                <a:gd name="T76" fmla="*/ 136 w 210"/>
                <a:gd name="T77" fmla="*/ 58 h 132"/>
                <a:gd name="T78" fmla="*/ 94 w 210"/>
                <a:gd name="T79" fmla="*/ 32 h 132"/>
                <a:gd name="T80" fmla="*/ 65 w 210"/>
                <a:gd name="T81" fmla="*/ 48 h 132"/>
                <a:gd name="T82" fmla="*/ 48 w 210"/>
                <a:gd name="T83" fmla="*/ 16 h 132"/>
                <a:gd name="T84" fmla="*/ 40 w 210"/>
                <a:gd name="T85" fmla="*/ 16 h 132"/>
                <a:gd name="T86" fmla="*/ 47 w 210"/>
                <a:gd name="T87" fmla="*/ 108 h 132"/>
                <a:gd name="T88" fmla="*/ 62 w 210"/>
                <a:gd name="T89" fmla="*/ 110 h 132"/>
                <a:gd name="T90" fmla="*/ 78 w 210"/>
                <a:gd name="T91" fmla="*/ 118 h 132"/>
                <a:gd name="T92" fmla="*/ 95 w 210"/>
                <a:gd name="T93" fmla="*/ 123 h 132"/>
                <a:gd name="T94" fmla="*/ 83 w 210"/>
                <a:gd name="T95" fmla="*/ 96 h 132"/>
                <a:gd name="T96" fmla="*/ 66 w 210"/>
                <a:gd name="T97" fmla="*/ 88 h 132"/>
                <a:gd name="T98" fmla="*/ 48 w 210"/>
                <a:gd name="T99" fmla="*/ 86 h 132"/>
                <a:gd name="T100" fmla="*/ 47 w 210"/>
                <a:gd name="T101" fmla="*/ 108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0" h="132">
                  <a:moveTo>
                    <a:pt x="185" y="47"/>
                  </a:moveTo>
                  <a:cubicBezTo>
                    <a:pt x="183" y="39"/>
                    <a:pt x="179" y="25"/>
                    <a:pt x="172" y="24"/>
                  </a:cubicBezTo>
                  <a:cubicBezTo>
                    <a:pt x="167" y="22"/>
                    <a:pt x="159" y="26"/>
                    <a:pt x="153" y="25"/>
                  </a:cubicBezTo>
                  <a:cubicBezTo>
                    <a:pt x="136" y="23"/>
                    <a:pt x="112" y="1"/>
                    <a:pt x="92" y="0"/>
                  </a:cubicBezTo>
                  <a:cubicBezTo>
                    <a:pt x="86" y="0"/>
                    <a:pt x="73" y="9"/>
                    <a:pt x="67" y="13"/>
                  </a:cubicBezTo>
                  <a:cubicBezTo>
                    <a:pt x="62" y="16"/>
                    <a:pt x="50" y="21"/>
                    <a:pt x="49" y="28"/>
                  </a:cubicBezTo>
                  <a:cubicBezTo>
                    <a:pt x="48" y="37"/>
                    <a:pt x="54" y="42"/>
                    <a:pt x="60" y="42"/>
                  </a:cubicBezTo>
                  <a:cubicBezTo>
                    <a:pt x="74" y="43"/>
                    <a:pt x="80" y="28"/>
                    <a:pt x="95" y="25"/>
                  </a:cubicBezTo>
                  <a:cubicBezTo>
                    <a:pt x="127" y="40"/>
                    <a:pt x="150" y="64"/>
                    <a:pt x="179" y="81"/>
                  </a:cubicBezTo>
                  <a:cubicBezTo>
                    <a:pt x="182" y="80"/>
                    <a:pt x="185" y="79"/>
                    <a:pt x="189" y="79"/>
                  </a:cubicBezTo>
                  <a:cubicBezTo>
                    <a:pt x="189" y="67"/>
                    <a:pt x="188" y="57"/>
                    <a:pt x="185" y="47"/>
                  </a:cubicBezTo>
                  <a:close/>
                  <a:moveTo>
                    <a:pt x="22" y="7"/>
                  </a:moveTo>
                  <a:cubicBezTo>
                    <a:pt x="12" y="27"/>
                    <a:pt x="4" y="53"/>
                    <a:pt x="0" y="76"/>
                  </a:cubicBezTo>
                  <a:cubicBezTo>
                    <a:pt x="3" y="80"/>
                    <a:pt x="12" y="80"/>
                    <a:pt x="19" y="81"/>
                  </a:cubicBezTo>
                  <a:cubicBezTo>
                    <a:pt x="18" y="52"/>
                    <a:pt x="28" y="33"/>
                    <a:pt x="36" y="12"/>
                  </a:cubicBezTo>
                  <a:cubicBezTo>
                    <a:pt x="31" y="11"/>
                    <a:pt x="29" y="6"/>
                    <a:pt x="22" y="7"/>
                  </a:cubicBezTo>
                  <a:close/>
                  <a:moveTo>
                    <a:pt x="177" y="17"/>
                  </a:moveTo>
                  <a:cubicBezTo>
                    <a:pt x="188" y="34"/>
                    <a:pt x="196" y="54"/>
                    <a:pt x="195" y="82"/>
                  </a:cubicBezTo>
                  <a:cubicBezTo>
                    <a:pt x="198" y="80"/>
                    <a:pt x="205" y="82"/>
                    <a:pt x="208" y="80"/>
                  </a:cubicBezTo>
                  <a:cubicBezTo>
                    <a:pt x="210" y="61"/>
                    <a:pt x="205" y="35"/>
                    <a:pt x="202" y="15"/>
                  </a:cubicBezTo>
                  <a:cubicBezTo>
                    <a:pt x="195" y="10"/>
                    <a:pt x="186" y="17"/>
                    <a:pt x="177" y="17"/>
                  </a:cubicBezTo>
                  <a:close/>
                  <a:moveTo>
                    <a:pt x="40" y="16"/>
                  </a:moveTo>
                  <a:cubicBezTo>
                    <a:pt x="33" y="35"/>
                    <a:pt x="24" y="54"/>
                    <a:pt x="24" y="81"/>
                  </a:cubicBezTo>
                  <a:cubicBezTo>
                    <a:pt x="30" y="80"/>
                    <a:pt x="33" y="73"/>
                    <a:pt x="40" y="73"/>
                  </a:cubicBezTo>
                  <a:cubicBezTo>
                    <a:pt x="43" y="73"/>
                    <a:pt x="46" y="76"/>
                    <a:pt x="49" y="77"/>
                  </a:cubicBezTo>
                  <a:cubicBezTo>
                    <a:pt x="53" y="77"/>
                    <a:pt x="57" y="75"/>
                    <a:pt x="60" y="75"/>
                  </a:cubicBezTo>
                  <a:cubicBezTo>
                    <a:pt x="62" y="75"/>
                    <a:pt x="65" y="78"/>
                    <a:pt x="68" y="79"/>
                  </a:cubicBezTo>
                  <a:cubicBezTo>
                    <a:pt x="72" y="79"/>
                    <a:pt x="75" y="76"/>
                    <a:pt x="79" y="77"/>
                  </a:cubicBezTo>
                  <a:cubicBezTo>
                    <a:pt x="86" y="78"/>
                    <a:pt x="88" y="82"/>
                    <a:pt x="89" y="88"/>
                  </a:cubicBezTo>
                  <a:cubicBezTo>
                    <a:pt x="106" y="89"/>
                    <a:pt x="107" y="103"/>
                    <a:pt x="103" y="117"/>
                  </a:cubicBezTo>
                  <a:cubicBezTo>
                    <a:pt x="107" y="122"/>
                    <a:pt x="112" y="125"/>
                    <a:pt x="119" y="128"/>
                  </a:cubicBezTo>
                  <a:cubicBezTo>
                    <a:pt x="122" y="126"/>
                    <a:pt x="126" y="125"/>
                    <a:pt x="126" y="119"/>
                  </a:cubicBezTo>
                  <a:cubicBezTo>
                    <a:pt x="122" y="113"/>
                    <a:pt x="113" y="112"/>
                    <a:pt x="111" y="105"/>
                  </a:cubicBezTo>
                  <a:cubicBezTo>
                    <a:pt x="123" y="107"/>
                    <a:pt x="138" y="132"/>
                    <a:pt x="144" y="111"/>
                  </a:cubicBezTo>
                  <a:cubicBezTo>
                    <a:pt x="137" y="102"/>
                    <a:pt x="124" y="99"/>
                    <a:pt x="119" y="89"/>
                  </a:cubicBezTo>
                  <a:cubicBezTo>
                    <a:pt x="130" y="88"/>
                    <a:pt x="155" y="127"/>
                    <a:pt x="160" y="101"/>
                  </a:cubicBezTo>
                  <a:cubicBezTo>
                    <a:pt x="154" y="93"/>
                    <a:pt x="139" y="88"/>
                    <a:pt x="135" y="80"/>
                  </a:cubicBezTo>
                  <a:cubicBezTo>
                    <a:pt x="148" y="81"/>
                    <a:pt x="176" y="119"/>
                    <a:pt x="175" y="87"/>
                  </a:cubicBezTo>
                  <a:cubicBezTo>
                    <a:pt x="163" y="77"/>
                    <a:pt x="150" y="68"/>
                    <a:pt x="136" y="58"/>
                  </a:cubicBezTo>
                  <a:cubicBezTo>
                    <a:pt x="129" y="53"/>
                    <a:pt x="105" y="32"/>
                    <a:pt x="94" y="32"/>
                  </a:cubicBezTo>
                  <a:cubicBezTo>
                    <a:pt x="86" y="33"/>
                    <a:pt x="78" y="46"/>
                    <a:pt x="65" y="48"/>
                  </a:cubicBezTo>
                  <a:cubicBezTo>
                    <a:pt x="46" y="51"/>
                    <a:pt x="37" y="29"/>
                    <a:pt x="48" y="16"/>
                  </a:cubicBezTo>
                  <a:cubicBezTo>
                    <a:pt x="46" y="16"/>
                    <a:pt x="43" y="16"/>
                    <a:pt x="40" y="16"/>
                  </a:cubicBezTo>
                  <a:close/>
                  <a:moveTo>
                    <a:pt x="47" y="108"/>
                  </a:moveTo>
                  <a:cubicBezTo>
                    <a:pt x="47" y="115"/>
                    <a:pt x="59" y="115"/>
                    <a:pt x="62" y="110"/>
                  </a:cubicBezTo>
                  <a:cubicBezTo>
                    <a:pt x="60" y="121"/>
                    <a:pt x="72" y="123"/>
                    <a:pt x="78" y="118"/>
                  </a:cubicBezTo>
                  <a:cubicBezTo>
                    <a:pt x="78" y="127"/>
                    <a:pt x="90" y="129"/>
                    <a:pt x="95" y="123"/>
                  </a:cubicBezTo>
                  <a:cubicBezTo>
                    <a:pt x="102" y="111"/>
                    <a:pt x="100" y="87"/>
                    <a:pt x="83" y="96"/>
                  </a:cubicBezTo>
                  <a:cubicBezTo>
                    <a:pt x="90" y="84"/>
                    <a:pt x="70" y="78"/>
                    <a:pt x="66" y="88"/>
                  </a:cubicBezTo>
                  <a:cubicBezTo>
                    <a:pt x="65" y="79"/>
                    <a:pt x="52" y="79"/>
                    <a:pt x="48" y="86"/>
                  </a:cubicBezTo>
                  <a:cubicBezTo>
                    <a:pt x="32" y="62"/>
                    <a:pt x="22" y="112"/>
                    <a:pt x="47"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grpSp>
        <p:nvGrpSpPr>
          <p:cNvPr id="22" name="Group 21">
            <a:extLst>
              <a:ext uri="{FF2B5EF4-FFF2-40B4-BE49-F238E27FC236}">
                <a16:creationId xmlns:a16="http://schemas.microsoft.com/office/drawing/2014/main" id="{0C4E8043-829F-3AA0-FBDE-7D2B76F8A94F}"/>
              </a:ext>
            </a:extLst>
          </p:cNvPr>
          <p:cNvGrpSpPr/>
          <p:nvPr/>
        </p:nvGrpSpPr>
        <p:grpSpPr>
          <a:xfrm>
            <a:off x="746820" y="4759004"/>
            <a:ext cx="520926" cy="452256"/>
            <a:chOff x="1830388" y="5408613"/>
            <a:chExt cx="733425" cy="723900"/>
          </a:xfrm>
        </p:grpSpPr>
        <p:sp>
          <p:nvSpPr>
            <p:cNvPr id="23" name="Rectangle 45">
              <a:extLst>
                <a:ext uri="{FF2B5EF4-FFF2-40B4-BE49-F238E27FC236}">
                  <a16:creationId xmlns:a16="http://schemas.microsoft.com/office/drawing/2014/main" id="{823FFB2F-55D3-D1DA-423F-10814B60BA60}"/>
                </a:ext>
              </a:extLst>
            </p:cNvPr>
            <p:cNvSpPr>
              <a:spLocks noChangeArrowheads="1"/>
            </p:cNvSpPr>
            <p:nvPr/>
          </p:nvSpPr>
          <p:spPr bwMode="auto">
            <a:xfrm>
              <a:off x="1830388" y="6059488"/>
              <a:ext cx="733425" cy="73025"/>
            </a:xfrm>
            <a:prstGeom prst="rect">
              <a:avLst/>
            </a:pr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24" name="Rectangle 46">
              <a:extLst>
                <a:ext uri="{FF2B5EF4-FFF2-40B4-BE49-F238E27FC236}">
                  <a16:creationId xmlns:a16="http://schemas.microsoft.com/office/drawing/2014/main" id="{E15670AF-ABAE-DEA3-2443-D40CE1E921C7}"/>
                </a:ext>
              </a:extLst>
            </p:cNvPr>
            <p:cNvSpPr>
              <a:spLocks noChangeArrowheads="1"/>
            </p:cNvSpPr>
            <p:nvPr/>
          </p:nvSpPr>
          <p:spPr bwMode="auto">
            <a:xfrm>
              <a:off x="1916113" y="5808663"/>
              <a:ext cx="141287" cy="195263"/>
            </a:xfrm>
            <a:prstGeom prst="rect">
              <a:avLst/>
            </a:pr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25" name="Rectangle 47">
              <a:extLst>
                <a:ext uri="{FF2B5EF4-FFF2-40B4-BE49-F238E27FC236}">
                  <a16:creationId xmlns:a16="http://schemas.microsoft.com/office/drawing/2014/main" id="{E2877057-7ECC-9615-FF00-E8C962210702}"/>
                </a:ext>
              </a:extLst>
            </p:cNvPr>
            <p:cNvSpPr>
              <a:spLocks noChangeArrowheads="1"/>
            </p:cNvSpPr>
            <p:nvPr/>
          </p:nvSpPr>
          <p:spPr bwMode="auto">
            <a:xfrm>
              <a:off x="2125663" y="5722938"/>
              <a:ext cx="142875" cy="280988"/>
            </a:xfrm>
            <a:prstGeom prst="rect">
              <a:avLst/>
            </a:pr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26" name="Rectangle 48">
              <a:extLst>
                <a:ext uri="{FF2B5EF4-FFF2-40B4-BE49-F238E27FC236}">
                  <a16:creationId xmlns:a16="http://schemas.microsoft.com/office/drawing/2014/main" id="{7C7F498C-9D25-01DA-7203-820662F104E8}"/>
                </a:ext>
              </a:extLst>
            </p:cNvPr>
            <p:cNvSpPr>
              <a:spLocks noChangeArrowheads="1"/>
            </p:cNvSpPr>
            <p:nvPr/>
          </p:nvSpPr>
          <p:spPr bwMode="auto">
            <a:xfrm>
              <a:off x="2336800" y="5575300"/>
              <a:ext cx="144462" cy="428625"/>
            </a:xfrm>
            <a:prstGeom prst="rect">
              <a:avLst/>
            </a:pr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27" name="Freeform 49">
              <a:extLst>
                <a:ext uri="{FF2B5EF4-FFF2-40B4-BE49-F238E27FC236}">
                  <a16:creationId xmlns:a16="http://schemas.microsoft.com/office/drawing/2014/main" id="{9CBBF6FE-1AB6-8038-CF39-4958C8AE34D4}"/>
                </a:ext>
              </a:extLst>
            </p:cNvPr>
            <p:cNvSpPr>
              <a:spLocks/>
            </p:cNvSpPr>
            <p:nvPr/>
          </p:nvSpPr>
          <p:spPr bwMode="auto">
            <a:xfrm>
              <a:off x="1884363" y="5408613"/>
              <a:ext cx="423862" cy="360363"/>
            </a:xfrm>
            <a:custGeom>
              <a:avLst/>
              <a:gdLst>
                <a:gd name="T0" fmla="*/ 15 w 267"/>
                <a:gd name="T1" fmla="*/ 227 h 227"/>
                <a:gd name="T2" fmla="*/ 205 w 267"/>
                <a:gd name="T3" fmla="*/ 97 h 227"/>
                <a:gd name="T4" fmla="*/ 234 w 267"/>
                <a:gd name="T5" fmla="*/ 145 h 227"/>
                <a:gd name="T6" fmla="*/ 267 w 267"/>
                <a:gd name="T7" fmla="*/ 17 h 227"/>
                <a:gd name="T8" fmla="*/ 144 w 267"/>
                <a:gd name="T9" fmla="*/ 0 h 227"/>
                <a:gd name="T10" fmla="*/ 175 w 267"/>
                <a:gd name="T11" fmla="*/ 51 h 227"/>
                <a:gd name="T12" fmla="*/ 0 w 267"/>
                <a:gd name="T13" fmla="*/ 212 h 227"/>
                <a:gd name="T14" fmla="*/ 15 w 267"/>
                <a:gd name="T15" fmla="*/ 227 h 2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227">
                  <a:moveTo>
                    <a:pt x="15" y="227"/>
                  </a:moveTo>
                  <a:lnTo>
                    <a:pt x="205" y="97"/>
                  </a:lnTo>
                  <a:lnTo>
                    <a:pt x="234" y="145"/>
                  </a:lnTo>
                  <a:lnTo>
                    <a:pt x="267" y="17"/>
                  </a:lnTo>
                  <a:lnTo>
                    <a:pt x="144" y="0"/>
                  </a:lnTo>
                  <a:lnTo>
                    <a:pt x="175" y="51"/>
                  </a:lnTo>
                  <a:lnTo>
                    <a:pt x="0" y="212"/>
                  </a:lnTo>
                  <a:lnTo>
                    <a:pt x="15" y="227"/>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grpSp>
        <p:nvGrpSpPr>
          <p:cNvPr id="28" name="Group 27">
            <a:extLst>
              <a:ext uri="{FF2B5EF4-FFF2-40B4-BE49-F238E27FC236}">
                <a16:creationId xmlns:a16="http://schemas.microsoft.com/office/drawing/2014/main" id="{E100DFEF-2198-2198-8D73-AC04F3AA3DE6}"/>
              </a:ext>
            </a:extLst>
          </p:cNvPr>
          <p:cNvGrpSpPr/>
          <p:nvPr/>
        </p:nvGrpSpPr>
        <p:grpSpPr>
          <a:xfrm>
            <a:off x="6518391" y="4690696"/>
            <a:ext cx="483464" cy="550285"/>
            <a:chOff x="3557588" y="2686050"/>
            <a:chExt cx="341312" cy="449262"/>
          </a:xfrm>
          <a:solidFill>
            <a:srgbClr val="FFFFFF"/>
          </a:solidFill>
        </p:grpSpPr>
        <p:sp>
          <p:nvSpPr>
            <p:cNvPr id="29" name="Freeform 40">
              <a:extLst>
                <a:ext uri="{FF2B5EF4-FFF2-40B4-BE49-F238E27FC236}">
                  <a16:creationId xmlns:a16="http://schemas.microsoft.com/office/drawing/2014/main" id="{1A47E177-6ABF-EB07-03F0-FB2C80ED42CC}"/>
                </a:ext>
              </a:extLst>
            </p:cNvPr>
            <p:cNvSpPr>
              <a:spLocks/>
            </p:cNvSpPr>
            <p:nvPr/>
          </p:nvSpPr>
          <p:spPr bwMode="auto">
            <a:xfrm>
              <a:off x="3559175" y="2990850"/>
              <a:ext cx="339725" cy="144462"/>
            </a:xfrm>
            <a:custGeom>
              <a:avLst/>
              <a:gdLst>
                <a:gd name="T0" fmla="*/ 209 w 268"/>
                <a:gd name="T1" fmla="*/ 0 h 114"/>
                <a:gd name="T2" fmla="*/ 159 w 268"/>
                <a:gd name="T3" fmla="*/ 0 h 114"/>
                <a:gd name="T4" fmla="*/ 107 w 268"/>
                <a:gd name="T5" fmla="*/ 0 h 114"/>
                <a:gd name="T6" fmla="*/ 91 w 268"/>
                <a:gd name="T7" fmla="*/ 16 h 114"/>
                <a:gd name="T8" fmla="*/ 107 w 268"/>
                <a:gd name="T9" fmla="*/ 31 h 114"/>
                <a:gd name="T10" fmla="*/ 140 w 268"/>
                <a:gd name="T11" fmla="*/ 31 h 114"/>
                <a:gd name="T12" fmla="*/ 140 w 268"/>
                <a:gd name="T13" fmla="*/ 42 h 114"/>
                <a:gd name="T14" fmla="*/ 56 w 268"/>
                <a:gd name="T15" fmla="*/ 42 h 114"/>
                <a:gd name="T16" fmla="*/ 30 w 268"/>
                <a:gd name="T17" fmla="*/ 11 h 114"/>
                <a:gd name="T18" fmla="*/ 7 w 268"/>
                <a:gd name="T19" fmla="*/ 9 h 114"/>
                <a:gd name="T20" fmla="*/ 6 w 268"/>
                <a:gd name="T21" fmla="*/ 31 h 114"/>
                <a:gd name="T22" fmla="*/ 45 w 268"/>
                <a:gd name="T23" fmla="*/ 78 h 114"/>
                <a:gd name="T24" fmla="*/ 57 w 268"/>
                <a:gd name="T25" fmla="*/ 83 h 114"/>
                <a:gd name="T26" fmla="*/ 196 w 268"/>
                <a:gd name="T27" fmla="*/ 83 h 114"/>
                <a:gd name="T28" fmla="*/ 226 w 268"/>
                <a:gd name="T29" fmla="*/ 114 h 114"/>
                <a:gd name="T30" fmla="*/ 268 w 268"/>
                <a:gd name="T31" fmla="*/ 60 h 114"/>
                <a:gd name="T32" fmla="*/ 209 w 268"/>
                <a:gd name="T3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8" h="114">
                  <a:moveTo>
                    <a:pt x="209" y="0"/>
                  </a:moveTo>
                  <a:cubicBezTo>
                    <a:pt x="159" y="0"/>
                    <a:pt x="159" y="0"/>
                    <a:pt x="159" y="0"/>
                  </a:cubicBezTo>
                  <a:cubicBezTo>
                    <a:pt x="107" y="0"/>
                    <a:pt x="107" y="0"/>
                    <a:pt x="107" y="0"/>
                  </a:cubicBezTo>
                  <a:cubicBezTo>
                    <a:pt x="99" y="0"/>
                    <a:pt x="91" y="7"/>
                    <a:pt x="91" y="16"/>
                  </a:cubicBezTo>
                  <a:cubicBezTo>
                    <a:pt x="91" y="24"/>
                    <a:pt x="99" y="31"/>
                    <a:pt x="107" y="31"/>
                  </a:cubicBezTo>
                  <a:cubicBezTo>
                    <a:pt x="140" y="31"/>
                    <a:pt x="140" y="31"/>
                    <a:pt x="140" y="31"/>
                  </a:cubicBezTo>
                  <a:cubicBezTo>
                    <a:pt x="140" y="42"/>
                    <a:pt x="140" y="42"/>
                    <a:pt x="140" y="42"/>
                  </a:cubicBezTo>
                  <a:cubicBezTo>
                    <a:pt x="56" y="42"/>
                    <a:pt x="56" y="42"/>
                    <a:pt x="56" y="42"/>
                  </a:cubicBezTo>
                  <a:cubicBezTo>
                    <a:pt x="30" y="11"/>
                    <a:pt x="30" y="11"/>
                    <a:pt x="30" y="11"/>
                  </a:cubicBezTo>
                  <a:cubicBezTo>
                    <a:pt x="24" y="4"/>
                    <a:pt x="14" y="3"/>
                    <a:pt x="7" y="9"/>
                  </a:cubicBezTo>
                  <a:cubicBezTo>
                    <a:pt x="1" y="15"/>
                    <a:pt x="0" y="25"/>
                    <a:pt x="6" y="31"/>
                  </a:cubicBezTo>
                  <a:cubicBezTo>
                    <a:pt x="45" y="78"/>
                    <a:pt x="45" y="78"/>
                    <a:pt x="45" y="78"/>
                  </a:cubicBezTo>
                  <a:cubicBezTo>
                    <a:pt x="48" y="81"/>
                    <a:pt x="53" y="83"/>
                    <a:pt x="57" y="83"/>
                  </a:cubicBezTo>
                  <a:cubicBezTo>
                    <a:pt x="196" y="83"/>
                    <a:pt x="196" y="83"/>
                    <a:pt x="196" y="83"/>
                  </a:cubicBezTo>
                  <a:cubicBezTo>
                    <a:pt x="226" y="114"/>
                    <a:pt x="226" y="114"/>
                    <a:pt x="226" y="114"/>
                  </a:cubicBezTo>
                  <a:cubicBezTo>
                    <a:pt x="268" y="60"/>
                    <a:pt x="268" y="60"/>
                    <a:pt x="268" y="60"/>
                  </a:cubicBezTo>
                  <a:lnTo>
                    <a:pt x="2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30" name="Freeform 41">
              <a:extLst>
                <a:ext uri="{FF2B5EF4-FFF2-40B4-BE49-F238E27FC236}">
                  <a16:creationId xmlns:a16="http://schemas.microsoft.com/office/drawing/2014/main" id="{3B039C93-52DD-BCAD-CE26-36815B8F5F24}"/>
                </a:ext>
              </a:extLst>
            </p:cNvPr>
            <p:cNvSpPr>
              <a:spLocks noEditPoints="1"/>
            </p:cNvSpPr>
            <p:nvPr/>
          </p:nvSpPr>
          <p:spPr bwMode="auto">
            <a:xfrm>
              <a:off x="3557588" y="2686050"/>
              <a:ext cx="287338" cy="287337"/>
            </a:xfrm>
            <a:custGeom>
              <a:avLst/>
              <a:gdLst>
                <a:gd name="T0" fmla="*/ 218 w 227"/>
                <a:gd name="T1" fmla="*/ 168 h 227"/>
                <a:gd name="T2" fmla="*/ 227 w 227"/>
                <a:gd name="T3" fmla="*/ 143 h 227"/>
                <a:gd name="T4" fmla="*/ 208 w 227"/>
                <a:gd name="T5" fmla="*/ 127 h 227"/>
                <a:gd name="T6" fmla="*/ 208 w 227"/>
                <a:gd name="T7" fmla="*/ 95 h 227"/>
                <a:gd name="T8" fmla="*/ 226 w 227"/>
                <a:gd name="T9" fmla="*/ 79 h 227"/>
                <a:gd name="T10" fmla="*/ 215 w 227"/>
                <a:gd name="T11" fmla="*/ 54 h 227"/>
                <a:gd name="T12" fmla="*/ 190 w 227"/>
                <a:gd name="T13" fmla="*/ 57 h 227"/>
                <a:gd name="T14" fmla="*/ 167 w 227"/>
                <a:gd name="T15" fmla="*/ 34 h 227"/>
                <a:gd name="T16" fmla="*/ 168 w 227"/>
                <a:gd name="T17" fmla="*/ 10 h 227"/>
                <a:gd name="T18" fmla="*/ 143 w 227"/>
                <a:gd name="T19" fmla="*/ 0 h 227"/>
                <a:gd name="T20" fmla="*/ 127 w 227"/>
                <a:gd name="T21" fmla="*/ 19 h 227"/>
                <a:gd name="T22" fmla="*/ 95 w 227"/>
                <a:gd name="T23" fmla="*/ 20 h 227"/>
                <a:gd name="T24" fmla="*/ 79 w 227"/>
                <a:gd name="T25" fmla="*/ 2 h 227"/>
                <a:gd name="T26" fmla="*/ 54 w 227"/>
                <a:gd name="T27" fmla="*/ 13 h 227"/>
                <a:gd name="T28" fmla="*/ 57 w 227"/>
                <a:gd name="T29" fmla="*/ 37 h 227"/>
                <a:gd name="T30" fmla="*/ 34 w 227"/>
                <a:gd name="T31" fmla="*/ 61 h 227"/>
                <a:gd name="T32" fmla="*/ 10 w 227"/>
                <a:gd name="T33" fmla="*/ 59 h 227"/>
                <a:gd name="T34" fmla="*/ 0 w 227"/>
                <a:gd name="T35" fmla="*/ 85 h 227"/>
                <a:gd name="T36" fmla="*/ 19 w 227"/>
                <a:gd name="T37" fmla="*/ 100 h 227"/>
                <a:gd name="T38" fmla="*/ 20 w 227"/>
                <a:gd name="T39" fmla="*/ 132 h 227"/>
                <a:gd name="T40" fmla="*/ 2 w 227"/>
                <a:gd name="T41" fmla="*/ 149 h 227"/>
                <a:gd name="T42" fmla="*/ 13 w 227"/>
                <a:gd name="T43" fmla="*/ 173 h 227"/>
                <a:gd name="T44" fmla="*/ 37 w 227"/>
                <a:gd name="T45" fmla="*/ 171 h 227"/>
                <a:gd name="T46" fmla="*/ 61 w 227"/>
                <a:gd name="T47" fmla="*/ 193 h 227"/>
                <a:gd name="T48" fmla="*/ 59 w 227"/>
                <a:gd name="T49" fmla="*/ 218 h 227"/>
                <a:gd name="T50" fmla="*/ 85 w 227"/>
                <a:gd name="T51" fmla="*/ 227 h 227"/>
                <a:gd name="T52" fmla="*/ 100 w 227"/>
                <a:gd name="T53" fmla="*/ 208 h 227"/>
                <a:gd name="T54" fmla="*/ 132 w 227"/>
                <a:gd name="T55" fmla="*/ 208 h 227"/>
                <a:gd name="T56" fmla="*/ 149 w 227"/>
                <a:gd name="T57" fmla="*/ 226 h 227"/>
                <a:gd name="T58" fmla="*/ 173 w 227"/>
                <a:gd name="T59" fmla="*/ 215 h 227"/>
                <a:gd name="T60" fmla="*/ 171 w 227"/>
                <a:gd name="T61" fmla="*/ 190 h 227"/>
                <a:gd name="T62" fmla="*/ 193 w 227"/>
                <a:gd name="T63" fmla="*/ 167 h 227"/>
                <a:gd name="T64" fmla="*/ 218 w 227"/>
                <a:gd name="T65" fmla="*/ 168 h 227"/>
                <a:gd name="T66" fmla="*/ 89 w 227"/>
                <a:gd name="T67" fmla="*/ 177 h 227"/>
                <a:gd name="T68" fmla="*/ 50 w 227"/>
                <a:gd name="T69" fmla="*/ 89 h 227"/>
                <a:gd name="T70" fmla="*/ 138 w 227"/>
                <a:gd name="T71" fmla="*/ 50 h 227"/>
                <a:gd name="T72" fmla="*/ 177 w 227"/>
                <a:gd name="T73" fmla="*/ 138 h 227"/>
                <a:gd name="T74" fmla="*/ 89 w 227"/>
                <a:gd name="T75" fmla="*/ 177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7" h="227">
                  <a:moveTo>
                    <a:pt x="218" y="168"/>
                  </a:moveTo>
                  <a:cubicBezTo>
                    <a:pt x="227" y="143"/>
                    <a:pt x="227" y="143"/>
                    <a:pt x="227" y="143"/>
                  </a:cubicBezTo>
                  <a:cubicBezTo>
                    <a:pt x="208" y="127"/>
                    <a:pt x="208" y="127"/>
                    <a:pt x="208" y="127"/>
                  </a:cubicBezTo>
                  <a:cubicBezTo>
                    <a:pt x="210" y="117"/>
                    <a:pt x="210" y="106"/>
                    <a:pt x="208" y="95"/>
                  </a:cubicBezTo>
                  <a:cubicBezTo>
                    <a:pt x="226" y="79"/>
                    <a:pt x="226" y="79"/>
                    <a:pt x="226" y="79"/>
                  </a:cubicBezTo>
                  <a:cubicBezTo>
                    <a:pt x="215" y="54"/>
                    <a:pt x="215" y="54"/>
                    <a:pt x="215" y="54"/>
                  </a:cubicBezTo>
                  <a:cubicBezTo>
                    <a:pt x="190" y="57"/>
                    <a:pt x="190" y="57"/>
                    <a:pt x="190" y="57"/>
                  </a:cubicBezTo>
                  <a:cubicBezTo>
                    <a:pt x="184" y="48"/>
                    <a:pt x="176" y="41"/>
                    <a:pt x="167" y="34"/>
                  </a:cubicBezTo>
                  <a:cubicBezTo>
                    <a:pt x="168" y="10"/>
                    <a:pt x="168" y="10"/>
                    <a:pt x="168" y="10"/>
                  </a:cubicBezTo>
                  <a:cubicBezTo>
                    <a:pt x="143" y="0"/>
                    <a:pt x="143" y="0"/>
                    <a:pt x="143" y="0"/>
                  </a:cubicBezTo>
                  <a:cubicBezTo>
                    <a:pt x="127" y="19"/>
                    <a:pt x="127" y="19"/>
                    <a:pt x="127" y="19"/>
                  </a:cubicBezTo>
                  <a:cubicBezTo>
                    <a:pt x="117" y="18"/>
                    <a:pt x="106" y="18"/>
                    <a:pt x="95" y="20"/>
                  </a:cubicBezTo>
                  <a:cubicBezTo>
                    <a:pt x="79" y="2"/>
                    <a:pt x="79" y="2"/>
                    <a:pt x="79" y="2"/>
                  </a:cubicBezTo>
                  <a:cubicBezTo>
                    <a:pt x="54" y="13"/>
                    <a:pt x="54" y="13"/>
                    <a:pt x="54" y="13"/>
                  </a:cubicBezTo>
                  <a:cubicBezTo>
                    <a:pt x="57" y="37"/>
                    <a:pt x="57" y="37"/>
                    <a:pt x="57" y="37"/>
                  </a:cubicBezTo>
                  <a:cubicBezTo>
                    <a:pt x="48" y="44"/>
                    <a:pt x="41" y="51"/>
                    <a:pt x="34" y="61"/>
                  </a:cubicBezTo>
                  <a:cubicBezTo>
                    <a:pt x="10" y="59"/>
                    <a:pt x="10" y="59"/>
                    <a:pt x="10" y="59"/>
                  </a:cubicBezTo>
                  <a:cubicBezTo>
                    <a:pt x="0" y="85"/>
                    <a:pt x="0" y="85"/>
                    <a:pt x="0" y="85"/>
                  </a:cubicBezTo>
                  <a:cubicBezTo>
                    <a:pt x="19" y="100"/>
                    <a:pt x="19" y="100"/>
                    <a:pt x="19" y="100"/>
                  </a:cubicBezTo>
                  <a:cubicBezTo>
                    <a:pt x="18" y="111"/>
                    <a:pt x="18" y="122"/>
                    <a:pt x="20" y="132"/>
                  </a:cubicBezTo>
                  <a:cubicBezTo>
                    <a:pt x="2" y="149"/>
                    <a:pt x="2" y="149"/>
                    <a:pt x="2" y="149"/>
                  </a:cubicBezTo>
                  <a:cubicBezTo>
                    <a:pt x="13" y="173"/>
                    <a:pt x="13" y="173"/>
                    <a:pt x="13" y="173"/>
                  </a:cubicBezTo>
                  <a:cubicBezTo>
                    <a:pt x="37" y="171"/>
                    <a:pt x="37" y="171"/>
                    <a:pt x="37" y="171"/>
                  </a:cubicBezTo>
                  <a:cubicBezTo>
                    <a:pt x="44" y="180"/>
                    <a:pt x="51" y="187"/>
                    <a:pt x="61" y="193"/>
                  </a:cubicBezTo>
                  <a:cubicBezTo>
                    <a:pt x="59" y="218"/>
                    <a:pt x="59" y="218"/>
                    <a:pt x="59" y="218"/>
                  </a:cubicBezTo>
                  <a:cubicBezTo>
                    <a:pt x="85" y="227"/>
                    <a:pt x="85" y="227"/>
                    <a:pt x="85" y="227"/>
                  </a:cubicBezTo>
                  <a:cubicBezTo>
                    <a:pt x="100" y="208"/>
                    <a:pt x="100" y="208"/>
                    <a:pt x="100" y="208"/>
                  </a:cubicBezTo>
                  <a:cubicBezTo>
                    <a:pt x="111" y="210"/>
                    <a:pt x="122" y="210"/>
                    <a:pt x="132" y="208"/>
                  </a:cubicBezTo>
                  <a:cubicBezTo>
                    <a:pt x="149" y="226"/>
                    <a:pt x="149" y="226"/>
                    <a:pt x="149" y="226"/>
                  </a:cubicBezTo>
                  <a:cubicBezTo>
                    <a:pt x="173" y="215"/>
                    <a:pt x="173" y="215"/>
                    <a:pt x="173" y="215"/>
                  </a:cubicBezTo>
                  <a:cubicBezTo>
                    <a:pt x="171" y="190"/>
                    <a:pt x="171" y="190"/>
                    <a:pt x="171" y="190"/>
                  </a:cubicBezTo>
                  <a:cubicBezTo>
                    <a:pt x="180" y="184"/>
                    <a:pt x="187" y="176"/>
                    <a:pt x="193" y="167"/>
                  </a:cubicBezTo>
                  <a:lnTo>
                    <a:pt x="218" y="168"/>
                  </a:lnTo>
                  <a:close/>
                  <a:moveTo>
                    <a:pt x="89" y="177"/>
                  </a:moveTo>
                  <a:cubicBezTo>
                    <a:pt x="55" y="164"/>
                    <a:pt x="37" y="124"/>
                    <a:pt x="50" y="89"/>
                  </a:cubicBezTo>
                  <a:cubicBezTo>
                    <a:pt x="64" y="55"/>
                    <a:pt x="103" y="37"/>
                    <a:pt x="138" y="50"/>
                  </a:cubicBezTo>
                  <a:cubicBezTo>
                    <a:pt x="173" y="64"/>
                    <a:pt x="191" y="103"/>
                    <a:pt x="177" y="138"/>
                  </a:cubicBezTo>
                  <a:cubicBezTo>
                    <a:pt x="164" y="173"/>
                    <a:pt x="124" y="191"/>
                    <a:pt x="89" y="1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sp>
          <p:nvSpPr>
            <p:cNvPr id="31" name="Freeform 42">
              <a:extLst>
                <a:ext uri="{FF2B5EF4-FFF2-40B4-BE49-F238E27FC236}">
                  <a16:creationId xmlns:a16="http://schemas.microsoft.com/office/drawing/2014/main" id="{B82BE768-2465-89F8-FE6A-5062C1339573}"/>
                </a:ext>
              </a:extLst>
            </p:cNvPr>
            <p:cNvSpPr>
              <a:spLocks/>
            </p:cNvSpPr>
            <p:nvPr/>
          </p:nvSpPr>
          <p:spPr bwMode="auto">
            <a:xfrm>
              <a:off x="3662363" y="2760663"/>
              <a:ext cx="79375" cy="138112"/>
            </a:xfrm>
            <a:custGeom>
              <a:avLst/>
              <a:gdLst>
                <a:gd name="T0" fmla="*/ 47 w 62"/>
                <a:gd name="T1" fmla="*/ 45 h 110"/>
                <a:gd name="T2" fmla="*/ 18 w 62"/>
                <a:gd name="T3" fmla="*/ 45 h 110"/>
                <a:gd name="T4" fmla="*/ 18 w 62"/>
                <a:gd name="T5" fmla="*/ 37 h 110"/>
                <a:gd name="T6" fmla="*/ 53 w 62"/>
                <a:gd name="T7" fmla="*/ 37 h 110"/>
                <a:gd name="T8" fmla="*/ 62 w 62"/>
                <a:gd name="T9" fmla="*/ 28 h 110"/>
                <a:gd name="T10" fmla="*/ 53 w 62"/>
                <a:gd name="T11" fmla="*/ 19 h 110"/>
                <a:gd name="T12" fmla="*/ 40 w 62"/>
                <a:gd name="T13" fmla="*/ 19 h 110"/>
                <a:gd name="T14" fmla="*/ 40 w 62"/>
                <a:gd name="T15" fmla="*/ 9 h 110"/>
                <a:gd name="T16" fmla="*/ 31 w 62"/>
                <a:gd name="T17" fmla="*/ 0 h 110"/>
                <a:gd name="T18" fmla="*/ 22 w 62"/>
                <a:gd name="T19" fmla="*/ 9 h 110"/>
                <a:gd name="T20" fmla="*/ 22 w 62"/>
                <a:gd name="T21" fmla="*/ 19 h 110"/>
                <a:gd name="T22" fmla="*/ 15 w 62"/>
                <a:gd name="T23" fmla="*/ 19 h 110"/>
                <a:gd name="T24" fmla="*/ 0 w 62"/>
                <a:gd name="T25" fmla="*/ 33 h 110"/>
                <a:gd name="T26" fmla="*/ 0 w 62"/>
                <a:gd name="T27" fmla="*/ 49 h 110"/>
                <a:gd name="T28" fmla="*/ 15 w 62"/>
                <a:gd name="T29" fmla="*/ 63 h 110"/>
                <a:gd name="T30" fmla="*/ 44 w 62"/>
                <a:gd name="T31" fmla="*/ 63 h 110"/>
                <a:gd name="T32" fmla="*/ 44 w 62"/>
                <a:gd name="T33" fmla="*/ 70 h 110"/>
                <a:gd name="T34" fmla="*/ 9 w 62"/>
                <a:gd name="T35" fmla="*/ 70 h 110"/>
                <a:gd name="T36" fmla="*/ 0 w 62"/>
                <a:gd name="T37" fmla="*/ 79 h 110"/>
                <a:gd name="T38" fmla="*/ 9 w 62"/>
                <a:gd name="T39" fmla="*/ 88 h 110"/>
                <a:gd name="T40" fmla="*/ 22 w 62"/>
                <a:gd name="T41" fmla="*/ 88 h 110"/>
                <a:gd name="T42" fmla="*/ 22 w 62"/>
                <a:gd name="T43" fmla="*/ 101 h 110"/>
                <a:gd name="T44" fmla="*/ 31 w 62"/>
                <a:gd name="T45" fmla="*/ 110 h 110"/>
                <a:gd name="T46" fmla="*/ 40 w 62"/>
                <a:gd name="T47" fmla="*/ 101 h 110"/>
                <a:gd name="T48" fmla="*/ 40 w 62"/>
                <a:gd name="T49" fmla="*/ 88 h 110"/>
                <a:gd name="T50" fmla="*/ 47 w 62"/>
                <a:gd name="T51" fmla="*/ 88 h 110"/>
                <a:gd name="T52" fmla="*/ 62 w 62"/>
                <a:gd name="T53" fmla="*/ 75 h 110"/>
                <a:gd name="T54" fmla="*/ 62 w 62"/>
                <a:gd name="T55" fmla="*/ 58 h 110"/>
                <a:gd name="T56" fmla="*/ 47 w 62"/>
                <a:gd name="T57" fmla="*/ 45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2" h="110">
                  <a:moveTo>
                    <a:pt x="47" y="45"/>
                  </a:moveTo>
                  <a:cubicBezTo>
                    <a:pt x="18" y="45"/>
                    <a:pt x="18" y="45"/>
                    <a:pt x="18" y="45"/>
                  </a:cubicBezTo>
                  <a:cubicBezTo>
                    <a:pt x="18" y="37"/>
                    <a:pt x="18" y="37"/>
                    <a:pt x="18" y="37"/>
                  </a:cubicBezTo>
                  <a:cubicBezTo>
                    <a:pt x="53" y="37"/>
                    <a:pt x="53" y="37"/>
                    <a:pt x="53" y="37"/>
                  </a:cubicBezTo>
                  <a:cubicBezTo>
                    <a:pt x="58" y="37"/>
                    <a:pt x="62" y="33"/>
                    <a:pt x="62" y="28"/>
                  </a:cubicBezTo>
                  <a:cubicBezTo>
                    <a:pt x="62" y="23"/>
                    <a:pt x="58" y="19"/>
                    <a:pt x="53" y="19"/>
                  </a:cubicBezTo>
                  <a:cubicBezTo>
                    <a:pt x="40" y="19"/>
                    <a:pt x="40" y="19"/>
                    <a:pt x="40" y="19"/>
                  </a:cubicBezTo>
                  <a:cubicBezTo>
                    <a:pt x="40" y="9"/>
                    <a:pt x="40" y="9"/>
                    <a:pt x="40" y="9"/>
                  </a:cubicBezTo>
                  <a:cubicBezTo>
                    <a:pt x="40" y="4"/>
                    <a:pt x="36" y="0"/>
                    <a:pt x="31" y="0"/>
                  </a:cubicBezTo>
                  <a:cubicBezTo>
                    <a:pt x="26" y="0"/>
                    <a:pt x="22" y="4"/>
                    <a:pt x="22" y="9"/>
                  </a:cubicBezTo>
                  <a:cubicBezTo>
                    <a:pt x="22" y="19"/>
                    <a:pt x="22" y="19"/>
                    <a:pt x="22" y="19"/>
                  </a:cubicBezTo>
                  <a:cubicBezTo>
                    <a:pt x="15" y="19"/>
                    <a:pt x="15" y="19"/>
                    <a:pt x="15" y="19"/>
                  </a:cubicBezTo>
                  <a:cubicBezTo>
                    <a:pt x="6" y="19"/>
                    <a:pt x="0" y="25"/>
                    <a:pt x="0" y="33"/>
                  </a:cubicBezTo>
                  <a:cubicBezTo>
                    <a:pt x="0" y="49"/>
                    <a:pt x="0" y="49"/>
                    <a:pt x="0" y="49"/>
                  </a:cubicBezTo>
                  <a:cubicBezTo>
                    <a:pt x="0" y="57"/>
                    <a:pt x="6" y="63"/>
                    <a:pt x="15" y="63"/>
                  </a:cubicBezTo>
                  <a:cubicBezTo>
                    <a:pt x="44" y="63"/>
                    <a:pt x="44" y="63"/>
                    <a:pt x="44" y="63"/>
                  </a:cubicBezTo>
                  <a:cubicBezTo>
                    <a:pt x="44" y="70"/>
                    <a:pt x="44" y="70"/>
                    <a:pt x="44" y="70"/>
                  </a:cubicBezTo>
                  <a:cubicBezTo>
                    <a:pt x="9" y="70"/>
                    <a:pt x="9" y="70"/>
                    <a:pt x="9" y="70"/>
                  </a:cubicBezTo>
                  <a:cubicBezTo>
                    <a:pt x="4" y="70"/>
                    <a:pt x="0" y="74"/>
                    <a:pt x="0" y="79"/>
                  </a:cubicBezTo>
                  <a:cubicBezTo>
                    <a:pt x="0" y="84"/>
                    <a:pt x="4" y="88"/>
                    <a:pt x="9" y="88"/>
                  </a:cubicBezTo>
                  <a:cubicBezTo>
                    <a:pt x="22" y="88"/>
                    <a:pt x="22" y="88"/>
                    <a:pt x="22" y="88"/>
                  </a:cubicBezTo>
                  <a:cubicBezTo>
                    <a:pt x="22" y="101"/>
                    <a:pt x="22" y="101"/>
                    <a:pt x="22" y="101"/>
                  </a:cubicBezTo>
                  <a:cubicBezTo>
                    <a:pt x="22" y="106"/>
                    <a:pt x="26" y="110"/>
                    <a:pt x="31" y="110"/>
                  </a:cubicBezTo>
                  <a:cubicBezTo>
                    <a:pt x="36" y="110"/>
                    <a:pt x="40" y="106"/>
                    <a:pt x="40" y="101"/>
                  </a:cubicBezTo>
                  <a:cubicBezTo>
                    <a:pt x="40" y="88"/>
                    <a:pt x="40" y="88"/>
                    <a:pt x="40" y="88"/>
                  </a:cubicBezTo>
                  <a:cubicBezTo>
                    <a:pt x="47" y="88"/>
                    <a:pt x="47" y="88"/>
                    <a:pt x="47" y="88"/>
                  </a:cubicBezTo>
                  <a:cubicBezTo>
                    <a:pt x="55" y="88"/>
                    <a:pt x="62" y="82"/>
                    <a:pt x="62" y="75"/>
                  </a:cubicBezTo>
                  <a:cubicBezTo>
                    <a:pt x="62" y="58"/>
                    <a:pt x="62" y="58"/>
                    <a:pt x="62" y="58"/>
                  </a:cubicBezTo>
                  <a:cubicBezTo>
                    <a:pt x="62" y="51"/>
                    <a:pt x="55" y="45"/>
                    <a:pt x="47"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145415142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0EA163-204E-E8E3-C2C4-92BEB45635B5}"/>
              </a:ext>
            </a:extLst>
          </p:cNvPr>
          <p:cNvSpPr txBox="1"/>
          <p:nvPr/>
        </p:nvSpPr>
        <p:spPr>
          <a:xfrm>
            <a:off x="347951" y="428726"/>
            <a:ext cx="8296054" cy="630942"/>
          </a:xfrm>
          <a:prstGeom prst="rect">
            <a:avLst/>
          </a:prstGeom>
          <a:noFill/>
        </p:spPr>
        <p:txBody>
          <a:bodyPr wrap="none" rtlCol="0">
            <a:spAutoFit/>
          </a:bodyPr>
          <a:lstStyle/>
          <a:p>
            <a:pPr defTabSz="914309" fontAlgn="auto">
              <a:spcBef>
                <a:spcPts val="0"/>
              </a:spcBef>
              <a:spcAft>
                <a:spcPts val="0"/>
              </a:spcAft>
            </a:pPr>
            <a:r>
              <a:rPr lang="en-US" sz="3500" spc="-30" dirty="0">
                <a:solidFill>
                  <a:prstClr val="white"/>
                </a:solidFill>
                <a:latin typeface="Arial"/>
              </a:rPr>
              <a:t>Colombia: </a:t>
            </a:r>
            <a:r>
              <a:rPr lang="en-US" sz="3500" spc="-30" dirty="0" err="1">
                <a:solidFill>
                  <a:prstClr val="white"/>
                </a:solidFill>
                <a:latin typeface="Arial"/>
              </a:rPr>
              <a:t>Análisis</a:t>
            </a:r>
            <a:r>
              <a:rPr lang="en-US" sz="3500" spc="-30" dirty="0">
                <a:solidFill>
                  <a:prstClr val="white"/>
                </a:solidFill>
                <a:latin typeface="Arial"/>
              </a:rPr>
              <a:t> de </a:t>
            </a:r>
            <a:r>
              <a:rPr lang="en-US" sz="3500" spc="-30" dirty="0" err="1">
                <a:solidFill>
                  <a:prstClr val="white"/>
                </a:solidFill>
                <a:latin typeface="Arial"/>
              </a:rPr>
              <a:t>Ambiente</a:t>
            </a:r>
            <a:r>
              <a:rPr lang="en-US" sz="3500" spc="-30" dirty="0">
                <a:solidFill>
                  <a:prstClr val="white"/>
                </a:solidFill>
                <a:latin typeface="Arial"/>
              </a:rPr>
              <a:t> General </a:t>
            </a:r>
          </a:p>
        </p:txBody>
      </p:sp>
      <p:graphicFrame>
        <p:nvGraphicFramePr>
          <p:cNvPr id="3" name="Tabla 9">
            <a:extLst>
              <a:ext uri="{FF2B5EF4-FFF2-40B4-BE49-F238E27FC236}">
                <a16:creationId xmlns:a16="http://schemas.microsoft.com/office/drawing/2014/main" id="{24CC41F9-048B-BD23-74F2-96EC405DAD1A}"/>
              </a:ext>
            </a:extLst>
          </p:cNvPr>
          <p:cNvGraphicFramePr>
            <a:graphicFrameLocks noGrp="1"/>
          </p:cNvGraphicFramePr>
          <p:nvPr>
            <p:extLst>
              <p:ext uri="{D42A27DB-BD31-4B8C-83A1-F6EECF244321}">
                <p14:modId xmlns:p14="http://schemas.microsoft.com/office/powerpoint/2010/main" val="149040772"/>
              </p:ext>
            </p:extLst>
          </p:nvPr>
        </p:nvGraphicFramePr>
        <p:xfrm>
          <a:off x="1991360" y="3429001"/>
          <a:ext cx="8506824" cy="2783911"/>
        </p:xfrm>
        <a:graphic>
          <a:graphicData uri="http://schemas.openxmlformats.org/drawingml/2006/table">
            <a:tbl>
              <a:tblPr firstRow="1" bandRow="1"/>
              <a:tblGrid>
                <a:gridCol w="3374700">
                  <a:extLst>
                    <a:ext uri="{9D8B030D-6E8A-4147-A177-3AD203B41FA5}">
                      <a16:colId xmlns:a16="http://schemas.microsoft.com/office/drawing/2014/main" val="3305666091"/>
                    </a:ext>
                  </a:extLst>
                </a:gridCol>
                <a:gridCol w="2296516">
                  <a:extLst>
                    <a:ext uri="{9D8B030D-6E8A-4147-A177-3AD203B41FA5}">
                      <a16:colId xmlns:a16="http://schemas.microsoft.com/office/drawing/2014/main" val="3643536531"/>
                    </a:ext>
                  </a:extLst>
                </a:gridCol>
                <a:gridCol w="2835608">
                  <a:extLst>
                    <a:ext uri="{9D8B030D-6E8A-4147-A177-3AD203B41FA5}">
                      <a16:colId xmlns:a16="http://schemas.microsoft.com/office/drawing/2014/main" val="274835120"/>
                    </a:ext>
                  </a:extLst>
                </a:gridCol>
              </a:tblGrid>
              <a:tr h="341668">
                <a:tc>
                  <a:txBody>
                    <a:bodyPr/>
                    <a:lstStyle>
                      <a:lvl1pPr marL="0" algn="l" defTabSz="914309" rtl="0" eaLnBrk="1" latinLnBrk="0" hangingPunct="1">
                        <a:defRPr sz="1800" b="1" kern="1200">
                          <a:solidFill>
                            <a:schemeClr val="lt1"/>
                          </a:solidFill>
                          <a:latin typeface="Arial"/>
                        </a:defRPr>
                      </a:lvl1pPr>
                      <a:lvl2pPr marL="457154" algn="l" defTabSz="914309" rtl="0" eaLnBrk="1" latinLnBrk="0" hangingPunct="1">
                        <a:defRPr sz="1800" b="1" kern="1200">
                          <a:solidFill>
                            <a:schemeClr val="lt1"/>
                          </a:solidFill>
                          <a:latin typeface="Arial"/>
                        </a:defRPr>
                      </a:lvl2pPr>
                      <a:lvl3pPr marL="914309" algn="l" defTabSz="914309" rtl="0" eaLnBrk="1" latinLnBrk="0" hangingPunct="1">
                        <a:defRPr sz="1800" b="1" kern="1200">
                          <a:solidFill>
                            <a:schemeClr val="lt1"/>
                          </a:solidFill>
                          <a:latin typeface="Arial"/>
                        </a:defRPr>
                      </a:lvl3pPr>
                      <a:lvl4pPr marL="1371463" algn="l" defTabSz="914309" rtl="0" eaLnBrk="1" latinLnBrk="0" hangingPunct="1">
                        <a:defRPr sz="1800" b="1" kern="1200">
                          <a:solidFill>
                            <a:schemeClr val="lt1"/>
                          </a:solidFill>
                          <a:latin typeface="Arial"/>
                        </a:defRPr>
                      </a:lvl4pPr>
                      <a:lvl5pPr marL="1828617" algn="l" defTabSz="914309" rtl="0" eaLnBrk="1" latinLnBrk="0" hangingPunct="1">
                        <a:defRPr sz="1800" b="1" kern="1200">
                          <a:solidFill>
                            <a:schemeClr val="lt1"/>
                          </a:solidFill>
                          <a:latin typeface="Arial"/>
                        </a:defRPr>
                      </a:lvl5pPr>
                      <a:lvl6pPr marL="2285771" algn="l" defTabSz="914309" rtl="0" eaLnBrk="1" latinLnBrk="0" hangingPunct="1">
                        <a:defRPr sz="1800" b="1" kern="1200">
                          <a:solidFill>
                            <a:schemeClr val="lt1"/>
                          </a:solidFill>
                          <a:latin typeface="Arial"/>
                        </a:defRPr>
                      </a:lvl6pPr>
                      <a:lvl7pPr marL="2742926" algn="l" defTabSz="914309" rtl="0" eaLnBrk="1" latinLnBrk="0" hangingPunct="1">
                        <a:defRPr sz="1800" b="1" kern="1200">
                          <a:solidFill>
                            <a:schemeClr val="lt1"/>
                          </a:solidFill>
                          <a:latin typeface="Arial"/>
                        </a:defRPr>
                      </a:lvl7pPr>
                      <a:lvl8pPr marL="3200080" algn="l" defTabSz="914309" rtl="0" eaLnBrk="1" latinLnBrk="0" hangingPunct="1">
                        <a:defRPr sz="1800" b="1" kern="1200">
                          <a:solidFill>
                            <a:schemeClr val="lt1"/>
                          </a:solidFill>
                          <a:latin typeface="Arial"/>
                        </a:defRPr>
                      </a:lvl8pPr>
                      <a:lvl9pPr marL="3657234" algn="l" defTabSz="914309" rtl="0" eaLnBrk="1" latinLnBrk="0" hangingPunct="1">
                        <a:defRPr sz="1800" b="1" kern="1200">
                          <a:solidFill>
                            <a:schemeClr val="lt1"/>
                          </a:solidFill>
                          <a:latin typeface="Arial"/>
                        </a:defRPr>
                      </a:lvl9pPr>
                    </a:lstStyle>
                    <a:p>
                      <a:pP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Factores Relevantes</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666666"/>
                    </a:solidFill>
                  </a:tcPr>
                </a:tc>
                <a:tc>
                  <a:txBody>
                    <a:bodyPr/>
                    <a:lstStyle>
                      <a:lvl1pPr marL="0" algn="l" defTabSz="914309" rtl="0" eaLnBrk="1" latinLnBrk="0" hangingPunct="1">
                        <a:defRPr sz="1800" b="1" kern="1200">
                          <a:solidFill>
                            <a:schemeClr val="lt1"/>
                          </a:solidFill>
                          <a:latin typeface="Arial"/>
                        </a:defRPr>
                      </a:lvl1pPr>
                      <a:lvl2pPr marL="457154" algn="l" defTabSz="914309" rtl="0" eaLnBrk="1" latinLnBrk="0" hangingPunct="1">
                        <a:defRPr sz="1800" b="1" kern="1200">
                          <a:solidFill>
                            <a:schemeClr val="lt1"/>
                          </a:solidFill>
                          <a:latin typeface="Arial"/>
                        </a:defRPr>
                      </a:lvl2pPr>
                      <a:lvl3pPr marL="914309" algn="l" defTabSz="914309" rtl="0" eaLnBrk="1" latinLnBrk="0" hangingPunct="1">
                        <a:defRPr sz="1800" b="1" kern="1200">
                          <a:solidFill>
                            <a:schemeClr val="lt1"/>
                          </a:solidFill>
                          <a:latin typeface="Arial"/>
                        </a:defRPr>
                      </a:lvl3pPr>
                      <a:lvl4pPr marL="1371463" algn="l" defTabSz="914309" rtl="0" eaLnBrk="1" latinLnBrk="0" hangingPunct="1">
                        <a:defRPr sz="1800" b="1" kern="1200">
                          <a:solidFill>
                            <a:schemeClr val="lt1"/>
                          </a:solidFill>
                          <a:latin typeface="Arial"/>
                        </a:defRPr>
                      </a:lvl4pPr>
                      <a:lvl5pPr marL="1828617" algn="l" defTabSz="914309" rtl="0" eaLnBrk="1" latinLnBrk="0" hangingPunct="1">
                        <a:defRPr sz="1800" b="1" kern="1200">
                          <a:solidFill>
                            <a:schemeClr val="lt1"/>
                          </a:solidFill>
                          <a:latin typeface="Arial"/>
                        </a:defRPr>
                      </a:lvl5pPr>
                      <a:lvl6pPr marL="2285771" algn="l" defTabSz="914309" rtl="0" eaLnBrk="1" latinLnBrk="0" hangingPunct="1">
                        <a:defRPr sz="1800" b="1" kern="1200">
                          <a:solidFill>
                            <a:schemeClr val="lt1"/>
                          </a:solidFill>
                          <a:latin typeface="Arial"/>
                        </a:defRPr>
                      </a:lvl6pPr>
                      <a:lvl7pPr marL="2742926" algn="l" defTabSz="914309" rtl="0" eaLnBrk="1" latinLnBrk="0" hangingPunct="1">
                        <a:defRPr sz="1800" b="1" kern="1200">
                          <a:solidFill>
                            <a:schemeClr val="lt1"/>
                          </a:solidFill>
                          <a:latin typeface="Arial"/>
                        </a:defRPr>
                      </a:lvl7pPr>
                      <a:lvl8pPr marL="3200080" algn="l" defTabSz="914309" rtl="0" eaLnBrk="1" latinLnBrk="0" hangingPunct="1">
                        <a:defRPr sz="1800" b="1" kern="1200">
                          <a:solidFill>
                            <a:schemeClr val="lt1"/>
                          </a:solidFill>
                          <a:latin typeface="Arial"/>
                        </a:defRPr>
                      </a:lvl8pPr>
                      <a:lvl9pPr marL="3657234" algn="l" defTabSz="914309" rtl="0" eaLnBrk="1" latinLnBrk="0" hangingPunct="1">
                        <a:defRPr sz="1800" b="1" kern="1200">
                          <a:solidFill>
                            <a:schemeClr val="lt1"/>
                          </a:solidFill>
                          <a:latin typeface="Arial"/>
                        </a:defRPr>
                      </a:lvl9pPr>
                    </a:lstStyle>
                    <a:p>
                      <a:pPr algn="ct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Perú</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666666"/>
                    </a:solidFill>
                  </a:tcPr>
                </a:tc>
                <a:tc>
                  <a:txBody>
                    <a:bodyPr/>
                    <a:lstStyle>
                      <a:lvl1pPr marL="0" algn="l" defTabSz="914309" rtl="0" eaLnBrk="1" latinLnBrk="0" hangingPunct="1">
                        <a:defRPr sz="1800" b="1" kern="1200">
                          <a:solidFill>
                            <a:schemeClr val="lt1"/>
                          </a:solidFill>
                          <a:latin typeface="Arial"/>
                        </a:defRPr>
                      </a:lvl1pPr>
                      <a:lvl2pPr marL="457154" algn="l" defTabSz="914309" rtl="0" eaLnBrk="1" latinLnBrk="0" hangingPunct="1">
                        <a:defRPr sz="1800" b="1" kern="1200">
                          <a:solidFill>
                            <a:schemeClr val="lt1"/>
                          </a:solidFill>
                          <a:latin typeface="Arial"/>
                        </a:defRPr>
                      </a:lvl2pPr>
                      <a:lvl3pPr marL="914309" algn="l" defTabSz="914309" rtl="0" eaLnBrk="1" latinLnBrk="0" hangingPunct="1">
                        <a:defRPr sz="1800" b="1" kern="1200">
                          <a:solidFill>
                            <a:schemeClr val="lt1"/>
                          </a:solidFill>
                          <a:latin typeface="Arial"/>
                        </a:defRPr>
                      </a:lvl3pPr>
                      <a:lvl4pPr marL="1371463" algn="l" defTabSz="914309" rtl="0" eaLnBrk="1" latinLnBrk="0" hangingPunct="1">
                        <a:defRPr sz="1800" b="1" kern="1200">
                          <a:solidFill>
                            <a:schemeClr val="lt1"/>
                          </a:solidFill>
                          <a:latin typeface="Arial"/>
                        </a:defRPr>
                      </a:lvl4pPr>
                      <a:lvl5pPr marL="1828617" algn="l" defTabSz="914309" rtl="0" eaLnBrk="1" latinLnBrk="0" hangingPunct="1">
                        <a:defRPr sz="1800" b="1" kern="1200">
                          <a:solidFill>
                            <a:schemeClr val="lt1"/>
                          </a:solidFill>
                          <a:latin typeface="Arial"/>
                        </a:defRPr>
                      </a:lvl5pPr>
                      <a:lvl6pPr marL="2285771" algn="l" defTabSz="914309" rtl="0" eaLnBrk="1" latinLnBrk="0" hangingPunct="1">
                        <a:defRPr sz="1800" b="1" kern="1200">
                          <a:solidFill>
                            <a:schemeClr val="lt1"/>
                          </a:solidFill>
                          <a:latin typeface="Arial"/>
                        </a:defRPr>
                      </a:lvl6pPr>
                      <a:lvl7pPr marL="2742926" algn="l" defTabSz="914309" rtl="0" eaLnBrk="1" latinLnBrk="0" hangingPunct="1">
                        <a:defRPr sz="1800" b="1" kern="1200">
                          <a:solidFill>
                            <a:schemeClr val="lt1"/>
                          </a:solidFill>
                          <a:latin typeface="Arial"/>
                        </a:defRPr>
                      </a:lvl7pPr>
                      <a:lvl8pPr marL="3200080" algn="l" defTabSz="914309" rtl="0" eaLnBrk="1" latinLnBrk="0" hangingPunct="1">
                        <a:defRPr sz="1800" b="1" kern="1200">
                          <a:solidFill>
                            <a:schemeClr val="lt1"/>
                          </a:solidFill>
                          <a:latin typeface="Arial"/>
                        </a:defRPr>
                      </a:lvl8pPr>
                      <a:lvl9pPr marL="3657234" algn="l" defTabSz="914309" rtl="0" eaLnBrk="1" latinLnBrk="0" hangingPunct="1">
                        <a:defRPr sz="1800" b="1" kern="1200">
                          <a:solidFill>
                            <a:schemeClr val="lt1"/>
                          </a:solidFill>
                          <a:latin typeface="Arial"/>
                        </a:defRPr>
                      </a:lvl9pPr>
                    </a:lstStyle>
                    <a:p>
                      <a:pPr algn="ct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Colombia</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lnL w="3175"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AA1133">
                        <a:lumMod val="75000"/>
                      </a:srgbClr>
                    </a:solidFill>
                  </a:tcPr>
                </a:tc>
                <a:extLst>
                  <a:ext uri="{0D108BD9-81ED-4DB2-BD59-A6C34878D82A}">
                    <a16:rowId xmlns:a16="http://schemas.microsoft.com/office/drawing/2014/main" val="4268515602"/>
                  </a:ext>
                </a:extLst>
              </a:tr>
              <a:tr h="506733">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marL="285750" indent="-285750">
                        <a:lnSpc>
                          <a:spcPct val="150000"/>
                        </a:lnSpc>
                        <a:buFont typeface="Arial" panose="020B0604020202020204" pitchFamily="34" charset="0"/>
                        <a:buChar char="•"/>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Índice de percepción de corrupción</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mpd="sng">
                      <a:noFill/>
                    </a:lnL>
                    <a:lnR w="3175" cap="flat" cmpd="sng" algn="ctr">
                      <a:solidFill>
                        <a:sysClr val="window" lastClr="FFFFFF"/>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algn="ct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105 </a:t>
                      </a:r>
                      <a:r>
                        <a:rPr lang="es-CL" sz="1400" dirty="0" err="1">
                          <a:solidFill>
                            <a:schemeClr val="bg1"/>
                          </a:solidFill>
                          <a:effectLst/>
                          <a:latin typeface="Arial" panose="020B0604020202020204" pitchFamily="34" charset="0"/>
                          <a:ea typeface="Arial" panose="020B0604020202020204" pitchFamily="34" charset="0"/>
                          <a:cs typeface="Arial" panose="020B0604020202020204" pitchFamily="34" charset="0"/>
                        </a:rPr>
                        <a:t>ptos</a:t>
                      </a: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3175" cap="flat" cmpd="sng" algn="ctr">
                      <a:solidFill>
                        <a:sysClr val="window" lastClr="FFFFFF"/>
                      </a:solidFill>
                      <a:prstDash val="solid"/>
                      <a:round/>
                      <a:headEnd type="none" w="med" len="med"/>
                      <a:tailEnd type="none" w="med" len="med"/>
                    </a:lnL>
                    <a:lnR w="3175" cap="flat" cmpd="sng" algn="ctr">
                      <a:solidFill>
                        <a:sysClr val="window" lastClr="FFFFFF"/>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algn="ct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87 </a:t>
                      </a:r>
                      <a:r>
                        <a:rPr lang="es-CL" sz="1400" dirty="0" err="1">
                          <a:solidFill>
                            <a:schemeClr val="bg1"/>
                          </a:solidFill>
                          <a:effectLst/>
                          <a:latin typeface="Arial" panose="020B0604020202020204" pitchFamily="34" charset="0"/>
                          <a:ea typeface="Arial" panose="020B0604020202020204" pitchFamily="34" charset="0"/>
                          <a:cs typeface="Arial" panose="020B0604020202020204" pitchFamily="34" charset="0"/>
                        </a:rPr>
                        <a:t>ptos</a:t>
                      </a: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 </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3175" cap="flat" cmpd="sng" algn="ctr">
                      <a:solidFill>
                        <a:sysClr val="window" lastClr="FFFFFF"/>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542059"/>
                  </a:ext>
                </a:extLst>
              </a:tr>
              <a:tr h="423250">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marL="285750" indent="-285750">
                        <a:lnSpc>
                          <a:spcPct val="150000"/>
                        </a:lnSpc>
                        <a:buFont typeface="Arial" panose="020B0604020202020204" pitchFamily="34" charset="0"/>
                        <a:buChar char="•"/>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Riesgo político</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mpd="sng">
                      <a:noFill/>
                    </a:lnL>
                    <a:lnR w="3175"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algn="ct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Alto</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3175" cap="flat" cmpd="sng" algn="ctr">
                      <a:solidFill>
                        <a:sysClr val="window" lastClr="FFFFFF"/>
                      </a:solidFill>
                      <a:prstDash val="solid"/>
                      <a:round/>
                      <a:headEnd type="none" w="med" len="med"/>
                      <a:tailEnd type="none" w="med" len="med"/>
                    </a:lnL>
                    <a:lnR w="3175"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algn="ct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Medio</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3175" cap="flat" cmpd="sng" algn="ctr">
                      <a:solidFill>
                        <a:sysClr val="window" lastClr="FFFFFF"/>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83399884"/>
                  </a:ext>
                </a:extLst>
              </a:tr>
              <a:tr h="506733">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marL="285750" indent="-285750">
                        <a:lnSpc>
                          <a:spcPct val="150000"/>
                        </a:lnSpc>
                        <a:buFont typeface="Arial" panose="020B0604020202020204" pitchFamily="34" charset="0"/>
                        <a:buChar char="•"/>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Oportunidades económicas</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mpd="sng">
                      <a:noFill/>
                    </a:lnL>
                    <a:lnR w="3175"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algn="ct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Medio</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3175" cap="flat" cmpd="sng" algn="ctr">
                      <a:solidFill>
                        <a:sysClr val="window" lastClr="FFFFFF"/>
                      </a:solidFill>
                      <a:prstDash val="solid"/>
                      <a:round/>
                      <a:headEnd type="none" w="med" len="med"/>
                      <a:tailEnd type="none" w="med" len="med"/>
                    </a:lnL>
                    <a:lnR w="3175"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algn="ct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Alto</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3175" cap="flat" cmpd="sng" algn="ctr">
                      <a:solidFill>
                        <a:sysClr val="window" lastClr="FFFFFF"/>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1039359"/>
                  </a:ext>
                </a:extLst>
              </a:tr>
              <a:tr h="391412">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marL="285750" indent="-285750">
                        <a:lnSpc>
                          <a:spcPct val="150000"/>
                        </a:lnSpc>
                        <a:buFont typeface="Arial" panose="020B0604020202020204" pitchFamily="34" charset="0"/>
                        <a:buChar char="•"/>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Riesgo País</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mpd="sng">
                      <a:noFill/>
                    </a:lnL>
                    <a:lnR w="3175"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algn="ct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13,4%</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3175" cap="flat" cmpd="sng" algn="ctr">
                      <a:solidFill>
                        <a:sysClr val="window" lastClr="FFFFFF"/>
                      </a:solidFill>
                      <a:prstDash val="solid"/>
                      <a:round/>
                      <a:headEnd type="none" w="med" len="med"/>
                      <a:tailEnd type="none" w="med" len="med"/>
                    </a:lnL>
                    <a:lnR w="3175"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algn="ct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3,72%</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3175" cap="flat" cmpd="sng" algn="ctr">
                      <a:solidFill>
                        <a:sysClr val="window" lastClr="FFFFFF"/>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43326537"/>
                  </a:ext>
                </a:extLst>
              </a:tr>
              <a:tr h="614115">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marL="285750" indent="-285750">
                        <a:lnSpc>
                          <a:spcPct val="150000"/>
                        </a:lnSpc>
                        <a:buFont typeface="Arial" panose="020B0604020202020204" pitchFamily="34" charset="0"/>
                        <a:buChar char="•"/>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Compromiso en la Ciberseguridad</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12700" cmpd="sng">
                      <a:noFill/>
                    </a:lnL>
                    <a:lnR w="3175"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algn="ct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12</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3175" cap="flat" cmpd="sng" algn="ctr">
                      <a:solidFill>
                        <a:sysClr val="window" lastClr="FFFFFF"/>
                      </a:solidFill>
                      <a:prstDash val="solid"/>
                      <a:round/>
                      <a:headEnd type="none" w="med" len="med"/>
                      <a:tailEnd type="none" w="med" len="med"/>
                    </a:lnL>
                    <a:lnR w="3175"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309" rtl="0" eaLnBrk="1" latinLnBrk="0" hangingPunct="1">
                        <a:defRPr sz="1800" kern="1200">
                          <a:solidFill>
                            <a:schemeClr val="dk1"/>
                          </a:solidFill>
                          <a:latin typeface="Arial"/>
                        </a:defRPr>
                      </a:lvl1pPr>
                      <a:lvl2pPr marL="457154" algn="l" defTabSz="914309" rtl="0" eaLnBrk="1" latinLnBrk="0" hangingPunct="1">
                        <a:defRPr sz="1800" kern="1200">
                          <a:solidFill>
                            <a:schemeClr val="dk1"/>
                          </a:solidFill>
                          <a:latin typeface="Arial"/>
                        </a:defRPr>
                      </a:lvl2pPr>
                      <a:lvl3pPr marL="914309" algn="l" defTabSz="914309" rtl="0" eaLnBrk="1" latinLnBrk="0" hangingPunct="1">
                        <a:defRPr sz="1800" kern="1200">
                          <a:solidFill>
                            <a:schemeClr val="dk1"/>
                          </a:solidFill>
                          <a:latin typeface="Arial"/>
                        </a:defRPr>
                      </a:lvl3pPr>
                      <a:lvl4pPr marL="1371463" algn="l" defTabSz="914309" rtl="0" eaLnBrk="1" latinLnBrk="0" hangingPunct="1">
                        <a:defRPr sz="1800" kern="1200">
                          <a:solidFill>
                            <a:schemeClr val="dk1"/>
                          </a:solidFill>
                          <a:latin typeface="Arial"/>
                        </a:defRPr>
                      </a:lvl4pPr>
                      <a:lvl5pPr marL="1828617" algn="l" defTabSz="914309" rtl="0" eaLnBrk="1" latinLnBrk="0" hangingPunct="1">
                        <a:defRPr sz="1800" kern="1200">
                          <a:solidFill>
                            <a:schemeClr val="dk1"/>
                          </a:solidFill>
                          <a:latin typeface="Arial"/>
                        </a:defRPr>
                      </a:lvl5pPr>
                      <a:lvl6pPr marL="2285771" algn="l" defTabSz="914309" rtl="0" eaLnBrk="1" latinLnBrk="0" hangingPunct="1">
                        <a:defRPr sz="1800" kern="1200">
                          <a:solidFill>
                            <a:schemeClr val="dk1"/>
                          </a:solidFill>
                          <a:latin typeface="Arial"/>
                        </a:defRPr>
                      </a:lvl6pPr>
                      <a:lvl7pPr marL="2742926" algn="l" defTabSz="914309" rtl="0" eaLnBrk="1" latinLnBrk="0" hangingPunct="1">
                        <a:defRPr sz="1800" kern="1200">
                          <a:solidFill>
                            <a:schemeClr val="dk1"/>
                          </a:solidFill>
                          <a:latin typeface="Arial"/>
                        </a:defRPr>
                      </a:lvl7pPr>
                      <a:lvl8pPr marL="3200080" algn="l" defTabSz="914309" rtl="0" eaLnBrk="1" latinLnBrk="0" hangingPunct="1">
                        <a:defRPr sz="1800" kern="1200">
                          <a:solidFill>
                            <a:schemeClr val="dk1"/>
                          </a:solidFill>
                          <a:latin typeface="Arial"/>
                        </a:defRPr>
                      </a:lvl8pPr>
                      <a:lvl9pPr marL="3657234" algn="l" defTabSz="914309" rtl="0" eaLnBrk="1" latinLnBrk="0" hangingPunct="1">
                        <a:defRPr sz="1800" kern="1200">
                          <a:solidFill>
                            <a:schemeClr val="dk1"/>
                          </a:solidFill>
                          <a:latin typeface="Arial"/>
                        </a:defRPr>
                      </a:lvl9pPr>
                    </a:lstStyle>
                    <a:p>
                      <a:pPr algn="ctr">
                        <a:lnSpc>
                          <a:spcPct val="150000"/>
                        </a:lnSpc>
                      </a:pPr>
                      <a:r>
                        <a:rPr lang="es-CL" sz="1400" dirty="0">
                          <a:solidFill>
                            <a:schemeClr val="bg1"/>
                          </a:solidFill>
                          <a:effectLst/>
                          <a:latin typeface="Arial" panose="020B0604020202020204" pitchFamily="34" charset="0"/>
                          <a:ea typeface="Arial" panose="020B0604020202020204" pitchFamily="34" charset="0"/>
                          <a:cs typeface="Arial" panose="020B0604020202020204" pitchFamily="34" charset="0"/>
                        </a:rPr>
                        <a:t>9</a:t>
                      </a:r>
                      <a:endParaRPr lang="en-US" sz="20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lnL w="3175" cap="flat" cmpd="sng" algn="ctr">
                      <a:solidFill>
                        <a:sysClr val="window" lastClr="FFFFFF"/>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17592719"/>
                  </a:ext>
                </a:extLst>
              </a:tr>
            </a:tbl>
          </a:graphicData>
        </a:graphic>
      </p:graphicFrame>
      <p:sp>
        <p:nvSpPr>
          <p:cNvPr id="4" name="Oval 3">
            <a:extLst>
              <a:ext uri="{FF2B5EF4-FFF2-40B4-BE49-F238E27FC236}">
                <a16:creationId xmlns:a16="http://schemas.microsoft.com/office/drawing/2014/main" id="{538ACE9B-A49A-191A-0058-0A9FCC548419}"/>
              </a:ext>
            </a:extLst>
          </p:cNvPr>
          <p:cNvSpPr/>
          <p:nvPr/>
        </p:nvSpPr>
        <p:spPr>
          <a:xfrm>
            <a:off x="11018953" y="1778833"/>
            <a:ext cx="240044" cy="240044"/>
          </a:xfrm>
          <a:prstGeom prst="ellipse">
            <a:avLst/>
          </a:prstGeom>
          <a:solidFill>
            <a:srgbClr val="AA1133"/>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5" name="Oval 4">
            <a:extLst>
              <a:ext uri="{FF2B5EF4-FFF2-40B4-BE49-F238E27FC236}">
                <a16:creationId xmlns:a16="http://schemas.microsoft.com/office/drawing/2014/main" id="{F946A98F-0028-0788-914F-E727175C60BD}"/>
              </a:ext>
            </a:extLst>
          </p:cNvPr>
          <p:cNvSpPr/>
          <p:nvPr/>
        </p:nvSpPr>
        <p:spPr>
          <a:xfrm>
            <a:off x="10976946" y="1736826"/>
            <a:ext cx="324058" cy="324058"/>
          </a:xfrm>
          <a:prstGeom prst="ellipse">
            <a:avLst/>
          </a:prstGeom>
          <a:noFill/>
          <a:ln w="19050" cap="flat" cmpd="sng" algn="ctr">
            <a:solidFill>
              <a:srgbClr val="AA113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6" name="Oval 5">
            <a:extLst>
              <a:ext uri="{FF2B5EF4-FFF2-40B4-BE49-F238E27FC236}">
                <a16:creationId xmlns:a16="http://schemas.microsoft.com/office/drawing/2014/main" id="{2B02DB41-F582-3176-D2ED-E2A06849688C}"/>
              </a:ext>
            </a:extLst>
          </p:cNvPr>
          <p:cNvSpPr/>
          <p:nvPr/>
        </p:nvSpPr>
        <p:spPr>
          <a:xfrm>
            <a:off x="10923315" y="1683195"/>
            <a:ext cx="431321" cy="431321"/>
          </a:xfrm>
          <a:prstGeom prst="ellipse">
            <a:avLst/>
          </a:prstGeom>
          <a:noFill/>
          <a:ln w="28575" cap="flat" cmpd="sng" algn="ctr">
            <a:solidFill>
              <a:srgbClr val="AA113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7" name="TextBox 6">
            <a:extLst>
              <a:ext uri="{FF2B5EF4-FFF2-40B4-BE49-F238E27FC236}">
                <a16:creationId xmlns:a16="http://schemas.microsoft.com/office/drawing/2014/main" id="{1ACD9261-2D5A-8F93-D339-DD8E79390259}"/>
              </a:ext>
            </a:extLst>
          </p:cNvPr>
          <p:cNvSpPr txBox="1"/>
          <p:nvPr/>
        </p:nvSpPr>
        <p:spPr>
          <a:xfrm>
            <a:off x="439558" y="1398309"/>
            <a:ext cx="11377973" cy="2154436"/>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ES" sz="2000" b="0" i="0" u="none" strike="noStrike" kern="0" cap="none" spc="-50" normalizeH="0" baseline="0" noProof="0" dirty="0">
                <a:ln>
                  <a:noFill/>
                </a:ln>
                <a:solidFill>
                  <a:prstClr val="white"/>
                </a:solidFill>
                <a:effectLst/>
                <a:uLnTx/>
                <a:uFillTx/>
                <a:latin typeface="Arial"/>
              </a:rPr>
              <a:t>Colombia fue seleccionado el mercado de destino en la internacionalización de IT-Trail Services según el Análisis del entorno PESTEL realizado en comparación con Perú</a:t>
            </a:r>
            <a:r>
              <a:rPr kumimoji="0" lang="es-ES" sz="2000" b="0" i="0" u="none" strike="noStrike" kern="0" cap="none" spc="0" normalizeH="0" baseline="0" noProof="0" dirty="0">
                <a:ln>
                  <a:noFill/>
                </a:ln>
                <a:solidFill>
                  <a:srgbClr val="000000"/>
                </a:solidFill>
                <a:effectLst/>
                <a:uLnTx/>
                <a:uFillTx/>
              </a:rPr>
              <a:t>	</a:t>
            </a:r>
          </a:p>
          <a:p>
            <a:pPr marL="0" marR="0" lvl="0" indent="0" defTabSz="914309" eaLnBrk="1" fontAlgn="auto" latinLnBrk="0" hangingPunct="1">
              <a:lnSpc>
                <a:spcPct val="100000"/>
              </a:lnSpc>
              <a:spcBef>
                <a:spcPts val="0"/>
              </a:spcBef>
              <a:spcAft>
                <a:spcPts val="0"/>
              </a:spcAft>
              <a:buClrTx/>
              <a:buSzTx/>
              <a:buFontTx/>
              <a:buNone/>
              <a:tabLst/>
              <a:defRPr/>
            </a:pPr>
            <a:endParaRPr kumimoji="0" lang="en-US" sz="2000" b="0" i="0" u="none" strike="noStrike" kern="0" cap="none" spc="-50" normalizeH="0" baseline="0" noProof="0" dirty="0">
              <a:ln>
                <a:noFill/>
              </a:ln>
              <a:solidFill>
                <a:prstClr val="white"/>
              </a:solidFill>
              <a:effectLst/>
              <a:uLnTx/>
              <a:uFillTx/>
              <a:latin typeface="Aria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ES" sz="1800" b="0" i="0" u="none" strike="noStrike" kern="0" cap="none" spc="0" normalizeH="0" baseline="0" noProof="0" dirty="0">
                <a:ln>
                  <a:noFill/>
                </a:ln>
                <a:solidFill>
                  <a:prstClr val="white"/>
                </a:solidFill>
                <a:effectLst/>
                <a:uLnTx/>
                <a:uFillTx/>
              </a:rPr>
              <a:t>Crecimiento económico destacado, liderando en la región. </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800" b="0" i="0" u="none" strike="noStrike" kern="0" cap="none" spc="0" normalizeH="0" baseline="0" noProof="0" dirty="0">
                <a:ln>
                  <a:noFill/>
                </a:ln>
                <a:solidFill>
                  <a:prstClr val="white"/>
                </a:solidFill>
                <a:effectLst/>
                <a:uLnTx/>
                <a:uFillTx/>
              </a:rPr>
              <a:t>PIB pronosticado crecerá 6,1% en 2022 y 2,3% en 2023. </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800" b="0" i="0" u="none" strike="noStrike" kern="0" cap="none" spc="0" normalizeH="0" baseline="0" noProof="0" dirty="0">
                <a:ln>
                  <a:noFill/>
                </a:ln>
                <a:solidFill>
                  <a:prstClr val="white"/>
                </a:solidFill>
                <a:effectLst/>
                <a:uLnTx/>
                <a:uFillTx/>
              </a:rPr>
              <a:t>Inversión en Ciencia, Tecnología e Innovación creció 111,9%.</a:t>
            </a:r>
          </a:p>
          <a:p>
            <a:pPr marL="0" marR="0" lvl="0" indent="0" defTabSz="914309" eaLnBrk="1" fontAlgn="auto" latinLnBrk="0" hangingPunct="1">
              <a:lnSpc>
                <a:spcPct val="100000"/>
              </a:lnSpc>
              <a:spcBef>
                <a:spcPts val="0"/>
              </a:spcBef>
              <a:spcAft>
                <a:spcPts val="0"/>
              </a:spcAft>
              <a:buClrTx/>
              <a:buSzTx/>
              <a:buFontTx/>
              <a:buNone/>
              <a:tabLst/>
              <a:defRPr/>
            </a:pPr>
            <a:endParaRPr kumimoji="0" lang="en-US" sz="2000" b="0" i="0" u="none" strike="noStrike" kern="0" cap="none" spc="-50" normalizeH="0" baseline="0" noProof="0" dirty="0">
              <a:ln>
                <a:noFill/>
              </a:ln>
              <a:solidFill>
                <a:prstClr val="white"/>
              </a:solidFill>
              <a:effectLst/>
              <a:uLnTx/>
              <a:uFillTx/>
              <a:latin typeface="Arial"/>
            </a:endParaRPr>
          </a:p>
        </p:txBody>
      </p:sp>
    </p:spTree>
    <p:extLst>
      <p:ext uri="{BB962C8B-B14F-4D97-AF65-F5344CB8AC3E}">
        <p14:creationId xmlns:p14="http://schemas.microsoft.com/office/powerpoint/2010/main" val="341540810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73818D-5476-654F-7710-CECC70E76556}"/>
              </a:ext>
            </a:extLst>
          </p:cNvPr>
          <p:cNvSpPr txBox="1"/>
          <p:nvPr/>
        </p:nvSpPr>
        <p:spPr>
          <a:xfrm>
            <a:off x="347951" y="428726"/>
            <a:ext cx="10405413" cy="646331"/>
          </a:xfrm>
          <a:prstGeom prst="rect">
            <a:avLst/>
          </a:prstGeom>
          <a:noFill/>
        </p:spPr>
        <p:txBody>
          <a:bodyPr wrap="none" rtlCol="0">
            <a:spAutoFit/>
          </a:bodyPr>
          <a:lstStyle/>
          <a:p>
            <a:pPr defTabSz="914309" fontAlgn="auto">
              <a:spcBef>
                <a:spcPts val="0"/>
              </a:spcBef>
              <a:spcAft>
                <a:spcPts val="0"/>
              </a:spcAft>
              <a:defRPr/>
            </a:pPr>
            <a:r>
              <a:rPr lang="es-ES" sz="3600" spc="-50" dirty="0">
                <a:solidFill>
                  <a:prstClr val="white"/>
                </a:solidFill>
                <a:latin typeface="Arial"/>
              </a:rPr>
              <a:t>Colombia busca impulsar la inversión en tecnología</a:t>
            </a:r>
            <a:endParaRPr lang="en-US" sz="3500" spc="-30" dirty="0">
              <a:solidFill>
                <a:prstClr val="white"/>
              </a:solidFill>
              <a:latin typeface="Arial"/>
            </a:endParaRPr>
          </a:p>
        </p:txBody>
      </p:sp>
      <p:sp>
        <p:nvSpPr>
          <p:cNvPr id="3" name="Rectangle 2">
            <a:extLst>
              <a:ext uri="{FF2B5EF4-FFF2-40B4-BE49-F238E27FC236}">
                <a16:creationId xmlns:a16="http://schemas.microsoft.com/office/drawing/2014/main" id="{88F1E881-EC6D-C5BD-59A2-413FF35563C5}"/>
              </a:ext>
            </a:extLst>
          </p:cNvPr>
          <p:cNvSpPr/>
          <p:nvPr/>
        </p:nvSpPr>
        <p:spPr bwMode="auto">
          <a:xfrm>
            <a:off x="439558" y="2429447"/>
            <a:ext cx="4057164" cy="861774"/>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defTabSz="914102" eaLnBrk="1" fontAlgn="auto" latinLnBrk="0" hangingPunct="1">
              <a:lnSpc>
                <a:spcPct val="100000"/>
              </a:lnSpc>
              <a:spcBef>
                <a:spcPts val="0"/>
              </a:spcBef>
              <a:spcAft>
                <a:spcPts val="0"/>
              </a:spcAft>
              <a:buClrTx/>
              <a:buSzTx/>
              <a:buFontTx/>
              <a:buNone/>
              <a:tabLst/>
              <a:defRPr/>
            </a:pPr>
            <a:r>
              <a:rPr kumimoji="0" lang="es-ES" sz="1800" b="0" i="0" u="none" strike="noStrike" kern="0" cap="none" spc="0" normalizeH="0" baseline="0" noProof="0" dirty="0">
                <a:ln>
                  <a:noFill/>
                </a:ln>
                <a:solidFill>
                  <a:prstClr val="white"/>
                </a:solidFill>
                <a:effectLst/>
                <a:uLnTx/>
                <a:uFillTx/>
              </a:rPr>
              <a:t>El gobierno ha establecido un marco normativo que promueve la masificación de las Tecnologías</a:t>
            </a:r>
            <a:endParaRPr kumimoji="0" lang="en-US" sz="2000" b="0" i="0" u="none" strike="noStrike" kern="0" cap="none" spc="0" normalizeH="0" baseline="0" noProof="0" dirty="0">
              <a:ln>
                <a:noFill/>
              </a:ln>
              <a:solidFill>
                <a:prstClr val="white"/>
              </a:solidFill>
              <a:effectLst/>
              <a:uLnTx/>
              <a:uFillTx/>
              <a:latin typeface="Segoe UI"/>
              <a:ea typeface="Segoe UI" pitchFamily="34" charset="0"/>
              <a:cs typeface="Segoe UI" pitchFamily="34" charset="0"/>
            </a:endParaRPr>
          </a:p>
        </p:txBody>
      </p:sp>
      <p:sp>
        <p:nvSpPr>
          <p:cNvPr id="4" name="Rectangle 3">
            <a:extLst>
              <a:ext uri="{FF2B5EF4-FFF2-40B4-BE49-F238E27FC236}">
                <a16:creationId xmlns:a16="http://schemas.microsoft.com/office/drawing/2014/main" id="{EBC3DDB6-AD44-53E4-BA8C-47E2BD63486F}"/>
              </a:ext>
            </a:extLst>
          </p:cNvPr>
          <p:cNvSpPr/>
          <p:nvPr/>
        </p:nvSpPr>
        <p:spPr bwMode="auto">
          <a:xfrm>
            <a:off x="475240" y="4914799"/>
            <a:ext cx="4144445" cy="1384995"/>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defTabSz="914102"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rPr>
              <a:t>90% </a:t>
            </a:r>
            <a:r>
              <a:rPr kumimoji="0" lang="en-US" sz="1800" b="0" i="0" u="none" strike="noStrike" kern="0" cap="none" spc="0" normalizeH="0" baseline="0" noProof="0" dirty="0">
                <a:ln>
                  <a:noFill/>
                </a:ln>
                <a:solidFill>
                  <a:prstClr val="white"/>
                </a:solidFill>
                <a:effectLst/>
                <a:uLnTx/>
                <a:uFillTx/>
                <a:latin typeface="Segoe UI"/>
                <a:cs typeface="Segoe UI" pitchFamily="34" charset="0"/>
              </a:rPr>
              <a:t>son </a:t>
            </a:r>
            <a:r>
              <a:rPr kumimoji="0" lang="en-US" sz="1800" b="0" i="0" u="none" strike="noStrike" kern="0" cap="none" spc="0" normalizeH="0" baseline="0" noProof="0" dirty="0" err="1">
                <a:ln>
                  <a:noFill/>
                </a:ln>
                <a:solidFill>
                  <a:prstClr val="white"/>
                </a:solidFill>
                <a:effectLst/>
                <a:uLnTx/>
                <a:uFillTx/>
                <a:latin typeface="Segoe UI"/>
                <a:cs typeface="Segoe UI" pitchFamily="34" charset="0"/>
              </a:rPr>
              <a:t>pequeñas</a:t>
            </a:r>
            <a:r>
              <a:rPr kumimoji="0" lang="en-US" sz="1800" b="0" i="0" u="none" strike="noStrike" kern="0" cap="none" spc="0" normalizeH="0" baseline="0" noProof="0" dirty="0">
                <a:ln>
                  <a:noFill/>
                </a:ln>
                <a:solidFill>
                  <a:prstClr val="white"/>
                </a:solidFill>
                <a:effectLst/>
                <a:uLnTx/>
                <a:uFillTx/>
                <a:latin typeface="Segoe UI"/>
                <a:cs typeface="Segoe UI" pitchFamily="34" charset="0"/>
              </a:rPr>
              <a:t> y </a:t>
            </a:r>
            <a:r>
              <a:rPr kumimoji="0" lang="en-US" sz="1800" b="0" i="0" u="none" strike="noStrike" kern="0" cap="none" spc="0" normalizeH="0" baseline="0" noProof="0" dirty="0" err="1">
                <a:ln>
                  <a:noFill/>
                </a:ln>
                <a:solidFill>
                  <a:prstClr val="white"/>
                </a:solidFill>
                <a:effectLst/>
                <a:uLnTx/>
                <a:uFillTx/>
                <a:latin typeface="Segoe UI"/>
                <a:cs typeface="Segoe UI" pitchFamily="34" charset="0"/>
              </a:rPr>
              <a:t>medianas</a:t>
            </a:r>
            <a:r>
              <a:rPr kumimoji="0" lang="en-US" sz="1800" b="0" i="0" u="none" strike="noStrike" kern="0" cap="none" spc="0" normalizeH="0" baseline="0" noProof="0" dirty="0">
                <a:ln>
                  <a:noFill/>
                </a:ln>
                <a:solidFill>
                  <a:prstClr val="white"/>
                </a:solidFill>
                <a:effectLst/>
                <a:uLnTx/>
                <a:uFillTx/>
                <a:latin typeface="Segoe UI"/>
                <a:cs typeface="Segoe UI" pitchFamily="34" charset="0"/>
              </a:rPr>
              <a:t> </a:t>
            </a:r>
            <a:r>
              <a:rPr kumimoji="0" lang="en-US" sz="1800" b="0" i="0" u="none" strike="noStrike" kern="0" cap="none" spc="0" normalizeH="0" baseline="0" noProof="0" dirty="0" err="1">
                <a:ln>
                  <a:noFill/>
                </a:ln>
                <a:solidFill>
                  <a:prstClr val="white"/>
                </a:solidFill>
                <a:effectLst/>
                <a:uLnTx/>
                <a:uFillTx/>
                <a:latin typeface="Segoe UI"/>
                <a:cs typeface="Segoe UI" pitchFamily="34" charset="0"/>
              </a:rPr>
              <a:t>donde</a:t>
            </a:r>
            <a:r>
              <a:rPr kumimoji="0" lang="en-US" sz="1800" b="0" i="0" u="none" strike="noStrike" kern="0" cap="none" spc="0" normalizeH="0" baseline="0" noProof="0" dirty="0">
                <a:ln>
                  <a:noFill/>
                </a:ln>
                <a:solidFill>
                  <a:prstClr val="white"/>
                </a:solidFill>
                <a:effectLst/>
                <a:uLnTx/>
                <a:uFillTx/>
                <a:latin typeface="Segoe UI"/>
                <a:cs typeface="Segoe UI" pitchFamily="34" charset="0"/>
              </a:rPr>
              <a:t> </a:t>
            </a:r>
            <a:r>
              <a:rPr kumimoji="0" lang="en-US" sz="1800" b="0" i="0" u="none" strike="noStrike" kern="0" cap="none" spc="0" normalizeH="0" baseline="0" noProof="0" dirty="0" err="1">
                <a:ln>
                  <a:noFill/>
                </a:ln>
                <a:solidFill>
                  <a:prstClr val="white"/>
                </a:solidFill>
                <a:effectLst/>
                <a:uLnTx/>
                <a:uFillTx/>
                <a:latin typeface="Segoe UI"/>
                <a:cs typeface="Segoe UI" pitchFamily="34" charset="0"/>
              </a:rPr>
              <a:t>destacan</a:t>
            </a:r>
            <a:r>
              <a:rPr kumimoji="0" lang="en-US" sz="1800" b="0" i="0" u="none" strike="noStrike" kern="0" cap="none" spc="0" normalizeH="0" baseline="0" noProof="0" dirty="0">
                <a:ln>
                  <a:noFill/>
                </a:ln>
                <a:solidFill>
                  <a:prstClr val="white"/>
                </a:solidFill>
                <a:effectLst/>
                <a:uLnTx/>
                <a:uFillTx/>
                <a:latin typeface="Segoe UI"/>
                <a:cs typeface="Segoe UI" pitchFamily="34" charset="0"/>
              </a:rPr>
              <a:t> las </a:t>
            </a:r>
            <a:r>
              <a:rPr kumimoji="0" lang="es-CL" sz="1800" b="0" i="0" u="none" strike="noStrike" kern="0" cap="none" spc="0" normalizeH="0" baseline="0" noProof="0" dirty="0">
                <a:ln>
                  <a:noFill/>
                </a:ln>
                <a:solidFill>
                  <a:prstClr val="white"/>
                </a:solidFill>
                <a:effectLst/>
                <a:uLnTx/>
                <a:uFillTx/>
                <a:latin typeface="Segoe UI"/>
                <a:cs typeface="Segoe UI" pitchFamily="34" charset="0"/>
              </a:rPr>
              <a:t>Nativas Digitales y empresas en proceso de digitalización </a:t>
            </a:r>
            <a:endParaRPr kumimoji="0" lang="en-US" sz="1800" b="0" i="0" u="none" strike="noStrike" kern="0" cap="none" spc="0" normalizeH="0" baseline="0" noProof="0" dirty="0">
              <a:ln>
                <a:noFill/>
              </a:ln>
              <a:solidFill>
                <a:prstClr val="white"/>
              </a:solidFill>
              <a:effectLst/>
              <a:uLnTx/>
              <a:uFillTx/>
              <a:latin typeface="Segoe UI"/>
              <a:cs typeface="Segoe UI" pitchFamily="34" charset="0"/>
            </a:endParaRPr>
          </a:p>
          <a:p>
            <a:pPr marL="0" marR="0" lvl="0" indent="0" defTabSz="91410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endParaRPr>
          </a:p>
        </p:txBody>
      </p:sp>
      <p:sp>
        <p:nvSpPr>
          <p:cNvPr id="5" name="Rectangle 4">
            <a:extLst>
              <a:ext uri="{FF2B5EF4-FFF2-40B4-BE49-F238E27FC236}">
                <a16:creationId xmlns:a16="http://schemas.microsoft.com/office/drawing/2014/main" id="{32BBB922-11D5-D7CA-F9A5-724D56F6BE69}"/>
              </a:ext>
            </a:extLst>
          </p:cNvPr>
          <p:cNvSpPr/>
          <p:nvPr/>
        </p:nvSpPr>
        <p:spPr bwMode="auto">
          <a:xfrm flipH="1">
            <a:off x="8108557" y="3812475"/>
            <a:ext cx="3823210" cy="769441"/>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102" fontAlgn="auto">
              <a:spcBef>
                <a:spcPts val="0"/>
              </a:spcBef>
              <a:spcAft>
                <a:spcPts val="0"/>
              </a:spcAft>
              <a:defRPr/>
            </a:pPr>
            <a:r>
              <a:rPr lang="en-US" sz="3200" kern="0" dirty="0">
                <a:solidFill>
                  <a:prstClr val="white"/>
                </a:solidFill>
                <a:latin typeface="Segoe UI Semibold" panose="020B0702040204020203" pitchFamily="34" charset="0"/>
                <a:cs typeface="Segoe UI Semibold" panose="020B0702040204020203" pitchFamily="34" charset="0"/>
              </a:rPr>
              <a:t>USD 300MM </a:t>
            </a:r>
            <a:br>
              <a:rPr lang="en-US" sz="4400" kern="0" dirty="0">
                <a:solidFill>
                  <a:prstClr val="white"/>
                </a:solidFill>
                <a:latin typeface="Segoe UI Semibold" panose="020B0702040204020203" pitchFamily="34" charset="0"/>
                <a:cs typeface="Segoe UI Semibold" panose="020B0702040204020203" pitchFamily="34" charset="0"/>
              </a:rPr>
            </a:br>
            <a:r>
              <a:rPr lang="en-US" kern="0" dirty="0">
                <a:solidFill>
                  <a:prstClr val="white"/>
                </a:solidFill>
                <a:latin typeface="Segoe UI"/>
                <a:cs typeface="Segoe UI" pitchFamily="34" charset="0"/>
              </a:rPr>
              <a:t>+para Desarrollo e </a:t>
            </a:r>
            <a:r>
              <a:rPr lang="en-US" kern="0" dirty="0" err="1">
                <a:solidFill>
                  <a:prstClr val="white"/>
                </a:solidFill>
                <a:latin typeface="Segoe UI"/>
                <a:cs typeface="Segoe UI" pitchFamily="34" charset="0"/>
              </a:rPr>
              <a:t>Innovación</a:t>
            </a:r>
            <a:endParaRPr lang="en-US" sz="3200" kern="0" dirty="0">
              <a:solidFill>
                <a:prstClr val="white"/>
              </a:solidFill>
              <a:latin typeface="Segoe UI"/>
              <a:cs typeface="Segoe UI" pitchFamily="34" charset="0"/>
            </a:endParaRPr>
          </a:p>
        </p:txBody>
      </p:sp>
      <p:sp>
        <p:nvSpPr>
          <p:cNvPr id="6" name="Rectangle 5">
            <a:extLst>
              <a:ext uri="{FF2B5EF4-FFF2-40B4-BE49-F238E27FC236}">
                <a16:creationId xmlns:a16="http://schemas.microsoft.com/office/drawing/2014/main" id="{2BDF32E5-2027-B5FF-3DD7-183325C86209}"/>
              </a:ext>
            </a:extLst>
          </p:cNvPr>
          <p:cNvSpPr/>
          <p:nvPr/>
        </p:nvSpPr>
        <p:spPr bwMode="auto">
          <a:xfrm flipH="1">
            <a:off x="8075826" y="4925482"/>
            <a:ext cx="3627239" cy="110799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102" fontAlgn="auto">
              <a:spcBef>
                <a:spcPts val="0"/>
              </a:spcBef>
              <a:spcAft>
                <a:spcPts val="0"/>
              </a:spcAft>
              <a:defRPr/>
            </a:pPr>
            <a:r>
              <a:rPr lang="es-CL" kern="0" dirty="0">
                <a:solidFill>
                  <a:prstClr val="white"/>
                </a:solidFill>
                <a:latin typeface="Segoe UI"/>
                <a:cs typeface="Segoe UI" pitchFamily="34" charset="0"/>
              </a:rPr>
              <a:t>Estas empresas se caracterizan en el uso soluciones de “nube” o debido a las capacidades de estas para poder acelerar la Transformación </a:t>
            </a:r>
            <a:endParaRPr lang="en-US" kern="0" dirty="0">
              <a:solidFill>
                <a:prstClr val="white"/>
              </a:solidFill>
              <a:latin typeface="Segoe UI"/>
              <a:cs typeface="Segoe UI" pitchFamily="34" charset="0"/>
            </a:endParaRPr>
          </a:p>
        </p:txBody>
      </p:sp>
      <p:sp>
        <p:nvSpPr>
          <p:cNvPr id="7" name="Rectangle 6">
            <a:extLst>
              <a:ext uri="{FF2B5EF4-FFF2-40B4-BE49-F238E27FC236}">
                <a16:creationId xmlns:a16="http://schemas.microsoft.com/office/drawing/2014/main" id="{BE07DF38-0C5B-A078-507A-752A55EA22FE}"/>
              </a:ext>
            </a:extLst>
          </p:cNvPr>
          <p:cNvSpPr/>
          <p:nvPr/>
        </p:nvSpPr>
        <p:spPr bwMode="auto">
          <a:xfrm flipH="1">
            <a:off x="8108557" y="2336970"/>
            <a:ext cx="3627239" cy="769441"/>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defTabSz="914102" eaLnBrk="1" fontAlgn="auto" latinLnBrk="0" hangingPunct="1">
              <a:lnSpc>
                <a:spcPct val="100000"/>
              </a:lnSpc>
              <a:spcBef>
                <a:spcPts val="0"/>
              </a:spcBef>
              <a:spcAft>
                <a:spcPts val="0"/>
              </a:spcAft>
              <a:buClrTx/>
              <a:buSzTx/>
              <a:buFontTx/>
              <a:buNone/>
              <a:tabLst/>
              <a:defRPr/>
            </a:pPr>
            <a:r>
              <a:rPr kumimoji="0" lang="en-US" sz="3200" b="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rPr>
              <a:t>80%</a:t>
            </a:r>
            <a:r>
              <a:rPr kumimoji="0" lang="es-CL" sz="1800" b="0" i="0" u="none" strike="noStrike" kern="0" cap="none" spc="0" normalizeH="0" baseline="0" noProof="0" dirty="0">
                <a:ln>
                  <a:noFill/>
                </a:ln>
                <a:solidFill>
                  <a:srgbClr val="000000"/>
                </a:solidFill>
                <a:effectLst/>
                <a:uLnTx/>
                <a:uFillTx/>
              </a:rPr>
              <a:t>  </a:t>
            </a:r>
            <a:r>
              <a:rPr kumimoji="0" lang="es-CL" sz="1800" b="0" i="0" u="none" strike="noStrike" kern="0" cap="none" spc="0" normalizeH="0" baseline="0" noProof="0" dirty="0" err="1">
                <a:ln>
                  <a:noFill/>
                </a:ln>
                <a:solidFill>
                  <a:prstClr val="white"/>
                </a:solidFill>
                <a:effectLst/>
                <a:uLnTx/>
                <a:uFillTx/>
              </a:rPr>
              <a:t>Foodtech</a:t>
            </a:r>
            <a:r>
              <a:rPr kumimoji="0" lang="es-CL" sz="1800" b="0" i="0" u="none" strike="noStrike" kern="0" cap="none" spc="0" normalizeH="0" baseline="0" noProof="0" dirty="0">
                <a:ln>
                  <a:noFill/>
                </a:ln>
                <a:solidFill>
                  <a:prstClr val="white"/>
                </a:solidFill>
                <a:effectLst/>
                <a:uLnTx/>
                <a:uFillTx/>
              </a:rPr>
              <a:t>, Real Estate, Fintech, </a:t>
            </a:r>
            <a:r>
              <a:rPr kumimoji="0" lang="es-CL" sz="1800" b="0" i="0" u="none" strike="noStrike" kern="0" cap="none" spc="0" normalizeH="0" baseline="0" noProof="0" dirty="0" err="1">
                <a:ln>
                  <a:noFill/>
                </a:ln>
                <a:solidFill>
                  <a:prstClr val="white"/>
                </a:solidFill>
                <a:effectLst/>
                <a:uLnTx/>
                <a:uFillTx/>
              </a:rPr>
              <a:t>Retailtech</a:t>
            </a:r>
            <a:r>
              <a:rPr kumimoji="0" lang="es-CL" sz="1800" b="0" i="0" u="none" strike="noStrike" kern="0" cap="none" spc="0" normalizeH="0" baseline="0" noProof="0" dirty="0">
                <a:ln>
                  <a:noFill/>
                </a:ln>
                <a:solidFill>
                  <a:prstClr val="white"/>
                </a:solidFill>
                <a:effectLst/>
                <a:uLnTx/>
                <a:uFillTx/>
              </a:rPr>
              <a:t>, </a:t>
            </a:r>
            <a:r>
              <a:rPr kumimoji="0" lang="es-CL" sz="1800" b="0" i="0" u="none" strike="noStrike" kern="0" cap="none" spc="0" normalizeH="0" baseline="0" noProof="0" dirty="0" err="1">
                <a:ln>
                  <a:noFill/>
                </a:ln>
                <a:solidFill>
                  <a:prstClr val="white"/>
                </a:solidFill>
                <a:effectLst/>
                <a:uLnTx/>
                <a:uFillTx/>
              </a:rPr>
              <a:t>LogTech</a:t>
            </a:r>
            <a:r>
              <a:rPr kumimoji="0" lang="es-CL" sz="1800" b="0" i="0" u="none" strike="noStrike" kern="0" cap="none" spc="0" normalizeH="0" baseline="0" noProof="0" dirty="0">
                <a:ln>
                  <a:noFill/>
                </a:ln>
                <a:solidFill>
                  <a:prstClr val="white"/>
                </a:solidFill>
                <a:effectLst/>
                <a:uLnTx/>
                <a:uFillTx/>
              </a:rPr>
              <a:t> </a:t>
            </a:r>
            <a:endParaRPr kumimoji="0" lang="en-US" sz="1800" b="0" i="0" u="none" strike="noStrike" kern="0" cap="none" spc="0" normalizeH="0" baseline="0" noProof="0" dirty="0">
              <a:ln>
                <a:noFill/>
              </a:ln>
              <a:solidFill>
                <a:prstClr val="white"/>
              </a:solidFill>
              <a:effectLst/>
              <a:uLnTx/>
              <a:uFillTx/>
            </a:endParaRPr>
          </a:p>
        </p:txBody>
      </p:sp>
      <p:sp>
        <p:nvSpPr>
          <p:cNvPr id="8" name="Oval 7">
            <a:extLst>
              <a:ext uri="{FF2B5EF4-FFF2-40B4-BE49-F238E27FC236}">
                <a16:creationId xmlns:a16="http://schemas.microsoft.com/office/drawing/2014/main" id="{090021BF-66CE-1E28-8506-BC3EF5993413}"/>
              </a:ext>
            </a:extLst>
          </p:cNvPr>
          <p:cNvSpPr/>
          <p:nvPr/>
        </p:nvSpPr>
        <p:spPr bwMode="auto">
          <a:xfrm>
            <a:off x="4697337" y="2269132"/>
            <a:ext cx="2687372" cy="2687374"/>
          </a:xfrm>
          <a:prstGeom prst="ellipse">
            <a:avLst/>
          </a:prstGeom>
          <a:noFill/>
          <a:ln w="19050" cap="flat" cmpd="sng" algn="ctr">
            <a:noFill/>
            <a:prstDash val="solid"/>
            <a:headEnd type="none" w="med" len="med"/>
            <a:tailEnd type="none" w="med" len="med"/>
          </a:ln>
          <a:effectLst/>
        </p:spPr>
        <p:txBody>
          <a:bodyPr rot="0" spcFirstLastPara="0" vertOverflow="overflow" horzOverflow="overflow" vert="horz" wrap="square" lIns="0" tIns="731520" rIns="0" bIns="0" numCol="1" spcCol="0" rtlCol="0" fromWordArt="0" anchor="ctr" anchorCtr="0" forceAA="0" compatLnSpc="1">
            <a:prstTxWarp prst="textNoShape">
              <a:avLst/>
            </a:prstTxWarp>
            <a:noAutofit/>
          </a:bodyPr>
          <a:lstStyle/>
          <a:p>
            <a:pPr algn="ctr" defTabSz="914102" fontAlgn="auto">
              <a:spcBef>
                <a:spcPts val="0"/>
              </a:spcBef>
              <a:spcAft>
                <a:spcPts val="0"/>
              </a:spcAft>
              <a:defRPr/>
            </a:pPr>
            <a:r>
              <a:rPr lang="en-US" sz="3200" kern="0" dirty="0">
                <a:solidFill>
                  <a:srgbClr val="FFFFFF"/>
                </a:solidFill>
                <a:latin typeface="Segoe UI Semibold" panose="020B0702040204020203" pitchFamily="34" charset="0"/>
                <a:cs typeface="Segoe UI Semibold" panose="020B0702040204020203" pitchFamily="34" charset="0"/>
              </a:rPr>
              <a:t>1,6M</a:t>
            </a:r>
            <a:r>
              <a:rPr lang="en-US" sz="2800" kern="0" dirty="0">
                <a:solidFill>
                  <a:srgbClr val="FFFFFF"/>
                </a:solidFill>
                <a:latin typeface="Segoe UI Semibold" panose="020B0702040204020203" pitchFamily="34" charset="0"/>
                <a:cs typeface="Segoe UI Semibold" panose="020B0702040204020203" pitchFamily="34" charset="0"/>
              </a:rPr>
              <a:t> </a:t>
            </a:r>
          </a:p>
          <a:p>
            <a:pPr algn="ctr" defTabSz="914102" fontAlgn="auto">
              <a:spcBef>
                <a:spcPts val="0"/>
              </a:spcBef>
              <a:spcAft>
                <a:spcPts val="0"/>
              </a:spcAft>
              <a:defRPr/>
            </a:pPr>
            <a:r>
              <a:rPr lang="en-US" sz="2000" spc="-50" dirty="0" err="1">
                <a:solidFill>
                  <a:srgbClr val="FFFFFF"/>
                </a:solidFill>
                <a:latin typeface="Arial"/>
              </a:rPr>
              <a:t>Empresas</a:t>
            </a:r>
            <a:endParaRPr lang="en-US" sz="2000" spc="-50" dirty="0">
              <a:solidFill>
                <a:srgbClr val="FFFFFF"/>
              </a:solidFill>
              <a:latin typeface="Arial"/>
            </a:endParaRPr>
          </a:p>
        </p:txBody>
      </p:sp>
      <p:sp>
        <p:nvSpPr>
          <p:cNvPr id="9" name="Freeform 6">
            <a:extLst>
              <a:ext uri="{FF2B5EF4-FFF2-40B4-BE49-F238E27FC236}">
                <a16:creationId xmlns:a16="http://schemas.microsoft.com/office/drawing/2014/main" id="{5823DBB7-F7D2-FBB3-E120-B81B56BAF67F}"/>
              </a:ext>
            </a:extLst>
          </p:cNvPr>
          <p:cNvSpPr>
            <a:spLocks/>
          </p:cNvSpPr>
          <p:nvPr/>
        </p:nvSpPr>
        <p:spPr bwMode="auto">
          <a:xfrm>
            <a:off x="6949318" y="2640379"/>
            <a:ext cx="979571" cy="1111113"/>
          </a:xfrm>
          <a:custGeom>
            <a:avLst/>
            <a:gdLst>
              <a:gd name="T0" fmla="*/ 793 w 2753"/>
              <a:gd name="T1" fmla="*/ 0 h 3115"/>
              <a:gd name="T2" fmla="*/ 2753 w 2753"/>
              <a:gd name="T3" fmla="*/ 2698 h 3115"/>
              <a:gd name="T4" fmla="*/ 1470 w 2753"/>
              <a:gd name="T5" fmla="*/ 3115 h 3115"/>
              <a:gd name="T6" fmla="*/ 0 w 2753"/>
              <a:gd name="T7" fmla="*/ 1092 h 3115"/>
              <a:gd name="T8" fmla="*/ 793 w 2753"/>
              <a:gd name="T9" fmla="*/ 0 h 3115"/>
            </a:gdLst>
            <a:ahLst/>
            <a:cxnLst>
              <a:cxn ang="0">
                <a:pos x="T0" y="T1"/>
              </a:cxn>
              <a:cxn ang="0">
                <a:pos x="T2" y="T3"/>
              </a:cxn>
              <a:cxn ang="0">
                <a:pos x="T4" y="T5"/>
              </a:cxn>
              <a:cxn ang="0">
                <a:pos x="T6" y="T7"/>
              </a:cxn>
              <a:cxn ang="0">
                <a:pos x="T8" y="T9"/>
              </a:cxn>
            </a:cxnLst>
            <a:rect l="0" t="0" r="r" b="b"/>
            <a:pathLst>
              <a:path w="2753" h="3115">
                <a:moveTo>
                  <a:pt x="793" y="0"/>
                </a:moveTo>
                <a:cubicBezTo>
                  <a:pt x="1715" y="670"/>
                  <a:pt x="2401" y="1615"/>
                  <a:pt x="2753" y="2698"/>
                </a:cubicBezTo>
                <a:lnTo>
                  <a:pt x="1470" y="3115"/>
                </a:lnTo>
                <a:cubicBezTo>
                  <a:pt x="1206" y="2302"/>
                  <a:pt x="691" y="1594"/>
                  <a:pt x="0" y="1092"/>
                </a:cubicBezTo>
                <a:lnTo>
                  <a:pt x="793" y="0"/>
                </a:lnTo>
                <a:close/>
              </a:path>
            </a:pathLst>
          </a:custGeom>
          <a:solidFill>
            <a:srgbClr val="640D26"/>
          </a:solidFill>
          <a:ln w="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en-IN" kern="0">
              <a:solidFill>
                <a:prstClr val="white"/>
              </a:solidFill>
              <a:latin typeface="Segoe UI"/>
            </a:endParaRPr>
          </a:p>
        </p:txBody>
      </p:sp>
      <p:sp>
        <p:nvSpPr>
          <p:cNvPr id="10" name="Freeform 8">
            <a:extLst>
              <a:ext uri="{FF2B5EF4-FFF2-40B4-BE49-F238E27FC236}">
                <a16:creationId xmlns:a16="http://schemas.microsoft.com/office/drawing/2014/main" id="{90A3885E-3D2D-909D-5CF5-DB98BE03E50E}"/>
              </a:ext>
            </a:extLst>
          </p:cNvPr>
          <p:cNvSpPr>
            <a:spLocks/>
          </p:cNvSpPr>
          <p:nvPr/>
        </p:nvSpPr>
        <p:spPr bwMode="auto">
          <a:xfrm>
            <a:off x="6949318" y="4644301"/>
            <a:ext cx="979571" cy="1111113"/>
          </a:xfrm>
          <a:custGeom>
            <a:avLst/>
            <a:gdLst>
              <a:gd name="T0" fmla="*/ 2753 w 2753"/>
              <a:gd name="T1" fmla="*/ 417 h 3115"/>
              <a:gd name="T2" fmla="*/ 793 w 2753"/>
              <a:gd name="T3" fmla="*/ 3115 h 3115"/>
              <a:gd name="T4" fmla="*/ 0 w 2753"/>
              <a:gd name="T5" fmla="*/ 2023 h 3115"/>
              <a:gd name="T6" fmla="*/ 1470 w 2753"/>
              <a:gd name="T7" fmla="*/ 0 h 3115"/>
              <a:gd name="T8" fmla="*/ 2753 w 2753"/>
              <a:gd name="T9" fmla="*/ 417 h 3115"/>
            </a:gdLst>
            <a:ahLst/>
            <a:cxnLst>
              <a:cxn ang="0">
                <a:pos x="T0" y="T1"/>
              </a:cxn>
              <a:cxn ang="0">
                <a:pos x="T2" y="T3"/>
              </a:cxn>
              <a:cxn ang="0">
                <a:pos x="T4" y="T5"/>
              </a:cxn>
              <a:cxn ang="0">
                <a:pos x="T6" y="T7"/>
              </a:cxn>
              <a:cxn ang="0">
                <a:pos x="T8" y="T9"/>
              </a:cxn>
            </a:cxnLst>
            <a:rect l="0" t="0" r="r" b="b"/>
            <a:pathLst>
              <a:path w="2753" h="3115">
                <a:moveTo>
                  <a:pt x="2753" y="417"/>
                </a:moveTo>
                <a:cubicBezTo>
                  <a:pt x="2401" y="1501"/>
                  <a:pt x="1715" y="2445"/>
                  <a:pt x="793" y="3115"/>
                </a:cubicBezTo>
                <a:lnTo>
                  <a:pt x="0" y="2023"/>
                </a:lnTo>
                <a:cubicBezTo>
                  <a:pt x="691" y="1521"/>
                  <a:pt x="1206" y="813"/>
                  <a:pt x="1470" y="0"/>
                </a:cubicBezTo>
                <a:lnTo>
                  <a:pt x="2753" y="417"/>
                </a:lnTo>
                <a:close/>
              </a:path>
            </a:pathLst>
          </a:custGeom>
          <a:solidFill>
            <a:srgbClr val="640D26"/>
          </a:solidFill>
          <a:ln w="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en-IN" kern="0">
              <a:solidFill>
                <a:prstClr val="white"/>
              </a:solidFill>
              <a:latin typeface="Segoe UI"/>
            </a:endParaRPr>
          </a:p>
        </p:txBody>
      </p:sp>
      <p:grpSp>
        <p:nvGrpSpPr>
          <p:cNvPr id="11" name="Group 10">
            <a:extLst>
              <a:ext uri="{FF2B5EF4-FFF2-40B4-BE49-F238E27FC236}">
                <a16:creationId xmlns:a16="http://schemas.microsoft.com/office/drawing/2014/main" id="{96F4AD80-E693-24AD-4C06-44E381675B85}"/>
              </a:ext>
            </a:extLst>
          </p:cNvPr>
          <p:cNvGrpSpPr/>
          <p:nvPr/>
        </p:nvGrpSpPr>
        <p:grpSpPr>
          <a:xfrm>
            <a:off x="7472689" y="3603157"/>
            <a:ext cx="580746" cy="1189479"/>
            <a:chOff x="7466001" y="3184683"/>
            <a:chExt cx="580746" cy="1189479"/>
          </a:xfrm>
          <a:solidFill>
            <a:srgbClr val="640D26"/>
          </a:solidFill>
        </p:grpSpPr>
        <p:sp>
          <p:nvSpPr>
            <p:cNvPr id="12" name="Freeform 7">
              <a:extLst>
                <a:ext uri="{FF2B5EF4-FFF2-40B4-BE49-F238E27FC236}">
                  <a16:creationId xmlns:a16="http://schemas.microsoft.com/office/drawing/2014/main" id="{315659DA-BDEF-AAA0-A476-87D49C83464F}"/>
                </a:ext>
              </a:extLst>
            </p:cNvPr>
            <p:cNvSpPr>
              <a:spLocks/>
            </p:cNvSpPr>
            <p:nvPr/>
          </p:nvSpPr>
          <p:spPr bwMode="auto">
            <a:xfrm>
              <a:off x="7466001" y="3184683"/>
              <a:ext cx="580746" cy="1189479"/>
            </a:xfrm>
            <a:custGeom>
              <a:avLst/>
              <a:gdLst>
                <a:gd name="T0" fmla="*/ 1283 w 1635"/>
                <a:gd name="T1" fmla="*/ 0 h 3335"/>
                <a:gd name="T2" fmla="*/ 1283 w 1635"/>
                <a:gd name="T3" fmla="*/ 3335 h 3335"/>
                <a:gd name="T4" fmla="*/ 0 w 1635"/>
                <a:gd name="T5" fmla="*/ 2918 h 3335"/>
                <a:gd name="T6" fmla="*/ 0 w 1635"/>
                <a:gd name="T7" fmla="*/ 417 h 3335"/>
                <a:gd name="T8" fmla="*/ 1283 w 1635"/>
                <a:gd name="T9" fmla="*/ 0 h 3335"/>
              </a:gdLst>
              <a:ahLst/>
              <a:cxnLst>
                <a:cxn ang="0">
                  <a:pos x="T0" y="T1"/>
                </a:cxn>
                <a:cxn ang="0">
                  <a:pos x="T2" y="T3"/>
                </a:cxn>
                <a:cxn ang="0">
                  <a:pos x="T4" y="T5"/>
                </a:cxn>
                <a:cxn ang="0">
                  <a:pos x="T6" y="T7"/>
                </a:cxn>
                <a:cxn ang="0">
                  <a:pos x="T8" y="T9"/>
                </a:cxn>
              </a:cxnLst>
              <a:rect l="0" t="0" r="r" b="b"/>
              <a:pathLst>
                <a:path w="1635" h="3335">
                  <a:moveTo>
                    <a:pt x="1283" y="0"/>
                  </a:moveTo>
                  <a:cubicBezTo>
                    <a:pt x="1635" y="1084"/>
                    <a:pt x="1635" y="2251"/>
                    <a:pt x="1283" y="3335"/>
                  </a:cubicBezTo>
                  <a:lnTo>
                    <a:pt x="0" y="2918"/>
                  </a:lnTo>
                  <a:cubicBezTo>
                    <a:pt x="264" y="2105"/>
                    <a:pt x="264" y="1230"/>
                    <a:pt x="0" y="417"/>
                  </a:cubicBezTo>
                  <a:lnTo>
                    <a:pt x="1283" y="0"/>
                  </a:lnTo>
                  <a:close/>
                </a:path>
              </a:pathLst>
            </a:custGeom>
            <a:grpFill/>
            <a:ln w="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en-IN" kern="0">
                <a:solidFill>
                  <a:prstClr val="white"/>
                </a:solidFill>
                <a:latin typeface="Segoe UI"/>
              </a:endParaRPr>
            </a:p>
          </p:txBody>
        </p:sp>
        <p:sp>
          <p:nvSpPr>
            <p:cNvPr id="13" name="money_2" title="Icon of a dollar sign with an arrow around it pointing clockwise">
              <a:extLst>
                <a:ext uri="{FF2B5EF4-FFF2-40B4-BE49-F238E27FC236}">
                  <a16:creationId xmlns:a16="http://schemas.microsoft.com/office/drawing/2014/main" id="{134B4032-4076-A9B3-4FD4-CD9619093EF0}"/>
                </a:ext>
              </a:extLst>
            </p:cNvPr>
            <p:cNvSpPr>
              <a:spLocks noChangeAspect="1" noEditPoints="1"/>
            </p:cNvSpPr>
            <p:nvPr/>
          </p:nvSpPr>
          <p:spPr bwMode="auto">
            <a:xfrm>
              <a:off x="7620775" y="3642570"/>
              <a:ext cx="300962" cy="317328"/>
            </a:xfrm>
            <a:custGeom>
              <a:avLst/>
              <a:gdLst>
                <a:gd name="T0" fmla="*/ 307 w 307"/>
                <a:gd name="T1" fmla="*/ 163 h 326"/>
                <a:gd name="T2" fmla="*/ 282 w 307"/>
                <a:gd name="T3" fmla="*/ 244 h 326"/>
                <a:gd name="T4" fmla="*/ 82 w 307"/>
                <a:gd name="T5" fmla="*/ 281 h 326"/>
                <a:gd name="T6" fmla="*/ 45 w 307"/>
                <a:gd name="T7" fmla="*/ 82 h 326"/>
                <a:gd name="T8" fmla="*/ 245 w 307"/>
                <a:gd name="T9" fmla="*/ 45 h 326"/>
                <a:gd name="T10" fmla="*/ 297 w 307"/>
                <a:gd name="T11" fmla="*/ 110 h 326"/>
                <a:gd name="T12" fmla="*/ 257 w 307"/>
                <a:gd name="T13" fmla="*/ 99 h 326"/>
                <a:gd name="T14" fmla="*/ 297 w 307"/>
                <a:gd name="T15" fmla="*/ 109 h 326"/>
                <a:gd name="T16" fmla="*/ 307 w 307"/>
                <a:gd name="T17" fmla="*/ 70 h 326"/>
                <a:gd name="T18" fmla="*/ 126 w 307"/>
                <a:gd name="T19" fmla="*/ 199 h 326"/>
                <a:gd name="T20" fmla="*/ 182 w 307"/>
                <a:gd name="T21" fmla="*/ 199 h 326"/>
                <a:gd name="T22" fmla="*/ 202 w 307"/>
                <a:gd name="T23" fmla="*/ 179 h 326"/>
                <a:gd name="T24" fmla="*/ 182 w 307"/>
                <a:gd name="T25" fmla="*/ 158 h 326"/>
                <a:gd name="T26" fmla="*/ 147 w 307"/>
                <a:gd name="T27" fmla="*/ 158 h 326"/>
                <a:gd name="T28" fmla="*/ 126 w 307"/>
                <a:gd name="T29" fmla="*/ 137 h 326"/>
                <a:gd name="T30" fmla="*/ 147 w 307"/>
                <a:gd name="T31" fmla="*/ 117 h 326"/>
                <a:gd name="T32" fmla="*/ 201 w 307"/>
                <a:gd name="T33" fmla="*/ 117 h 326"/>
                <a:gd name="T34" fmla="*/ 164 w 307"/>
                <a:gd name="T35" fmla="*/ 88 h 326"/>
                <a:gd name="T36" fmla="*/ 164 w 307"/>
                <a:gd name="T37" fmla="*/ 226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07" h="326">
                  <a:moveTo>
                    <a:pt x="307" y="163"/>
                  </a:moveTo>
                  <a:cubicBezTo>
                    <a:pt x="307" y="191"/>
                    <a:pt x="299" y="219"/>
                    <a:pt x="282" y="244"/>
                  </a:cubicBezTo>
                  <a:cubicBezTo>
                    <a:pt x="237" y="310"/>
                    <a:pt x="148" y="326"/>
                    <a:pt x="82" y="281"/>
                  </a:cubicBezTo>
                  <a:cubicBezTo>
                    <a:pt x="17" y="236"/>
                    <a:pt x="0" y="147"/>
                    <a:pt x="45" y="82"/>
                  </a:cubicBezTo>
                  <a:cubicBezTo>
                    <a:pt x="90" y="16"/>
                    <a:pt x="179" y="0"/>
                    <a:pt x="245" y="45"/>
                  </a:cubicBezTo>
                  <a:cubicBezTo>
                    <a:pt x="269" y="61"/>
                    <a:pt x="287" y="84"/>
                    <a:pt x="297" y="110"/>
                  </a:cubicBezTo>
                  <a:moveTo>
                    <a:pt x="257" y="99"/>
                  </a:moveTo>
                  <a:cubicBezTo>
                    <a:pt x="297" y="109"/>
                    <a:pt x="297" y="109"/>
                    <a:pt x="297" y="109"/>
                  </a:cubicBezTo>
                  <a:cubicBezTo>
                    <a:pt x="307" y="70"/>
                    <a:pt x="307" y="70"/>
                    <a:pt x="307" y="70"/>
                  </a:cubicBezTo>
                  <a:moveTo>
                    <a:pt x="126" y="199"/>
                  </a:moveTo>
                  <a:cubicBezTo>
                    <a:pt x="182" y="199"/>
                    <a:pt x="182" y="199"/>
                    <a:pt x="182" y="199"/>
                  </a:cubicBezTo>
                  <a:cubicBezTo>
                    <a:pt x="193" y="199"/>
                    <a:pt x="202" y="190"/>
                    <a:pt x="202" y="179"/>
                  </a:cubicBezTo>
                  <a:cubicBezTo>
                    <a:pt x="202" y="168"/>
                    <a:pt x="193" y="158"/>
                    <a:pt x="182" y="158"/>
                  </a:cubicBezTo>
                  <a:cubicBezTo>
                    <a:pt x="147" y="158"/>
                    <a:pt x="147" y="158"/>
                    <a:pt x="147" y="158"/>
                  </a:cubicBezTo>
                  <a:cubicBezTo>
                    <a:pt x="136" y="158"/>
                    <a:pt x="126" y="148"/>
                    <a:pt x="126" y="137"/>
                  </a:cubicBezTo>
                  <a:cubicBezTo>
                    <a:pt x="126" y="126"/>
                    <a:pt x="136" y="117"/>
                    <a:pt x="147" y="117"/>
                  </a:cubicBezTo>
                  <a:cubicBezTo>
                    <a:pt x="201" y="117"/>
                    <a:pt x="201" y="117"/>
                    <a:pt x="201" y="117"/>
                  </a:cubicBezTo>
                  <a:moveTo>
                    <a:pt x="164" y="88"/>
                  </a:moveTo>
                  <a:cubicBezTo>
                    <a:pt x="164" y="226"/>
                    <a:pt x="164" y="226"/>
                    <a:pt x="164" y="226"/>
                  </a:cubicBezTo>
                </a:path>
              </a:pathLst>
            </a:custGeom>
            <a:grpFill/>
            <a:ln w="12700" cap="sq">
              <a:solidFill>
                <a:srgbClr val="FFFFFF"/>
              </a:solidFill>
              <a:prstDash val="solid"/>
              <a:miter lim="800000"/>
              <a:headEnd/>
              <a:tailEnd/>
            </a:ln>
          </p:spPr>
          <p:txBody>
            <a:bodyPr vert="horz" wrap="square" lIns="89642" tIns="44821" rIns="89642" bIns="44821" numCol="1" anchor="t" anchorCtr="0" compatLnSpc="1">
              <a:prstTxWarp prst="textNoShape">
                <a:avLst/>
              </a:prstTxWarp>
            </a:bodyPr>
            <a:lstStyle/>
            <a:p>
              <a:pPr defTabSz="914367" fontAlgn="auto">
                <a:spcBef>
                  <a:spcPts val="0"/>
                </a:spcBef>
                <a:spcAft>
                  <a:spcPts val="0"/>
                </a:spcAft>
                <a:defRPr/>
              </a:pPr>
              <a:endParaRPr lang="en-US" sz="900" kern="0">
                <a:solidFill>
                  <a:prstClr val="white"/>
                </a:solidFill>
                <a:latin typeface="Segoe UI"/>
              </a:endParaRPr>
            </a:p>
          </p:txBody>
        </p:sp>
      </p:grpSp>
      <p:sp>
        <p:nvSpPr>
          <p:cNvPr id="14" name="Freeform 13">
            <a:extLst>
              <a:ext uri="{FF2B5EF4-FFF2-40B4-BE49-F238E27FC236}">
                <a16:creationId xmlns:a16="http://schemas.microsoft.com/office/drawing/2014/main" id="{708CB31E-8E0F-ABD9-71B7-ED1F5B33BB11}"/>
              </a:ext>
            </a:extLst>
          </p:cNvPr>
          <p:cNvSpPr>
            <a:spLocks/>
          </p:cNvSpPr>
          <p:nvPr/>
        </p:nvSpPr>
        <p:spPr bwMode="auto">
          <a:xfrm>
            <a:off x="4277886" y="2640379"/>
            <a:ext cx="979571" cy="1111113"/>
          </a:xfrm>
          <a:custGeom>
            <a:avLst/>
            <a:gdLst>
              <a:gd name="T0" fmla="*/ 0 w 2753"/>
              <a:gd name="T1" fmla="*/ 2698 h 3115"/>
              <a:gd name="T2" fmla="*/ 1960 w 2753"/>
              <a:gd name="T3" fmla="*/ 0 h 3115"/>
              <a:gd name="T4" fmla="*/ 2753 w 2753"/>
              <a:gd name="T5" fmla="*/ 1092 h 3115"/>
              <a:gd name="T6" fmla="*/ 1283 w 2753"/>
              <a:gd name="T7" fmla="*/ 3115 h 3115"/>
              <a:gd name="T8" fmla="*/ 0 w 2753"/>
              <a:gd name="T9" fmla="*/ 2698 h 3115"/>
            </a:gdLst>
            <a:ahLst/>
            <a:cxnLst>
              <a:cxn ang="0">
                <a:pos x="T0" y="T1"/>
              </a:cxn>
              <a:cxn ang="0">
                <a:pos x="T2" y="T3"/>
              </a:cxn>
              <a:cxn ang="0">
                <a:pos x="T4" y="T5"/>
              </a:cxn>
              <a:cxn ang="0">
                <a:pos x="T6" y="T7"/>
              </a:cxn>
              <a:cxn ang="0">
                <a:pos x="T8" y="T9"/>
              </a:cxn>
            </a:cxnLst>
            <a:rect l="0" t="0" r="r" b="b"/>
            <a:pathLst>
              <a:path w="2753" h="3115">
                <a:moveTo>
                  <a:pt x="0" y="2698"/>
                </a:moveTo>
                <a:cubicBezTo>
                  <a:pt x="352" y="1615"/>
                  <a:pt x="1038" y="670"/>
                  <a:pt x="1960" y="0"/>
                </a:cubicBezTo>
                <a:lnTo>
                  <a:pt x="2753" y="1092"/>
                </a:lnTo>
                <a:cubicBezTo>
                  <a:pt x="2062" y="1594"/>
                  <a:pt x="1547" y="2302"/>
                  <a:pt x="1283" y="3115"/>
                </a:cubicBezTo>
                <a:lnTo>
                  <a:pt x="0" y="2698"/>
                </a:lnTo>
                <a:close/>
              </a:path>
            </a:pathLst>
          </a:custGeom>
          <a:solidFill>
            <a:srgbClr val="640D26"/>
          </a:solidFill>
          <a:ln w="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en-IN" kern="0">
              <a:solidFill>
                <a:prstClr val="white"/>
              </a:solidFill>
              <a:latin typeface="Segoe UI"/>
            </a:endParaRPr>
          </a:p>
        </p:txBody>
      </p:sp>
      <p:grpSp>
        <p:nvGrpSpPr>
          <p:cNvPr id="15" name="Group 14">
            <a:extLst>
              <a:ext uri="{FF2B5EF4-FFF2-40B4-BE49-F238E27FC236}">
                <a16:creationId xmlns:a16="http://schemas.microsoft.com/office/drawing/2014/main" id="{5B42D411-38F2-2748-ABA0-3819B55F7084}"/>
              </a:ext>
            </a:extLst>
          </p:cNvPr>
          <p:cNvGrpSpPr/>
          <p:nvPr/>
        </p:nvGrpSpPr>
        <p:grpSpPr>
          <a:xfrm>
            <a:off x="4151941" y="3603157"/>
            <a:ext cx="582145" cy="1189479"/>
            <a:chOff x="4145253" y="3184683"/>
            <a:chExt cx="582145" cy="1189479"/>
          </a:xfrm>
          <a:solidFill>
            <a:srgbClr val="640D26"/>
          </a:solidFill>
        </p:grpSpPr>
        <p:sp>
          <p:nvSpPr>
            <p:cNvPr id="16" name="Freeform 12">
              <a:extLst>
                <a:ext uri="{FF2B5EF4-FFF2-40B4-BE49-F238E27FC236}">
                  <a16:creationId xmlns:a16="http://schemas.microsoft.com/office/drawing/2014/main" id="{2E65398C-21A7-884A-4025-D0112E941668}"/>
                </a:ext>
              </a:extLst>
            </p:cNvPr>
            <p:cNvSpPr>
              <a:spLocks/>
            </p:cNvSpPr>
            <p:nvPr/>
          </p:nvSpPr>
          <p:spPr bwMode="auto">
            <a:xfrm>
              <a:off x="4145253" y="3184683"/>
              <a:ext cx="582145" cy="1189479"/>
            </a:xfrm>
            <a:custGeom>
              <a:avLst/>
              <a:gdLst>
                <a:gd name="T0" fmla="*/ 352 w 1635"/>
                <a:gd name="T1" fmla="*/ 3335 h 3335"/>
                <a:gd name="T2" fmla="*/ 352 w 1635"/>
                <a:gd name="T3" fmla="*/ 0 h 3335"/>
                <a:gd name="T4" fmla="*/ 1635 w 1635"/>
                <a:gd name="T5" fmla="*/ 417 h 3335"/>
                <a:gd name="T6" fmla="*/ 1635 w 1635"/>
                <a:gd name="T7" fmla="*/ 2918 h 3335"/>
                <a:gd name="T8" fmla="*/ 352 w 1635"/>
                <a:gd name="T9" fmla="*/ 3335 h 3335"/>
              </a:gdLst>
              <a:ahLst/>
              <a:cxnLst>
                <a:cxn ang="0">
                  <a:pos x="T0" y="T1"/>
                </a:cxn>
                <a:cxn ang="0">
                  <a:pos x="T2" y="T3"/>
                </a:cxn>
                <a:cxn ang="0">
                  <a:pos x="T4" y="T5"/>
                </a:cxn>
                <a:cxn ang="0">
                  <a:pos x="T6" y="T7"/>
                </a:cxn>
                <a:cxn ang="0">
                  <a:pos x="T8" y="T9"/>
                </a:cxn>
              </a:cxnLst>
              <a:rect l="0" t="0" r="r" b="b"/>
              <a:pathLst>
                <a:path w="1635" h="3335">
                  <a:moveTo>
                    <a:pt x="352" y="3335"/>
                  </a:moveTo>
                  <a:cubicBezTo>
                    <a:pt x="0" y="2251"/>
                    <a:pt x="0" y="1084"/>
                    <a:pt x="352" y="0"/>
                  </a:cubicBezTo>
                  <a:lnTo>
                    <a:pt x="1635" y="417"/>
                  </a:lnTo>
                  <a:cubicBezTo>
                    <a:pt x="1371" y="1230"/>
                    <a:pt x="1371" y="2105"/>
                    <a:pt x="1635" y="2918"/>
                  </a:cubicBezTo>
                  <a:lnTo>
                    <a:pt x="352" y="3335"/>
                  </a:lnTo>
                  <a:close/>
                </a:path>
              </a:pathLst>
            </a:custGeom>
            <a:grpFill/>
            <a:ln w="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en-IN" kern="0">
                <a:solidFill>
                  <a:prstClr val="white"/>
                </a:solidFill>
                <a:latin typeface="Segoe UI"/>
              </a:endParaRPr>
            </a:p>
          </p:txBody>
        </p:sp>
        <p:sp>
          <p:nvSpPr>
            <p:cNvPr id="17" name="arrow_11" title="Icon of a circle made of two curved arrows">
              <a:extLst>
                <a:ext uri="{FF2B5EF4-FFF2-40B4-BE49-F238E27FC236}">
                  <a16:creationId xmlns:a16="http://schemas.microsoft.com/office/drawing/2014/main" id="{E431C262-A426-9A88-EC35-3A97AF56C39A}"/>
                </a:ext>
              </a:extLst>
            </p:cNvPr>
            <p:cNvSpPr>
              <a:spLocks noChangeAspect="1" noEditPoints="1"/>
            </p:cNvSpPr>
            <p:nvPr/>
          </p:nvSpPr>
          <p:spPr bwMode="auto">
            <a:xfrm>
              <a:off x="4283573" y="3612090"/>
              <a:ext cx="286409" cy="299193"/>
            </a:xfrm>
            <a:custGeom>
              <a:avLst/>
              <a:gdLst>
                <a:gd name="T0" fmla="*/ 310 w 310"/>
                <a:gd name="T1" fmla="*/ 199 h 322"/>
                <a:gd name="T2" fmla="*/ 154 w 310"/>
                <a:gd name="T3" fmla="*/ 322 h 322"/>
                <a:gd name="T4" fmla="*/ 1 w 310"/>
                <a:gd name="T5" fmla="*/ 211 h 322"/>
                <a:gd name="T6" fmla="*/ 304 w 310"/>
                <a:gd name="T7" fmla="*/ 104 h 322"/>
                <a:gd name="T8" fmla="*/ 154 w 310"/>
                <a:gd name="T9" fmla="*/ 0 h 322"/>
                <a:gd name="T10" fmla="*/ 0 w 310"/>
                <a:gd name="T11" fmla="*/ 114 h 322"/>
                <a:gd name="T12" fmla="*/ 299 w 310"/>
                <a:gd name="T13" fmla="*/ 104 h 322"/>
                <a:gd name="T14" fmla="*/ 230 w 310"/>
                <a:gd name="T15" fmla="*/ 104 h 322"/>
                <a:gd name="T16" fmla="*/ 295 w 310"/>
                <a:gd name="T17" fmla="*/ 104 h 322"/>
                <a:gd name="T18" fmla="*/ 304 w 310"/>
                <a:gd name="T19" fmla="*/ 104 h 322"/>
                <a:gd name="T20" fmla="*/ 304 w 310"/>
                <a:gd name="T21" fmla="*/ 29 h 322"/>
                <a:gd name="T22" fmla="*/ 9 w 310"/>
                <a:gd name="T23" fmla="*/ 211 h 322"/>
                <a:gd name="T24" fmla="*/ 75 w 310"/>
                <a:gd name="T25" fmla="*/ 211 h 322"/>
                <a:gd name="T26" fmla="*/ 9 w 310"/>
                <a:gd name="T27" fmla="*/ 211 h 322"/>
                <a:gd name="T28" fmla="*/ 1 w 310"/>
                <a:gd name="T29" fmla="*/ 211 h 322"/>
                <a:gd name="T30" fmla="*/ 1 w 310"/>
                <a:gd name="T31" fmla="*/ 286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0" h="322">
                  <a:moveTo>
                    <a:pt x="310" y="199"/>
                  </a:moveTo>
                  <a:cubicBezTo>
                    <a:pt x="293" y="270"/>
                    <a:pt x="229" y="322"/>
                    <a:pt x="154" y="322"/>
                  </a:cubicBezTo>
                  <a:cubicBezTo>
                    <a:pt x="83" y="322"/>
                    <a:pt x="22" y="275"/>
                    <a:pt x="1" y="211"/>
                  </a:cubicBezTo>
                  <a:moveTo>
                    <a:pt x="304" y="104"/>
                  </a:moveTo>
                  <a:cubicBezTo>
                    <a:pt x="281" y="43"/>
                    <a:pt x="223" y="0"/>
                    <a:pt x="154" y="0"/>
                  </a:cubicBezTo>
                  <a:cubicBezTo>
                    <a:pt x="82" y="0"/>
                    <a:pt x="20" y="48"/>
                    <a:pt x="0" y="114"/>
                  </a:cubicBezTo>
                  <a:moveTo>
                    <a:pt x="299" y="104"/>
                  </a:moveTo>
                  <a:cubicBezTo>
                    <a:pt x="230" y="104"/>
                    <a:pt x="230" y="104"/>
                    <a:pt x="230" y="104"/>
                  </a:cubicBezTo>
                  <a:moveTo>
                    <a:pt x="295" y="104"/>
                  </a:moveTo>
                  <a:cubicBezTo>
                    <a:pt x="304" y="104"/>
                    <a:pt x="304" y="104"/>
                    <a:pt x="304" y="104"/>
                  </a:cubicBezTo>
                  <a:cubicBezTo>
                    <a:pt x="304" y="29"/>
                    <a:pt x="304" y="29"/>
                    <a:pt x="304" y="29"/>
                  </a:cubicBezTo>
                  <a:moveTo>
                    <a:pt x="9" y="211"/>
                  </a:moveTo>
                  <a:cubicBezTo>
                    <a:pt x="75" y="211"/>
                    <a:pt x="75" y="211"/>
                    <a:pt x="75" y="211"/>
                  </a:cubicBezTo>
                  <a:moveTo>
                    <a:pt x="9" y="211"/>
                  </a:moveTo>
                  <a:cubicBezTo>
                    <a:pt x="1" y="211"/>
                    <a:pt x="1" y="211"/>
                    <a:pt x="1" y="211"/>
                  </a:cubicBezTo>
                  <a:cubicBezTo>
                    <a:pt x="1" y="286"/>
                    <a:pt x="1" y="286"/>
                    <a:pt x="1" y="286"/>
                  </a:cubicBezTo>
                </a:path>
              </a:pathLst>
            </a:custGeom>
            <a:grpFill/>
            <a:ln w="12700" cap="sq">
              <a:solidFill>
                <a:srgbClr val="FFFFFF"/>
              </a:solidFill>
              <a:prstDash val="solid"/>
              <a:miter lim="800000"/>
              <a:headEnd/>
              <a:tailEnd/>
            </a:ln>
          </p:spPr>
          <p:txBody>
            <a:bodyPr vert="horz" wrap="square" lIns="89642" tIns="44821" rIns="89642" bIns="44821" numCol="1" anchor="t" anchorCtr="0" compatLnSpc="1">
              <a:prstTxWarp prst="textNoShape">
                <a:avLst/>
              </a:prstTxWarp>
            </a:bodyPr>
            <a:lstStyle/>
            <a:p>
              <a:pPr defTabSz="914367" fontAlgn="auto">
                <a:spcBef>
                  <a:spcPts val="0"/>
                </a:spcBef>
                <a:spcAft>
                  <a:spcPts val="0"/>
                </a:spcAft>
                <a:defRPr/>
              </a:pPr>
              <a:endParaRPr lang="en-US" sz="900" kern="0">
                <a:solidFill>
                  <a:prstClr val="white"/>
                </a:solidFill>
                <a:latin typeface="Segoe UI"/>
              </a:endParaRPr>
            </a:p>
          </p:txBody>
        </p:sp>
      </p:grpSp>
      <p:sp>
        <p:nvSpPr>
          <p:cNvPr id="18" name="Freeform 11">
            <a:extLst>
              <a:ext uri="{FF2B5EF4-FFF2-40B4-BE49-F238E27FC236}">
                <a16:creationId xmlns:a16="http://schemas.microsoft.com/office/drawing/2014/main" id="{16666150-63A3-2028-580C-F48BF51FD9F0}"/>
              </a:ext>
            </a:extLst>
          </p:cNvPr>
          <p:cNvSpPr>
            <a:spLocks/>
          </p:cNvSpPr>
          <p:nvPr/>
        </p:nvSpPr>
        <p:spPr bwMode="auto">
          <a:xfrm>
            <a:off x="4277886" y="4644301"/>
            <a:ext cx="979571" cy="1111113"/>
          </a:xfrm>
          <a:custGeom>
            <a:avLst/>
            <a:gdLst>
              <a:gd name="T0" fmla="*/ 1960 w 2753"/>
              <a:gd name="T1" fmla="*/ 3115 h 3115"/>
              <a:gd name="T2" fmla="*/ 0 w 2753"/>
              <a:gd name="T3" fmla="*/ 417 h 3115"/>
              <a:gd name="T4" fmla="*/ 1283 w 2753"/>
              <a:gd name="T5" fmla="*/ 0 h 3115"/>
              <a:gd name="T6" fmla="*/ 2753 w 2753"/>
              <a:gd name="T7" fmla="*/ 2023 h 3115"/>
              <a:gd name="T8" fmla="*/ 1960 w 2753"/>
              <a:gd name="T9" fmla="*/ 3115 h 3115"/>
            </a:gdLst>
            <a:ahLst/>
            <a:cxnLst>
              <a:cxn ang="0">
                <a:pos x="T0" y="T1"/>
              </a:cxn>
              <a:cxn ang="0">
                <a:pos x="T2" y="T3"/>
              </a:cxn>
              <a:cxn ang="0">
                <a:pos x="T4" y="T5"/>
              </a:cxn>
              <a:cxn ang="0">
                <a:pos x="T6" y="T7"/>
              </a:cxn>
              <a:cxn ang="0">
                <a:pos x="T8" y="T9"/>
              </a:cxn>
            </a:cxnLst>
            <a:rect l="0" t="0" r="r" b="b"/>
            <a:pathLst>
              <a:path w="2753" h="3115">
                <a:moveTo>
                  <a:pt x="1960" y="3115"/>
                </a:moveTo>
                <a:cubicBezTo>
                  <a:pt x="1038" y="2445"/>
                  <a:pt x="352" y="1501"/>
                  <a:pt x="0" y="417"/>
                </a:cubicBezTo>
                <a:lnTo>
                  <a:pt x="1283" y="0"/>
                </a:lnTo>
                <a:cubicBezTo>
                  <a:pt x="1547" y="813"/>
                  <a:pt x="2062" y="1521"/>
                  <a:pt x="2753" y="2023"/>
                </a:cubicBezTo>
                <a:lnTo>
                  <a:pt x="1960" y="3115"/>
                </a:lnTo>
                <a:close/>
              </a:path>
            </a:pathLst>
          </a:custGeom>
          <a:solidFill>
            <a:srgbClr val="640D26"/>
          </a:solidFill>
          <a:ln w="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fontAlgn="auto">
              <a:spcBef>
                <a:spcPts val="0"/>
              </a:spcBef>
              <a:spcAft>
                <a:spcPts val="0"/>
              </a:spcAft>
              <a:defRPr/>
            </a:pPr>
            <a:endParaRPr lang="en-IN" kern="0">
              <a:solidFill>
                <a:prstClr val="white"/>
              </a:solidFill>
              <a:latin typeface="Segoe UI"/>
            </a:endParaRPr>
          </a:p>
        </p:txBody>
      </p:sp>
      <p:sp>
        <p:nvSpPr>
          <p:cNvPr id="19" name="Rectangle 18">
            <a:extLst>
              <a:ext uri="{FF2B5EF4-FFF2-40B4-BE49-F238E27FC236}">
                <a16:creationId xmlns:a16="http://schemas.microsoft.com/office/drawing/2014/main" id="{1CA2CBDB-A90B-3C92-69FE-CFAD5625EC8A}"/>
              </a:ext>
            </a:extLst>
          </p:cNvPr>
          <p:cNvSpPr/>
          <p:nvPr/>
        </p:nvSpPr>
        <p:spPr bwMode="auto">
          <a:xfrm>
            <a:off x="502464" y="3603157"/>
            <a:ext cx="3627239" cy="1415772"/>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defTabSz="914102" fontAlgn="auto">
              <a:spcBef>
                <a:spcPts val="0"/>
              </a:spcBef>
              <a:spcAft>
                <a:spcPts val="0"/>
              </a:spcAft>
              <a:defRPr/>
            </a:pPr>
            <a:r>
              <a:rPr lang="en-US" sz="3600" kern="0" dirty="0">
                <a:solidFill>
                  <a:prstClr val="white"/>
                </a:solidFill>
                <a:latin typeface="Segoe UI Semibold" panose="020B0702040204020203" pitchFamily="34" charset="0"/>
                <a:cs typeface="Segoe UI Semibold" panose="020B0702040204020203" pitchFamily="34" charset="0"/>
              </a:rPr>
              <a:t>60% </a:t>
            </a:r>
            <a:r>
              <a:rPr lang="en-US" kern="0" dirty="0">
                <a:solidFill>
                  <a:prstClr val="white"/>
                </a:solidFill>
                <a:latin typeface="Segoe UI"/>
                <a:cs typeface="Segoe UI" pitchFamily="34" charset="0"/>
              </a:rPr>
              <a:t>de las </a:t>
            </a:r>
            <a:r>
              <a:rPr lang="en-US" kern="0" dirty="0" err="1">
                <a:solidFill>
                  <a:prstClr val="white"/>
                </a:solidFill>
                <a:latin typeface="Segoe UI"/>
                <a:cs typeface="Segoe UI" pitchFamily="34" charset="0"/>
              </a:rPr>
              <a:t>empresas</a:t>
            </a:r>
            <a:r>
              <a:rPr lang="en-US" kern="0" dirty="0">
                <a:solidFill>
                  <a:prstClr val="white"/>
                </a:solidFill>
                <a:latin typeface="Segoe UI"/>
                <a:cs typeface="Segoe UI" pitchFamily="34" charset="0"/>
              </a:rPr>
              <a:t> Post-</a:t>
            </a:r>
            <a:r>
              <a:rPr lang="en-US" kern="0" dirty="0" err="1">
                <a:solidFill>
                  <a:prstClr val="white"/>
                </a:solidFill>
                <a:latin typeface="Segoe UI"/>
                <a:cs typeface="Segoe UI" pitchFamily="34" charset="0"/>
              </a:rPr>
              <a:t>Pandemia</a:t>
            </a:r>
            <a:r>
              <a:rPr lang="en-US" kern="0" dirty="0">
                <a:solidFill>
                  <a:prstClr val="white"/>
                </a:solidFill>
                <a:latin typeface="Segoe UI"/>
                <a:cs typeface="Segoe UI" pitchFamily="34" charset="0"/>
              </a:rPr>
              <a:t> </a:t>
            </a:r>
            <a:r>
              <a:rPr lang="en-US" kern="0" dirty="0" err="1">
                <a:solidFill>
                  <a:prstClr val="white"/>
                </a:solidFill>
                <a:latin typeface="Segoe UI"/>
                <a:cs typeface="Segoe UI" pitchFamily="34" charset="0"/>
              </a:rPr>
              <a:t>aceleraron</a:t>
            </a:r>
            <a:r>
              <a:rPr lang="en-US" kern="0" dirty="0">
                <a:solidFill>
                  <a:prstClr val="white"/>
                </a:solidFill>
                <a:latin typeface="Segoe UI"/>
                <a:cs typeface="Segoe UI" pitchFamily="34" charset="0"/>
              </a:rPr>
              <a:t> </a:t>
            </a:r>
            <a:r>
              <a:rPr lang="en-US" kern="0" dirty="0" err="1">
                <a:solidFill>
                  <a:prstClr val="white"/>
                </a:solidFill>
                <a:latin typeface="Segoe UI"/>
                <a:cs typeface="Segoe UI" pitchFamily="34" charset="0"/>
              </a:rPr>
              <a:t>Transformación</a:t>
            </a:r>
            <a:r>
              <a:rPr lang="en-US" kern="0" dirty="0">
                <a:solidFill>
                  <a:prstClr val="white"/>
                </a:solidFill>
                <a:latin typeface="Segoe UI"/>
                <a:cs typeface="Segoe UI" pitchFamily="34" charset="0"/>
              </a:rPr>
              <a:t> </a:t>
            </a:r>
          </a:p>
          <a:p>
            <a:pPr defTabSz="914102" fontAlgn="auto">
              <a:spcBef>
                <a:spcPts val="0"/>
              </a:spcBef>
              <a:spcAft>
                <a:spcPts val="0"/>
              </a:spcAft>
              <a:defRPr/>
            </a:pPr>
            <a:endParaRPr lang="en-US" sz="2000" kern="0" dirty="0">
              <a:solidFill>
                <a:prstClr val="white"/>
              </a:solidFill>
              <a:latin typeface="Segoe UI"/>
              <a:ea typeface="Segoe UI" pitchFamily="34" charset="0"/>
              <a:cs typeface="Segoe UI" pitchFamily="34" charset="0"/>
            </a:endParaRPr>
          </a:p>
        </p:txBody>
      </p:sp>
      <p:grpSp>
        <p:nvGrpSpPr>
          <p:cNvPr id="20" name="Group 19">
            <a:extLst>
              <a:ext uri="{FF2B5EF4-FFF2-40B4-BE49-F238E27FC236}">
                <a16:creationId xmlns:a16="http://schemas.microsoft.com/office/drawing/2014/main" id="{0DD1E276-E1A3-900E-5636-555D17FF4134}"/>
              </a:ext>
            </a:extLst>
          </p:cNvPr>
          <p:cNvGrpSpPr/>
          <p:nvPr/>
        </p:nvGrpSpPr>
        <p:grpSpPr>
          <a:xfrm>
            <a:off x="470222" y="2275214"/>
            <a:ext cx="11273195" cy="3843386"/>
            <a:chOff x="463534" y="1856740"/>
            <a:chExt cx="11273195" cy="3843386"/>
          </a:xfrm>
        </p:grpSpPr>
        <p:sp>
          <p:nvSpPr>
            <p:cNvPr id="21" name="Freeform: Shape 20">
              <a:extLst>
                <a:ext uri="{FF2B5EF4-FFF2-40B4-BE49-F238E27FC236}">
                  <a16:creationId xmlns:a16="http://schemas.microsoft.com/office/drawing/2014/main" id="{8C3FFAA0-4C49-1A5D-4715-95280D79C59C}"/>
                </a:ext>
              </a:extLst>
            </p:cNvPr>
            <p:cNvSpPr/>
            <p:nvPr/>
          </p:nvSpPr>
          <p:spPr bwMode="auto">
            <a:xfrm flipH="1">
              <a:off x="463534" y="1857375"/>
              <a:ext cx="4503030" cy="367085"/>
            </a:xfrm>
            <a:custGeom>
              <a:avLst/>
              <a:gdLst>
                <a:gd name="connsiteX0" fmla="*/ 0 w 4641574"/>
                <a:gd name="connsiteY0" fmla="*/ 417443 h 417443"/>
                <a:gd name="connsiteX1" fmla="*/ 258418 w 4641574"/>
                <a:gd name="connsiteY1" fmla="*/ 0 h 417443"/>
                <a:gd name="connsiteX2" fmla="*/ 4641574 w 4641574"/>
                <a:gd name="connsiteY2" fmla="*/ 0 h 417443"/>
              </a:gdLst>
              <a:ahLst/>
              <a:cxnLst>
                <a:cxn ang="0">
                  <a:pos x="connsiteX0" y="connsiteY0"/>
                </a:cxn>
                <a:cxn ang="0">
                  <a:pos x="connsiteX1" y="connsiteY1"/>
                </a:cxn>
                <a:cxn ang="0">
                  <a:pos x="connsiteX2" y="connsiteY2"/>
                </a:cxn>
              </a:cxnLst>
              <a:rect l="l" t="t" r="r" b="b"/>
              <a:pathLst>
                <a:path w="4641574" h="417443">
                  <a:moveTo>
                    <a:pt x="0" y="417443"/>
                  </a:moveTo>
                  <a:lnTo>
                    <a:pt x="258418" y="0"/>
                  </a:lnTo>
                  <a:lnTo>
                    <a:pt x="4641574" y="0"/>
                  </a:lnTo>
                </a:path>
              </a:pathLst>
            </a:custGeom>
            <a:noFill/>
            <a:ln w="6350" cap="flat" cmpd="sng" algn="ctr">
              <a:solidFill>
                <a:srgbClr val="FFFFFF">
                  <a:lumMod val="85000"/>
                </a:srgbClr>
              </a:solidFill>
              <a:prstDash val="solid"/>
              <a:headEnd type="none"/>
              <a:tailEnd type="none"/>
            </a:ln>
            <a:effectLst/>
          </p:spPr>
          <p:txBody>
            <a:bodyPr rtlCol="0" anchor="ctr"/>
            <a:lstStyle/>
            <a:p>
              <a:pPr algn="ctr" fontAlgn="auto">
                <a:spcBef>
                  <a:spcPts val="0"/>
                </a:spcBef>
                <a:spcAft>
                  <a:spcPts val="0"/>
                </a:spcAft>
                <a:defRPr/>
              </a:pPr>
              <a:endParaRPr lang="en-IN" kern="0">
                <a:solidFill>
                  <a:prstClr val="white"/>
                </a:solidFill>
                <a:latin typeface="Segoe UI"/>
              </a:endParaRPr>
            </a:p>
          </p:txBody>
        </p:sp>
        <p:sp>
          <p:nvSpPr>
            <p:cNvPr id="22" name="Freeform: Shape 21">
              <a:extLst>
                <a:ext uri="{FF2B5EF4-FFF2-40B4-BE49-F238E27FC236}">
                  <a16:creationId xmlns:a16="http://schemas.microsoft.com/office/drawing/2014/main" id="{ADEE7717-44AD-6767-373F-A7476B14AB41}"/>
                </a:ext>
              </a:extLst>
            </p:cNvPr>
            <p:cNvSpPr/>
            <p:nvPr/>
          </p:nvSpPr>
          <p:spPr bwMode="auto">
            <a:xfrm flipH="1" flipV="1">
              <a:off x="469884" y="5327961"/>
              <a:ext cx="4503030" cy="367085"/>
            </a:xfrm>
            <a:custGeom>
              <a:avLst/>
              <a:gdLst>
                <a:gd name="connsiteX0" fmla="*/ 0 w 4641574"/>
                <a:gd name="connsiteY0" fmla="*/ 417443 h 417443"/>
                <a:gd name="connsiteX1" fmla="*/ 258418 w 4641574"/>
                <a:gd name="connsiteY1" fmla="*/ 0 h 417443"/>
                <a:gd name="connsiteX2" fmla="*/ 4641574 w 4641574"/>
                <a:gd name="connsiteY2" fmla="*/ 0 h 417443"/>
              </a:gdLst>
              <a:ahLst/>
              <a:cxnLst>
                <a:cxn ang="0">
                  <a:pos x="connsiteX0" y="connsiteY0"/>
                </a:cxn>
                <a:cxn ang="0">
                  <a:pos x="connsiteX1" y="connsiteY1"/>
                </a:cxn>
                <a:cxn ang="0">
                  <a:pos x="connsiteX2" y="connsiteY2"/>
                </a:cxn>
              </a:cxnLst>
              <a:rect l="l" t="t" r="r" b="b"/>
              <a:pathLst>
                <a:path w="4641574" h="417443">
                  <a:moveTo>
                    <a:pt x="0" y="417443"/>
                  </a:moveTo>
                  <a:lnTo>
                    <a:pt x="258418" y="0"/>
                  </a:lnTo>
                  <a:lnTo>
                    <a:pt x="4641574" y="0"/>
                  </a:lnTo>
                </a:path>
              </a:pathLst>
            </a:custGeom>
            <a:noFill/>
            <a:ln w="6350" cap="flat" cmpd="sng" algn="ctr">
              <a:solidFill>
                <a:srgbClr val="FFFFFF">
                  <a:lumMod val="85000"/>
                </a:srgbClr>
              </a:solidFill>
              <a:prstDash val="solid"/>
              <a:headEnd type="none"/>
              <a:tailEnd type="none"/>
            </a:ln>
            <a:effectLst/>
          </p:spPr>
          <p:txBody>
            <a:bodyPr rtlCol="0" anchor="ctr"/>
            <a:lstStyle/>
            <a:p>
              <a:pPr algn="ctr" fontAlgn="auto">
                <a:spcBef>
                  <a:spcPts val="0"/>
                </a:spcBef>
                <a:spcAft>
                  <a:spcPts val="0"/>
                </a:spcAft>
                <a:defRPr/>
              </a:pPr>
              <a:endParaRPr lang="en-IN" kern="0">
                <a:solidFill>
                  <a:prstClr val="white"/>
                </a:solidFill>
                <a:latin typeface="Segoe UI"/>
              </a:endParaRPr>
            </a:p>
          </p:txBody>
        </p:sp>
        <p:cxnSp>
          <p:nvCxnSpPr>
            <p:cNvPr id="23" name="Straight Connector 22">
              <a:extLst>
                <a:ext uri="{FF2B5EF4-FFF2-40B4-BE49-F238E27FC236}">
                  <a16:creationId xmlns:a16="http://schemas.microsoft.com/office/drawing/2014/main" id="{FFDD4ADB-6DAA-701A-01DE-D3C910F9B156}"/>
                </a:ext>
              </a:extLst>
            </p:cNvPr>
            <p:cNvCxnSpPr>
              <a:cxnSpLocks/>
            </p:cNvCxnSpPr>
            <p:nvPr/>
          </p:nvCxnSpPr>
          <p:spPr>
            <a:xfrm flipH="1">
              <a:off x="7909845" y="3184870"/>
              <a:ext cx="3826884" cy="0"/>
            </a:xfrm>
            <a:prstGeom prst="line">
              <a:avLst/>
            </a:prstGeom>
            <a:noFill/>
            <a:ln w="6350" cap="flat" cmpd="sng" algn="ctr">
              <a:solidFill>
                <a:srgbClr val="FFFFFF">
                  <a:lumMod val="85000"/>
                </a:srgbClr>
              </a:solidFill>
              <a:prstDash val="solid"/>
              <a:headEnd type="none"/>
              <a:tailEnd type="none"/>
            </a:ln>
            <a:effectLst/>
          </p:spPr>
        </p:cxnSp>
        <p:cxnSp>
          <p:nvCxnSpPr>
            <p:cNvPr id="24" name="Straight Connector 23">
              <a:extLst>
                <a:ext uri="{FF2B5EF4-FFF2-40B4-BE49-F238E27FC236}">
                  <a16:creationId xmlns:a16="http://schemas.microsoft.com/office/drawing/2014/main" id="{C3B6B69C-50C7-28B6-ED3D-DE80152ECC32}"/>
                </a:ext>
              </a:extLst>
            </p:cNvPr>
            <p:cNvCxnSpPr>
              <a:cxnSpLocks/>
            </p:cNvCxnSpPr>
            <p:nvPr/>
          </p:nvCxnSpPr>
          <p:spPr>
            <a:xfrm flipH="1">
              <a:off x="7909845" y="4374162"/>
              <a:ext cx="3826884" cy="0"/>
            </a:xfrm>
            <a:prstGeom prst="line">
              <a:avLst/>
            </a:prstGeom>
            <a:noFill/>
            <a:ln w="6350" cap="flat" cmpd="sng" algn="ctr">
              <a:solidFill>
                <a:srgbClr val="FFFFFF">
                  <a:lumMod val="85000"/>
                </a:srgbClr>
              </a:solidFill>
              <a:prstDash val="solid"/>
              <a:headEnd type="none"/>
              <a:tailEnd type="none"/>
            </a:ln>
            <a:effectLst/>
          </p:spPr>
        </p:cxnSp>
        <p:sp>
          <p:nvSpPr>
            <p:cNvPr id="25" name="Freeform: Shape 24">
              <a:extLst>
                <a:ext uri="{FF2B5EF4-FFF2-40B4-BE49-F238E27FC236}">
                  <a16:creationId xmlns:a16="http://schemas.microsoft.com/office/drawing/2014/main" id="{DC14CDF5-341C-1D5C-FF5F-0F47856916DB}"/>
                </a:ext>
              </a:extLst>
            </p:cNvPr>
            <p:cNvSpPr/>
            <p:nvPr/>
          </p:nvSpPr>
          <p:spPr bwMode="auto">
            <a:xfrm flipV="1">
              <a:off x="7226079" y="5333041"/>
              <a:ext cx="4503030" cy="367085"/>
            </a:xfrm>
            <a:custGeom>
              <a:avLst/>
              <a:gdLst>
                <a:gd name="connsiteX0" fmla="*/ 0 w 4641574"/>
                <a:gd name="connsiteY0" fmla="*/ 417443 h 417443"/>
                <a:gd name="connsiteX1" fmla="*/ 258418 w 4641574"/>
                <a:gd name="connsiteY1" fmla="*/ 0 h 417443"/>
                <a:gd name="connsiteX2" fmla="*/ 4641574 w 4641574"/>
                <a:gd name="connsiteY2" fmla="*/ 0 h 417443"/>
              </a:gdLst>
              <a:ahLst/>
              <a:cxnLst>
                <a:cxn ang="0">
                  <a:pos x="connsiteX0" y="connsiteY0"/>
                </a:cxn>
                <a:cxn ang="0">
                  <a:pos x="connsiteX1" y="connsiteY1"/>
                </a:cxn>
                <a:cxn ang="0">
                  <a:pos x="connsiteX2" y="connsiteY2"/>
                </a:cxn>
              </a:cxnLst>
              <a:rect l="l" t="t" r="r" b="b"/>
              <a:pathLst>
                <a:path w="4641574" h="417443">
                  <a:moveTo>
                    <a:pt x="0" y="417443"/>
                  </a:moveTo>
                  <a:lnTo>
                    <a:pt x="258418" y="0"/>
                  </a:lnTo>
                  <a:lnTo>
                    <a:pt x="4641574" y="0"/>
                  </a:lnTo>
                </a:path>
              </a:pathLst>
            </a:custGeom>
            <a:noFill/>
            <a:ln w="6350" cap="flat" cmpd="sng" algn="ctr">
              <a:solidFill>
                <a:srgbClr val="FFFFFF">
                  <a:lumMod val="85000"/>
                </a:srgbClr>
              </a:solidFill>
              <a:prstDash val="solid"/>
              <a:headEnd type="none"/>
              <a:tailEnd type="none"/>
            </a:ln>
            <a:effectLst/>
          </p:spPr>
          <p:txBody>
            <a:bodyPr rtlCol="0" anchor="ctr"/>
            <a:lstStyle/>
            <a:p>
              <a:pPr algn="ctr" fontAlgn="auto">
                <a:spcBef>
                  <a:spcPts val="0"/>
                </a:spcBef>
                <a:spcAft>
                  <a:spcPts val="0"/>
                </a:spcAft>
                <a:defRPr/>
              </a:pPr>
              <a:endParaRPr lang="en-IN" kern="0">
                <a:solidFill>
                  <a:prstClr val="white"/>
                </a:solidFill>
                <a:latin typeface="Segoe UI"/>
              </a:endParaRPr>
            </a:p>
          </p:txBody>
        </p:sp>
        <p:sp>
          <p:nvSpPr>
            <p:cNvPr id="26" name="Freeform: Shape 25">
              <a:extLst>
                <a:ext uri="{FF2B5EF4-FFF2-40B4-BE49-F238E27FC236}">
                  <a16:creationId xmlns:a16="http://schemas.microsoft.com/office/drawing/2014/main" id="{3E15A5E1-4293-1467-29D9-5B6AB884795A}"/>
                </a:ext>
              </a:extLst>
            </p:cNvPr>
            <p:cNvSpPr/>
            <p:nvPr/>
          </p:nvSpPr>
          <p:spPr bwMode="auto">
            <a:xfrm>
              <a:off x="7226079" y="1856740"/>
              <a:ext cx="4503030" cy="367085"/>
            </a:xfrm>
            <a:custGeom>
              <a:avLst/>
              <a:gdLst>
                <a:gd name="connsiteX0" fmla="*/ 0 w 4641574"/>
                <a:gd name="connsiteY0" fmla="*/ 417443 h 417443"/>
                <a:gd name="connsiteX1" fmla="*/ 258418 w 4641574"/>
                <a:gd name="connsiteY1" fmla="*/ 0 h 417443"/>
                <a:gd name="connsiteX2" fmla="*/ 4641574 w 4641574"/>
                <a:gd name="connsiteY2" fmla="*/ 0 h 417443"/>
              </a:gdLst>
              <a:ahLst/>
              <a:cxnLst>
                <a:cxn ang="0">
                  <a:pos x="connsiteX0" y="connsiteY0"/>
                </a:cxn>
                <a:cxn ang="0">
                  <a:pos x="connsiteX1" y="connsiteY1"/>
                </a:cxn>
                <a:cxn ang="0">
                  <a:pos x="connsiteX2" y="connsiteY2"/>
                </a:cxn>
              </a:cxnLst>
              <a:rect l="l" t="t" r="r" b="b"/>
              <a:pathLst>
                <a:path w="4641574" h="417443">
                  <a:moveTo>
                    <a:pt x="0" y="417443"/>
                  </a:moveTo>
                  <a:lnTo>
                    <a:pt x="258418" y="0"/>
                  </a:lnTo>
                  <a:lnTo>
                    <a:pt x="4641574" y="0"/>
                  </a:lnTo>
                </a:path>
              </a:pathLst>
            </a:custGeom>
            <a:noFill/>
            <a:ln w="6350" cap="flat" cmpd="sng" algn="ctr">
              <a:solidFill>
                <a:srgbClr val="FFFFFF">
                  <a:lumMod val="85000"/>
                </a:srgbClr>
              </a:solidFill>
              <a:prstDash val="solid"/>
              <a:headEnd type="none"/>
              <a:tailEnd type="none"/>
            </a:ln>
            <a:effectLst/>
          </p:spPr>
          <p:txBody>
            <a:bodyPr rtlCol="0" anchor="ctr"/>
            <a:lstStyle/>
            <a:p>
              <a:pPr algn="ctr" fontAlgn="auto">
                <a:spcBef>
                  <a:spcPts val="0"/>
                </a:spcBef>
                <a:spcAft>
                  <a:spcPts val="0"/>
                </a:spcAft>
                <a:defRPr/>
              </a:pPr>
              <a:endParaRPr lang="en-IN" kern="0">
                <a:solidFill>
                  <a:prstClr val="white"/>
                </a:solidFill>
                <a:latin typeface="Segoe UI"/>
              </a:endParaRPr>
            </a:p>
          </p:txBody>
        </p:sp>
        <p:cxnSp>
          <p:nvCxnSpPr>
            <p:cNvPr id="27" name="Straight Connector 26">
              <a:extLst>
                <a:ext uri="{FF2B5EF4-FFF2-40B4-BE49-F238E27FC236}">
                  <a16:creationId xmlns:a16="http://schemas.microsoft.com/office/drawing/2014/main" id="{EAE0ACB1-4827-245F-344C-E525EF031F02}"/>
                </a:ext>
              </a:extLst>
            </p:cNvPr>
            <p:cNvCxnSpPr>
              <a:cxnSpLocks/>
            </p:cNvCxnSpPr>
            <p:nvPr/>
          </p:nvCxnSpPr>
          <p:spPr>
            <a:xfrm>
              <a:off x="467344" y="3184870"/>
              <a:ext cx="3826884" cy="0"/>
            </a:xfrm>
            <a:prstGeom prst="line">
              <a:avLst/>
            </a:prstGeom>
            <a:noFill/>
            <a:ln w="6350" cap="flat" cmpd="sng" algn="ctr">
              <a:solidFill>
                <a:srgbClr val="FFFFFF">
                  <a:lumMod val="85000"/>
                </a:srgbClr>
              </a:solidFill>
              <a:prstDash val="solid"/>
              <a:headEnd type="none"/>
              <a:tailEnd type="none"/>
            </a:ln>
            <a:effectLst/>
          </p:spPr>
        </p:cxnSp>
        <p:cxnSp>
          <p:nvCxnSpPr>
            <p:cNvPr id="28" name="Straight Connector 27">
              <a:extLst>
                <a:ext uri="{FF2B5EF4-FFF2-40B4-BE49-F238E27FC236}">
                  <a16:creationId xmlns:a16="http://schemas.microsoft.com/office/drawing/2014/main" id="{801851A3-CDB2-CBCF-62EA-5DF3F9D7DE46}"/>
                </a:ext>
              </a:extLst>
            </p:cNvPr>
            <p:cNvCxnSpPr>
              <a:cxnSpLocks/>
            </p:cNvCxnSpPr>
            <p:nvPr/>
          </p:nvCxnSpPr>
          <p:spPr>
            <a:xfrm>
              <a:off x="467344" y="4374162"/>
              <a:ext cx="3826884" cy="0"/>
            </a:xfrm>
            <a:prstGeom prst="line">
              <a:avLst/>
            </a:prstGeom>
            <a:noFill/>
            <a:ln w="6350" cap="flat" cmpd="sng" algn="ctr">
              <a:solidFill>
                <a:srgbClr val="FFFFFF">
                  <a:lumMod val="85000"/>
                </a:srgbClr>
              </a:solidFill>
              <a:prstDash val="solid"/>
              <a:headEnd type="none"/>
              <a:tailEnd type="none"/>
            </a:ln>
            <a:effectLst/>
          </p:spPr>
        </p:cxnSp>
      </p:grpSp>
      <p:sp>
        <p:nvSpPr>
          <p:cNvPr id="29" name="TextBox 28">
            <a:extLst>
              <a:ext uri="{FF2B5EF4-FFF2-40B4-BE49-F238E27FC236}">
                <a16:creationId xmlns:a16="http://schemas.microsoft.com/office/drawing/2014/main" id="{91BEB495-DF8C-8738-CE5D-A99825D8EFDC}"/>
              </a:ext>
            </a:extLst>
          </p:cNvPr>
          <p:cNvSpPr txBox="1"/>
          <p:nvPr/>
        </p:nvSpPr>
        <p:spPr>
          <a:xfrm>
            <a:off x="439558" y="1398309"/>
            <a:ext cx="11377973" cy="707886"/>
          </a:xfrm>
          <a:prstGeom prst="rect">
            <a:avLst/>
          </a:prstGeom>
          <a:noFill/>
        </p:spPr>
        <p:txBody>
          <a:bodyPr wrap="square" rtlCol="0">
            <a:spAutoFit/>
          </a:bodyPr>
          <a:lstStyle/>
          <a:p>
            <a:pPr defTabSz="914309" fontAlgn="auto">
              <a:spcBef>
                <a:spcPts val="0"/>
              </a:spcBef>
              <a:spcAft>
                <a:spcPts val="0"/>
              </a:spcAft>
            </a:pPr>
            <a:r>
              <a:rPr lang="es-ES" sz="2000" spc="-50" dirty="0">
                <a:solidFill>
                  <a:prstClr val="white"/>
                </a:solidFill>
                <a:latin typeface="Arial"/>
              </a:rPr>
              <a:t>El Marco de Desarrollo Tecnológico en Colombia busca impulsar la inversión en tecnología e innovación para mejorar la competitividad y el desarrollo económico del país</a:t>
            </a:r>
            <a:endParaRPr lang="en-US" sz="2000" spc="-50" dirty="0">
              <a:solidFill>
                <a:prstClr val="white"/>
              </a:solidFill>
              <a:latin typeface="Arial"/>
            </a:endParaRPr>
          </a:p>
        </p:txBody>
      </p:sp>
      <p:grpSp>
        <p:nvGrpSpPr>
          <p:cNvPr id="30" name="Group 29">
            <a:extLst>
              <a:ext uri="{FF2B5EF4-FFF2-40B4-BE49-F238E27FC236}">
                <a16:creationId xmlns:a16="http://schemas.microsoft.com/office/drawing/2014/main" id="{2C82C9C5-C13F-8AB9-EB96-D877C072F0DA}"/>
              </a:ext>
            </a:extLst>
          </p:cNvPr>
          <p:cNvGrpSpPr/>
          <p:nvPr/>
        </p:nvGrpSpPr>
        <p:grpSpPr>
          <a:xfrm>
            <a:off x="7225773" y="5029162"/>
            <a:ext cx="551185" cy="344644"/>
            <a:chOff x="7267499" y="3676650"/>
            <a:chExt cx="822868" cy="520700"/>
          </a:xfrm>
        </p:grpSpPr>
        <p:sp>
          <p:nvSpPr>
            <p:cNvPr id="31" name="cloud" title="Icon of a cloud">
              <a:extLst>
                <a:ext uri="{FF2B5EF4-FFF2-40B4-BE49-F238E27FC236}">
                  <a16:creationId xmlns:a16="http://schemas.microsoft.com/office/drawing/2014/main" id="{2AAABAA4-E0E8-7AD5-D078-7D1EADF46A12}"/>
                </a:ext>
              </a:extLst>
            </p:cNvPr>
            <p:cNvSpPr>
              <a:spLocks noChangeAspect="1"/>
            </p:cNvSpPr>
            <p:nvPr/>
          </p:nvSpPr>
          <p:spPr bwMode="auto">
            <a:xfrm>
              <a:off x="7267499" y="3676650"/>
              <a:ext cx="822868" cy="520700"/>
            </a:xfrm>
            <a:custGeom>
              <a:avLst/>
              <a:gdLst>
                <a:gd name="T0" fmla="*/ 281 w 344"/>
                <a:gd name="T1" fmla="*/ 216 h 217"/>
                <a:gd name="T2" fmla="*/ 281 w 344"/>
                <a:gd name="T3" fmla="*/ 217 h 217"/>
                <a:gd name="T4" fmla="*/ 88 w 344"/>
                <a:gd name="T5" fmla="*/ 217 h 217"/>
                <a:gd name="T6" fmla="*/ 88 w 344"/>
                <a:gd name="T7" fmla="*/ 217 h 217"/>
                <a:gd name="T8" fmla="*/ 86 w 344"/>
                <a:gd name="T9" fmla="*/ 217 h 217"/>
                <a:gd name="T10" fmla="*/ 0 w 344"/>
                <a:gd name="T11" fmla="*/ 130 h 217"/>
                <a:gd name="T12" fmla="*/ 86 w 344"/>
                <a:gd name="T13" fmla="*/ 44 h 217"/>
                <a:gd name="T14" fmla="*/ 104 w 344"/>
                <a:gd name="T15" fmla="*/ 45 h 217"/>
                <a:gd name="T16" fmla="*/ 184 w 344"/>
                <a:gd name="T17" fmla="*/ 0 h 217"/>
                <a:gd name="T18" fmla="*/ 278 w 344"/>
                <a:gd name="T19" fmla="*/ 85 h 217"/>
                <a:gd name="T20" fmla="*/ 278 w 344"/>
                <a:gd name="T21" fmla="*/ 85 h 217"/>
                <a:gd name="T22" fmla="*/ 344 w 344"/>
                <a:gd name="T23" fmla="*/ 151 h 217"/>
                <a:gd name="T24" fmla="*/ 281 w 344"/>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4" h="217">
                  <a:moveTo>
                    <a:pt x="281" y="216"/>
                  </a:moveTo>
                  <a:cubicBezTo>
                    <a:pt x="281" y="217"/>
                    <a:pt x="281" y="217"/>
                    <a:pt x="281" y="217"/>
                  </a:cubicBezTo>
                  <a:cubicBezTo>
                    <a:pt x="88" y="217"/>
                    <a:pt x="88" y="217"/>
                    <a:pt x="88" y="217"/>
                  </a:cubicBezTo>
                  <a:cubicBezTo>
                    <a:pt x="88" y="217"/>
                    <a:pt x="88" y="217"/>
                    <a:pt x="88" y="217"/>
                  </a:cubicBezTo>
                  <a:cubicBezTo>
                    <a:pt x="87" y="217"/>
                    <a:pt x="87" y="217"/>
                    <a:pt x="86" y="217"/>
                  </a:cubicBezTo>
                  <a:cubicBezTo>
                    <a:pt x="39" y="217"/>
                    <a:pt x="0" y="178"/>
                    <a:pt x="0" y="130"/>
                  </a:cubicBezTo>
                  <a:cubicBezTo>
                    <a:pt x="0" y="82"/>
                    <a:pt x="39" y="44"/>
                    <a:pt x="86" y="44"/>
                  </a:cubicBezTo>
                  <a:cubicBezTo>
                    <a:pt x="92" y="44"/>
                    <a:pt x="98" y="44"/>
                    <a:pt x="104" y="45"/>
                  </a:cubicBezTo>
                  <a:cubicBezTo>
                    <a:pt x="121" y="18"/>
                    <a:pt x="150" y="0"/>
                    <a:pt x="184" y="0"/>
                  </a:cubicBezTo>
                  <a:cubicBezTo>
                    <a:pt x="233" y="0"/>
                    <a:pt x="273" y="37"/>
                    <a:pt x="278" y="85"/>
                  </a:cubicBezTo>
                  <a:cubicBezTo>
                    <a:pt x="278" y="85"/>
                    <a:pt x="278" y="85"/>
                    <a:pt x="278" y="85"/>
                  </a:cubicBezTo>
                  <a:cubicBezTo>
                    <a:pt x="315" y="85"/>
                    <a:pt x="344" y="114"/>
                    <a:pt x="344" y="151"/>
                  </a:cubicBezTo>
                  <a:cubicBezTo>
                    <a:pt x="344" y="186"/>
                    <a:pt x="316" y="215"/>
                    <a:pt x="281" y="216"/>
                  </a:cubicBezTo>
                  <a:close/>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latin typeface="Segoe UI"/>
              </a:endParaRPr>
            </a:p>
          </p:txBody>
        </p:sp>
        <p:sp>
          <p:nvSpPr>
            <p:cNvPr id="32" name="Freeform: Shape 31">
              <a:extLst>
                <a:ext uri="{FF2B5EF4-FFF2-40B4-BE49-F238E27FC236}">
                  <a16:creationId xmlns:a16="http://schemas.microsoft.com/office/drawing/2014/main" id="{C279C95A-FD72-4313-A2FE-79F2DE8EFB7E}"/>
                </a:ext>
              </a:extLst>
            </p:cNvPr>
            <p:cNvSpPr/>
            <p:nvPr/>
          </p:nvSpPr>
          <p:spPr>
            <a:xfrm>
              <a:off x="7620051" y="3752850"/>
              <a:ext cx="207346" cy="207344"/>
            </a:xfrm>
            <a:custGeom>
              <a:avLst/>
              <a:gdLst>
                <a:gd name="connsiteX0" fmla="*/ 41638 w 238125"/>
                <a:gd name="connsiteY0" fmla="*/ 121648 h 238125"/>
                <a:gd name="connsiteX1" fmla="*/ 121648 w 238125"/>
                <a:gd name="connsiteY1" fmla="*/ 41638 h 238125"/>
                <a:gd name="connsiteX2" fmla="*/ 201658 w 238125"/>
                <a:gd name="connsiteY2" fmla="*/ 121648 h 238125"/>
                <a:gd name="connsiteX3" fmla="*/ 121648 w 238125"/>
                <a:gd name="connsiteY3" fmla="*/ 201658 h 238125"/>
                <a:gd name="connsiteX4" fmla="*/ 41638 w 238125"/>
                <a:gd name="connsiteY4" fmla="*/ 121648 h 238125"/>
                <a:gd name="connsiteX5" fmla="*/ 41638 w 238125"/>
                <a:gd name="connsiteY5" fmla="*/ 121648 h 238125"/>
                <a:gd name="connsiteX6" fmla="*/ 74975 w 238125"/>
                <a:gd name="connsiteY6" fmla="*/ 7348 h 238125"/>
                <a:gd name="connsiteX7" fmla="*/ 91168 w 238125"/>
                <a:gd name="connsiteY7" fmla="*/ 47353 h 238125"/>
                <a:gd name="connsiteX8" fmla="*/ 47353 w 238125"/>
                <a:gd name="connsiteY8" fmla="*/ 90216 h 238125"/>
                <a:gd name="connsiteX9" fmla="*/ 7348 w 238125"/>
                <a:gd name="connsiteY9" fmla="*/ 74023 h 238125"/>
                <a:gd name="connsiteX10" fmla="*/ 47353 w 238125"/>
                <a:gd name="connsiteY10" fmla="*/ 152128 h 238125"/>
                <a:gd name="connsiteX11" fmla="*/ 7348 w 238125"/>
                <a:gd name="connsiteY11" fmla="*/ 168321 h 238125"/>
                <a:gd name="connsiteX12" fmla="*/ 91168 w 238125"/>
                <a:gd name="connsiteY12" fmla="*/ 194991 h 238125"/>
                <a:gd name="connsiteX13" fmla="*/ 74975 w 238125"/>
                <a:gd name="connsiteY13" fmla="*/ 234996 h 238125"/>
                <a:gd name="connsiteX14" fmla="*/ 152128 w 238125"/>
                <a:gd name="connsiteY14" fmla="*/ 194991 h 238125"/>
                <a:gd name="connsiteX15" fmla="*/ 168321 w 238125"/>
                <a:gd name="connsiteY15" fmla="*/ 234996 h 238125"/>
                <a:gd name="connsiteX16" fmla="*/ 195943 w 238125"/>
                <a:gd name="connsiteY16" fmla="*/ 152128 h 238125"/>
                <a:gd name="connsiteX17" fmla="*/ 235948 w 238125"/>
                <a:gd name="connsiteY17" fmla="*/ 168321 h 238125"/>
                <a:gd name="connsiteX18" fmla="*/ 195943 w 238125"/>
                <a:gd name="connsiteY18" fmla="*/ 90216 h 238125"/>
                <a:gd name="connsiteX19" fmla="*/ 235948 w 238125"/>
                <a:gd name="connsiteY19" fmla="*/ 74023 h 238125"/>
                <a:gd name="connsiteX20" fmla="*/ 152128 w 238125"/>
                <a:gd name="connsiteY20" fmla="*/ 47353 h 238125"/>
                <a:gd name="connsiteX21" fmla="*/ 168321 w 238125"/>
                <a:gd name="connsiteY21" fmla="*/ 7348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8125" h="238125">
                  <a:moveTo>
                    <a:pt x="41638" y="121648"/>
                  </a:moveTo>
                  <a:cubicBezTo>
                    <a:pt x="41638" y="77833"/>
                    <a:pt x="77833" y="41638"/>
                    <a:pt x="121648" y="41638"/>
                  </a:cubicBezTo>
                  <a:cubicBezTo>
                    <a:pt x="165463" y="41638"/>
                    <a:pt x="201658" y="77833"/>
                    <a:pt x="201658" y="121648"/>
                  </a:cubicBezTo>
                  <a:cubicBezTo>
                    <a:pt x="201658" y="165463"/>
                    <a:pt x="165463" y="201658"/>
                    <a:pt x="121648" y="201658"/>
                  </a:cubicBezTo>
                  <a:cubicBezTo>
                    <a:pt x="77833" y="201658"/>
                    <a:pt x="41638" y="165463"/>
                    <a:pt x="41638" y="121648"/>
                  </a:cubicBezTo>
                  <a:lnTo>
                    <a:pt x="41638" y="121648"/>
                  </a:lnTo>
                  <a:close/>
                  <a:moveTo>
                    <a:pt x="74975" y="7348"/>
                  </a:moveTo>
                  <a:cubicBezTo>
                    <a:pt x="91168" y="47353"/>
                    <a:pt x="91168" y="47353"/>
                    <a:pt x="91168" y="47353"/>
                  </a:cubicBezTo>
                  <a:moveTo>
                    <a:pt x="47353" y="90216"/>
                  </a:moveTo>
                  <a:cubicBezTo>
                    <a:pt x="7348" y="74023"/>
                    <a:pt x="7348" y="74023"/>
                    <a:pt x="7348" y="74023"/>
                  </a:cubicBezTo>
                  <a:moveTo>
                    <a:pt x="47353" y="152128"/>
                  </a:moveTo>
                  <a:cubicBezTo>
                    <a:pt x="7348" y="168321"/>
                    <a:pt x="7348" y="168321"/>
                    <a:pt x="7348" y="168321"/>
                  </a:cubicBezTo>
                  <a:moveTo>
                    <a:pt x="91168" y="194991"/>
                  </a:moveTo>
                  <a:cubicBezTo>
                    <a:pt x="74975" y="234996"/>
                    <a:pt x="74975" y="234996"/>
                    <a:pt x="74975" y="234996"/>
                  </a:cubicBezTo>
                  <a:moveTo>
                    <a:pt x="152128" y="194991"/>
                  </a:moveTo>
                  <a:cubicBezTo>
                    <a:pt x="168321" y="234996"/>
                    <a:pt x="168321" y="234996"/>
                    <a:pt x="168321" y="234996"/>
                  </a:cubicBezTo>
                  <a:moveTo>
                    <a:pt x="195943" y="152128"/>
                  </a:moveTo>
                  <a:cubicBezTo>
                    <a:pt x="235948" y="168321"/>
                    <a:pt x="235948" y="168321"/>
                    <a:pt x="235948" y="168321"/>
                  </a:cubicBezTo>
                  <a:moveTo>
                    <a:pt x="195943" y="90216"/>
                  </a:moveTo>
                  <a:cubicBezTo>
                    <a:pt x="235948" y="74023"/>
                    <a:pt x="235948" y="74023"/>
                    <a:pt x="235948" y="74023"/>
                  </a:cubicBezTo>
                  <a:moveTo>
                    <a:pt x="152128" y="47353"/>
                  </a:moveTo>
                  <a:cubicBezTo>
                    <a:pt x="168321" y="7348"/>
                    <a:pt x="168321" y="7348"/>
                    <a:pt x="168321" y="7348"/>
                  </a:cubicBezTo>
                </a:path>
              </a:pathLst>
            </a:custGeom>
            <a:noFill/>
            <a:ln w="12700" cap="sq">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latin typeface="Segoe UI"/>
              </a:endParaRPr>
            </a:p>
          </p:txBody>
        </p:sp>
        <p:sp>
          <p:nvSpPr>
            <p:cNvPr id="33" name="Freeform: Shape 32">
              <a:extLst>
                <a:ext uri="{FF2B5EF4-FFF2-40B4-BE49-F238E27FC236}">
                  <a16:creationId xmlns:a16="http://schemas.microsoft.com/office/drawing/2014/main" id="{D39F75A8-F207-CDB9-09E6-9BE68E62DBA6}"/>
                </a:ext>
              </a:extLst>
            </p:cNvPr>
            <p:cNvSpPr/>
            <p:nvPr/>
          </p:nvSpPr>
          <p:spPr>
            <a:xfrm rot="20399111">
              <a:off x="7348154" y="3859571"/>
              <a:ext cx="265365" cy="265364"/>
            </a:xfrm>
            <a:custGeom>
              <a:avLst/>
              <a:gdLst>
                <a:gd name="connsiteX0" fmla="*/ 41638 w 238125"/>
                <a:gd name="connsiteY0" fmla="*/ 121648 h 238125"/>
                <a:gd name="connsiteX1" fmla="*/ 121648 w 238125"/>
                <a:gd name="connsiteY1" fmla="*/ 41638 h 238125"/>
                <a:gd name="connsiteX2" fmla="*/ 201658 w 238125"/>
                <a:gd name="connsiteY2" fmla="*/ 121648 h 238125"/>
                <a:gd name="connsiteX3" fmla="*/ 121648 w 238125"/>
                <a:gd name="connsiteY3" fmla="*/ 201658 h 238125"/>
                <a:gd name="connsiteX4" fmla="*/ 41638 w 238125"/>
                <a:gd name="connsiteY4" fmla="*/ 121648 h 238125"/>
                <a:gd name="connsiteX5" fmla="*/ 41638 w 238125"/>
                <a:gd name="connsiteY5" fmla="*/ 121648 h 238125"/>
                <a:gd name="connsiteX6" fmla="*/ 74975 w 238125"/>
                <a:gd name="connsiteY6" fmla="*/ 7348 h 238125"/>
                <a:gd name="connsiteX7" fmla="*/ 91168 w 238125"/>
                <a:gd name="connsiteY7" fmla="*/ 47353 h 238125"/>
                <a:gd name="connsiteX8" fmla="*/ 47353 w 238125"/>
                <a:gd name="connsiteY8" fmla="*/ 90216 h 238125"/>
                <a:gd name="connsiteX9" fmla="*/ 7348 w 238125"/>
                <a:gd name="connsiteY9" fmla="*/ 74023 h 238125"/>
                <a:gd name="connsiteX10" fmla="*/ 47353 w 238125"/>
                <a:gd name="connsiteY10" fmla="*/ 152128 h 238125"/>
                <a:gd name="connsiteX11" fmla="*/ 7348 w 238125"/>
                <a:gd name="connsiteY11" fmla="*/ 168321 h 238125"/>
                <a:gd name="connsiteX12" fmla="*/ 91168 w 238125"/>
                <a:gd name="connsiteY12" fmla="*/ 194991 h 238125"/>
                <a:gd name="connsiteX13" fmla="*/ 74975 w 238125"/>
                <a:gd name="connsiteY13" fmla="*/ 234996 h 238125"/>
                <a:gd name="connsiteX14" fmla="*/ 152128 w 238125"/>
                <a:gd name="connsiteY14" fmla="*/ 194991 h 238125"/>
                <a:gd name="connsiteX15" fmla="*/ 168321 w 238125"/>
                <a:gd name="connsiteY15" fmla="*/ 234996 h 238125"/>
                <a:gd name="connsiteX16" fmla="*/ 195943 w 238125"/>
                <a:gd name="connsiteY16" fmla="*/ 152128 h 238125"/>
                <a:gd name="connsiteX17" fmla="*/ 235948 w 238125"/>
                <a:gd name="connsiteY17" fmla="*/ 168321 h 238125"/>
                <a:gd name="connsiteX18" fmla="*/ 195943 w 238125"/>
                <a:gd name="connsiteY18" fmla="*/ 90216 h 238125"/>
                <a:gd name="connsiteX19" fmla="*/ 235948 w 238125"/>
                <a:gd name="connsiteY19" fmla="*/ 74023 h 238125"/>
                <a:gd name="connsiteX20" fmla="*/ 152128 w 238125"/>
                <a:gd name="connsiteY20" fmla="*/ 47353 h 238125"/>
                <a:gd name="connsiteX21" fmla="*/ 168321 w 238125"/>
                <a:gd name="connsiteY21" fmla="*/ 7348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8125" h="238125">
                  <a:moveTo>
                    <a:pt x="41638" y="121648"/>
                  </a:moveTo>
                  <a:cubicBezTo>
                    <a:pt x="41638" y="77833"/>
                    <a:pt x="77833" y="41638"/>
                    <a:pt x="121648" y="41638"/>
                  </a:cubicBezTo>
                  <a:cubicBezTo>
                    <a:pt x="165463" y="41638"/>
                    <a:pt x="201658" y="77833"/>
                    <a:pt x="201658" y="121648"/>
                  </a:cubicBezTo>
                  <a:cubicBezTo>
                    <a:pt x="201658" y="165463"/>
                    <a:pt x="165463" y="201658"/>
                    <a:pt x="121648" y="201658"/>
                  </a:cubicBezTo>
                  <a:cubicBezTo>
                    <a:pt x="77833" y="201658"/>
                    <a:pt x="41638" y="165463"/>
                    <a:pt x="41638" y="121648"/>
                  </a:cubicBezTo>
                  <a:lnTo>
                    <a:pt x="41638" y="121648"/>
                  </a:lnTo>
                  <a:close/>
                  <a:moveTo>
                    <a:pt x="74975" y="7348"/>
                  </a:moveTo>
                  <a:cubicBezTo>
                    <a:pt x="91168" y="47353"/>
                    <a:pt x="91168" y="47353"/>
                    <a:pt x="91168" y="47353"/>
                  </a:cubicBezTo>
                  <a:moveTo>
                    <a:pt x="47353" y="90216"/>
                  </a:moveTo>
                  <a:cubicBezTo>
                    <a:pt x="7348" y="74023"/>
                    <a:pt x="7348" y="74023"/>
                    <a:pt x="7348" y="74023"/>
                  </a:cubicBezTo>
                  <a:moveTo>
                    <a:pt x="47353" y="152128"/>
                  </a:moveTo>
                  <a:cubicBezTo>
                    <a:pt x="7348" y="168321"/>
                    <a:pt x="7348" y="168321"/>
                    <a:pt x="7348" y="168321"/>
                  </a:cubicBezTo>
                  <a:moveTo>
                    <a:pt x="91168" y="194991"/>
                  </a:moveTo>
                  <a:cubicBezTo>
                    <a:pt x="74975" y="234996"/>
                    <a:pt x="74975" y="234996"/>
                    <a:pt x="74975" y="234996"/>
                  </a:cubicBezTo>
                  <a:moveTo>
                    <a:pt x="152128" y="194991"/>
                  </a:moveTo>
                  <a:cubicBezTo>
                    <a:pt x="168321" y="234996"/>
                    <a:pt x="168321" y="234996"/>
                    <a:pt x="168321" y="234996"/>
                  </a:cubicBezTo>
                  <a:moveTo>
                    <a:pt x="195943" y="152128"/>
                  </a:moveTo>
                  <a:cubicBezTo>
                    <a:pt x="235948" y="168321"/>
                    <a:pt x="235948" y="168321"/>
                    <a:pt x="235948" y="168321"/>
                  </a:cubicBezTo>
                  <a:moveTo>
                    <a:pt x="195943" y="90216"/>
                  </a:moveTo>
                  <a:cubicBezTo>
                    <a:pt x="235948" y="74023"/>
                    <a:pt x="235948" y="74023"/>
                    <a:pt x="235948" y="74023"/>
                  </a:cubicBezTo>
                  <a:moveTo>
                    <a:pt x="152128" y="47353"/>
                  </a:moveTo>
                  <a:cubicBezTo>
                    <a:pt x="168321" y="7348"/>
                    <a:pt x="168321" y="7348"/>
                    <a:pt x="168321" y="7348"/>
                  </a:cubicBezTo>
                </a:path>
              </a:pathLst>
            </a:custGeom>
            <a:noFill/>
            <a:ln w="12700" cap="sq">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latin typeface="Segoe UI"/>
              </a:endParaRPr>
            </a:p>
          </p:txBody>
        </p:sp>
      </p:grpSp>
      <p:grpSp>
        <p:nvGrpSpPr>
          <p:cNvPr id="34" name="Group 33">
            <a:extLst>
              <a:ext uri="{FF2B5EF4-FFF2-40B4-BE49-F238E27FC236}">
                <a16:creationId xmlns:a16="http://schemas.microsoft.com/office/drawing/2014/main" id="{CC6447CF-FD95-3A61-164D-B9E922653011}"/>
              </a:ext>
            </a:extLst>
          </p:cNvPr>
          <p:cNvGrpSpPr/>
          <p:nvPr/>
        </p:nvGrpSpPr>
        <p:grpSpPr>
          <a:xfrm>
            <a:off x="7331163" y="3067674"/>
            <a:ext cx="316740" cy="311589"/>
            <a:chOff x="8800729" y="3349889"/>
            <a:chExt cx="305759" cy="303854"/>
          </a:xfrm>
        </p:grpSpPr>
        <p:sp>
          <p:nvSpPr>
            <p:cNvPr id="35" name="Freeform: Shape 34">
              <a:extLst>
                <a:ext uri="{FF2B5EF4-FFF2-40B4-BE49-F238E27FC236}">
                  <a16:creationId xmlns:a16="http://schemas.microsoft.com/office/drawing/2014/main" id="{53FF2C69-62A7-0549-D357-9BE8A5736C9E}"/>
                </a:ext>
              </a:extLst>
            </p:cNvPr>
            <p:cNvSpPr/>
            <p:nvPr/>
          </p:nvSpPr>
          <p:spPr>
            <a:xfrm>
              <a:off x="8800729" y="3349889"/>
              <a:ext cx="209550" cy="238125"/>
            </a:xfrm>
            <a:custGeom>
              <a:avLst/>
              <a:gdLst>
                <a:gd name="connsiteX0" fmla="*/ 98795 w 209550"/>
                <a:gd name="connsiteY0" fmla="*/ 238813 h 238125"/>
                <a:gd name="connsiteX1" fmla="*/ 7355 w 209550"/>
                <a:gd name="connsiteY1" fmla="*/ 238813 h 238125"/>
                <a:gd name="connsiteX2" fmla="*/ 7355 w 209550"/>
                <a:gd name="connsiteY2" fmla="*/ 7355 h 238125"/>
                <a:gd name="connsiteX3" fmla="*/ 211190 w 209550"/>
                <a:gd name="connsiteY3" fmla="*/ 7355 h 238125"/>
                <a:gd name="connsiteX4" fmla="*/ 211190 w 209550"/>
                <a:gd name="connsiteY4" fmla="*/ 79745 h 23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38125">
                  <a:moveTo>
                    <a:pt x="98795" y="238813"/>
                  </a:moveTo>
                  <a:lnTo>
                    <a:pt x="7355" y="238813"/>
                  </a:lnTo>
                  <a:lnTo>
                    <a:pt x="7355" y="7355"/>
                  </a:lnTo>
                  <a:lnTo>
                    <a:pt x="211190" y="7355"/>
                  </a:lnTo>
                  <a:lnTo>
                    <a:pt x="211190" y="79745"/>
                  </a:lnTo>
                </a:path>
              </a:pathLst>
            </a:custGeom>
            <a:noFill/>
            <a:ln w="12700" cap="sq">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latin typeface="Segoe UI"/>
              </a:endParaRPr>
            </a:p>
          </p:txBody>
        </p:sp>
        <p:sp>
          <p:nvSpPr>
            <p:cNvPr id="36" name="Freeform: Shape 35">
              <a:extLst>
                <a:ext uri="{FF2B5EF4-FFF2-40B4-BE49-F238E27FC236}">
                  <a16:creationId xmlns:a16="http://schemas.microsoft.com/office/drawing/2014/main" id="{42B260D8-B79B-7D6C-F348-D9299CBAB087}"/>
                </a:ext>
              </a:extLst>
            </p:cNvPr>
            <p:cNvSpPr/>
            <p:nvPr/>
          </p:nvSpPr>
          <p:spPr>
            <a:xfrm>
              <a:off x="8825494" y="3382274"/>
              <a:ext cx="161925" cy="171450"/>
            </a:xfrm>
            <a:custGeom>
              <a:avLst/>
              <a:gdLst>
                <a:gd name="connsiteX0" fmla="*/ 38788 w 161925"/>
                <a:gd name="connsiteY0" fmla="*/ 7355 h 171450"/>
                <a:gd name="connsiteX1" fmla="*/ 129275 w 161925"/>
                <a:gd name="connsiteY1" fmla="*/ 7355 h 171450"/>
                <a:gd name="connsiteX2" fmla="*/ 7355 w 161925"/>
                <a:gd name="connsiteY2" fmla="*/ 34025 h 171450"/>
                <a:gd name="connsiteX3" fmla="*/ 161660 w 161925"/>
                <a:gd name="connsiteY3" fmla="*/ 34025 h 171450"/>
                <a:gd name="connsiteX4" fmla="*/ 7355 w 161925"/>
                <a:gd name="connsiteY4" fmla="*/ 61648 h 171450"/>
                <a:gd name="connsiteX5" fmla="*/ 92128 w 161925"/>
                <a:gd name="connsiteY5" fmla="*/ 61648 h 171450"/>
                <a:gd name="connsiteX6" fmla="*/ 7355 w 161925"/>
                <a:gd name="connsiteY6" fmla="*/ 88318 h 171450"/>
                <a:gd name="connsiteX7" fmla="*/ 67363 w 161925"/>
                <a:gd name="connsiteY7" fmla="*/ 88318 h 171450"/>
                <a:gd name="connsiteX8" fmla="*/ 7355 w 161925"/>
                <a:gd name="connsiteY8" fmla="*/ 115940 h 171450"/>
                <a:gd name="connsiteX9" fmla="*/ 54980 w 161925"/>
                <a:gd name="connsiteY9" fmla="*/ 115940 h 171450"/>
                <a:gd name="connsiteX10" fmla="*/ 7355 w 161925"/>
                <a:gd name="connsiteY10" fmla="*/ 142610 h 171450"/>
                <a:gd name="connsiteX11" fmla="*/ 54980 w 161925"/>
                <a:gd name="connsiteY11" fmla="*/ 142610 h 171450"/>
                <a:gd name="connsiteX12" fmla="*/ 7355 w 161925"/>
                <a:gd name="connsiteY12" fmla="*/ 169280 h 171450"/>
                <a:gd name="connsiteX13" fmla="*/ 54028 w 161925"/>
                <a:gd name="connsiteY13" fmla="*/ 16928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1925" h="171450">
                  <a:moveTo>
                    <a:pt x="38788" y="7355"/>
                  </a:moveTo>
                  <a:lnTo>
                    <a:pt x="129275" y="7355"/>
                  </a:lnTo>
                  <a:moveTo>
                    <a:pt x="7355" y="34025"/>
                  </a:moveTo>
                  <a:lnTo>
                    <a:pt x="161660" y="34025"/>
                  </a:lnTo>
                  <a:moveTo>
                    <a:pt x="7355" y="61648"/>
                  </a:moveTo>
                  <a:lnTo>
                    <a:pt x="92128" y="61648"/>
                  </a:lnTo>
                  <a:moveTo>
                    <a:pt x="7355" y="88318"/>
                  </a:moveTo>
                  <a:lnTo>
                    <a:pt x="67363" y="88318"/>
                  </a:lnTo>
                  <a:moveTo>
                    <a:pt x="7355" y="115940"/>
                  </a:moveTo>
                  <a:lnTo>
                    <a:pt x="54980" y="115940"/>
                  </a:lnTo>
                  <a:moveTo>
                    <a:pt x="7355" y="142610"/>
                  </a:moveTo>
                  <a:lnTo>
                    <a:pt x="54980" y="142610"/>
                  </a:lnTo>
                  <a:moveTo>
                    <a:pt x="7355" y="169280"/>
                  </a:moveTo>
                  <a:lnTo>
                    <a:pt x="54028" y="169280"/>
                  </a:lnTo>
                </a:path>
              </a:pathLst>
            </a:custGeom>
            <a:noFill/>
            <a:ln w="12700" cap="sq">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latin typeface="Segoe UI"/>
              </a:endParaRPr>
            </a:p>
          </p:txBody>
        </p:sp>
        <p:sp>
          <p:nvSpPr>
            <p:cNvPr id="37" name="Freeform: Shape 36">
              <a:extLst>
                <a:ext uri="{FF2B5EF4-FFF2-40B4-BE49-F238E27FC236}">
                  <a16:creationId xmlns:a16="http://schemas.microsoft.com/office/drawing/2014/main" id="{39E19ED1-0A22-8DAB-A532-AECF33012476}"/>
                </a:ext>
              </a:extLst>
            </p:cNvPr>
            <p:cNvSpPr/>
            <p:nvPr/>
          </p:nvSpPr>
          <p:spPr>
            <a:xfrm>
              <a:off x="8892176" y="3435621"/>
              <a:ext cx="171450" cy="171450"/>
            </a:xfrm>
            <a:custGeom>
              <a:avLst/>
              <a:gdLst>
                <a:gd name="connsiteX0" fmla="*/ 169273 w 171450"/>
                <a:gd name="connsiteY0" fmla="*/ 88311 h 171450"/>
                <a:gd name="connsiteX1" fmla="*/ 88311 w 171450"/>
                <a:gd name="connsiteY1" fmla="*/ 169273 h 171450"/>
                <a:gd name="connsiteX2" fmla="*/ 7348 w 171450"/>
                <a:gd name="connsiteY2" fmla="*/ 88311 h 171450"/>
                <a:gd name="connsiteX3" fmla="*/ 88311 w 171450"/>
                <a:gd name="connsiteY3" fmla="*/ 7348 h 171450"/>
                <a:gd name="connsiteX4" fmla="*/ 169273 w 171450"/>
                <a:gd name="connsiteY4" fmla="*/ 88311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450" h="171450">
                  <a:moveTo>
                    <a:pt x="169273" y="88311"/>
                  </a:moveTo>
                  <a:cubicBezTo>
                    <a:pt x="169273" y="133025"/>
                    <a:pt x="133025" y="169273"/>
                    <a:pt x="88311" y="169273"/>
                  </a:cubicBezTo>
                  <a:cubicBezTo>
                    <a:pt x="43596" y="169273"/>
                    <a:pt x="7348" y="133025"/>
                    <a:pt x="7348" y="88311"/>
                  </a:cubicBezTo>
                  <a:cubicBezTo>
                    <a:pt x="7348" y="43596"/>
                    <a:pt x="43596" y="7348"/>
                    <a:pt x="88311" y="7348"/>
                  </a:cubicBezTo>
                  <a:cubicBezTo>
                    <a:pt x="133025" y="7348"/>
                    <a:pt x="169273" y="43596"/>
                    <a:pt x="169273" y="88311"/>
                  </a:cubicBezTo>
                  <a:close/>
                </a:path>
              </a:pathLst>
            </a:custGeom>
            <a:noFill/>
            <a:ln w="12700" cap="sq">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latin typeface="Segoe UI"/>
              </a:endParaRPr>
            </a:p>
          </p:txBody>
        </p:sp>
        <p:sp>
          <p:nvSpPr>
            <p:cNvPr id="38" name="Freeform: Shape 37">
              <a:extLst>
                <a:ext uri="{FF2B5EF4-FFF2-40B4-BE49-F238E27FC236}">
                  <a16:creationId xmlns:a16="http://schemas.microsoft.com/office/drawing/2014/main" id="{D92A368F-D344-21FC-21A2-6C1AAA3A5455}"/>
                </a:ext>
              </a:extLst>
            </p:cNvPr>
            <p:cNvSpPr/>
            <p:nvPr/>
          </p:nvSpPr>
          <p:spPr>
            <a:xfrm>
              <a:off x="9030288" y="3577543"/>
              <a:ext cx="76200" cy="76200"/>
            </a:xfrm>
            <a:custGeom>
              <a:avLst/>
              <a:gdLst>
                <a:gd name="connsiteX0" fmla="*/ 70213 w 76200"/>
                <a:gd name="connsiteY0" fmla="*/ 76881 h 76200"/>
                <a:gd name="connsiteX1" fmla="*/ 7348 w 76200"/>
                <a:gd name="connsiteY1" fmla="*/ 7348 h 76200"/>
              </a:gdLst>
              <a:ahLst/>
              <a:cxnLst>
                <a:cxn ang="0">
                  <a:pos x="connsiteX0" y="connsiteY0"/>
                </a:cxn>
                <a:cxn ang="0">
                  <a:pos x="connsiteX1" y="connsiteY1"/>
                </a:cxn>
              </a:cxnLst>
              <a:rect l="l" t="t" r="r" b="b"/>
              <a:pathLst>
                <a:path w="76200" h="76200">
                  <a:moveTo>
                    <a:pt x="70213" y="76881"/>
                  </a:moveTo>
                  <a:lnTo>
                    <a:pt x="7348" y="7348"/>
                  </a:lnTo>
                </a:path>
              </a:pathLst>
            </a:custGeom>
            <a:noFill/>
            <a:ln w="12700" cap="sq">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latin typeface="Segoe UI"/>
              </a:endParaRPr>
            </a:p>
          </p:txBody>
        </p:sp>
      </p:grpSp>
      <p:grpSp>
        <p:nvGrpSpPr>
          <p:cNvPr id="39" name="Group 38">
            <a:extLst>
              <a:ext uri="{FF2B5EF4-FFF2-40B4-BE49-F238E27FC236}">
                <a16:creationId xmlns:a16="http://schemas.microsoft.com/office/drawing/2014/main" id="{040F4531-C9CE-FA6E-1674-5CAF40898569}"/>
              </a:ext>
            </a:extLst>
          </p:cNvPr>
          <p:cNvGrpSpPr/>
          <p:nvPr/>
        </p:nvGrpSpPr>
        <p:grpSpPr>
          <a:xfrm>
            <a:off x="4443656" y="4868345"/>
            <a:ext cx="401396" cy="449699"/>
            <a:chOff x="5548134" y="3722592"/>
            <a:chExt cx="1334254" cy="1429167"/>
          </a:xfrm>
        </p:grpSpPr>
        <p:sp>
          <p:nvSpPr>
            <p:cNvPr id="40" name="building_7">
              <a:extLst>
                <a:ext uri="{FF2B5EF4-FFF2-40B4-BE49-F238E27FC236}">
                  <a16:creationId xmlns:a16="http://schemas.microsoft.com/office/drawing/2014/main" id="{1B23B75C-FCDB-F175-5F71-674C1A63B633}"/>
                </a:ext>
              </a:extLst>
            </p:cNvPr>
            <p:cNvSpPr>
              <a:spLocks noChangeAspect="1" noEditPoints="1"/>
            </p:cNvSpPr>
            <p:nvPr/>
          </p:nvSpPr>
          <p:spPr bwMode="auto">
            <a:xfrm>
              <a:off x="5548134" y="3759745"/>
              <a:ext cx="1334254" cy="1392014"/>
            </a:xfrm>
            <a:custGeom>
              <a:avLst/>
              <a:gdLst>
                <a:gd name="T0" fmla="*/ 231 w 231"/>
                <a:gd name="T1" fmla="*/ 241 h 241"/>
                <a:gd name="T2" fmla="*/ 0 w 231"/>
                <a:gd name="T3" fmla="*/ 241 h 241"/>
                <a:gd name="T4" fmla="*/ 135 w 231"/>
                <a:gd name="T5" fmla="*/ 241 h 241"/>
                <a:gd name="T6" fmla="*/ 135 w 231"/>
                <a:gd name="T7" fmla="*/ 111 h 241"/>
                <a:gd name="T8" fmla="*/ 14 w 231"/>
                <a:gd name="T9" fmla="*/ 111 h 241"/>
                <a:gd name="T10" fmla="*/ 14 w 231"/>
                <a:gd name="T11" fmla="*/ 241 h 241"/>
                <a:gd name="T12" fmla="*/ 217 w 231"/>
                <a:gd name="T13" fmla="*/ 241 h 241"/>
                <a:gd name="T14" fmla="*/ 217 w 231"/>
                <a:gd name="T15" fmla="*/ 58 h 241"/>
                <a:gd name="T16" fmla="*/ 101 w 231"/>
                <a:gd name="T17" fmla="*/ 58 h 241"/>
                <a:gd name="T18" fmla="*/ 101 w 231"/>
                <a:gd name="T19" fmla="*/ 97 h 241"/>
                <a:gd name="T20" fmla="*/ 140 w 231"/>
                <a:gd name="T21" fmla="*/ 44 h 241"/>
                <a:gd name="T22" fmla="*/ 140 w 231"/>
                <a:gd name="T23" fmla="*/ 0 h 241"/>
                <a:gd name="T24" fmla="*/ 82 w 231"/>
                <a:gd name="T25" fmla="*/ 44 h 241"/>
                <a:gd name="T26" fmla="*/ 82 w 231"/>
                <a:gd name="T27" fmla="*/ 92 h 241"/>
                <a:gd name="T28" fmla="*/ 178 w 231"/>
                <a:gd name="T29" fmla="*/ 241 h 241"/>
                <a:gd name="T30" fmla="*/ 178 w 231"/>
                <a:gd name="T31" fmla="*/ 198 h 241"/>
                <a:gd name="T32" fmla="*/ 150 w 231"/>
                <a:gd name="T33" fmla="*/ 198 h 241"/>
                <a:gd name="T34" fmla="*/ 97 w 231"/>
                <a:gd name="T35" fmla="*/ 241 h 241"/>
                <a:gd name="T36" fmla="*/ 97 w 231"/>
                <a:gd name="T37" fmla="*/ 198 h 241"/>
                <a:gd name="T38" fmla="*/ 58 w 231"/>
                <a:gd name="T39" fmla="*/ 198 h 241"/>
                <a:gd name="T40" fmla="*/ 58 w 231"/>
                <a:gd name="T41" fmla="*/ 239 h 241"/>
                <a:gd name="T42" fmla="*/ 97 w 231"/>
                <a:gd name="T43" fmla="*/ 241 h 241"/>
                <a:gd name="T44" fmla="*/ 97 w 231"/>
                <a:gd name="T45" fmla="*/ 198 h 241"/>
                <a:gd name="T46" fmla="*/ 58 w 231"/>
                <a:gd name="T47" fmla="*/ 198 h 241"/>
                <a:gd name="T48" fmla="*/ 58 w 231"/>
                <a:gd name="T49" fmla="*/ 239 h 241"/>
                <a:gd name="T50" fmla="*/ 227 w 231"/>
                <a:gd name="T51" fmla="*/ 164 h 241"/>
                <a:gd name="T52" fmla="*/ 227 w 231"/>
                <a:gd name="T53" fmla="*/ 164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1" h="241">
                  <a:moveTo>
                    <a:pt x="231" y="241"/>
                  </a:moveTo>
                  <a:lnTo>
                    <a:pt x="0" y="241"/>
                  </a:lnTo>
                  <a:moveTo>
                    <a:pt x="135" y="241"/>
                  </a:moveTo>
                  <a:lnTo>
                    <a:pt x="135" y="111"/>
                  </a:lnTo>
                  <a:lnTo>
                    <a:pt x="14" y="111"/>
                  </a:lnTo>
                  <a:lnTo>
                    <a:pt x="14" y="241"/>
                  </a:lnTo>
                  <a:moveTo>
                    <a:pt x="217" y="241"/>
                  </a:moveTo>
                  <a:lnTo>
                    <a:pt x="217" y="58"/>
                  </a:lnTo>
                  <a:lnTo>
                    <a:pt x="101" y="58"/>
                  </a:lnTo>
                  <a:lnTo>
                    <a:pt x="101" y="97"/>
                  </a:lnTo>
                  <a:moveTo>
                    <a:pt x="140" y="44"/>
                  </a:moveTo>
                  <a:lnTo>
                    <a:pt x="140" y="0"/>
                  </a:lnTo>
                  <a:lnTo>
                    <a:pt x="82" y="44"/>
                  </a:lnTo>
                  <a:lnTo>
                    <a:pt x="82" y="92"/>
                  </a:lnTo>
                  <a:moveTo>
                    <a:pt x="178" y="241"/>
                  </a:moveTo>
                  <a:lnTo>
                    <a:pt x="178" y="198"/>
                  </a:lnTo>
                  <a:lnTo>
                    <a:pt x="150" y="198"/>
                  </a:lnTo>
                  <a:moveTo>
                    <a:pt x="97" y="241"/>
                  </a:moveTo>
                  <a:lnTo>
                    <a:pt x="97" y="198"/>
                  </a:lnTo>
                  <a:lnTo>
                    <a:pt x="58" y="198"/>
                  </a:lnTo>
                  <a:lnTo>
                    <a:pt x="58" y="239"/>
                  </a:lnTo>
                  <a:moveTo>
                    <a:pt x="97" y="241"/>
                  </a:moveTo>
                  <a:lnTo>
                    <a:pt x="97" y="198"/>
                  </a:lnTo>
                  <a:lnTo>
                    <a:pt x="58" y="198"/>
                  </a:lnTo>
                  <a:lnTo>
                    <a:pt x="58" y="239"/>
                  </a:lnTo>
                  <a:moveTo>
                    <a:pt x="227" y="164"/>
                  </a:moveTo>
                  <a:lnTo>
                    <a:pt x="227" y="164"/>
                  </a:lnTo>
                </a:path>
              </a:pathLst>
            </a:custGeom>
            <a:noFill/>
            <a:ln w="12700" cap="flat">
              <a:solidFill>
                <a:sysClr val="window" lastClr="FFFFFF"/>
              </a:solidFill>
              <a:prstDash val="solid"/>
              <a:miter lim="800000"/>
              <a:headEnd/>
              <a:tailEnd/>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srgbClr val="AA1133"/>
                </a:solidFill>
                <a:effectLst/>
                <a:uLnTx/>
                <a:uFillTx/>
                <a:latin typeface="Arial"/>
                <a:ea typeface="+mj-ea"/>
                <a:cs typeface="+mj-cs"/>
              </a:endParaRPr>
            </a:p>
          </p:txBody>
        </p:sp>
        <p:sp>
          <p:nvSpPr>
            <p:cNvPr id="41" name="Rectangle 40">
              <a:extLst>
                <a:ext uri="{FF2B5EF4-FFF2-40B4-BE49-F238E27FC236}">
                  <a16:creationId xmlns:a16="http://schemas.microsoft.com/office/drawing/2014/main" id="{BFE46962-C259-9251-AB02-70FEA0476365}"/>
                </a:ext>
              </a:extLst>
            </p:cNvPr>
            <p:cNvSpPr/>
            <p:nvPr/>
          </p:nvSpPr>
          <p:spPr bwMode="auto">
            <a:xfrm>
              <a:off x="5548136" y="3722592"/>
              <a:ext cx="1117503" cy="343267"/>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auto" latinLnBrk="0" hangingPunct="1">
                <a:lnSpc>
                  <a:spcPct val="9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AA1133"/>
                </a:solidFill>
                <a:effectLst/>
                <a:uLnTx/>
                <a:uFillTx/>
                <a:latin typeface="Arial"/>
                <a:ea typeface="Segoe UI" pitchFamily="34" charset="0"/>
                <a:cs typeface="Segoe UI" pitchFamily="34" charset="0"/>
              </a:endParaRPr>
            </a:p>
          </p:txBody>
        </p:sp>
        <p:sp>
          <p:nvSpPr>
            <p:cNvPr id="42" name="Rectangle 41">
              <a:extLst>
                <a:ext uri="{FF2B5EF4-FFF2-40B4-BE49-F238E27FC236}">
                  <a16:creationId xmlns:a16="http://schemas.microsoft.com/office/drawing/2014/main" id="{3F7D7EFC-BA16-1DBB-8CDD-157F8E793506}"/>
                </a:ext>
              </a:extLst>
            </p:cNvPr>
            <p:cNvSpPr/>
            <p:nvPr/>
          </p:nvSpPr>
          <p:spPr bwMode="auto">
            <a:xfrm>
              <a:off x="5617712" y="3861970"/>
              <a:ext cx="486601" cy="511644"/>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auto" latinLnBrk="0" hangingPunct="1">
                <a:lnSpc>
                  <a:spcPct val="9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AA1133"/>
                </a:solidFill>
                <a:effectLst/>
                <a:uLnTx/>
                <a:uFillTx/>
                <a:latin typeface="Arial"/>
                <a:ea typeface="Segoe UI" pitchFamily="34" charset="0"/>
                <a:cs typeface="Segoe UI" pitchFamily="34" charset="0"/>
              </a:endParaRPr>
            </a:p>
          </p:txBody>
        </p:sp>
      </p:grpSp>
      <p:grpSp>
        <p:nvGrpSpPr>
          <p:cNvPr id="43" name="Group 42">
            <a:extLst>
              <a:ext uri="{FF2B5EF4-FFF2-40B4-BE49-F238E27FC236}">
                <a16:creationId xmlns:a16="http://schemas.microsoft.com/office/drawing/2014/main" id="{9C2E433F-9E74-7B1D-17A2-94BD7C3BD8C2}"/>
              </a:ext>
            </a:extLst>
          </p:cNvPr>
          <p:cNvGrpSpPr/>
          <p:nvPr/>
        </p:nvGrpSpPr>
        <p:grpSpPr>
          <a:xfrm>
            <a:off x="4587530" y="3021216"/>
            <a:ext cx="325649" cy="344644"/>
            <a:chOff x="8321442" y="3347044"/>
            <a:chExt cx="548721" cy="541889"/>
          </a:xfrm>
        </p:grpSpPr>
        <p:sp>
          <p:nvSpPr>
            <p:cNvPr id="44" name="Freeform: Shape 43">
              <a:extLst>
                <a:ext uri="{FF2B5EF4-FFF2-40B4-BE49-F238E27FC236}">
                  <a16:creationId xmlns:a16="http://schemas.microsoft.com/office/drawing/2014/main" id="{59D79C1E-40A7-E7F5-F03E-3AE5E2B7E879}"/>
                </a:ext>
              </a:extLst>
            </p:cNvPr>
            <p:cNvSpPr/>
            <p:nvPr/>
          </p:nvSpPr>
          <p:spPr bwMode="auto">
            <a:xfrm>
              <a:off x="8426277" y="3472887"/>
              <a:ext cx="422818" cy="338508"/>
            </a:xfrm>
            <a:custGeom>
              <a:avLst/>
              <a:gdLst>
                <a:gd name="connsiteX0" fmla="*/ 0 w 1470991"/>
                <a:gd name="connsiteY0" fmla="*/ 1152939 h 1152939"/>
                <a:gd name="connsiteX1" fmla="*/ 1013791 w 1470991"/>
                <a:gd name="connsiteY1" fmla="*/ 1152939 h 1152939"/>
                <a:gd name="connsiteX2" fmla="*/ 1470991 w 1470991"/>
                <a:gd name="connsiteY2" fmla="*/ 636105 h 1152939"/>
                <a:gd name="connsiteX3" fmla="*/ 1242391 w 1470991"/>
                <a:gd name="connsiteY3" fmla="*/ 89452 h 1152939"/>
                <a:gd name="connsiteX4" fmla="*/ 606287 w 1470991"/>
                <a:gd name="connsiteY4" fmla="*/ 0 h 1152939"/>
                <a:gd name="connsiteX5" fmla="*/ 308113 w 1470991"/>
                <a:gd name="connsiteY5" fmla="*/ 318052 h 1152939"/>
                <a:gd name="connsiteX6" fmla="*/ 327991 w 1470991"/>
                <a:gd name="connsiteY6" fmla="*/ 596348 h 1152939"/>
                <a:gd name="connsiteX0" fmla="*/ 0 w 1470991"/>
                <a:gd name="connsiteY0" fmla="*/ 1152939 h 1152939"/>
                <a:gd name="connsiteX1" fmla="*/ 1013791 w 1470991"/>
                <a:gd name="connsiteY1" fmla="*/ 1152939 h 1152939"/>
                <a:gd name="connsiteX2" fmla="*/ 1470991 w 1470991"/>
                <a:gd name="connsiteY2" fmla="*/ 636105 h 1152939"/>
                <a:gd name="connsiteX3" fmla="*/ 1242391 w 1470991"/>
                <a:gd name="connsiteY3" fmla="*/ 89452 h 1152939"/>
                <a:gd name="connsiteX4" fmla="*/ 606287 w 1470991"/>
                <a:gd name="connsiteY4" fmla="*/ 0 h 1152939"/>
                <a:gd name="connsiteX5" fmla="*/ 308113 w 1470991"/>
                <a:gd name="connsiteY5" fmla="*/ 318052 h 1152939"/>
                <a:gd name="connsiteX6" fmla="*/ 327991 w 1470991"/>
                <a:gd name="connsiteY6" fmla="*/ 596348 h 1152939"/>
                <a:gd name="connsiteX0" fmla="*/ 0 w 1478018"/>
                <a:gd name="connsiteY0" fmla="*/ 1152939 h 1152939"/>
                <a:gd name="connsiteX1" fmla="*/ 1013791 w 1478018"/>
                <a:gd name="connsiteY1" fmla="*/ 1152939 h 1152939"/>
                <a:gd name="connsiteX2" fmla="*/ 1470991 w 1478018"/>
                <a:gd name="connsiteY2" fmla="*/ 636105 h 1152939"/>
                <a:gd name="connsiteX3" fmla="*/ 1242391 w 1478018"/>
                <a:gd name="connsiteY3" fmla="*/ 89452 h 1152939"/>
                <a:gd name="connsiteX4" fmla="*/ 606287 w 1478018"/>
                <a:gd name="connsiteY4" fmla="*/ 0 h 1152939"/>
                <a:gd name="connsiteX5" fmla="*/ 308113 w 1478018"/>
                <a:gd name="connsiteY5" fmla="*/ 318052 h 1152939"/>
                <a:gd name="connsiteX6" fmla="*/ 327991 w 1478018"/>
                <a:gd name="connsiteY6" fmla="*/ 596348 h 1152939"/>
                <a:gd name="connsiteX0" fmla="*/ 0 w 1478018"/>
                <a:gd name="connsiteY0" fmla="*/ 1170456 h 1170456"/>
                <a:gd name="connsiteX1" fmla="*/ 1013791 w 1478018"/>
                <a:gd name="connsiteY1" fmla="*/ 1170456 h 1170456"/>
                <a:gd name="connsiteX2" fmla="*/ 1470991 w 1478018"/>
                <a:gd name="connsiteY2" fmla="*/ 653622 h 1170456"/>
                <a:gd name="connsiteX3" fmla="*/ 1242391 w 1478018"/>
                <a:gd name="connsiteY3" fmla="*/ 106969 h 1170456"/>
                <a:gd name="connsiteX4" fmla="*/ 606287 w 1478018"/>
                <a:gd name="connsiteY4" fmla="*/ 17517 h 1170456"/>
                <a:gd name="connsiteX5" fmla="*/ 308113 w 1478018"/>
                <a:gd name="connsiteY5" fmla="*/ 335569 h 1170456"/>
                <a:gd name="connsiteX6" fmla="*/ 327991 w 1478018"/>
                <a:gd name="connsiteY6" fmla="*/ 613865 h 1170456"/>
                <a:gd name="connsiteX0" fmla="*/ 0 w 1478018"/>
                <a:gd name="connsiteY0" fmla="*/ 1170456 h 1170456"/>
                <a:gd name="connsiteX1" fmla="*/ 1013791 w 1478018"/>
                <a:gd name="connsiteY1" fmla="*/ 1170456 h 1170456"/>
                <a:gd name="connsiteX2" fmla="*/ 1470991 w 1478018"/>
                <a:gd name="connsiteY2" fmla="*/ 653622 h 1170456"/>
                <a:gd name="connsiteX3" fmla="*/ 1242391 w 1478018"/>
                <a:gd name="connsiteY3" fmla="*/ 106969 h 1170456"/>
                <a:gd name="connsiteX4" fmla="*/ 606287 w 1478018"/>
                <a:gd name="connsiteY4" fmla="*/ 17517 h 1170456"/>
                <a:gd name="connsiteX5" fmla="*/ 308113 w 1478018"/>
                <a:gd name="connsiteY5" fmla="*/ 335569 h 1170456"/>
                <a:gd name="connsiteX6" fmla="*/ 327991 w 1478018"/>
                <a:gd name="connsiteY6" fmla="*/ 613865 h 1170456"/>
                <a:gd name="connsiteX0" fmla="*/ 0 w 1478018"/>
                <a:gd name="connsiteY0" fmla="*/ 1170456 h 1170456"/>
                <a:gd name="connsiteX1" fmla="*/ 1013791 w 1478018"/>
                <a:gd name="connsiteY1" fmla="*/ 1170456 h 1170456"/>
                <a:gd name="connsiteX2" fmla="*/ 1470991 w 1478018"/>
                <a:gd name="connsiteY2" fmla="*/ 653622 h 1170456"/>
                <a:gd name="connsiteX3" fmla="*/ 1242391 w 1478018"/>
                <a:gd name="connsiteY3" fmla="*/ 106969 h 1170456"/>
                <a:gd name="connsiteX4" fmla="*/ 606287 w 1478018"/>
                <a:gd name="connsiteY4" fmla="*/ 17517 h 1170456"/>
                <a:gd name="connsiteX5" fmla="*/ 308113 w 1478018"/>
                <a:gd name="connsiteY5" fmla="*/ 335569 h 1170456"/>
                <a:gd name="connsiteX0" fmla="*/ 0 w 1478018"/>
                <a:gd name="connsiteY0" fmla="*/ 1170456 h 1170456"/>
                <a:gd name="connsiteX1" fmla="*/ 1013791 w 1478018"/>
                <a:gd name="connsiteY1" fmla="*/ 1170456 h 1170456"/>
                <a:gd name="connsiteX2" fmla="*/ 1470991 w 1478018"/>
                <a:gd name="connsiteY2" fmla="*/ 653622 h 1170456"/>
                <a:gd name="connsiteX3" fmla="*/ 1242391 w 1478018"/>
                <a:gd name="connsiteY3" fmla="*/ 106969 h 1170456"/>
                <a:gd name="connsiteX4" fmla="*/ 606287 w 1478018"/>
                <a:gd name="connsiteY4" fmla="*/ 17517 h 1170456"/>
                <a:gd name="connsiteX5" fmla="*/ 318052 w 1478018"/>
                <a:gd name="connsiteY5" fmla="*/ 504534 h 1170456"/>
                <a:gd name="connsiteX0" fmla="*/ 0 w 1478018"/>
                <a:gd name="connsiteY0" fmla="*/ 1170456 h 1170456"/>
                <a:gd name="connsiteX1" fmla="*/ 1013791 w 1478018"/>
                <a:gd name="connsiteY1" fmla="*/ 1170456 h 1170456"/>
                <a:gd name="connsiteX2" fmla="*/ 1470991 w 1478018"/>
                <a:gd name="connsiteY2" fmla="*/ 653622 h 1170456"/>
                <a:gd name="connsiteX3" fmla="*/ 1242391 w 1478018"/>
                <a:gd name="connsiteY3" fmla="*/ 106969 h 1170456"/>
                <a:gd name="connsiteX4" fmla="*/ 606287 w 1478018"/>
                <a:gd name="connsiteY4" fmla="*/ 17517 h 1170456"/>
                <a:gd name="connsiteX5" fmla="*/ 318052 w 1478018"/>
                <a:gd name="connsiteY5" fmla="*/ 504534 h 1170456"/>
                <a:gd name="connsiteX0" fmla="*/ 0 w 1478018"/>
                <a:gd name="connsiteY0" fmla="*/ 1149129 h 1149129"/>
                <a:gd name="connsiteX1" fmla="*/ 1013791 w 1478018"/>
                <a:gd name="connsiteY1" fmla="*/ 1149129 h 1149129"/>
                <a:gd name="connsiteX2" fmla="*/ 1470991 w 1478018"/>
                <a:gd name="connsiteY2" fmla="*/ 632295 h 1149129"/>
                <a:gd name="connsiteX3" fmla="*/ 1242391 w 1478018"/>
                <a:gd name="connsiteY3" fmla="*/ 85642 h 1149129"/>
                <a:gd name="connsiteX4" fmla="*/ 715617 w 1478018"/>
                <a:gd name="connsiteY4" fmla="*/ 26008 h 1149129"/>
                <a:gd name="connsiteX5" fmla="*/ 318052 w 1478018"/>
                <a:gd name="connsiteY5" fmla="*/ 483207 h 1149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78018" h="1149129">
                  <a:moveTo>
                    <a:pt x="0" y="1149129"/>
                  </a:moveTo>
                  <a:lnTo>
                    <a:pt x="1013791" y="1149129"/>
                  </a:lnTo>
                  <a:cubicBezTo>
                    <a:pt x="1258956" y="1062990"/>
                    <a:pt x="1432891" y="809543"/>
                    <a:pt x="1470991" y="632295"/>
                  </a:cubicBezTo>
                  <a:cubicBezTo>
                    <a:pt x="1509091" y="455047"/>
                    <a:pt x="1386508" y="191659"/>
                    <a:pt x="1242391" y="85642"/>
                  </a:cubicBezTo>
                  <a:cubicBezTo>
                    <a:pt x="1098274" y="-20375"/>
                    <a:pt x="871330" y="-12092"/>
                    <a:pt x="715617" y="26008"/>
                  </a:cubicBezTo>
                  <a:cubicBezTo>
                    <a:pt x="559904" y="64108"/>
                    <a:pt x="384313" y="204911"/>
                    <a:pt x="318052" y="483207"/>
                  </a:cubicBezTo>
                </a:path>
              </a:pathLst>
            </a:custGeom>
            <a:noFill/>
            <a:ln w="28575" cap="flat" cmpd="sng" algn="ctr">
              <a:solidFill>
                <a:srgbClr val="FFFFFF"/>
              </a:solidFill>
              <a:prstDash val="solid"/>
              <a:headEnd type="none" w="med" len="med"/>
              <a:tailEnd type="triangle" w="med" len="med"/>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45" name="Arc 44">
              <a:extLst>
                <a:ext uri="{FF2B5EF4-FFF2-40B4-BE49-F238E27FC236}">
                  <a16:creationId xmlns:a16="http://schemas.microsoft.com/office/drawing/2014/main" id="{0DA43E21-88BE-C358-17B8-8FFC9A1225AE}"/>
                </a:ext>
              </a:extLst>
            </p:cNvPr>
            <p:cNvSpPr/>
            <p:nvPr/>
          </p:nvSpPr>
          <p:spPr>
            <a:xfrm rot="14400000">
              <a:off x="8355456" y="3313030"/>
              <a:ext cx="217801" cy="285830"/>
            </a:xfrm>
            <a:prstGeom prst="arc">
              <a:avLst>
                <a:gd name="adj1" fmla="val 16200000"/>
                <a:gd name="adj2" fmla="val 6889205"/>
              </a:avLst>
            </a:prstGeom>
            <a:noFill/>
            <a:ln w="28575" cap="flat" cmpd="sng" algn="ctr">
              <a:solidFill>
                <a:srgbClr val="FFFFFF"/>
              </a:solidFill>
              <a:prstDash val="solid"/>
              <a:headEnd type="none" w="med" len="med"/>
              <a:tailEnd type="triangle" w="med" len="med"/>
            </a:ln>
            <a:effectLst/>
          </p:spPr>
          <p:txBody>
            <a:bodyPr rtlCol="0" anchor="ctr"/>
            <a:lstStyle/>
            <a:p>
              <a:pPr marL="0" marR="0" lvl="0" indent="0" algn="ctr"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cxnSp>
          <p:nvCxnSpPr>
            <p:cNvPr id="46" name="Straight Arrow Connector 45">
              <a:extLst>
                <a:ext uri="{FF2B5EF4-FFF2-40B4-BE49-F238E27FC236}">
                  <a16:creationId xmlns:a16="http://schemas.microsoft.com/office/drawing/2014/main" id="{2CCCF314-22AD-AD4A-1F7C-37D6F7D41924}"/>
                </a:ext>
              </a:extLst>
            </p:cNvPr>
            <p:cNvCxnSpPr/>
            <p:nvPr/>
          </p:nvCxnSpPr>
          <p:spPr>
            <a:xfrm>
              <a:off x="8671262" y="3888933"/>
              <a:ext cx="198901" cy="0"/>
            </a:xfrm>
            <a:prstGeom prst="straightConnector1">
              <a:avLst/>
            </a:prstGeom>
            <a:noFill/>
            <a:ln w="28575" cap="flat" cmpd="sng" algn="ctr">
              <a:solidFill>
                <a:srgbClr val="FFFFFF"/>
              </a:solidFill>
              <a:prstDash val="solid"/>
              <a:headEnd type="none" w="med" len="med"/>
              <a:tailEnd type="triangle" w="med" len="med"/>
            </a:ln>
            <a:effectLst/>
          </p:spPr>
        </p:cxnSp>
      </p:grpSp>
      <p:grpSp>
        <p:nvGrpSpPr>
          <p:cNvPr id="47" name="Group 46">
            <a:extLst>
              <a:ext uri="{FF2B5EF4-FFF2-40B4-BE49-F238E27FC236}">
                <a16:creationId xmlns:a16="http://schemas.microsoft.com/office/drawing/2014/main" id="{B2E57113-88A8-AC65-8FBE-B54AB6C283DB}"/>
              </a:ext>
            </a:extLst>
          </p:cNvPr>
          <p:cNvGrpSpPr/>
          <p:nvPr/>
        </p:nvGrpSpPr>
        <p:grpSpPr>
          <a:xfrm>
            <a:off x="5785671" y="4687815"/>
            <a:ext cx="631823" cy="822448"/>
            <a:chOff x="5831706" y="3230896"/>
            <a:chExt cx="427037" cy="563563"/>
          </a:xfrm>
        </p:grpSpPr>
        <p:sp>
          <p:nvSpPr>
            <p:cNvPr id="48" name="Freeform 36">
              <a:extLst>
                <a:ext uri="{FF2B5EF4-FFF2-40B4-BE49-F238E27FC236}">
                  <a16:creationId xmlns:a16="http://schemas.microsoft.com/office/drawing/2014/main" id="{3C600637-4643-E53F-667C-EABF9E7CEF8A}"/>
                </a:ext>
              </a:extLst>
            </p:cNvPr>
            <p:cNvSpPr>
              <a:spLocks/>
            </p:cNvSpPr>
            <p:nvPr/>
          </p:nvSpPr>
          <p:spPr bwMode="auto">
            <a:xfrm>
              <a:off x="5861868" y="3369009"/>
              <a:ext cx="396875" cy="425450"/>
            </a:xfrm>
            <a:custGeom>
              <a:avLst/>
              <a:gdLst>
                <a:gd name="T0" fmla="*/ 96 w 106"/>
                <a:gd name="T1" fmla="*/ 56 h 113"/>
                <a:gd name="T2" fmla="*/ 87 w 106"/>
                <a:gd name="T3" fmla="*/ 66 h 113"/>
                <a:gd name="T4" fmla="*/ 87 w 106"/>
                <a:gd name="T5" fmla="*/ 57 h 113"/>
                <a:gd name="T6" fmla="*/ 77 w 106"/>
                <a:gd name="T7" fmla="*/ 47 h 113"/>
                <a:gd name="T8" fmla="*/ 68 w 106"/>
                <a:gd name="T9" fmla="*/ 53 h 113"/>
                <a:gd name="T10" fmla="*/ 68 w 106"/>
                <a:gd name="T11" fmla="*/ 48 h 113"/>
                <a:gd name="T12" fmla="*/ 58 w 106"/>
                <a:gd name="T13" fmla="*/ 38 h 113"/>
                <a:gd name="T14" fmla="*/ 50 w 106"/>
                <a:gd name="T15" fmla="*/ 44 h 113"/>
                <a:gd name="T16" fmla="*/ 50 w 106"/>
                <a:gd name="T17" fmla="*/ 10 h 113"/>
                <a:gd name="T18" fmla="*/ 40 w 106"/>
                <a:gd name="T19" fmla="*/ 0 h 113"/>
                <a:gd name="T20" fmla="*/ 31 w 106"/>
                <a:gd name="T21" fmla="*/ 10 h 113"/>
                <a:gd name="T22" fmla="*/ 31 w 106"/>
                <a:gd name="T23" fmla="*/ 90 h 113"/>
                <a:gd name="T24" fmla="*/ 18 w 106"/>
                <a:gd name="T25" fmla="*/ 74 h 113"/>
                <a:gd name="T26" fmla="*/ 5 w 106"/>
                <a:gd name="T27" fmla="*/ 72 h 113"/>
                <a:gd name="T28" fmla="*/ 3 w 106"/>
                <a:gd name="T29" fmla="*/ 85 h 113"/>
                <a:gd name="T30" fmla="*/ 19 w 106"/>
                <a:gd name="T31" fmla="*/ 105 h 113"/>
                <a:gd name="T32" fmla="*/ 35 w 106"/>
                <a:gd name="T33" fmla="*/ 113 h 113"/>
                <a:gd name="T34" fmla="*/ 96 w 106"/>
                <a:gd name="T35" fmla="*/ 113 h 113"/>
                <a:gd name="T36" fmla="*/ 106 w 106"/>
                <a:gd name="T37" fmla="*/ 103 h 113"/>
                <a:gd name="T38" fmla="*/ 106 w 106"/>
                <a:gd name="T39" fmla="*/ 66 h 113"/>
                <a:gd name="T40" fmla="*/ 96 w 106"/>
                <a:gd name="T41" fmla="*/ 5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6" h="113">
                  <a:moveTo>
                    <a:pt x="96" y="56"/>
                  </a:moveTo>
                  <a:cubicBezTo>
                    <a:pt x="91" y="56"/>
                    <a:pt x="87" y="61"/>
                    <a:pt x="87" y="66"/>
                  </a:cubicBezTo>
                  <a:cubicBezTo>
                    <a:pt x="87" y="57"/>
                    <a:pt x="87" y="57"/>
                    <a:pt x="87" y="57"/>
                  </a:cubicBezTo>
                  <a:cubicBezTo>
                    <a:pt x="87" y="52"/>
                    <a:pt x="83" y="47"/>
                    <a:pt x="77" y="47"/>
                  </a:cubicBezTo>
                  <a:cubicBezTo>
                    <a:pt x="73" y="47"/>
                    <a:pt x="70" y="50"/>
                    <a:pt x="68" y="53"/>
                  </a:cubicBezTo>
                  <a:cubicBezTo>
                    <a:pt x="68" y="48"/>
                    <a:pt x="68" y="48"/>
                    <a:pt x="68" y="48"/>
                  </a:cubicBezTo>
                  <a:cubicBezTo>
                    <a:pt x="68" y="42"/>
                    <a:pt x="64" y="38"/>
                    <a:pt x="58" y="38"/>
                  </a:cubicBezTo>
                  <a:cubicBezTo>
                    <a:pt x="55" y="38"/>
                    <a:pt x="51" y="40"/>
                    <a:pt x="50" y="44"/>
                  </a:cubicBezTo>
                  <a:cubicBezTo>
                    <a:pt x="50" y="10"/>
                    <a:pt x="50" y="10"/>
                    <a:pt x="50" y="10"/>
                  </a:cubicBezTo>
                  <a:cubicBezTo>
                    <a:pt x="50" y="5"/>
                    <a:pt x="45" y="0"/>
                    <a:pt x="40" y="0"/>
                  </a:cubicBezTo>
                  <a:cubicBezTo>
                    <a:pt x="35" y="0"/>
                    <a:pt x="31" y="5"/>
                    <a:pt x="31" y="10"/>
                  </a:cubicBezTo>
                  <a:cubicBezTo>
                    <a:pt x="31" y="90"/>
                    <a:pt x="31" y="90"/>
                    <a:pt x="31" y="90"/>
                  </a:cubicBezTo>
                  <a:cubicBezTo>
                    <a:pt x="18" y="74"/>
                    <a:pt x="18" y="74"/>
                    <a:pt x="18" y="74"/>
                  </a:cubicBezTo>
                  <a:cubicBezTo>
                    <a:pt x="14" y="70"/>
                    <a:pt x="9" y="69"/>
                    <a:pt x="5" y="72"/>
                  </a:cubicBezTo>
                  <a:cubicBezTo>
                    <a:pt x="1" y="75"/>
                    <a:pt x="0" y="81"/>
                    <a:pt x="3" y="85"/>
                  </a:cubicBezTo>
                  <a:cubicBezTo>
                    <a:pt x="19" y="105"/>
                    <a:pt x="19" y="105"/>
                    <a:pt x="19" y="105"/>
                  </a:cubicBezTo>
                  <a:cubicBezTo>
                    <a:pt x="23" y="109"/>
                    <a:pt x="29" y="113"/>
                    <a:pt x="35" y="113"/>
                  </a:cubicBezTo>
                  <a:cubicBezTo>
                    <a:pt x="96" y="113"/>
                    <a:pt x="96" y="113"/>
                    <a:pt x="96" y="113"/>
                  </a:cubicBezTo>
                  <a:cubicBezTo>
                    <a:pt x="102" y="113"/>
                    <a:pt x="106" y="108"/>
                    <a:pt x="106" y="103"/>
                  </a:cubicBezTo>
                  <a:cubicBezTo>
                    <a:pt x="106" y="66"/>
                    <a:pt x="106" y="66"/>
                    <a:pt x="106" y="66"/>
                  </a:cubicBezTo>
                  <a:cubicBezTo>
                    <a:pt x="106" y="61"/>
                    <a:pt x="102" y="56"/>
                    <a:pt x="96" y="56"/>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49" name="Freeform 37">
              <a:extLst>
                <a:ext uri="{FF2B5EF4-FFF2-40B4-BE49-F238E27FC236}">
                  <a16:creationId xmlns:a16="http://schemas.microsoft.com/office/drawing/2014/main" id="{9068BC20-4885-6FCF-893A-219FC0882826}"/>
                </a:ext>
              </a:extLst>
            </p:cNvPr>
            <p:cNvSpPr>
              <a:spLocks/>
            </p:cNvSpPr>
            <p:nvPr/>
          </p:nvSpPr>
          <p:spPr bwMode="auto">
            <a:xfrm>
              <a:off x="6004743" y="3230896"/>
              <a:ext cx="36513" cy="71438"/>
            </a:xfrm>
            <a:custGeom>
              <a:avLst/>
              <a:gdLst>
                <a:gd name="T0" fmla="*/ 5 w 10"/>
                <a:gd name="T1" fmla="*/ 19 h 19"/>
                <a:gd name="T2" fmla="*/ 10 w 10"/>
                <a:gd name="T3" fmla="*/ 14 h 19"/>
                <a:gd name="T4" fmla="*/ 10 w 10"/>
                <a:gd name="T5" fmla="*/ 5 h 19"/>
                <a:gd name="T6" fmla="*/ 5 w 10"/>
                <a:gd name="T7" fmla="*/ 0 h 19"/>
                <a:gd name="T8" fmla="*/ 0 w 10"/>
                <a:gd name="T9" fmla="*/ 5 h 19"/>
                <a:gd name="T10" fmla="*/ 0 w 10"/>
                <a:gd name="T11" fmla="*/ 14 h 19"/>
                <a:gd name="T12" fmla="*/ 5 w 10"/>
                <a:gd name="T13" fmla="*/ 19 h 19"/>
              </a:gdLst>
              <a:ahLst/>
              <a:cxnLst>
                <a:cxn ang="0">
                  <a:pos x="T0" y="T1"/>
                </a:cxn>
                <a:cxn ang="0">
                  <a:pos x="T2" y="T3"/>
                </a:cxn>
                <a:cxn ang="0">
                  <a:pos x="T4" y="T5"/>
                </a:cxn>
                <a:cxn ang="0">
                  <a:pos x="T6" y="T7"/>
                </a:cxn>
                <a:cxn ang="0">
                  <a:pos x="T8" y="T9"/>
                </a:cxn>
                <a:cxn ang="0">
                  <a:pos x="T10" y="T11"/>
                </a:cxn>
                <a:cxn ang="0">
                  <a:pos x="T12" y="T13"/>
                </a:cxn>
              </a:cxnLst>
              <a:rect l="0" t="0" r="r" b="b"/>
              <a:pathLst>
                <a:path w="10" h="19">
                  <a:moveTo>
                    <a:pt x="5" y="19"/>
                  </a:moveTo>
                  <a:cubicBezTo>
                    <a:pt x="8" y="19"/>
                    <a:pt x="10" y="17"/>
                    <a:pt x="10" y="14"/>
                  </a:cubicBezTo>
                  <a:cubicBezTo>
                    <a:pt x="10" y="5"/>
                    <a:pt x="10" y="5"/>
                    <a:pt x="10" y="5"/>
                  </a:cubicBezTo>
                  <a:cubicBezTo>
                    <a:pt x="10" y="2"/>
                    <a:pt x="8" y="0"/>
                    <a:pt x="5" y="0"/>
                  </a:cubicBezTo>
                  <a:cubicBezTo>
                    <a:pt x="3" y="0"/>
                    <a:pt x="0" y="2"/>
                    <a:pt x="0" y="5"/>
                  </a:cubicBezTo>
                  <a:cubicBezTo>
                    <a:pt x="0" y="14"/>
                    <a:pt x="0" y="14"/>
                    <a:pt x="0" y="14"/>
                  </a:cubicBezTo>
                  <a:cubicBezTo>
                    <a:pt x="0" y="17"/>
                    <a:pt x="3" y="19"/>
                    <a:pt x="5" y="19"/>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50" name="Freeform 38">
              <a:extLst>
                <a:ext uri="{FF2B5EF4-FFF2-40B4-BE49-F238E27FC236}">
                  <a16:creationId xmlns:a16="http://schemas.microsoft.com/office/drawing/2014/main" id="{2F8CA349-C1F6-6E61-645C-EC51ABB4E6A8}"/>
                </a:ext>
              </a:extLst>
            </p:cNvPr>
            <p:cNvSpPr>
              <a:spLocks/>
            </p:cNvSpPr>
            <p:nvPr/>
          </p:nvSpPr>
          <p:spPr bwMode="auto">
            <a:xfrm>
              <a:off x="5831706" y="3369009"/>
              <a:ext cx="104775" cy="38100"/>
            </a:xfrm>
            <a:custGeom>
              <a:avLst/>
              <a:gdLst>
                <a:gd name="T0" fmla="*/ 28 w 28"/>
                <a:gd name="T1" fmla="*/ 5 h 10"/>
                <a:gd name="T2" fmla="*/ 23 w 28"/>
                <a:gd name="T3" fmla="*/ 0 h 10"/>
                <a:gd name="T4" fmla="*/ 4 w 28"/>
                <a:gd name="T5" fmla="*/ 0 h 10"/>
                <a:gd name="T6" fmla="*/ 0 w 28"/>
                <a:gd name="T7" fmla="*/ 5 h 10"/>
                <a:gd name="T8" fmla="*/ 4 w 28"/>
                <a:gd name="T9" fmla="*/ 10 h 10"/>
                <a:gd name="T10" fmla="*/ 23 w 28"/>
                <a:gd name="T11" fmla="*/ 10 h 10"/>
                <a:gd name="T12" fmla="*/ 28 w 28"/>
                <a:gd name="T13" fmla="*/ 5 h 10"/>
              </a:gdLst>
              <a:ahLst/>
              <a:cxnLst>
                <a:cxn ang="0">
                  <a:pos x="T0" y="T1"/>
                </a:cxn>
                <a:cxn ang="0">
                  <a:pos x="T2" y="T3"/>
                </a:cxn>
                <a:cxn ang="0">
                  <a:pos x="T4" y="T5"/>
                </a:cxn>
                <a:cxn ang="0">
                  <a:pos x="T6" y="T7"/>
                </a:cxn>
                <a:cxn ang="0">
                  <a:pos x="T8" y="T9"/>
                </a:cxn>
                <a:cxn ang="0">
                  <a:pos x="T10" y="T11"/>
                </a:cxn>
                <a:cxn ang="0">
                  <a:pos x="T12" y="T13"/>
                </a:cxn>
              </a:cxnLst>
              <a:rect l="0" t="0" r="r" b="b"/>
              <a:pathLst>
                <a:path w="28" h="10">
                  <a:moveTo>
                    <a:pt x="28" y="5"/>
                  </a:moveTo>
                  <a:cubicBezTo>
                    <a:pt x="28" y="2"/>
                    <a:pt x="26" y="0"/>
                    <a:pt x="23" y="0"/>
                  </a:cubicBezTo>
                  <a:cubicBezTo>
                    <a:pt x="4" y="0"/>
                    <a:pt x="4" y="0"/>
                    <a:pt x="4" y="0"/>
                  </a:cubicBezTo>
                  <a:cubicBezTo>
                    <a:pt x="2" y="0"/>
                    <a:pt x="0" y="2"/>
                    <a:pt x="0" y="5"/>
                  </a:cubicBezTo>
                  <a:cubicBezTo>
                    <a:pt x="0" y="8"/>
                    <a:pt x="2" y="10"/>
                    <a:pt x="4" y="10"/>
                  </a:cubicBezTo>
                  <a:cubicBezTo>
                    <a:pt x="23" y="10"/>
                    <a:pt x="23" y="10"/>
                    <a:pt x="23" y="10"/>
                  </a:cubicBezTo>
                  <a:cubicBezTo>
                    <a:pt x="26" y="10"/>
                    <a:pt x="28" y="8"/>
                    <a:pt x="28" y="5"/>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51" name="Freeform 39">
              <a:extLst>
                <a:ext uri="{FF2B5EF4-FFF2-40B4-BE49-F238E27FC236}">
                  <a16:creationId xmlns:a16="http://schemas.microsoft.com/office/drawing/2014/main" id="{514956D8-A6B9-BA53-0B1B-E890F35ED6AE}"/>
                </a:ext>
              </a:extLst>
            </p:cNvPr>
            <p:cNvSpPr>
              <a:spLocks/>
            </p:cNvSpPr>
            <p:nvPr/>
          </p:nvSpPr>
          <p:spPr bwMode="auto">
            <a:xfrm>
              <a:off x="6109518" y="3369009"/>
              <a:ext cx="107950" cy="38100"/>
            </a:xfrm>
            <a:custGeom>
              <a:avLst/>
              <a:gdLst>
                <a:gd name="T0" fmla="*/ 0 w 29"/>
                <a:gd name="T1" fmla="*/ 5 h 10"/>
                <a:gd name="T2" fmla="*/ 5 w 29"/>
                <a:gd name="T3" fmla="*/ 10 h 10"/>
                <a:gd name="T4" fmla="*/ 24 w 29"/>
                <a:gd name="T5" fmla="*/ 10 h 10"/>
                <a:gd name="T6" fmla="*/ 29 w 29"/>
                <a:gd name="T7" fmla="*/ 5 h 10"/>
                <a:gd name="T8" fmla="*/ 24 w 29"/>
                <a:gd name="T9" fmla="*/ 0 h 10"/>
                <a:gd name="T10" fmla="*/ 5 w 29"/>
                <a:gd name="T11" fmla="*/ 0 h 10"/>
                <a:gd name="T12" fmla="*/ 0 w 29"/>
                <a:gd name="T13" fmla="*/ 5 h 10"/>
              </a:gdLst>
              <a:ahLst/>
              <a:cxnLst>
                <a:cxn ang="0">
                  <a:pos x="T0" y="T1"/>
                </a:cxn>
                <a:cxn ang="0">
                  <a:pos x="T2" y="T3"/>
                </a:cxn>
                <a:cxn ang="0">
                  <a:pos x="T4" y="T5"/>
                </a:cxn>
                <a:cxn ang="0">
                  <a:pos x="T6" y="T7"/>
                </a:cxn>
                <a:cxn ang="0">
                  <a:pos x="T8" y="T9"/>
                </a:cxn>
                <a:cxn ang="0">
                  <a:pos x="T10" y="T11"/>
                </a:cxn>
                <a:cxn ang="0">
                  <a:pos x="T12" y="T13"/>
                </a:cxn>
              </a:cxnLst>
              <a:rect l="0" t="0" r="r" b="b"/>
              <a:pathLst>
                <a:path w="29" h="10">
                  <a:moveTo>
                    <a:pt x="0" y="5"/>
                  </a:moveTo>
                  <a:cubicBezTo>
                    <a:pt x="0" y="8"/>
                    <a:pt x="3" y="10"/>
                    <a:pt x="5" y="10"/>
                  </a:cubicBezTo>
                  <a:cubicBezTo>
                    <a:pt x="24" y="10"/>
                    <a:pt x="24" y="10"/>
                    <a:pt x="24" y="10"/>
                  </a:cubicBezTo>
                  <a:cubicBezTo>
                    <a:pt x="26" y="10"/>
                    <a:pt x="29" y="8"/>
                    <a:pt x="29" y="5"/>
                  </a:cubicBezTo>
                  <a:cubicBezTo>
                    <a:pt x="29" y="2"/>
                    <a:pt x="26" y="0"/>
                    <a:pt x="24" y="0"/>
                  </a:cubicBezTo>
                  <a:cubicBezTo>
                    <a:pt x="5" y="0"/>
                    <a:pt x="5" y="0"/>
                    <a:pt x="5" y="0"/>
                  </a:cubicBezTo>
                  <a:cubicBezTo>
                    <a:pt x="3" y="0"/>
                    <a:pt x="0" y="2"/>
                    <a:pt x="0" y="5"/>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52" name="Freeform 40">
              <a:extLst>
                <a:ext uri="{FF2B5EF4-FFF2-40B4-BE49-F238E27FC236}">
                  <a16:creationId xmlns:a16="http://schemas.microsoft.com/office/drawing/2014/main" id="{395B6EE0-9CAE-2597-ADEE-EC5020561A2C}"/>
                </a:ext>
              </a:extLst>
            </p:cNvPr>
            <p:cNvSpPr>
              <a:spLocks/>
            </p:cNvSpPr>
            <p:nvPr/>
          </p:nvSpPr>
          <p:spPr bwMode="auto">
            <a:xfrm>
              <a:off x="6079356" y="3249946"/>
              <a:ext cx="96838" cy="82550"/>
            </a:xfrm>
            <a:custGeom>
              <a:avLst/>
              <a:gdLst>
                <a:gd name="T0" fmla="*/ 8 w 26"/>
                <a:gd name="T1" fmla="*/ 20 h 22"/>
                <a:gd name="T2" fmla="*/ 23 w 26"/>
                <a:gd name="T3" fmla="*/ 9 h 22"/>
                <a:gd name="T4" fmla="*/ 24 w 26"/>
                <a:gd name="T5" fmla="*/ 2 h 22"/>
                <a:gd name="T6" fmla="*/ 18 w 26"/>
                <a:gd name="T7" fmla="*/ 1 h 22"/>
                <a:gd name="T8" fmla="*/ 3 w 26"/>
                <a:gd name="T9" fmla="*/ 13 h 22"/>
                <a:gd name="T10" fmla="*/ 2 w 26"/>
                <a:gd name="T11" fmla="*/ 19 h 22"/>
                <a:gd name="T12" fmla="*/ 8 w 26"/>
                <a:gd name="T13" fmla="*/ 20 h 22"/>
              </a:gdLst>
              <a:ahLst/>
              <a:cxnLst>
                <a:cxn ang="0">
                  <a:pos x="T0" y="T1"/>
                </a:cxn>
                <a:cxn ang="0">
                  <a:pos x="T2" y="T3"/>
                </a:cxn>
                <a:cxn ang="0">
                  <a:pos x="T4" y="T5"/>
                </a:cxn>
                <a:cxn ang="0">
                  <a:pos x="T6" y="T7"/>
                </a:cxn>
                <a:cxn ang="0">
                  <a:pos x="T8" y="T9"/>
                </a:cxn>
                <a:cxn ang="0">
                  <a:pos x="T10" y="T11"/>
                </a:cxn>
                <a:cxn ang="0">
                  <a:pos x="T12" y="T13"/>
                </a:cxn>
              </a:cxnLst>
              <a:rect l="0" t="0" r="r" b="b"/>
              <a:pathLst>
                <a:path w="26" h="22">
                  <a:moveTo>
                    <a:pt x="8" y="20"/>
                  </a:moveTo>
                  <a:cubicBezTo>
                    <a:pt x="23" y="9"/>
                    <a:pt x="23" y="9"/>
                    <a:pt x="23" y="9"/>
                  </a:cubicBezTo>
                  <a:cubicBezTo>
                    <a:pt x="25" y="7"/>
                    <a:pt x="26" y="4"/>
                    <a:pt x="24" y="2"/>
                  </a:cubicBezTo>
                  <a:cubicBezTo>
                    <a:pt x="23" y="0"/>
                    <a:pt x="20" y="0"/>
                    <a:pt x="18" y="1"/>
                  </a:cubicBezTo>
                  <a:cubicBezTo>
                    <a:pt x="3" y="13"/>
                    <a:pt x="3" y="13"/>
                    <a:pt x="3" y="13"/>
                  </a:cubicBezTo>
                  <a:cubicBezTo>
                    <a:pt x="1" y="14"/>
                    <a:pt x="0" y="17"/>
                    <a:pt x="2" y="19"/>
                  </a:cubicBezTo>
                  <a:cubicBezTo>
                    <a:pt x="3" y="21"/>
                    <a:pt x="6" y="22"/>
                    <a:pt x="8" y="20"/>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53" name="Freeform 41">
              <a:extLst>
                <a:ext uri="{FF2B5EF4-FFF2-40B4-BE49-F238E27FC236}">
                  <a16:creationId xmlns:a16="http://schemas.microsoft.com/office/drawing/2014/main" id="{7A2D3FB8-3BDC-009C-B331-4CCAAD5060EA}"/>
                </a:ext>
              </a:extLst>
            </p:cNvPr>
            <p:cNvSpPr>
              <a:spLocks/>
            </p:cNvSpPr>
            <p:nvPr/>
          </p:nvSpPr>
          <p:spPr bwMode="auto">
            <a:xfrm>
              <a:off x="5868218" y="3249946"/>
              <a:ext cx="98425" cy="82550"/>
            </a:xfrm>
            <a:custGeom>
              <a:avLst/>
              <a:gdLst>
                <a:gd name="T0" fmla="*/ 18 w 26"/>
                <a:gd name="T1" fmla="*/ 20 h 22"/>
                <a:gd name="T2" fmla="*/ 24 w 26"/>
                <a:gd name="T3" fmla="*/ 19 h 22"/>
                <a:gd name="T4" fmla="*/ 23 w 26"/>
                <a:gd name="T5" fmla="*/ 13 h 22"/>
                <a:gd name="T6" fmla="*/ 8 w 26"/>
                <a:gd name="T7" fmla="*/ 1 h 22"/>
                <a:gd name="T8" fmla="*/ 2 w 26"/>
                <a:gd name="T9" fmla="*/ 2 h 22"/>
                <a:gd name="T10" fmla="*/ 3 w 26"/>
                <a:gd name="T11" fmla="*/ 9 h 22"/>
                <a:gd name="T12" fmla="*/ 18 w 26"/>
                <a:gd name="T13" fmla="*/ 20 h 22"/>
              </a:gdLst>
              <a:ahLst/>
              <a:cxnLst>
                <a:cxn ang="0">
                  <a:pos x="T0" y="T1"/>
                </a:cxn>
                <a:cxn ang="0">
                  <a:pos x="T2" y="T3"/>
                </a:cxn>
                <a:cxn ang="0">
                  <a:pos x="T4" y="T5"/>
                </a:cxn>
                <a:cxn ang="0">
                  <a:pos x="T6" y="T7"/>
                </a:cxn>
                <a:cxn ang="0">
                  <a:pos x="T8" y="T9"/>
                </a:cxn>
                <a:cxn ang="0">
                  <a:pos x="T10" y="T11"/>
                </a:cxn>
                <a:cxn ang="0">
                  <a:pos x="T12" y="T13"/>
                </a:cxn>
              </a:cxnLst>
              <a:rect l="0" t="0" r="r" b="b"/>
              <a:pathLst>
                <a:path w="26" h="22">
                  <a:moveTo>
                    <a:pt x="18" y="20"/>
                  </a:moveTo>
                  <a:cubicBezTo>
                    <a:pt x="20" y="22"/>
                    <a:pt x="23" y="21"/>
                    <a:pt x="24" y="19"/>
                  </a:cubicBezTo>
                  <a:cubicBezTo>
                    <a:pt x="26" y="17"/>
                    <a:pt x="25" y="14"/>
                    <a:pt x="23" y="13"/>
                  </a:cubicBezTo>
                  <a:cubicBezTo>
                    <a:pt x="8" y="1"/>
                    <a:pt x="8" y="1"/>
                    <a:pt x="8" y="1"/>
                  </a:cubicBezTo>
                  <a:cubicBezTo>
                    <a:pt x="6" y="0"/>
                    <a:pt x="3" y="0"/>
                    <a:pt x="2" y="2"/>
                  </a:cubicBezTo>
                  <a:cubicBezTo>
                    <a:pt x="0" y="4"/>
                    <a:pt x="1" y="7"/>
                    <a:pt x="3" y="9"/>
                  </a:cubicBezTo>
                  <a:lnTo>
                    <a:pt x="18" y="20"/>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spTree>
    <p:extLst>
      <p:ext uri="{BB962C8B-B14F-4D97-AF65-F5344CB8AC3E}">
        <p14:creationId xmlns:p14="http://schemas.microsoft.com/office/powerpoint/2010/main" val="195958334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79A521-0315-D10E-30EA-8C2915CFEE67}"/>
              </a:ext>
            </a:extLst>
          </p:cNvPr>
          <p:cNvSpPr txBox="1"/>
          <p:nvPr/>
        </p:nvSpPr>
        <p:spPr>
          <a:xfrm>
            <a:off x="347951" y="428726"/>
            <a:ext cx="9933168" cy="630942"/>
          </a:xfrm>
          <a:prstGeom prst="rect">
            <a:avLst/>
          </a:prstGeom>
          <a:noFill/>
        </p:spPr>
        <p:txBody>
          <a:bodyPr wrap="square" rtlCol="0">
            <a:spAutoFit/>
          </a:bodyPr>
          <a:lstStyle/>
          <a:p>
            <a:pPr defTabSz="914309" fontAlgn="auto">
              <a:spcBef>
                <a:spcPts val="0"/>
              </a:spcBef>
              <a:spcAft>
                <a:spcPts val="0"/>
              </a:spcAft>
              <a:defRPr/>
            </a:pPr>
            <a:r>
              <a:rPr lang="es-CL" sz="3500" spc="-30" dirty="0">
                <a:solidFill>
                  <a:prstClr val="white"/>
                </a:solidFill>
                <a:latin typeface="Arial"/>
              </a:rPr>
              <a:t>El Negocio de Ciberseguridad en Colombia</a:t>
            </a:r>
            <a:endParaRPr lang="en-US" sz="3500" spc="-30" dirty="0">
              <a:solidFill>
                <a:prstClr val="white"/>
              </a:solidFill>
              <a:latin typeface="Arial"/>
            </a:endParaRPr>
          </a:p>
        </p:txBody>
      </p:sp>
      <p:sp>
        <p:nvSpPr>
          <p:cNvPr id="3" name="TextBox 2">
            <a:extLst>
              <a:ext uri="{FF2B5EF4-FFF2-40B4-BE49-F238E27FC236}">
                <a16:creationId xmlns:a16="http://schemas.microsoft.com/office/drawing/2014/main" id="{1D88BA95-2A89-8305-3613-9B9C1FC2F80A}"/>
              </a:ext>
            </a:extLst>
          </p:cNvPr>
          <p:cNvSpPr txBox="1"/>
          <p:nvPr/>
        </p:nvSpPr>
        <p:spPr>
          <a:xfrm>
            <a:off x="439558" y="1398309"/>
            <a:ext cx="11377973" cy="3477875"/>
          </a:xfrm>
          <a:prstGeom prst="rect">
            <a:avLst/>
          </a:prstGeom>
          <a:noFill/>
        </p:spPr>
        <p:txBody>
          <a:bodyPr wrap="square" rtlCol="0">
            <a:spAutoFit/>
          </a:bodyPr>
          <a:lstStyle/>
          <a:p>
            <a:pPr defTabSz="914309" fontAlgn="auto">
              <a:spcBef>
                <a:spcPts val="0"/>
              </a:spcBef>
              <a:spcAft>
                <a:spcPts val="0"/>
              </a:spcAft>
            </a:pPr>
            <a:r>
              <a:rPr lang="es-ES" sz="2000" spc="-50" dirty="0">
                <a:solidFill>
                  <a:prstClr val="white"/>
                </a:solidFill>
                <a:latin typeface="Arial"/>
              </a:rPr>
              <a:t>El IT-Trail Services se destaca como una empresa de consultoría en ciberseguridad especializada en servicios tecnológicos para productos de Microsoft </a:t>
            </a:r>
          </a:p>
          <a:p>
            <a:pPr defTabSz="914309" fontAlgn="auto">
              <a:spcBef>
                <a:spcPts val="0"/>
              </a:spcBef>
              <a:spcAft>
                <a:spcPts val="0"/>
              </a:spcAft>
            </a:pPr>
            <a:endParaRPr lang="es-ES" sz="2000" spc="-50" dirty="0">
              <a:solidFill>
                <a:prstClr val="white"/>
              </a:solidFill>
              <a:latin typeface="Arial"/>
            </a:endParaRPr>
          </a:p>
          <a:p>
            <a:pPr defTabSz="914309" fontAlgn="auto">
              <a:spcBef>
                <a:spcPts val="0"/>
              </a:spcBef>
              <a:spcAft>
                <a:spcPts val="0"/>
              </a:spcAft>
            </a:pPr>
            <a:endParaRPr lang="es-ES" sz="2000" spc="-50" dirty="0">
              <a:solidFill>
                <a:prstClr val="white"/>
              </a:solidFill>
              <a:latin typeface="Arial"/>
            </a:endParaRPr>
          </a:p>
          <a:p>
            <a:pPr defTabSz="914309" fontAlgn="auto">
              <a:spcBef>
                <a:spcPts val="0"/>
              </a:spcBef>
              <a:spcAft>
                <a:spcPts val="0"/>
              </a:spcAft>
            </a:pPr>
            <a:endParaRPr lang="es-ES" sz="2000" spc="-50" dirty="0">
              <a:solidFill>
                <a:prstClr val="white"/>
              </a:solidFill>
              <a:latin typeface="Arial"/>
            </a:endParaRPr>
          </a:p>
          <a:p>
            <a:pPr defTabSz="914309" fontAlgn="auto">
              <a:spcBef>
                <a:spcPts val="0"/>
              </a:spcBef>
              <a:spcAft>
                <a:spcPts val="0"/>
              </a:spcAft>
            </a:pPr>
            <a:endParaRPr lang="es-ES" sz="2000" spc="-50" dirty="0">
              <a:solidFill>
                <a:prstClr val="white"/>
              </a:solidFill>
              <a:latin typeface="Arial"/>
            </a:endParaRPr>
          </a:p>
          <a:p>
            <a:pPr defTabSz="914309" fontAlgn="auto">
              <a:spcBef>
                <a:spcPts val="0"/>
              </a:spcBef>
              <a:spcAft>
                <a:spcPts val="0"/>
              </a:spcAft>
            </a:pPr>
            <a:endParaRPr lang="es-ES" sz="2000" spc="-50" dirty="0">
              <a:solidFill>
                <a:prstClr val="white"/>
              </a:solidFill>
              <a:latin typeface="Arial"/>
            </a:endParaRPr>
          </a:p>
          <a:p>
            <a:pPr defTabSz="914309" fontAlgn="auto">
              <a:spcBef>
                <a:spcPts val="0"/>
              </a:spcBef>
              <a:spcAft>
                <a:spcPts val="0"/>
              </a:spcAft>
            </a:pPr>
            <a:endParaRPr lang="es-ES" sz="2000" spc="-50" dirty="0">
              <a:solidFill>
                <a:prstClr val="white"/>
              </a:solidFill>
              <a:latin typeface="Arial"/>
            </a:endParaRPr>
          </a:p>
          <a:p>
            <a:pPr defTabSz="914309" fontAlgn="auto">
              <a:spcBef>
                <a:spcPts val="0"/>
              </a:spcBef>
              <a:spcAft>
                <a:spcPts val="0"/>
              </a:spcAft>
            </a:pPr>
            <a:endParaRPr lang="es-ES" sz="2000" spc="-50" dirty="0">
              <a:solidFill>
                <a:prstClr val="white"/>
              </a:solidFill>
              <a:latin typeface="Arial"/>
            </a:endParaRPr>
          </a:p>
          <a:p>
            <a:endParaRPr lang="es-ES" sz="2000" spc="-50" dirty="0">
              <a:solidFill>
                <a:prstClr val="white"/>
              </a:solidFill>
              <a:latin typeface="Arial"/>
            </a:endParaRPr>
          </a:p>
          <a:p>
            <a:endParaRPr lang="es-ES" sz="2000" spc="-50" dirty="0">
              <a:solidFill>
                <a:prstClr val="white"/>
              </a:solidFill>
              <a:latin typeface="Arial"/>
            </a:endParaRPr>
          </a:p>
        </p:txBody>
      </p:sp>
      <p:sp>
        <p:nvSpPr>
          <p:cNvPr id="4" name="Oval 3">
            <a:extLst>
              <a:ext uri="{FF2B5EF4-FFF2-40B4-BE49-F238E27FC236}">
                <a16:creationId xmlns:a16="http://schemas.microsoft.com/office/drawing/2014/main" id="{95D7CD71-04C7-67A7-E05F-375C5381C0AD}"/>
              </a:ext>
            </a:extLst>
          </p:cNvPr>
          <p:cNvSpPr/>
          <p:nvPr/>
        </p:nvSpPr>
        <p:spPr>
          <a:xfrm>
            <a:off x="11780301" y="2072640"/>
            <a:ext cx="498785" cy="375126"/>
          </a:xfrm>
          <a:prstGeom prst="ellipse">
            <a:avLst/>
          </a:prstGeom>
          <a:noFill/>
          <a:ln w="28575" cap="flat" cmpd="sng" algn="ctr">
            <a:solidFill>
              <a:srgbClr val="AA113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grpSp>
        <p:nvGrpSpPr>
          <p:cNvPr id="5" name="Group 4">
            <a:extLst>
              <a:ext uri="{FF2B5EF4-FFF2-40B4-BE49-F238E27FC236}">
                <a16:creationId xmlns:a16="http://schemas.microsoft.com/office/drawing/2014/main" id="{645F42E2-20DB-7815-E764-DE0BC34DFB1B}"/>
              </a:ext>
            </a:extLst>
          </p:cNvPr>
          <p:cNvGrpSpPr/>
          <p:nvPr/>
        </p:nvGrpSpPr>
        <p:grpSpPr>
          <a:xfrm>
            <a:off x="1838719" y="2145216"/>
            <a:ext cx="9266426" cy="2192231"/>
            <a:chOff x="1236617" y="2119284"/>
            <a:chExt cx="10980448" cy="1975289"/>
          </a:xfrm>
        </p:grpSpPr>
        <p:sp>
          <p:nvSpPr>
            <p:cNvPr id="6" name="Oval 5">
              <a:extLst>
                <a:ext uri="{FF2B5EF4-FFF2-40B4-BE49-F238E27FC236}">
                  <a16:creationId xmlns:a16="http://schemas.microsoft.com/office/drawing/2014/main" id="{2D32D45C-A73F-51A1-3EAC-F513E9EED21D}"/>
                </a:ext>
              </a:extLst>
            </p:cNvPr>
            <p:cNvSpPr/>
            <p:nvPr/>
          </p:nvSpPr>
          <p:spPr>
            <a:xfrm>
              <a:off x="11890898" y="2155818"/>
              <a:ext cx="277590" cy="208770"/>
            </a:xfrm>
            <a:prstGeom prst="ellipse">
              <a:avLst/>
            </a:prstGeom>
            <a:solidFill>
              <a:srgbClr val="AA1133"/>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7" name="Oval 6">
              <a:extLst>
                <a:ext uri="{FF2B5EF4-FFF2-40B4-BE49-F238E27FC236}">
                  <a16:creationId xmlns:a16="http://schemas.microsoft.com/office/drawing/2014/main" id="{F67D0363-6CBC-A162-00F7-0BE7FE718E33}"/>
                </a:ext>
              </a:extLst>
            </p:cNvPr>
            <p:cNvSpPr/>
            <p:nvPr/>
          </p:nvSpPr>
          <p:spPr>
            <a:xfrm>
              <a:off x="11842320" y="2119284"/>
              <a:ext cx="374745" cy="281838"/>
            </a:xfrm>
            <a:prstGeom prst="ellipse">
              <a:avLst/>
            </a:prstGeom>
            <a:noFill/>
            <a:ln w="19050" cap="flat" cmpd="sng" algn="ctr">
              <a:solidFill>
                <a:srgbClr val="AA113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8" name="Freeform 4">
              <a:extLst>
                <a:ext uri="{FF2B5EF4-FFF2-40B4-BE49-F238E27FC236}">
                  <a16:creationId xmlns:a16="http://schemas.microsoft.com/office/drawing/2014/main" id="{EDEF1CA4-323F-C277-E225-E8DB4576E759}"/>
                </a:ext>
              </a:extLst>
            </p:cNvPr>
            <p:cNvSpPr>
              <a:spLocks/>
            </p:cNvSpPr>
            <p:nvPr>
              <p:custDataLst>
                <p:tags r:id="rId1"/>
              </p:custDataLst>
            </p:nvPr>
          </p:nvSpPr>
          <p:spPr bwMode="auto">
            <a:xfrm>
              <a:off x="1236617" y="2728071"/>
              <a:ext cx="2641295" cy="1366502"/>
            </a:xfrm>
            <a:custGeom>
              <a:avLst/>
              <a:gdLst>
                <a:gd name="T0" fmla="*/ 0 w 1090"/>
                <a:gd name="T1" fmla="*/ 0 h 2448"/>
                <a:gd name="T2" fmla="*/ 960 w 1090"/>
                <a:gd name="T3" fmla="*/ 0 h 2448"/>
                <a:gd name="T4" fmla="*/ 960 w 1090"/>
                <a:gd name="T5" fmla="*/ 336 h 2448"/>
                <a:gd name="T6" fmla="*/ 1090 w 1090"/>
                <a:gd name="T7" fmla="*/ 568 h 2448"/>
                <a:gd name="T8" fmla="*/ 960 w 1090"/>
                <a:gd name="T9" fmla="*/ 816 h 2448"/>
                <a:gd name="T10" fmla="*/ 960 w 1090"/>
                <a:gd name="T11" fmla="*/ 2448 h 2448"/>
                <a:gd name="T12" fmla="*/ 0 w 1090"/>
                <a:gd name="T13" fmla="*/ 2448 h 2448"/>
                <a:gd name="T14" fmla="*/ 0 w 1090"/>
                <a:gd name="T15" fmla="*/ 816 h 2448"/>
                <a:gd name="T16" fmla="*/ 0 w 1090"/>
                <a:gd name="T17" fmla="*/ 558 h 2448"/>
                <a:gd name="T18" fmla="*/ 0 w 1090"/>
                <a:gd name="T19" fmla="*/ 336 h 2448"/>
                <a:gd name="T20" fmla="*/ 0 w 1090"/>
                <a:gd name="T21" fmla="*/ 0 h 24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0"/>
                <a:gd name="T34" fmla="*/ 0 h 2448"/>
                <a:gd name="T35" fmla="*/ 1090 w 1090"/>
                <a:gd name="T36" fmla="*/ 2448 h 24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0" h="2448">
                  <a:moveTo>
                    <a:pt x="0" y="0"/>
                  </a:moveTo>
                  <a:lnTo>
                    <a:pt x="960" y="0"/>
                  </a:lnTo>
                  <a:lnTo>
                    <a:pt x="960" y="336"/>
                  </a:lnTo>
                  <a:lnTo>
                    <a:pt x="1090" y="568"/>
                  </a:lnTo>
                  <a:lnTo>
                    <a:pt x="960" y="816"/>
                  </a:lnTo>
                  <a:lnTo>
                    <a:pt x="960" y="2448"/>
                  </a:lnTo>
                  <a:lnTo>
                    <a:pt x="0" y="2448"/>
                  </a:lnTo>
                  <a:lnTo>
                    <a:pt x="0" y="816"/>
                  </a:lnTo>
                  <a:lnTo>
                    <a:pt x="0" y="558"/>
                  </a:lnTo>
                  <a:lnTo>
                    <a:pt x="0" y="336"/>
                  </a:lnTo>
                  <a:lnTo>
                    <a:pt x="0" y="0"/>
                  </a:lnTo>
                  <a:close/>
                </a:path>
              </a:pathLst>
            </a:custGeom>
            <a:solidFill>
              <a:srgbClr val="AA1133"/>
            </a:solidFill>
            <a:ln w="9525" cap="flat" cmpd="sng">
              <a:solidFill>
                <a:srgbClr val="FFFFFF"/>
              </a:solidFill>
              <a:prstDash val="solid"/>
              <a:round/>
              <a:headEnd type="none" w="sm" len="sm"/>
              <a:tailEnd type="none" w="sm" len="sm"/>
            </a:ln>
          </p:spPr>
          <p:txBody>
            <a:bodyPr anchor="ctr"/>
            <a:lstStyle/>
            <a:p>
              <a:pPr marL="0" marR="0" lvl="0" indent="0" defTabSz="914400" eaLnBrk="1" fontAlgn="auto" latinLnBrk="0" hangingPunct="1">
                <a:lnSpc>
                  <a:spcPct val="100000"/>
                </a:lnSpc>
                <a:spcBef>
                  <a:spcPts val="0"/>
                </a:spcBef>
                <a:spcAft>
                  <a:spcPts val="0"/>
                </a:spcAft>
                <a:buClrTx/>
                <a:buSzTx/>
                <a:buFont typeface="Arial" pitchFamily="34" charset="0"/>
                <a:buChar char="•"/>
                <a:tabLst/>
                <a:defRPr/>
              </a:pPr>
              <a:endParaRPr kumimoji="0" lang="en-US" sz="1800" b="0" i="0" u="none" strike="noStrike" kern="0" cap="none" spc="0" normalizeH="0" baseline="0" noProof="0">
                <a:ln>
                  <a:noFill/>
                </a:ln>
                <a:solidFill>
                  <a:srgbClr val="000000"/>
                </a:solidFill>
                <a:effectLst/>
                <a:uLnTx/>
                <a:uFillTx/>
              </a:endParaRPr>
            </a:p>
          </p:txBody>
        </p:sp>
        <p:sp>
          <p:nvSpPr>
            <p:cNvPr id="9" name="Freeform 5">
              <a:extLst>
                <a:ext uri="{FF2B5EF4-FFF2-40B4-BE49-F238E27FC236}">
                  <a16:creationId xmlns:a16="http://schemas.microsoft.com/office/drawing/2014/main" id="{D800B3BD-B0D1-CCE8-A440-7908B453CC86}"/>
                </a:ext>
              </a:extLst>
            </p:cNvPr>
            <p:cNvSpPr>
              <a:spLocks/>
            </p:cNvSpPr>
            <p:nvPr>
              <p:custDataLst>
                <p:tags r:id="rId2"/>
              </p:custDataLst>
            </p:nvPr>
          </p:nvSpPr>
          <p:spPr bwMode="auto">
            <a:xfrm>
              <a:off x="3748044" y="2728071"/>
              <a:ext cx="2643204" cy="1366502"/>
            </a:xfrm>
            <a:custGeom>
              <a:avLst/>
              <a:gdLst>
                <a:gd name="T0" fmla="*/ 0 w 1090"/>
                <a:gd name="T1" fmla="*/ 0 h 2448"/>
                <a:gd name="T2" fmla="*/ 960 w 1090"/>
                <a:gd name="T3" fmla="*/ 0 h 2448"/>
                <a:gd name="T4" fmla="*/ 960 w 1090"/>
                <a:gd name="T5" fmla="*/ 336 h 2448"/>
                <a:gd name="T6" fmla="*/ 1090 w 1090"/>
                <a:gd name="T7" fmla="*/ 568 h 2448"/>
                <a:gd name="T8" fmla="*/ 960 w 1090"/>
                <a:gd name="T9" fmla="*/ 816 h 2448"/>
                <a:gd name="T10" fmla="*/ 960 w 1090"/>
                <a:gd name="T11" fmla="*/ 2448 h 2448"/>
                <a:gd name="T12" fmla="*/ 0 w 1090"/>
                <a:gd name="T13" fmla="*/ 2448 h 2448"/>
                <a:gd name="T14" fmla="*/ 0 w 1090"/>
                <a:gd name="T15" fmla="*/ 816 h 2448"/>
                <a:gd name="T16" fmla="*/ 130 w 1090"/>
                <a:gd name="T17" fmla="*/ 568 h 2448"/>
                <a:gd name="T18" fmla="*/ 0 w 1090"/>
                <a:gd name="T19" fmla="*/ 336 h 2448"/>
                <a:gd name="T20" fmla="*/ 0 w 1090"/>
                <a:gd name="T21" fmla="*/ 0 h 24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0"/>
                <a:gd name="T34" fmla="*/ 0 h 2448"/>
                <a:gd name="T35" fmla="*/ 1090 w 1090"/>
                <a:gd name="T36" fmla="*/ 2448 h 24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0" h="2448">
                  <a:moveTo>
                    <a:pt x="0" y="0"/>
                  </a:moveTo>
                  <a:lnTo>
                    <a:pt x="960" y="0"/>
                  </a:lnTo>
                  <a:lnTo>
                    <a:pt x="960" y="336"/>
                  </a:lnTo>
                  <a:lnTo>
                    <a:pt x="1090" y="568"/>
                  </a:lnTo>
                  <a:lnTo>
                    <a:pt x="960" y="816"/>
                  </a:lnTo>
                  <a:lnTo>
                    <a:pt x="960" y="2448"/>
                  </a:lnTo>
                  <a:lnTo>
                    <a:pt x="0" y="2448"/>
                  </a:lnTo>
                  <a:lnTo>
                    <a:pt x="0" y="816"/>
                  </a:lnTo>
                  <a:lnTo>
                    <a:pt x="130" y="568"/>
                  </a:lnTo>
                  <a:lnTo>
                    <a:pt x="0" y="336"/>
                  </a:lnTo>
                  <a:lnTo>
                    <a:pt x="0" y="0"/>
                  </a:lnTo>
                  <a:close/>
                </a:path>
              </a:pathLst>
            </a:custGeom>
            <a:solidFill>
              <a:srgbClr val="666666"/>
            </a:solidFill>
            <a:ln w="9525" cap="flat" cmpd="sng">
              <a:solidFill>
                <a:srgbClr val="FFFFFF"/>
              </a:solidFill>
              <a:prstDash val="solid"/>
              <a:round/>
              <a:headEnd type="none" w="sm" len="sm"/>
              <a:tailEnd type="none" w="sm" len="sm"/>
            </a:ln>
          </p:spPr>
          <p:txBody>
            <a:bodyPr anchor="ctr"/>
            <a:lstStyle/>
            <a:p>
              <a:pPr marL="0" marR="0" lvl="0" indent="0" defTabSz="914400" eaLnBrk="1" fontAlgn="auto" latinLnBrk="0" hangingPunct="1">
                <a:lnSpc>
                  <a:spcPct val="100000"/>
                </a:lnSpc>
                <a:spcBef>
                  <a:spcPts val="0"/>
                </a:spcBef>
                <a:spcAft>
                  <a:spcPts val="0"/>
                </a:spcAft>
                <a:buClrTx/>
                <a:buSzTx/>
                <a:buFont typeface="Arial" pitchFamily="34" charset="0"/>
                <a:buChar char="•"/>
                <a:tabLst/>
                <a:defRPr/>
              </a:pPr>
              <a:endParaRPr kumimoji="0" lang="en-US" sz="1800" b="0" i="0" u="none" strike="noStrike" kern="0" cap="none" spc="0" normalizeH="0" baseline="0" noProof="0">
                <a:ln>
                  <a:noFill/>
                </a:ln>
                <a:solidFill>
                  <a:prstClr val="white"/>
                </a:solidFill>
                <a:effectLst/>
                <a:uLnTx/>
                <a:uFillTx/>
              </a:endParaRPr>
            </a:p>
          </p:txBody>
        </p:sp>
        <p:sp>
          <p:nvSpPr>
            <p:cNvPr id="10" name="Freeform 6">
              <a:extLst>
                <a:ext uri="{FF2B5EF4-FFF2-40B4-BE49-F238E27FC236}">
                  <a16:creationId xmlns:a16="http://schemas.microsoft.com/office/drawing/2014/main" id="{AFC2EE94-8DF3-FB98-9DE8-FFF85A9AD4E4}"/>
                </a:ext>
              </a:extLst>
            </p:cNvPr>
            <p:cNvSpPr>
              <a:spLocks/>
            </p:cNvSpPr>
            <p:nvPr>
              <p:custDataLst>
                <p:tags r:id="rId3"/>
              </p:custDataLst>
            </p:nvPr>
          </p:nvSpPr>
          <p:spPr bwMode="auto">
            <a:xfrm>
              <a:off x="8639078" y="2728573"/>
              <a:ext cx="2339542" cy="1366000"/>
            </a:xfrm>
            <a:custGeom>
              <a:avLst/>
              <a:gdLst>
                <a:gd name="T0" fmla="*/ 1038 w 1038"/>
                <a:gd name="T1" fmla="*/ 2450 h 2450"/>
                <a:gd name="T2" fmla="*/ 0 w 1038"/>
                <a:gd name="T3" fmla="*/ 2450 h 2450"/>
                <a:gd name="T4" fmla="*/ 0 w 1038"/>
                <a:gd name="T5" fmla="*/ 817 h 2450"/>
                <a:gd name="T6" fmla="*/ 141 w 1038"/>
                <a:gd name="T7" fmla="*/ 568 h 2450"/>
                <a:gd name="T8" fmla="*/ 0 w 1038"/>
                <a:gd name="T9" fmla="*/ 336 h 2450"/>
                <a:gd name="T10" fmla="*/ 0 w 1038"/>
                <a:gd name="T11" fmla="*/ 0 h 2450"/>
                <a:gd name="T12" fmla="*/ 1038 w 1038"/>
                <a:gd name="T13" fmla="*/ 0 h 2450"/>
                <a:gd name="T14" fmla="*/ 1038 w 1038"/>
                <a:gd name="T15" fmla="*/ 2450 h 2450"/>
                <a:gd name="T16" fmla="*/ 0 60000 65536"/>
                <a:gd name="T17" fmla="*/ 0 60000 65536"/>
                <a:gd name="T18" fmla="*/ 0 60000 65536"/>
                <a:gd name="T19" fmla="*/ 0 60000 65536"/>
                <a:gd name="T20" fmla="*/ 0 60000 65536"/>
                <a:gd name="T21" fmla="*/ 0 60000 65536"/>
                <a:gd name="T22" fmla="*/ 0 60000 65536"/>
                <a:gd name="T23" fmla="*/ 0 60000 65536"/>
                <a:gd name="T24" fmla="*/ 0 w 1038"/>
                <a:gd name="T25" fmla="*/ 0 h 2450"/>
                <a:gd name="T26" fmla="*/ 1038 w 1038"/>
                <a:gd name="T27" fmla="*/ 2450 h 2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8" h="2450">
                  <a:moveTo>
                    <a:pt x="1038" y="2450"/>
                  </a:moveTo>
                  <a:lnTo>
                    <a:pt x="0" y="2450"/>
                  </a:lnTo>
                  <a:lnTo>
                    <a:pt x="0" y="817"/>
                  </a:lnTo>
                  <a:lnTo>
                    <a:pt x="141" y="568"/>
                  </a:lnTo>
                  <a:lnTo>
                    <a:pt x="0" y="336"/>
                  </a:lnTo>
                  <a:lnTo>
                    <a:pt x="0" y="0"/>
                  </a:lnTo>
                  <a:lnTo>
                    <a:pt x="1038" y="0"/>
                  </a:lnTo>
                  <a:lnTo>
                    <a:pt x="1038" y="2450"/>
                  </a:lnTo>
                  <a:close/>
                </a:path>
              </a:pathLst>
            </a:custGeom>
            <a:solidFill>
              <a:srgbClr val="666666"/>
            </a:solidFill>
            <a:ln w="9525" cap="flat" cmpd="sng">
              <a:solidFill>
                <a:srgbClr val="FFFFFF"/>
              </a:solidFill>
              <a:prstDash val="solid"/>
              <a:round/>
              <a:headEnd type="none" w="sm" len="sm"/>
              <a:tailEnd type="none" w="sm" len="sm"/>
            </a:ln>
          </p:spPr>
          <p:txBody>
            <a:bodyPr anchor="ctr"/>
            <a:lstStyle/>
            <a:p>
              <a:pPr marL="0" marR="0" lvl="0" indent="0" defTabSz="914400" eaLnBrk="1" fontAlgn="auto" latinLnBrk="0" hangingPunct="1">
                <a:lnSpc>
                  <a:spcPct val="100000"/>
                </a:lnSpc>
                <a:spcBef>
                  <a:spcPts val="0"/>
                </a:spcBef>
                <a:spcAft>
                  <a:spcPts val="0"/>
                </a:spcAft>
                <a:buClrTx/>
                <a:buSzTx/>
                <a:buFont typeface="Arial" pitchFamily="34" charset="0"/>
                <a:buChar char="•"/>
                <a:tabLst/>
                <a:defRPr/>
              </a:pPr>
              <a:endParaRPr kumimoji="0" lang="en-US" sz="1800" b="0" i="0" u="none" strike="noStrike" kern="0" cap="none" spc="0" normalizeH="0" baseline="0" noProof="0">
                <a:ln>
                  <a:noFill/>
                </a:ln>
                <a:solidFill>
                  <a:srgbClr val="000000"/>
                </a:solidFill>
                <a:effectLst/>
                <a:uLnTx/>
                <a:uFillTx/>
              </a:endParaRPr>
            </a:p>
          </p:txBody>
        </p:sp>
        <p:sp>
          <p:nvSpPr>
            <p:cNvPr id="11" name="Text Box 7">
              <a:extLst>
                <a:ext uri="{FF2B5EF4-FFF2-40B4-BE49-F238E27FC236}">
                  <a16:creationId xmlns:a16="http://schemas.microsoft.com/office/drawing/2014/main" id="{FDF6BB09-0ACD-65F5-1CE1-27C4F4B1D867}"/>
                </a:ext>
              </a:extLst>
            </p:cNvPr>
            <p:cNvSpPr txBox="1">
              <a:spLocks noChangeArrowheads="1"/>
            </p:cNvSpPr>
            <p:nvPr>
              <p:custDataLst>
                <p:tags r:id="rId4"/>
              </p:custDataLst>
            </p:nvPr>
          </p:nvSpPr>
          <p:spPr bwMode="auto">
            <a:xfrm>
              <a:off x="1236617" y="2857311"/>
              <a:ext cx="2318533" cy="997196"/>
            </a:xfrm>
            <a:prstGeom prst="rect">
              <a:avLst/>
            </a:prstGeom>
            <a:noFill/>
            <a:ln w="9525">
              <a:noFill/>
              <a:miter lim="800000"/>
              <a:headEnd type="none" w="sm" len="sm"/>
              <a:tailEnd type="none" w="sm" len="sm"/>
            </a:ln>
          </p:spPr>
          <p:txBody>
            <a:bodyPr>
              <a:spAutoFit/>
            </a:bodyPr>
            <a:lstStyle/>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r>
                <a:rPr kumimoji="0" lang="de-DE" sz="1200" b="0" i="0" u="none" strike="noStrike" kern="0" cap="none" spc="0" normalizeH="0" baseline="0" noProof="0" dirty="0">
                  <a:ln>
                    <a:noFill/>
                  </a:ln>
                  <a:solidFill>
                    <a:prstClr val="white"/>
                  </a:solidFill>
                  <a:effectLst/>
                  <a:uLnTx/>
                  <a:uFillTx/>
                </a:rPr>
                <a:t>Fabricante de Software</a:t>
              </a:r>
            </a:p>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r>
                <a:rPr kumimoji="0" lang="de-DE" sz="1200" b="0" i="0" u="none" strike="noStrike" kern="0" cap="none" spc="0" normalizeH="0" baseline="0" noProof="0" dirty="0">
                  <a:ln>
                    <a:noFill/>
                  </a:ln>
                  <a:solidFill>
                    <a:prstClr val="white"/>
                  </a:solidFill>
                  <a:effectLst/>
                  <a:uLnTx/>
                  <a:uFillTx/>
                </a:rPr>
                <a:t>Fabricante de Hardware</a:t>
              </a:r>
            </a:p>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r>
                <a:rPr kumimoji="0" lang="de-DE" sz="1200" b="0" i="0" u="none" strike="noStrike" kern="0" cap="none" spc="0" normalizeH="0" baseline="0" noProof="0" dirty="0">
                  <a:ln>
                    <a:noFill/>
                  </a:ln>
                  <a:solidFill>
                    <a:prstClr val="white"/>
                  </a:solidFill>
                  <a:effectLst/>
                  <a:uLnTx/>
                  <a:uFillTx/>
                </a:rPr>
                <a:t>Fabricante Mixto</a:t>
              </a:r>
            </a:p>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endParaRPr kumimoji="0" lang="de-DE" sz="1200" b="0" i="0" u="none" strike="noStrike" kern="0" cap="none" spc="0" normalizeH="0" baseline="0" noProof="0" dirty="0">
                <a:ln>
                  <a:noFill/>
                </a:ln>
                <a:solidFill>
                  <a:prstClr val="white"/>
                </a:solidFill>
                <a:effectLst/>
                <a:uLnTx/>
                <a:uFillTx/>
              </a:endParaRPr>
            </a:p>
          </p:txBody>
        </p:sp>
        <p:sp>
          <p:nvSpPr>
            <p:cNvPr id="12" name="Text Box 8">
              <a:extLst>
                <a:ext uri="{FF2B5EF4-FFF2-40B4-BE49-F238E27FC236}">
                  <a16:creationId xmlns:a16="http://schemas.microsoft.com/office/drawing/2014/main" id="{17421BCE-988D-5D57-1F0B-C6133B3FEDD1}"/>
                </a:ext>
              </a:extLst>
            </p:cNvPr>
            <p:cNvSpPr txBox="1">
              <a:spLocks noChangeArrowheads="1"/>
            </p:cNvSpPr>
            <p:nvPr>
              <p:custDataLst>
                <p:tags r:id="rId5"/>
              </p:custDataLst>
            </p:nvPr>
          </p:nvSpPr>
          <p:spPr bwMode="auto">
            <a:xfrm>
              <a:off x="4118550" y="2839528"/>
              <a:ext cx="2033969" cy="997196"/>
            </a:xfrm>
            <a:prstGeom prst="rect">
              <a:avLst/>
            </a:prstGeom>
            <a:noFill/>
            <a:ln w="9525">
              <a:noFill/>
              <a:miter lim="800000"/>
              <a:headEnd type="none" w="sm" len="sm"/>
              <a:tailEnd type="none" w="sm" len="sm"/>
            </a:ln>
          </p:spPr>
          <p:txBody>
            <a:bodyPr>
              <a:spAutoFit/>
            </a:bodyPr>
            <a:lstStyle/>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r>
                <a:rPr kumimoji="0" lang="de-DE" sz="1200" b="0" i="0" u="none" strike="noStrike" kern="0" cap="none" spc="0" normalizeH="0" baseline="0" noProof="0" dirty="0">
                  <a:ln>
                    <a:noFill/>
                  </a:ln>
                  <a:solidFill>
                    <a:prstClr val="white"/>
                  </a:solidFill>
                  <a:effectLst/>
                  <a:uLnTx/>
                  <a:uFillTx/>
                </a:rPr>
                <a:t>Distribuidores</a:t>
              </a:r>
            </a:p>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r>
                <a:rPr kumimoji="0" lang="de-DE" sz="1200" b="0" i="0" u="none" strike="noStrike" kern="0" cap="none" spc="0" normalizeH="0" baseline="0" noProof="0" dirty="0">
                  <a:ln>
                    <a:noFill/>
                  </a:ln>
                  <a:solidFill>
                    <a:prstClr val="white"/>
                  </a:solidFill>
                  <a:effectLst/>
                  <a:uLnTx/>
                  <a:uFillTx/>
                </a:rPr>
                <a:t>Mayoristas</a:t>
              </a:r>
            </a:p>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r>
                <a:rPr kumimoji="0" lang="de-DE" sz="1200" b="0" i="0" u="none" strike="noStrike" kern="0" cap="none" spc="0" normalizeH="0" baseline="0" noProof="0" dirty="0">
                  <a:ln>
                    <a:noFill/>
                  </a:ln>
                  <a:solidFill>
                    <a:prstClr val="white"/>
                  </a:solidFill>
                  <a:effectLst/>
                  <a:uLnTx/>
                  <a:uFillTx/>
                </a:rPr>
                <a:t>Minoristas</a:t>
              </a:r>
            </a:p>
            <a:p>
              <a:pPr marL="0" marR="0" lvl="0" indent="0" defTabSz="762000" eaLnBrk="1" fontAlgn="auto" latinLnBrk="0" hangingPunct="1">
                <a:lnSpc>
                  <a:spcPct val="100000"/>
                </a:lnSpc>
                <a:spcBef>
                  <a:spcPct val="30000"/>
                </a:spcBef>
                <a:spcAft>
                  <a:spcPts val="0"/>
                </a:spcAft>
                <a:buClrTx/>
                <a:buSzTx/>
                <a:buFontTx/>
                <a:buNone/>
                <a:tabLst/>
                <a:defRPr/>
              </a:pPr>
              <a:endParaRPr kumimoji="0" lang="de-DE" sz="1200" b="0" i="0" u="none" strike="noStrike" kern="0" cap="none" spc="0" normalizeH="0" baseline="0" noProof="0" dirty="0">
                <a:ln>
                  <a:noFill/>
                </a:ln>
                <a:solidFill>
                  <a:prstClr val="white"/>
                </a:solidFill>
                <a:effectLst/>
                <a:uLnTx/>
                <a:uFillTx/>
              </a:endParaRPr>
            </a:p>
          </p:txBody>
        </p:sp>
        <p:sp>
          <p:nvSpPr>
            <p:cNvPr id="13" name="Text Box 9">
              <a:extLst>
                <a:ext uri="{FF2B5EF4-FFF2-40B4-BE49-F238E27FC236}">
                  <a16:creationId xmlns:a16="http://schemas.microsoft.com/office/drawing/2014/main" id="{9AEEE397-F5A2-4B61-E613-BD0512F0C9ED}"/>
                </a:ext>
              </a:extLst>
            </p:cNvPr>
            <p:cNvSpPr txBox="1">
              <a:spLocks noChangeArrowheads="1"/>
            </p:cNvSpPr>
            <p:nvPr>
              <p:custDataLst>
                <p:tags r:id="rId6"/>
              </p:custDataLst>
            </p:nvPr>
          </p:nvSpPr>
          <p:spPr bwMode="auto">
            <a:xfrm>
              <a:off x="1236617" y="2215843"/>
              <a:ext cx="2331903" cy="445956"/>
            </a:xfrm>
            <a:prstGeom prst="rect">
              <a:avLst/>
            </a:prstGeom>
            <a:solidFill>
              <a:srgbClr val="AA1133"/>
            </a:solidFill>
            <a:ln w="9525">
              <a:solidFill>
                <a:srgbClr val="FFFFFF"/>
              </a:solidFill>
              <a:miter lim="800000"/>
              <a:headEnd/>
              <a:tailEnd/>
            </a:ln>
          </p:spPr>
          <p:txBody>
            <a:bodyPr lIns="90000" tIns="46800" rIns="90000" bIns="46800" anchor="ctr"/>
            <a:lstStyle/>
            <a:p>
              <a:pPr marL="0" marR="0" lvl="0" indent="0" defTabSz="762000" eaLnBrk="0" fontAlgn="auto" latinLnBrk="0" hangingPunct="0">
                <a:lnSpc>
                  <a:spcPct val="100000"/>
                </a:lnSpc>
                <a:spcBef>
                  <a:spcPts val="0"/>
                </a:spcBef>
                <a:spcAft>
                  <a:spcPts val="0"/>
                </a:spcAft>
                <a:buClrTx/>
                <a:buSzTx/>
                <a:buFontTx/>
                <a:buNone/>
                <a:tabLst/>
                <a:defRPr/>
              </a:pPr>
              <a:r>
                <a:rPr kumimoji="0" lang="de-DE" sz="1200" b="0" i="0" u="none" strike="noStrike" kern="0" cap="none" spc="0" normalizeH="0" baseline="0" noProof="0" dirty="0">
                  <a:ln>
                    <a:noFill/>
                  </a:ln>
                  <a:solidFill>
                    <a:prstClr val="white"/>
                  </a:solidFill>
                  <a:effectLst/>
                  <a:uLnTx/>
                  <a:uFillTx/>
                </a:rPr>
                <a:t>Fabricación de Hardware y Desarrollo de Software</a:t>
              </a:r>
              <a:endParaRPr kumimoji="0" lang="de-DE" sz="1200" b="1" i="0" u="none" strike="noStrike" kern="0" cap="none" spc="0" normalizeH="0" baseline="0" noProof="0" dirty="0">
                <a:ln>
                  <a:noFill/>
                </a:ln>
                <a:solidFill>
                  <a:prstClr val="white"/>
                </a:solidFill>
                <a:effectLst/>
                <a:uLnTx/>
                <a:uFillTx/>
              </a:endParaRPr>
            </a:p>
          </p:txBody>
        </p:sp>
        <p:sp>
          <p:nvSpPr>
            <p:cNvPr id="14" name="Text Box 10">
              <a:extLst>
                <a:ext uri="{FF2B5EF4-FFF2-40B4-BE49-F238E27FC236}">
                  <a16:creationId xmlns:a16="http://schemas.microsoft.com/office/drawing/2014/main" id="{537297B6-6BC8-0667-0F74-C9E8E9202EA6}"/>
                </a:ext>
              </a:extLst>
            </p:cNvPr>
            <p:cNvSpPr txBox="1">
              <a:spLocks noChangeArrowheads="1"/>
            </p:cNvSpPr>
            <p:nvPr>
              <p:custDataLst>
                <p:tags r:id="rId7"/>
              </p:custDataLst>
            </p:nvPr>
          </p:nvSpPr>
          <p:spPr bwMode="auto">
            <a:xfrm>
              <a:off x="3748044" y="2215843"/>
              <a:ext cx="2333812" cy="445956"/>
            </a:xfrm>
            <a:prstGeom prst="rect">
              <a:avLst/>
            </a:prstGeom>
            <a:solidFill>
              <a:srgbClr val="666666"/>
            </a:solidFill>
            <a:ln w="9525">
              <a:solidFill>
                <a:srgbClr val="FFFFFF"/>
              </a:solidFill>
              <a:miter lim="800000"/>
              <a:headEnd/>
              <a:tailEnd/>
            </a:ln>
          </p:spPr>
          <p:txBody>
            <a:bodyPr lIns="90000" tIns="46800" rIns="90000" bIns="46800" anchor="ctr"/>
            <a:lstStyle/>
            <a:p>
              <a:pPr marL="0" marR="0" lvl="0" indent="0" defTabSz="762000" eaLnBrk="0" fontAlgn="auto" latinLnBrk="0" hangingPunct="0">
                <a:lnSpc>
                  <a:spcPct val="100000"/>
                </a:lnSpc>
                <a:spcBef>
                  <a:spcPts val="0"/>
                </a:spcBef>
                <a:spcAft>
                  <a:spcPts val="0"/>
                </a:spcAft>
                <a:buClrTx/>
                <a:buSzTx/>
                <a:buFontTx/>
                <a:buNone/>
                <a:tabLst/>
                <a:defRPr/>
              </a:pPr>
              <a:r>
                <a:rPr kumimoji="0" lang="de-DE" sz="1200" b="0" i="0" u="none" strike="noStrike" kern="0" cap="none" spc="0" normalizeH="0" baseline="0" noProof="0" dirty="0">
                  <a:ln>
                    <a:noFill/>
                  </a:ln>
                  <a:solidFill>
                    <a:prstClr val="white"/>
                  </a:solidFill>
                  <a:effectLst/>
                  <a:uLnTx/>
                  <a:uFillTx/>
                </a:rPr>
                <a:t>Distribución de Productos de Seguridad</a:t>
              </a:r>
              <a:endParaRPr kumimoji="0" lang="de-DE" sz="1600" b="1" i="0" u="none" strike="noStrike" kern="0" cap="none" spc="0" normalizeH="0" baseline="0" noProof="0" dirty="0">
                <a:ln>
                  <a:noFill/>
                </a:ln>
                <a:solidFill>
                  <a:prstClr val="white"/>
                </a:solidFill>
                <a:effectLst/>
                <a:uLnTx/>
                <a:uFillTx/>
              </a:endParaRPr>
            </a:p>
          </p:txBody>
        </p:sp>
        <p:sp>
          <p:nvSpPr>
            <p:cNvPr id="15" name="Text Box 12">
              <a:extLst>
                <a:ext uri="{FF2B5EF4-FFF2-40B4-BE49-F238E27FC236}">
                  <a16:creationId xmlns:a16="http://schemas.microsoft.com/office/drawing/2014/main" id="{0648C87D-0360-4C70-F096-84DB0FE2DBFB}"/>
                </a:ext>
              </a:extLst>
            </p:cNvPr>
            <p:cNvSpPr txBox="1">
              <a:spLocks noChangeArrowheads="1"/>
            </p:cNvSpPr>
            <p:nvPr>
              <p:custDataLst>
                <p:tags r:id="rId8"/>
              </p:custDataLst>
            </p:nvPr>
          </p:nvSpPr>
          <p:spPr bwMode="auto">
            <a:xfrm>
              <a:off x="8639078" y="2216345"/>
              <a:ext cx="2339542" cy="445956"/>
            </a:xfrm>
            <a:prstGeom prst="rect">
              <a:avLst/>
            </a:prstGeom>
            <a:solidFill>
              <a:srgbClr val="666666"/>
            </a:solidFill>
            <a:ln w="9525">
              <a:solidFill>
                <a:srgbClr val="FFFFFF"/>
              </a:solidFill>
              <a:miter lim="800000"/>
              <a:headEnd/>
              <a:tailEnd/>
            </a:ln>
          </p:spPr>
          <p:txBody>
            <a:bodyPr lIns="90000" tIns="46800" rIns="90000" bIns="46800" anchor="ctr"/>
            <a:lstStyle/>
            <a:p>
              <a:pPr marL="0" marR="0" lvl="0" indent="0" defTabSz="762000" eaLnBrk="0" fontAlgn="auto" latinLnBrk="0" hangingPunct="0">
                <a:lnSpc>
                  <a:spcPct val="100000"/>
                </a:lnSpc>
                <a:spcBef>
                  <a:spcPts val="0"/>
                </a:spcBef>
                <a:spcAft>
                  <a:spcPts val="0"/>
                </a:spcAft>
                <a:buClrTx/>
                <a:buSzTx/>
                <a:buFontTx/>
                <a:buNone/>
                <a:tabLst/>
                <a:defRPr/>
              </a:pPr>
              <a:r>
                <a:rPr kumimoji="0" lang="de-DE" sz="1200" b="0" i="0" u="none" strike="noStrike" kern="0" cap="none" spc="0" normalizeH="0" baseline="0" noProof="0" dirty="0">
                  <a:ln>
                    <a:noFill/>
                  </a:ln>
                  <a:solidFill>
                    <a:prstClr val="white"/>
                  </a:solidFill>
                  <a:effectLst/>
                  <a:uLnTx/>
                  <a:uFillTx/>
                </a:rPr>
                <a:t>Clientes</a:t>
              </a:r>
            </a:p>
          </p:txBody>
        </p:sp>
        <p:sp>
          <p:nvSpPr>
            <p:cNvPr id="16" name="Text Box 15">
              <a:extLst>
                <a:ext uri="{FF2B5EF4-FFF2-40B4-BE49-F238E27FC236}">
                  <a16:creationId xmlns:a16="http://schemas.microsoft.com/office/drawing/2014/main" id="{0D587490-1920-B0EF-3A8B-E58B545818D8}"/>
                </a:ext>
              </a:extLst>
            </p:cNvPr>
            <p:cNvSpPr txBox="1">
              <a:spLocks noChangeArrowheads="1"/>
            </p:cNvSpPr>
            <p:nvPr>
              <p:custDataLst>
                <p:tags r:id="rId9"/>
              </p:custDataLst>
            </p:nvPr>
          </p:nvSpPr>
          <p:spPr bwMode="auto">
            <a:xfrm>
              <a:off x="8820764" y="2774895"/>
              <a:ext cx="2044443" cy="1126462"/>
            </a:xfrm>
            <a:prstGeom prst="rect">
              <a:avLst/>
            </a:prstGeom>
            <a:noFill/>
            <a:ln w="9525">
              <a:noFill/>
              <a:miter lim="800000"/>
              <a:headEnd type="none" w="sm" len="sm"/>
              <a:tailEnd type="none" w="sm" len="sm"/>
            </a:ln>
          </p:spPr>
          <p:txBody>
            <a:bodyPr wrap="square">
              <a:spAutoFit/>
            </a:bodyPr>
            <a:lstStyle/>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r>
                <a:rPr kumimoji="0" lang="de-DE" sz="1200" b="0" i="0" u="none" strike="noStrike" kern="0" cap="none" spc="0" normalizeH="0" baseline="0" noProof="0" dirty="0">
                  <a:ln>
                    <a:noFill/>
                  </a:ln>
                  <a:solidFill>
                    <a:prstClr val="white"/>
                  </a:solidFill>
                  <a:effectLst/>
                  <a:uLnTx/>
                  <a:uFillTx/>
                </a:rPr>
                <a:t>Administración Pública</a:t>
              </a:r>
            </a:p>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r>
                <a:rPr kumimoji="0" lang="de-DE" sz="1200" b="0" i="0" u="none" strike="noStrike" kern="0" cap="none" spc="0" normalizeH="0" baseline="0" noProof="0" dirty="0">
                  <a:ln>
                    <a:noFill/>
                  </a:ln>
                  <a:solidFill>
                    <a:prstClr val="white"/>
                  </a:solidFill>
                  <a:effectLst/>
                  <a:uLnTx/>
                  <a:uFillTx/>
                </a:rPr>
                <a:t>Empresas/ Corporaciones</a:t>
              </a:r>
            </a:p>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r>
                <a:rPr kumimoji="0" lang="de-DE" sz="1200" b="0" i="0" u="none" strike="noStrike" kern="0" cap="none" spc="0" normalizeH="0" baseline="0" noProof="0" dirty="0">
                  <a:ln>
                    <a:noFill/>
                  </a:ln>
                  <a:solidFill>
                    <a:prstClr val="white"/>
                  </a:solidFill>
                  <a:effectLst/>
                  <a:uLnTx/>
                  <a:uFillTx/>
                </a:rPr>
                <a:t>Pymes/Particulares</a:t>
              </a:r>
            </a:p>
          </p:txBody>
        </p:sp>
        <p:sp>
          <p:nvSpPr>
            <p:cNvPr id="17" name="Freeform 5">
              <a:extLst>
                <a:ext uri="{FF2B5EF4-FFF2-40B4-BE49-F238E27FC236}">
                  <a16:creationId xmlns:a16="http://schemas.microsoft.com/office/drawing/2014/main" id="{C32FAE76-B418-A3D2-DAA5-280DCCDD7802}"/>
                </a:ext>
              </a:extLst>
            </p:cNvPr>
            <p:cNvSpPr>
              <a:spLocks/>
            </p:cNvSpPr>
            <p:nvPr>
              <p:custDataLst>
                <p:tags r:id="rId10"/>
              </p:custDataLst>
            </p:nvPr>
          </p:nvSpPr>
          <p:spPr bwMode="auto">
            <a:xfrm>
              <a:off x="6195179" y="2728573"/>
              <a:ext cx="2643204" cy="1366000"/>
            </a:xfrm>
            <a:custGeom>
              <a:avLst/>
              <a:gdLst>
                <a:gd name="T0" fmla="*/ 0 w 1090"/>
                <a:gd name="T1" fmla="*/ 0 h 2448"/>
                <a:gd name="T2" fmla="*/ 960 w 1090"/>
                <a:gd name="T3" fmla="*/ 0 h 2448"/>
                <a:gd name="T4" fmla="*/ 960 w 1090"/>
                <a:gd name="T5" fmla="*/ 336 h 2448"/>
                <a:gd name="T6" fmla="*/ 1090 w 1090"/>
                <a:gd name="T7" fmla="*/ 568 h 2448"/>
                <a:gd name="T8" fmla="*/ 960 w 1090"/>
                <a:gd name="T9" fmla="*/ 816 h 2448"/>
                <a:gd name="T10" fmla="*/ 960 w 1090"/>
                <a:gd name="T11" fmla="*/ 2448 h 2448"/>
                <a:gd name="T12" fmla="*/ 0 w 1090"/>
                <a:gd name="T13" fmla="*/ 2448 h 2448"/>
                <a:gd name="T14" fmla="*/ 0 w 1090"/>
                <a:gd name="T15" fmla="*/ 816 h 2448"/>
                <a:gd name="T16" fmla="*/ 130 w 1090"/>
                <a:gd name="T17" fmla="*/ 568 h 2448"/>
                <a:gd name="T18" fmla="*/ 0 w 1090"/>
                <a:gd name="T19" fmla="*/ 336 h 2448"/>
                <a:gd name="T20" fmla="*/ 0 w 1090"/>
                <a:gd name="T21" fmla="*/ 0 h 24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0"/>
                <a:gd name="T34" fmla="*/ 0 h 2448"/>
                <a:gd name="T35" fmla="*/ 1090 w 1090"/>
                <a:gd name="T36" fmla="*/ 2448 h 24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0" h="2448">
                  <a:moveTo>
                    <a:pt x="0" y="0"/>
                  </a:moveTo>
                  <a:lnTo>
                    <a:pt x="960" y="0"/>
                  </a:lnTo>
                  <a:lnTo>
                    <a:pt x="960" y="336"/>
                  </a:lnTo>
                  <a:lnTo>
                    <a:pt x="1090" y="568"/>
                  </a:lnTo>
                  <a:lnTo>
                    <a:pt x="960" y="816"/>
                  </a:lnTo>
                  <a:lnTo>
                    <a:pt x="960" y="2448"/>
                  </a:lnTo>
                  <a:lnTo>
                    <a:pt x="0" y="2448"/>
                  </a:lnTo>
                  <a:lnTo>
                    <a:pt x="0" y="816"/>
                  </a:lnTo>
                  <a:lnTo>
                    <a:pt x="130" y="568"/>
                  </a:lnTo>
                  <a:lnTo>
                    <a:pt x="0" y="336"/>
                  </a:lnTo>
                  <a:lnTo>
                    <a:pt x="0" y="0"/>
                  </a:lnTo>
                  <a:close/>
                </a:path>
              </a:pathLst>
            </a:custGeom>
            <a:solidFill>
              <a:srgbClr val="AA1133"/>
            </a:solidFill>
            <a:ln w="9525" cap="flat" cmpd="sng">
              <a:solidFill>
                <a:srgbClr val="FFFFFF"/>
              </a:solidFill>
              <a:prstDash val="solid"/>
              <a:round/>
              <a:headEnd type="none" w="sm" len="sm"/>
              <a:tailEnd type="none" w="sm" len="sm"/>
            </a:ln>
          </p:spPr>
          <p:txBody>
            <a:bodyPr anchor="ctr"/>
            <a:lstStyle/>
            <a:p>
              <a:pPr marL="0" marR="0" lvl="0" indent="0" defTabSz="914400" eaLnBrk="1" fontAlgn="auto" latinLnBrk="0" hangingPunct="1">
                <a:lnSpc>
                  <a:spcPct val="100000"/>
                </a:lnSpc>
                <a:spcBef>
                  <a:spcPts val="0"/>
                </a:spcBef>
                <a:spcAft>
                  <a:spcPts val="0"/>
                </a:spcAft>
                <a:buClrTx/>
                <a:buSzTx/>
                <a:buFont typeface="Arial" pitchFamily="34" charset="0"/>
                <a:buChar char="•"/>
                <a:tabLst/>
                <a:defRPr/>
              </a:pPr>
              <a:endParaRPr kumimoji="0" lang="en-US" sz="1800" b="0" i="0" u="none" strike="noStrike" kern="0" cap="none" spc="0" normalizeH="0" baseline="0" noProof="0">
                <a:ln>
                  <a:noFill/>
                </a:ln>
                <a:solidFill>
                  <a:prstClr val="white"/>
                </a:solidFill>
                <a:effectLst/>
                <a:uLnTx/>
                <a:uFillTx/>
              </a:endParaRPr>
            </a:p>
          </p:txBody>
        </p:sp>
        <p:sp>
          <p:nvSpPr>
            <p:cNvPr id="18" name="Text Box 8">
              <a:extLst>
                <a:ext uri="{FF2B5EF4-FFF2-40B4-BE49-F238E27FC236}">
                  <a16:creationId xmlns:a16="http://schemas.microsoft.com/office/drawing/2014/main" id="{23E5EA3E-BA8A-1E32-F72E-5729B652C5CC}"/>
                </a:ext>
              </a:extLst>
            </p:cNvPr>
            <p:cNvSpPr txBox="1">
              <a:spLocks noChangeArrowheads="1"/>
            </p:cNvSpPr>
            <p:nvPr>
              <p:custDataLst>
                <p:tags r:id="rId11"/>
              </p:custDataLst>
            </p:nvPr>
          </p:nvSpPr>
          <p:spPr bwMode="auto">
            <a:xfrm>
              <a:off x="6444382" y="2791480"/>
              <a:ext cx="2033969" cy="1181862"/>
            </a:xfrm>
            <a:prstGeom prst="rect">
              <a:avLst/>
            </a:prstGeom>
            <a:noFill/>
            <a:ln w="9525">
              <a:noFill/>
              <a:miter lim="800000"/>
              <a:headEnd type="none" w="sm" len="sm"/>
              <a:tailEnd type="none" w="sm" len="sm"/>
            </a:ln>
          </p:spPr>
          <p:txBody>
            <a:bodyPr>
              <a:spAutoFit/>
            </a:bodyPr>
            <a:lstStyle/>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r>
                <a:rPr kumimoji="0" lang="de-DE" sz="1200" b="0" i="0" u="none" strike="noStrike" kern="0" cap="none" spc="0" normalizeH="0" baseline="0" noProof="0" dirty="0">
                  <a:ln>
                    <a:noFill/>
                  </a:ln>
                  <a:solidFill>
                    <a:prstClr val="white"/>
                  </a:solidFill>
                  <a:effectLst/>
                  <a:uLnTx/>
                  <a:uFillTx/>
                </a:rPr>
                <a:t>Consultores</a:t>
              </a:r>
            </a:p>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r>
                <a:rPr kumimoji="0" lang="de-DE" sz="1200" b="0" i="0" u="none" strike="noStrike" kern="0" cap="none" spc="0" normalizeH="0" baseline="0" noProof="0" dirty="0">
                  <a:ln>
                    <a:noFill/>
                  </a:ln>
                  <a:solidFill>
                    <a:prstClr val="white"/>
                  </a:solidFill>
                  <a:effectLst/>
                  <a:uLnTx/>
                  <a:uFillTx/>
                </a:rPr>
                <a:t>Integradores</a:t>
              </a:r>
            </a:p>
            <a:p>
              <a:pPr marL="177800" marR="0" lvl="0" indent="-177800" defTabSz="762000" eaLnBrk="1" fontAlgn="auto" latinLnBrk="0" hangingPunct="1">
                <a:lnSpc>
                  <a:spcPct val="100000"/>
                </a:lnSpc>
                <a:spcBef>
                  <a:spcPct val="30000"/>
                </a:spcBef>
                <a:spcAft>
                  <a:spcPts val="0"/>
                </a:spcAft>
                <a:buClrTx/>
                <a:buSzTx/>
                <a:buFont typeface="Arial" pitchFamily="34" charset="0"/>
                <a:buChar char="•"/>
                <a:tabLst/>
                <a:defRPr/>
              </a:pPr>
              <a:r>
                <a:rPr kumimoji="0" lang="de-DE" sz="1200" b="0" i="0" u="none" strike="noStrike" kern="0" cap="none" spc="0" normalizeH="0" baseline="0" noProof="0" dirty="0">
                  <a:ln>
                    <a:noFill/>
                  </a:ln>
                  <a:solidFill>
                    <a:prstClr val="white"/>
                  </a:solidFill>
                  <a:effectLst/>
                  <a:uLnTx/>
                  <a:uFillTx/>
                </a:rPr>
                <a:t>Servicios Gestionados</a:t>
              </a:r>
            </a:p>
            <a:p>
              <a:pPr marL="0" marR="0" lvl="0" indent="0" defTabSz="762000" eaLnBrk="1" fontAlgn="auto" latinLnBrk="0" hangingPunct="1">
                <a:lnSpc>
                  <a:spcPct val="100000"/>
                </a:lnSpc>
                <a:spcBef>
                  <a:spcPct val="30000"/>
                </a:spcBef>
                <a:spcAft>
                  <a:spcPts val="0"/>
                </a:spcAft>
                <a:buClrTx/>
                <a:buSzTx/>
                <a:buFontTx/>
                <a:buNone/>
                <a:tabLst/>
                <a:defRPr/>
              </a:pPr>
              <a:endParaRPr kumimoji="0" lang="de-DE" sz="1200" b="0" i="0" u="none" strike="noStrike" kern="0" cap="none" spc="0" normalizeH="0" baseline="0" noProof="0" dirty="0">
                <a:ln>
                  <a:noFill/>
                </a:ln>
                <a:solidFill>
                  <a:prstClr val="white"/>
                </a:solidFill>
                <a:effectLst/>
                <a:uLnTx/>
                <a:uFillTx/>
              </a:endParaRPr>
            </a:p>
          </p:txBody>
        </p:sp>
        <p:sp>
          <p:nvSpPr>
            <p:cNvPr id="19" name="Text Box 10">
              <a:extLst>
                <a:ext uri="{FF2B5EF4-FFF2-40B4-BE49-F238E27FC236}">
                  <a16:creationId xmlns:a16="http://schemas.microsoft.com/office/drawing/2014/main" id="{E3773379-3B85-BACE-6E23-D3C9F0804663}"/>
                </a:ext>
              </a:extLst>
            </p:cNvPr>
            <p:cNvSpPr txBox="1">
              <a:spLocks noChangeArrowheads="1"/>
            </p:cNvSpPr>
            <p:nvPr>
              <p:custDataLst>
                <p:tags r:id="rId12"/>
              </p:custDataLst>
            </p:nvPr>
          </p:nvSpPr>
          <p:spPr bwMode="auto">
            <a:xfrm>
              <a:off x="6195179" y="2216345"/>
              <a:ext cx="2333812" cy="445956"/>
            </a:xfrm>
            <a:prstGeom prst="rect">
              <a:avLst/>
            </a:prstGeom>
            <a:solidFill>
              <a:srgbClr val="AA1133"/>
            </a:solidFill>
            <a:ln w="9525">
              <a:solidFill>
                <a:srgbClr val="FFFFFF"/>
              </a:solidFill>
              <a:miter lim="800000"/>
              <a:headEnd/>
              <a:tailEnd/>
            </a:ln>
          </p:spPr>
          <p:txBody>
            <a:bodyPr lIns="90000" tIns="46800" rIns="90000" bIns="46800" anchor="ctr"/>
            <a:lstStyle/>
            <a:p>
              <a:pPr marL="0" marR="0" lvl="0" indent="0" defTabSz="762000" eaLnBrk="0" fontAlgn="auto" latinLnBrk="0" hangingPunct="0">
                <a:lnSpc>
                  <a:spcPct val="100000"/>
                </a:lnSpc>
                <a:spcBef>
                  <a:spcPts val="0"/>
                </a:spcBef>
                <a:spcAft>
                  <a:spcPts val="0"/>
                </a:spcAft>
                <a:buClrTx/>
                <a:buSzTx/>
                <a:buFontTx/>
                <a:buNone/>
                <a:tabLst/>
                <a:defRPr/>
              </a:pPr>
              <a:r>
                <a:rPr kumimoji="0" lang="de-DE" sz="1200" b="0" i="0" u="none" strike="noStrike" kern="0" cap="none" spc="0" normalizeH="0" baseline="0" noProof="0" dirty="0">
                  <a:ln>
                    <a:noFill/>
                  </a:ln>
                  <a:solidFill>
                    <a:prstClr val="white"/>
                  </a:solidFill>
                  <a:effectLst/>
                  <a:uLnTx/>
                  <a:uFillTx/>
                </a:rPr>
                <a:t>Prestación de Servicios de Seguridad</a:t>
              </a:r>
              <a:r>
                <a:rPr kumimoji="0" lang="de-DE" sz="1600" b="1" i="0" u="none" strike="noStrike" kern="0" cap="none" spc="0" normalizeH="0" baseline="0" noProof="0" dirty="0">
                  <a:ln>
                    <a:noFill/>
                  </a:ln>
                  <a:solidFill>
                    <a:prstClr val="white"/>
                  </a:solidFill>
                  <a:effectLst/>
                  <a:uLnTx/>
                  <a:uFillTx/>
                </a:rPr>
                <a:t>	</a:t>
              </a:r>
            </a:p>
          </p:txBody>
        </p:sp>
      </p:grpSp>
      <p:sp>
        <p:nvSpPr>
          <p:cNvPr id="20" name="TextBox 19">
            <a:extLst>
              <a:ext uri="{FF2B5EF4-FFF2-40B4-BE49-F238E27FC236}">
                <a16:creationId xmlns:a16="http://schemas.microsoft.com/office/drawing/2014/main" id="{42C0EE88-F50A-89BD-445E-EC9EB13E496E}"/>
              </a:ext>
            </a:extLst>
          </p:cNvPr>
          <p:cNvSpPr txBox="1"/>
          <p:nvPr/>
        </p:nvSpPr>
        <p:spPr>
          <a:xfrm>
            <a:off x="401348" y="4797971"/>
            <a:ext cx="1967757" cy="923330"/>
          </a:xfrm>
          <a:prstGeom prst="rect">
            <a:avLst/>
          </a:prstGeom>
          <a:noFill/>
        </p:spPr>
        <p:txBody>
          <a:bodyPr wrap="square">
            <a:spAutoFit/>
          </a:bodyPr>
          <a:lstStyle/>
          <a:p>
            <a:pPr defTabSz="914102" fontAlgn="auto">
              <a:spcBef>
                <a:spcPts val="0"/>
              </a:spcBef>
              <a:spcAft>
                <a:spcPts val="0"/>
              </a:spcAft>
              <a:defRPr/>
            </a:pPr>
            <a:r>
              <a:rPr lang="en-US" spc="-50" dirty="0">
                <a:solidFill>
                  <a:prstClr val="white"/>
                </a:solidFill>
                <a:latin typeface="Arial"/>
              </a:rPr>
              <a:t>+ Global del Mercado </a:t>
            </a:r>
            <a:r>
              <a:rPr lang="en-US" spc="-50" dirty="0" err="1">
                <a:solidFill>
                  <a:prstClr val="white"/>
                </a:solidFill>
                <a:latin typeface="Arial"/>
              </a:rPr>
              <a:t>Ciberseguridad</a:t>
            </a:r>
            <a:endParaRPr lang="en-US" spc="-50" dirty="0">
              <a:solidFill>
                <a:prstClr val="white"/>
              </a:solidFill>
              <a:latin typeface="Arial"/>
            </a:endParaRPr>
          </a:p>
        </p:txBody>
      </p:sp>
      <p:sp>
        <p:nvSpPr>
          <p:cNvPr id="21" name="TextBox 20">
            <a:extLst>
              <a:ext uri="{FF2B5EF4-FFF2-40B4-BE49-F238E27FC236}">
                <a16:creationId xmlns:a16="http://schemas.microsoft.com/office/drawing/2014/main" id="{D12FF825-B436-E36E-F49E-47696899E027}"/>
              </a:ext>
            </a:extLst>
          </p:cNvPr>
          <p:cNvSpPr txBox="1"/>
          <p:nvPr/>
        </p:nvSpPr>
        <p:spPr>
          <a:xfrm>
            <a:off x="5778248" y="4437504"/>
            <a:ext cx="2205655" cy="923330"/>
          </a:xfrm>
          <a:prstGeom prst="rect">
            <a:avLst/>
          </a:prstGeom>
          <a:noFill/>
        </p:spPr>
        <p:txBody>
          <a:bodyPr wrap="square">
            <a:spAutoFit/>
          </a:bodyPr>
          <a:lstStyle/>
          <a:p>
            <a:pPr defTabSz="914102" fontAlgn="auto">
              <a:spcBef>
                <a:spcPts val="0"/>
              </a:spcBef>
              <a:spcAft>
                <a:spcPts val="0"/>
              </a:spcAft>
              <a:defRPr/>
            </a:pPr>
            <a:r>
              <a:rPr lang="en-US" spc="-50" dirty="0">
                <a:solidFill>
                  <a:prstClr val="white"/>
                </a:solidFill>
                <a:latin typeface="Arial"/>
              </a:rPr>
              <a:t>Colombia es Top 2 </a:t>
            </a:r>
            <a:r>
              <a:rPr lang="en-US" spc="-50" dirty="0" err="1">
                <a:solidFill>
                  <a:prstClr val="white"/>
                </a:solidFill>
                <a:latin typeface="Arial"/>
              </a:rPr>
              <a:t>en</a:t>
            </a:r>
            <a:r>
              <a:rPr lang="en-US" spc="-50" dirty="0">
                <a:solidFill>
                  <a:prstClr val="white"/>
                </a:solidFill>
                <a:latin typeface="Arial"/>
              </a:rPr>
              <a:t> </a:t>
            </a:r>
            <a:r>
              <a:rPr lang="en-US" spc="-50" dirty="0" err="1">
                <a:solidFill>
                  <a:prstClr val="white"/>
                </a:solidFill>
                <a:latin typeface="Arial"/>
              </a:rPr>
              <a:t>Incidentes</a:t>
            </a:r>
            <a:r>
              <a:rPr lang="en-US" spc="-50" dirty="0">
                <a:solidFill>
                  <a:prstClr val="white"/>
                </a:solidFill>
                <a:latin typeface="Arial"/>
              </a:rPr>
              <a:t> </a:t>
            </a:r>
            <a:r>
              <a:rPr lang="en-US" spc="-50" dirty="0" err="1">
                <a:solidFill>
                  <a:prstClr val="white"/>
                </a:solidFill>
                <a:latin typeface="Arial"/>
              </a:rPr>
              <a:t>en</a:t>
            </a:r>
            <a:r>
              <a:rPr lang="en-US" spc="-50" dirty="0">
                <a:solidFill>
                  <a:prstClr val="white"/>
                </a:solidFill>
                <a:latin typeface="Arial"/>
              </a:rPr>
              <a:t> la </a:t>
            </a:r>
            <a:r>
              <a:rPr lang="en-US" spc="-50" dirty="0" err="1">
                <a:solidFill>
                  <a:prstClr val="white"/>
                </a:solidFill>
                <a:latin typeface="Arial"/>
              </a:rPr>
              <a:t>Región</a:t>
            </a:r>
            <a:endParaRPr lang="en-US" spc="-50" dirty="0">
              <a:solidFill>
                <a:prstClr val="white"/>
              </a:solidFill>
              <a:latin typeface="Arial"/>
            </a:endParaRPr>
          </a:p>
        </p:txBody>
      </p:sp>
      <p:grpSp>
        <p:nvGrpSpPr>
          <p:cNvPr id="22" name="Group 21">
            <a:extLst>
              <a:ext uri="{FF2B5EF4-FFF2-40B4-BE49-F238E27FC236}">
                <a16:creationId xmlns:a16="http://schemas.microsoft.com/office/drawing/2014/main" id="{25B0F518-51FC-18DA-8799-A77CE85B9385}"/>
              </a:ext>
            </a:extLst>
          </p:cNvPr>
          <p:cNvGrpSpPr/>
          <p:nvPr/>
        </p:nvGrpSpPr>
        <p:grpSpPr>
          <a:xfrm>
            <a:off x="571270" y="3812544"/>
            <a:ext cx="1501169" cy="926951"/>
            <a:chOff x="347951" y="4658493"/>
            <a:chExt cx="1501169" cy="926951"/>
          </a:xfrm>
        </p:grpSpPr>
        <p:sp>
          <p:nvSpPr>
            <p:cNvPr id="23" name="Oval 22">
              <a:extLst>
                <a:ext uri="{FF2B5EF4-FFF2-40B4-BE49-F238E27FC236}">
                  <a16:creationId xmlns:a16="http://schemas.microsoft.com/office/drawing/2014/main" id="{F401CC0C-C5A4-BA97-AA93-EBA14DAD23E9}"/>
                </a:ext>
              </a:extLst>
            </p:cNvPr>
            <p:cNvSpPr/>
            <p:nvPr/>
          </p:nvSpPr>
          <p:spPr>
            <a:xfrm>
              <a:off x="347951" y="4658493"/>
              <a:ext cx="926951" cy="926951"/>
            </a:xfrm>
            <a:prstGeom prst="ellipse">
              <a:avLst/>
            </a:prstGeom>
            <a:noFill/>
            <a:ln w="3175" cap="flat" cmpd="sng" algn="ctr">
              <a:solidFill>
                <a:sysClr val="window" lastClr="FFFFFF"/>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4" name="TextBox 23">
              <a:extLst>
                <a:ext uri="{FF2B5EF4-FFF2-40B4-BE49-F238E27FC236}">
                  <a16:creationId xmlns:a16="http://schemas.microsoft.com/office/drawing/2014/main" id="{02379476-5552-AB9E-2203-654DF87C1B46}"/>
                </a:ext>
              </a:extLst>
            </p:cNvPr>
            <p:cNvSpPr txBox="1"/>
            <p:nvPr/>
          </p:nvSpPr>
          <p:spPr>
            <a:xfrm>
              <a:off x="394336" y="4876184"/>
              <a:ext cx="1454784" cy="523220"/>
            </a:xfrm>
            <a:prstGeom prst="rect">
              <a:avLst/>
            </a:prstGeom>
            <a:noFill/>
          </p:spPr>
          <p:txBody>
            <a:bodyPr wrap="square">
              <a:spAutoFit/>
            </a:bodyPr>
            <a:lstStyle/>
            <a:p>
              <a:pPr marL="0" marR="0" lvl="0" indent="0" defTabSz="914102"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rPr>
                <a:t>12% </a:t>
              </a:r>
            </a:p>
          </p:txBody>
        </p:sp>
      </p:grpSp>
      <p:grpSp>
        <p:nvGrpSpPr>
          <p:cNvPr id="25" name="Group 24">
            <a:extLst>
              <a:ext uri="{FF2B5EF4-FFF2-40B4-BE49-F238E27FC236}">
                <a16:creationId xmlns:a16="http://schemas.microsoft.com/office/drawing/2014/main" id="{47738FBC-4FD1-2B05-472D-2BBFB79F6C84}"/>
              </a:ext>
            </a:extLst>
          </p:cNvPr>
          <p:cNvGrpSpPr/>
          <p:nvPr/>
        </p:nvGrpSpPr>
        <p:grpSpPr>
          <a:xfrm>
            <a:off x="4601938" y="4450820"/>
            <a:ext cx="1454784" cy="926951"/>
            <a:chOff x="98143" y="4658493"/>
            <a:chExt cx="1454784" cy="926951"/>
          </a:xfrm>
        </p:grpSpPr>
        <p:sp>
          <p:nvSpPr>
            <p:cNvPr id="26" name="Oval 25">
              <a:extLst>
                <a:ext uri="{FF2B5EF4-FFF2-40B4-BE49-F238E27FC236}">
                  <a16:creationId xmlns:a16="http://schemas.microsoft.com/office/drawing/2014/main" id="{7F4DD3F2-DA10-8119-692C-4539B556AD12}"/>
                </a:ext>
              </a:extLst>
            </p:cNvPr>
            <p:cNvSpPr/>
            <p:nvPr/>
          </p:nvSpPr>
          <p:spPr>
            <a:xfrm>
              <a:off x="347951" y="4658493"/>
              <a:ext cx="926951" cy="926951"/>
            </a:xfrm>
            <a:prstGeom prst="ellipse">
              <a:avLst/>
            </a:prstGeom>
            <a:noFill/>
            <a:ln w="3175" cap="flat" cmpd="sng" algn="ctr">
              <a:solidFill>
                <a:sysClr val="window" lastClr="FFFFFF"/>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7" name="TextBox 26">
              <a:extLst>
                <a:ext uri="{FF2B5EF4-FFF2-40B4-BE49-F238E27FC236}">
                  <a16:creationId xmlns:a16="http://schemas.microsoft.com/office/drawing/2014/main" id="{0ED7A9A8-548A-AAE5-A6C9-97094A71787D}"/>
                </a:ext>
              </a:extLst>
            </p:cNvPr>
            <p:cNvSpPr txBox="1"/>
            <p:nvPr/>
          </p:nvSpPr>
          <p:spPr>
            <a:xfrm>
              <a:off x="98143" y="4822987"/>
              <a:ext cx="1454784" cy="523220"/>
            </a:xfrm>
            <a:prstGeom prst="rect">
              <a:avLst/>
            </a:prstGeom>
            <a:noFill/>
          </p:spPr>
          <p:txBody>
            <a:bodyPr wrap="square">
              <a:spAutoFit/>
            </a:bodyPr>
            <a:lstStyle/>
            <a:p>
              <a:pPr marL="0" marR="0" lvl="0" indent="0" algn="ctr" defTabSz="914102"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rPr>
                <a:t>#2</a:t>
              </a:r>
            </a:p>
          </p:txBody>
        </p:sp>
      </p:grpSp>
      <p:sp>
        <p:nvSpPr>
          <p:cNvPr id="28" name="TextBox 27">
            <a:extLst>
              <a:ext uri="{FF2B5EF4-FFF2-40B4-BE49-F238E27FC236}">
                <a16:creationId xmlns:a16="http://schemas.microsoft.com/office/drawing/2014/main" id="{A5A7C801-44E9-9D41-ECBD-F0C1D4471B7D}"/>
              </a:ext>
            </a:extLst>
          </p:cNvPr>
          <p:cNvSpPr txBox="1"/>
          <p:nvPr/>
        </p:nvSpPr>
        <p:spPr>
          <a:xfrm>
            <a:off x="3397580" y="4969005"/>
            <a:ext cx="1980502" cy="923330"/>
          </a:xfrm>
          <a:prstGeom prst="rect">
            <a:avLst/>
          </a:prstGeom>
          <a:noFill/>
        </p:spPr>
        <p:txBody>
          <a:bodyPr wrap="square">
            <a:spAutoFit/>
          </a:bodyPr>
          <a:lstStyle/>
          <a:p>
            <a:pPr defTabSz="914102" fontAlgn="auto">
              <a:spcBef>
                <a:spcPts val="0"/>
              </a:spcBef>
              <a:spcAft>
                <a:spcPts val="0"/>
              </a:spcAft>
              <a:defRPr/>
            </a:pPr>
            <a:r>
              <a:rPr lang="en-US" spc="-50" dirty="0" err="1">
                <a:solidFill>
                  <a:prstClr val="white"/>
                </a:solidFill>
                <a:latin typeface="Arial"/>
              </a:rPr>
              <a:t>Inversión</a:t>
            </a:r>
            <a:r>
              <a:rPr lang="en-US" spc="-50" dirty="0">
                <a:solidFill>
                  <a:prstClr val="white"/>
                </a:solidFill>
                <a:latin typeface="Arial"/>
              </a:rPr>
              <a:t> </a:t>
            </a:r>
            <a:r>
              <a:rPr lang="en-US" spc="-50" dirty="0" err="1">
                <a:solidFill>
                  <a:prstClr val="white"/>
                </a:solidFill>
                <a:latin typeface="Arial"/>
              </a:rPr>
              <a:t>en</a:t>
            </a:r>
            <a:r>
              <a:rPr lang="en-US" spc="-50" dirty="0">
                <a:solidFill>
                  <a:prstClr val="white"/>
                </a:solidFill>
                <a:latin typeface="Arial"/>
              </a:rPr>
              <a:t> Colombia </a:t>
            </a:r>
            <a:r>
              <a:rPr lang="en-US" spc="-50" dirty="0" err="1">
                <a:solidFill>
                  <a:prstClr val="white"/>
                </a:solidFill>
                <a:latin typeface="Arial"/>
              </a:rPr>
              <a:t>en</a:t>
            </a:r>
            <a:r>
              <a:rPr lang="en-US" spc="-50" dirty="0">
                <a:solidFill>
                  <a:prstClr val="white"/>
                </a:solidFill>
                <a:latin typeface="Arial"/>
              </a:rPr>
              <a:t> </a:t>
            </a:r>
            <a:r>
              <a:rPr lang="en-US" spc="-50" dirty="0" err="1">
                <a:solidFill>
                  <a:prstClr val="white"/>
                </a:solidFill>
                <a:latin typeface="Arial"/>
              </a:rPr>
              <a:t>Ciberseguridad</a:t>
            </a:r>
            <a:endParaRPr lang="en-US" spc="-50" dirty="0">
              <a:solidFill>
                <a:prstClr val="white"/>
              </a:solidFill>
              <a:latin typeface="Arial"/>
            </a:endParaRPr>
          </a:p>
        </p:txBody>
      </p:sp>
      <p:grpSp>
        <p:nvGrpSpPr>
          <p:cNvPr id="29" name="Group 28">
            <a:extLst>
              <a:ext uri="{FF2B5EF4-FFF2-40B4-BE49-F238E27FC236}">
                <a16:creationId xmlns:a16="http://schemas.microsoft.com/office/drawing/2014/main" id="{451FB99C-5A8A-8D1F-D8EE-A217CDD8DB4C}"/>
              </a:ext>
            </a:extLst>
          </p:cNvPr>
          <p:cNvGrpSpPr/>
          <p:nvPr/>
        </p:nvGrpSpPr>
        <p:grpSpPr>
          <a:xfrm>
            <a:off x="2173813" y="5205062"/>
            <a:ext cx="1454784" cy="926951"/>
            <a:chOff x="168102" y="4324285"/>
            <a:chExt cx="1454784" cy="926951"/>
          </a:xfrm>
        </p:grpSpPr>
        <p:sp>
          <p:nvSpPr>
            <p:cNvPr id="30" name="Oval 29">
              <a:extLst>
                <a:ext uri="{FF2B5EF4-FFF2-40B4-BE49-F238E27FC236}">
                  <a16:creationId xmlns:a16="http://schemas.microsoft.com/office/drawing/2014/main" id="{0A62D266-9AB0-124C-F605-883DB6892441}"/>
                </a:ext>
              </a:extLst>
            </p:cNvPr>
            <p:cNvSpPr/>
            <p:nvPr/>
          </p:nvSpPr>
          <p:spPr>
            <a:xfrm>
              <a:off x="417910" y="4324285"/>
              <a:ext cx="926951" cy="926951"/>
            </a:xfrm>
            <a:prstGeom prst="ellipse">
              <a:avLst/>
            </a:prstGeom>
            <a:noFill/>
            <a:ln w="3175" cap="flat" cmpd="sng" algn="ctr">
              <a:solidFill>
                <a:sysClr val="window" lastClr="FFFFFF"/>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31" name="TextBox 30">
              <a:extLst>
                <a:ext uri="{FF2B5EF4-FFF2-40B4-BE49-F238E27FC236}">
                  <a16:creationId xmlns:a16="http://schemas.microsoft.com/office/drawing/2014/main" id="{A2AB0F3D-CE80-171D-7C85-5ADDA4758D36}"/>
                </a:ext>
              </a:extLst>
            </p:cNvPr>
            <p:cNvSpPr txBox="1"/>
            <p:nvPr/>
          </p:nvSpPr>
          <p:spPr>
            <a:xfrm>
              <a:off x="168102" y="4488779"/>
              <a:ext cx="1454784" cy="738664"/>
            </a:xfrm>
            <a:prstGeom prst="rect">
              <a:avLst/>
            </a:prstGeom>
            <a:noFill/>
          </p:spPr>
          <p:txBody>
            <a:bodyPr wrap="square">
              <a:spAutoFit/>
            </a:bodyPr>
            <a:lstStyle/>
            <a:p>
              <a:pPr marL="0" marR="0" lvl="0" indent="0" algn="ctr" defTabSz="914102"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rPr>
                <a:t>240</a:t>
              </a:r>
            </a:p>
            <a:p>
              <a:pPr marL="0" marR="0" lvl="0" indent="0" algn="ctr" defTabSz="914102"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rPr>
                <a:t>US MM</a:t>
              </a:r>
            </a:p>
          </p:txBody>
        </p:sp>
      </p:grpSp>
      <p:sp>
        <p:nvSpPr>
          <p:cNvPr id="32" name="TextBox 31">
            <a:extLst>
              <a:ext uri="{FF2B5EF4-FFF2-40B4-BE49-F238E27FC236}">
                <a16:creationId xmlns:a16="http://schemas.microsoft.com/office/drawing/2014/main" id="{5E83B9FA-AC18-4BAE-77D1-99DABBE14510}"/>
              </a:ext>
            </a:extLst>
          </p:cNvPr>
          <p:cNvSpPr txBox="1"/>
          <p:nvPr/>
        </p:nvSpPr>
        <p:spPr>
          <a:xfrm>
            <a:off x="7657663" y="5459522"/>
            <a:ext cx="2409326" cy="923330"/>
          </a:xfrm>
          <a:prstGeom prst="rect">
            <a:avLst/>
          </a:prstGeom>
          <a:noFill/>
        </p:spPr>
        <p:txBody>
          <a:bodyPr wrap="square">
            <a:spAutoFit/>
          </a:bodyPr>
          <a:lstStyle/>
          <a:p>
            <a:pPr defTabSz="914102" fontAlgn="auto">
              <a:spcBef>
                <a:spcPts val="0"/>
              </a:spcBef>
              <a:spcAft>
                <a:spcPts val="0"/>
              </a:spcAft>
              <a:defRPr/>
            </a:pPr>
            <a:r>
              <a:rPr lang="en-US" spc="-50" dirty="0" err="1">
                <a:solidFill>
                  <a:prstClr val="white"/>
                </a:solidFill>
                <a:latin typeface="Arial"/>
              </a:rPr>
              <a:t>Crecimiento</a:t>
            </a:r>
            <a:r>
              <a:rPr lang="en-US" spc="-50" dirty="0">
                <a:solidFill>
                  <a:prstClr val="white"/>
                </a:solidFill>
                <a:latin typeface="Arial"/>
              </a:rPr>
              <a:t> </a:t>
            </a:r>
            <a:r>
              <a:rPr lang="en-US" spc="-50" dirty="0" err="1">
                <a:solidFill>
                  <a:prstClr val="white"/>
                </a:solidFill>
                <a:latin typeface="Arial"/>
              </a:rPr>
              <a:t>en</a:t>
            </a:r>
            <a:r>
              <a:rPr lang="en-US" spc="-50" dirty="0">
                <a:solidFill>
                  <a:prstClr val="white"/>
                </a:solidFill>
                <a:latin typeface="Arial"/>
              </a:rPr>
              <a:t> </a:t>
            </a:r>
            <a:r>
              <a:rPr lang="en-US" spc="-50" dirty="0" err="1">
                <a:solidFill>
                  <a:prstClr val="white"/>
                </a:solidFill>
                <a:latin typeface="Arial"/>
              </a:rPr>
              <a:t>Soluciones</a:t>
            </a:r>
            <a:r>
              <a:rPr lang="en-US" spc="-50" dirty="0">
                <a:solidFill>
                  <a:prstClr val="white"/>
                </a:solidFill>
                <a:latin typeface="Arial"/>
              </a:rPr>
              <a:t> Microsoft de Seguridad </a:t>
            </a:r>
          </a:p>
        </p:txBody>
      </p:sp>
      <p:grpSp>
        <p:nvGrpSpPr>
          <p:cNvPr id="33" name="Group 32">
            <a:extLst>
              <a:ext uri="{FF2B5EF4-FFF2-40B4-BE49-F238E27FC236}">
                <a16:creationId xmlns:a16="http://schemas.microsoft.com/office/drawing/2014/main" id="{59FD549D-ED00-4DFC-13B3-A035213E5050}"/>
              </a:ext>
            </a:extLst>
          </p:cNvPr>
          <p:cNvGrpSpPr/>
          <p:nvPr/>
        </p:nvGrpSpPr>
        <p:grpSpPr>
          <a:xfrm>
            <a:off x="6480904" y="5395085"/>
            <a:ext cx="1454784" cy="926951"/>
            <a:chOff x="98143" y="4658493"/>
            <a:chExt cx="1454784" cy="926951"/>
          </a:xfrm>
        </p:grpSpPr>
        <p:sp>
          <p:nvSpPr>
            <p:cNvPr id="34" name="Oval 33">
              <a:extLst>
                <a:ext uri="{FF2B5EF4-FFF2-40B4-BE49-F238E27FC236}">
                  <a16:creationId xmlns:a16="http://schemas.microsoft.com/office/drawing/2014/main" id="{90872110-F8D4-3C9D-D4D4-DAE11B6FF106}"/>
                </a:ext>
              </a:extLst>
            </p:cNvPr>
            <p:cNvSpPr/>
            <p:nvPr/>
          </p:nvSpPr>
          <p:spPr>
            <a:xfrm>
              <a:off x="347951" y="4658493"/>
              <a:ext cx="926951" cy="926951"/>
            </a:xfrm>
            <a:prstGeom prst="ellipse">
              <a:avLst/>
            </a:prstGeom>
            <a:noFill/>
            <a:ln w="3175" cap="flat" cmpd="sng" algn="ctr">
              <a:solidFill>
                <a:sysClr val="window" lastClr="FFFFFF"/>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35" name="TextBox 34">
              <a:extLst>
                <a:ext uri="{FF2B5EF4-FFF2-40B4-BE49-F238E27FC236}">
                  <a16:creationId xmlns:a16="http://schemas.microsoft.com/office/drawing/2014/main" id="{34F71F20-1DFF-CBB4-D79A-F8B4A8462CE2}"/>
                </a:ext>
              </a:extLst>
            </p:cNvPr>
            <p:cNvSpPr txBox="1"/>
            <p:nvPr/>
          </p:nvSpPr>
          <p:spPr>
            <a:xfrm>
              <a:off x="98143" y="4822987"/>
              <a:ext cx="1454784" cy="523220"/>
            </a:xfrm>
            <a:prstGeom prst="rect">
              <a:avLst/>
            </a:prstGeom>
            <a:noFill/>
          </p:spPr>
          <p:txBody>
            <a:bodyPr wrap="square">
              <a:spAutoFit/>
            </a:bodyPr>
            <a:lstStyle/>
            <a:p>
              <a:pPr marL="0" marR="0" lvl="0" indent="0" algn="ctr" defTabSz="914102"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rPr>
                <a:t>40%</a:t>
              </a:r>
            </a:p>
          </p:txBody>
        </p:sp>
      </p:grpSp>
      <p:sp>
        <p:nvSpPr>
          <p:cNvPr id="36" name="TextBox 35">
            <a:extLst>
              <a:ext uri="{FF2B5EF4-FFF2-40B4-BE49-F238E27FC236}">
                <a16:creationId xmlns:a16="http://schemas.microsoft.com/office/drawing/2014/main" id="{0ECB46C1-D934-40DA-97D8-E1B92E680CF9}"/>
              </a:ext>
            </a:extLst>
          </p:cNvPr>
          <p:cNvSpPr txBox="1"/>
          <p:nvPr/>
        </p:nvSpPr>
        <p:spPr>
          <a:xfrm>
            <a:off x="9807763" y="4980089"/>
            <a:ext cx="1874532" cy="1508105"/>
          </a:xfrm>
          <a:prstGeom prst="rect">
            <a:avLst/>
          </a:prstGeom>
          <a:noFill/>
        </p:spPr>
        <p:txBody>
          <a:bodyPr wrap="square">
            <a:spAutoFit/>
          </a:bodyPr>
          <a:lstStyle/>
          <a:p>
            <a:pPr defTabSz="914102" fontAlgn="auto">
              <a:spcBef>
                <a:spcPts val="0"/>
              </a:spcBef>
              <a:spcAft>
                <a:spcPts val="0"/>
              </a:spcAft>
              <a:defRPr/>
            </a:pPr>
            <a:r>
              <a:rPr lang="es-CL" spc="-50" dirty="0">
                <a:solidFill>
                  <a:prstClr val="white"/>
                </a:solidFill>
                <a:latin typeface="Arial"/>
              </a:rPr>
              <a:t>E</a:t>
            </a:r>
            <a:r>
              <a:rPr lang="en-US" spc="-50" dirty="0" err="1">
                <a:solidFill>
                  <a:prstClr val="white"/>
                </a:solidFill>
                <a:latin typeface="Arial"/>
              </a:rPr>
              <a:t>mpresas</a:t>
            </a:r>
            <a:r>
              <a:rPr lang="en-US" spc="-50" dirty="0">
                <a:solidFill>
                  <a:prstClr val="white"/>
                </a:solidFill>
                <a:latin typeface="Arial"/>
              </a:rPr>
              <a:t> </a:t>
            </a:r>
            <a:r>
              <a:rPr lang="en-US" spc="-50" dirty="0" err="1">
                <a:solidFill>
                  <a:prstClr val="white"/>
                </a:solidFill>
                <a:latin typeface="Arial"/>
              </a:rPr>
              <a:t>en</a:t>
            </a:r>
            <a:r>
              <a:rPr lang="en-US" spc="-50" dirty="0">
                <a:solidFill>
                  <a:prstClr val="white"/>
                </a:solidFill>
                <a:latin typeface="Arial"/>
              </a:rPr>
              <a:t> </a:t>
            </a:r>
            <a:r>
              <a:rPr lang="en-US" spc="-50" dirty="0" err="1">
                <a:solidFill>
                  <a:prstClr val="white"/>
                </a:solidFill>
                <a:latin typeface="Arial"/>
              </a:rPr>
              <a:t>colombia</a:t>
            </a:r>
            <a:r>
              <a:rPr lang="en-US" spc="-50" dirty="0">
                <a:solidFill>
                  <a:prstClr val="white"/>
                </a:solidFill>
                <a:latin typeface="Arial"/>
              </a:rPr>
              <a:t> </a:t>
            </a:r>
            <a:r>
              <a:rPr lang="en-US" spc="-50" dirty="0" err="1">
                <a:solidFill>
                  <a:prstClr val="white"/>
                </a:solidFill>
                <a:latin typeface="Arial"/>
              </a:rPr>
              <a:t>están</a:t>
            </a:r>
            <a:r>
              <a:rPr lang="en-US" spc="-50" dirty="0">
                <a:solidFill>
                  <a:prstClr val="white"/>
                </a:solidFill>
                <a:latin typeface="Arial"/>
              </a:rPr>
              <a:t> </a:t>
            </a:r>
            <a:r>
              <a:rPr lang="en-US" spc="-50" dirty="0" err="1">
                <a:solidFill>
                  <a:prstClr val="white"/>
                </a:solidFill>
                <a:latin typeface="Arial"/>
              </a:rPr>
              <a:t>dispuesta</a:t>
            </a:r>
            <a:r>
              <a:rPr lang="en-US" spc="-50" dirty="0">
                <a:solidFill>
                  <a:prstClr val="white"/>
                </a:solidFill>
                <a:latin typeface="Arial"/>
              </a:rPr>
              <a:t> a </a:t>
            </a:r>
            <a:r>
              <a:rPr lang="en-US" spc="-50" dirty="0" err="1">
                <a:solidFill>
                  <a:prstClr val="white"/>
                </a:solidFill>
                <a:latin typeface="Arial"/>
              </a:rPr>
              <a:t>invertir</a:t>
            </a:r>
            <a:r>
              <a:rPr lang="en-US" spc="-50" dirty="0">
                <a:solidFill>
                  <a:prstClr val="white"/>
                </a:solidFill>
                <a:latin typeface="Arial"/>
              </a:rPr>
              <a:t> </a:t>
            </a:r>
            <a:r>
              <a:rPr lang="en-US" spc="-50" dirty="0" err="1">
                <a:solidFill>
                  <a:prstClr val="white"/>
                </a:solidFill>
                <a:latin typeface="Arial"/>
              </a:rPr>
              <a:t>en</a:t>
            </a:r>
            <a:r>
              <a:rPr lang="en-US" spc="-50" dirty="0">
                <a:solidFill>
                  <a:prstClr val="white"/>
                </a:solidFill>
                <a:latin typeface="Arial"/>
              </a:rPr>
              <a:t> </a:t>
            </a:r>
            <a:r>
              <a:rPr lang="en-US" spc="-50" dirty="0" err="1">
                <a:solidFill>
                  <a:prstClr val="white"/>
                </a:solidFill>
                <a:latin typeface="Arial"/>
              </a:rPr>
              <a:t>Cibserseguridad</a:t>
            </a:r>
            <a:endParaRPr lang="en-US" sz="2000" spc="-50" dirty="0">
              <a:solidFill>
                <a:prstClr val="white"/>
              </a:solidFill>
              <a:latin typeface="Arial"/>
            </a:endParaRPr>
          </a:p>
        </p:txBody>
      </p:sp>
      <p:grpSp>
        <p:nvGrpSpPr>
          <p:cNvPr id="37" name="Group 36">
            <a:extLst>
              <a:ext uri="{FF2B5EF4-FFF2-40B4-BE49-F238E27FC236}">
                <a16:creationId xmlns:a16="http://schemas.microsoft.com/office/drawing/2014/main" id="{778DCDF0-6387-F826-4E0F-664937502F8D}"/>
              </a:ext>
            </a:extLst>
          </p:cNvPr>
          <p:cNvGrpSpPr/>
          <p:nvPr/>
        </p:nvGrpSpPr>
        <p:grpSpPr>
          <a:xfrm>
            <a:off x="9880852" y="3995643"/>
            <a:ext cx="1454784" cy="926951"/>
            <a:chOff x="98143" y="4658493"/>
            <a:chExt cx="1454784" cy="926951"/>
          </a:xfrm>
          <a:solidFill>
            <a:srgbClr val="666666"/>
          </a:solidFill>
        </p:grpSpPr>
        <p:sp>
          <p:nvSpPr>
            <p:cNvPr id="38" name="Oval 37">
              <a:extLst>
                <a:ext uri="{FF2B5EF4-FFF2-40B4-BE49-F238E27FC236}">
                  <a16:creationId xmlns:a16="http://schemas.microsoft.com/office/drawing/2014/main" id="{E8E3F51D-177A-85B8-8C3F-3410A9F89816}"/>
                </a:ext>
              </a:extLst>
            </p:cNvPr>
            <p:cNvSpPr/>
            <p:nvPr/>
          </p:nvSpPr>
          <p:spPr>
            <a:xfrm>
              <a:off x="347951" y="4658493"/>
              <a:ext cx="926951" cy="926951"/>
            </a:xfrm>
            <a:prstGeom prst="ellipse">
              <a:avLst/>
            </a:prstGeom>
            <a:grpFill/>
            <a:ln w="3175" cap="flat" cmpd="sng" algn="ctr">
              <a:solidFill>
                <a:sysClr val="window" lastClr="FFFFFF"/>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39" name="TextBox 38">
              <a:extLst>
                <a:ext uri="{FF2B5EF4-FFF2-40B4-BE49-F238E27FC236}">
                  <a16:creationId xmlns:a16="http://schemas.microsoft.com/office/drawing/2014/main" id="{4E1FE64A-0AF8-6686-CBF0-0C21A31EBC15}"/>
                </a:ext>
              </a:extLst>
            </p:cNvPr>
            <p:cNvSpPr txBox="1"/>
            <p:nvPr/>
          </p:nvSpPr>
          <p:spPr>
            <a:xfrm>
              <a:off x="98143" y="4822987"/>
              <a:ext cx="1454784" cy="523220"/>
            </a:xfrm>
            <a:prstGeom prst="rect">
              <a:avLst/>
            </a:prstGeom>
            <a:noFill/>
          </p:spPr>
          <p:txBody>
            <a:bodyPr wrap="square">
              <a:spAutoFit/>
            </a:bodyPr>
            <a:lstStyle/>
            <a:p>
              <a:pPr marL="0" marR="0" lvl="0" indent="0" algn="ctr" defTabSz="914102"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prstClr val="white"/>
                  </a:solidFill>
                  <a:effectLst/>
                  <a:uLnTx/>
                  <a:uFillTx/>
                  <a:latin typeface="Segoe UI Semibold" panose="020B0702040204020203" pitchFamily="34" charset="0"/>
                  <a:cs typeface="Segoe UI Semibold" panose="020B0702040204020203" pitchFamily="34" charset="0"/>
                </a:rPr>
                <a:t>55%</a:t>
              </a:r>
            </a:p>
          </p:txBody>
        </p:sp>
      </p:grpSp>
    </p:spTree>
    <p:extLst>
      <p:ext uri="{BB962C8B-B14F-4D97-AF65-F5344CB8AC3E}">
        <p14:creationId xmlns:p14="http://schemas.microsoft.com/office/powerpoint/2010/main" val="425176896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F618CFFC-D255-25AB-2421-1B05958B6D42}"/>
              </a:ext>
            </a:extLst>
          </p:cNvPr>
          <p:cNvGrpSpPr/>
          <p:nvPr/>
        </p:nvGrpSpPr>
        <p:grpSpPr>
          <a:xfrm>
            <a:off x="1" y="5391720"/>
            <a:ext cx="6997700" cy="1294869"/>
            <a:chOff x="1139669" y="5123224"/>
            <a:chExt cx="5034368" cy="1295039"/>
          </a:xfrm>
          <a:solidFill>
            <a:sysClr val="window" lastClr="FFFFFF"/>
          </a:solidFill>
        </p:grpSpPr>
        <p:sp>
          <p:nvSpPr>
            <p:cNvPr id="16" name="Rectangle 8">
              <a:extLst>
                <a:ext uri="{FF2B5EF4-FFF2-40B4-BE49-F238E27FC236}">
                  <a16:creationId xmlns:a16="http://schemas.microsoft.com/office/drawing/2014/main" id="{3F9262A5-8BE7-0D49-7E6E-2B5D1DB24B38}"/>
                </a:ext>
              </a:extLst>
            </p:cNvPr>
            <p:cNvSpPr/>
            <p:nvPr/>
          </p:nvSpPr>
          <p:spPr>
            <a:xfrm>
              <a:off x="1139670" y="5123224"/>
              <a:ext cx="5034367" cy="1295039"/>
            </a:xfrm>
            <a:custGeom>
              <a:avLst/>
              <a:gdLst>
                <a:gd name="connsiteX0" fmla="*/ 0 w 6099824"/>
                <a:gd name="connsiteY0" fmla="*/ 0 h 1295039"/>
                <a:gd name="connsiteX1" fmla="*/ 6099824 w 6099824"/>
                <a:gd name="connsiteY1" fmla="*/ 0 h 1295039"/>
                <a:gd name="connsiteX2" fmla="*/ 6099824 w 6099824"/>
                <a:gd name="connsiteY2" fmla="*/ 1295039 h 1295039"/>
                <a:gd name="connsiteX3" fmla="*/ 0 w 6099824"/>
                <a:gd name="connsiteY3" fmla="*/ 1295039 h 1295039"/>
                <a:gd name="connsiteX4" fmla="*/ 0 w 6099824"/>
                <a:gd name="connsiteY4" fmla="*/ 0 h 1295039"/>
                <a:gd name="connsiteX0" fmla="*/ 0 w 6840654"/>
                <a:gd name="connsiteY0" fmla="*/ 0 h 1295039"/>
                <a:gd name="connsiteX1" fmla="*/ 6840654 w 6840654"/>
                <a:gd name="connsiteY1" fmla="*/ 0 h 1295039"/>
                <a:gd name="connsiteX2" fmla="*/ 6099824 w 6840654"/>
                <a:gd name="connsiteY2" fmla="*/ 1295039 h 1295039"/>
                <a:gd name="connsiteX3" fmla="*/ 0 w 6840654"/>
                <a:gd name="connsiteY3" fmla="*/ 1295039 h 1295039"/>
                <a:gd name="connsiteX4" fmla="*/ 0 w 6840654"/>
                <a:gd name="connsiteY4" fmla="*/ 0 h 12950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0654" h="1295039">
                  <a:moveTo>
                    <a:pt x="0" y="0"/>
                  </a:moveTo>
                  <a:lnTo>
                    <a:pt x="6840654" y="0"/>
                  </a:lnTo>
                  <a:lnTo>
                    <a:pt x="6099824" y="1295039"/>
                  </a:lnTo>
                  <a:lnTo>
                    <a:pt x="0" y="1295039"/>
                  </a:lnTo>
                  <a:lnTo>
                    <a:pt x="0" y="0"/>
                  </a:lnTo>
                  <a:close/>
                </a:path>
              </a:pathLst>
            </a:custGeom>
            <a:grpFill/>
            <a:ln w="25400" cap="flat" cmpd="sng" algn="ctr">
              <a:noFill/>
              <a:prstDash val="solid"/>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a:ea typeface="+mn-ea"/>
                <a:cs typeface="+mn-cs"/>
              </a:endParaRPr>
            </a:p>
          </p:txBody>
        </p:sp>
        <p:sp>
          <p:nvSpPr>
            <p:cNvPr id="17" name="TextBox 16">
              <a:extLst>
                <a:ext uri="{FF2B5EF4-FFF2-40B4-BE49-F238E27FC236}">
                  <a16:creationId xmlns:a16="http://schemas.microsoft.com/office/drawing/2014/main" id="{AC554DE5-EB8A-CB2B-4697-D4EA54B29570}"/>
                </a:ext>
              </a:extLst>
            </p:cNvPr>
            <p:cNvSpPr txBox="1"/>
            <p:nvPr/>
          </p:nvSpPr>
          <p:spPr>
            <a:xfrm>
              <a:off x="1139669" y="5152675"/>
              <a:ext cx="4780026" cy="1077359"/>
            </a:xfrm>
            <a:prstGeom prst="rect">
              <a:avLst/>
            </a:prstGeom>
            <a:noFill/>
          </p:spPr>
          <p:txBody>
            <a:bodyPr wrap="square" rtlCol="0">
              <a:spAutoFit/>
            </a:bodyPr>
            <a:lstStyle/>
            <a:p>
              <a:pPr marL="0" marR="0" lvl="0" indent="0" defTabSz="914309" eaLnBrk="1" fontAlgn="auto" latinLnBrk="0" hangingPunct="1">
                <a:lnSpc>
                  <a:spcPct val="100000"/>
                </a:lnSpc>
                <a:spcBef>
                  <a:spcPts val="0"/>
                </a:spcBef>
                <a:spcAft>
                  <a:spcPts val="0"/>
                </a:spcAft>
                <a:buClrTx/>
                <a:buSzTx/>
                <a:buFontTx/>
                <a:buNone/>
                <a:tabLst/>
                <a:defRPr/>
              </a:pPr>
              <a:r>
                <a:rPr kumimoji="0" lang="es-ES" sz="1600" b="0" i="0" u="none" strike="noStrike" kern="0" cap="none" spc="-50" normalizeH="0" baseline="0" noProof="0" dirty="0">
                  <a:ln>
                    <a:noFill/>
                  </a:ln>
                  <a:solidFill>
                    <a:srgbClr val="AA1133"/>
                  </a:solidFill>
                  <a:effectLst/>
                  <a:uLnTx/>
                  <a:uFillTx/>
                  <a:latin typeface="Arial"/>
                </a:rPr>
                <a:t>Se presentan oportunidades para empresas especializadas en este campo,  sin embargo, es fundamental mantenerse actualizado sobre los cambios en el entorno empresarial y desarrollar estrategias efectivas para diferenciarse y mantener una ventaja competitiva en un mercado en crecimiento </a:t>
              </a:r>
              <a:endParaRPr kumimoji="0" lang="en-US" sz="1600" b="0" i="0" u="none" strike="noStrike" kern="0" cap="none" spc="-50" normalizeH="0" baseline="0" noProof="0" dirty="0">
                <a:ln>
                  <a:noFill/>
                </a:ln>
                <a:solidFill>
                  <a:srgbClr val="AA1133"/>
                </a:solidFill>
                <a:effectLst/>
                <a:uLnTx/>
                <a:uFillTx/>
                <a:latin typeface="Arial"/>
              </a:endParaRPr>
            </a:p>
          </p:txBody>
        </p:sp>
      </p:grpSp>
      <p:sp>
        <p:nvSpPr>
          <p:cNvPr id="18" name="TextBox 17">
            <a:extLst>
              <a:ext uri="{FF2B5EF4-FFF2-40B4-BE49-F238E27FC236}">
                <a16:creationId xmlns:a16="http://schemas.microsoft.com/office/drawing/2014/main" id="{AD183804-4DCA-97F8-4BD8-132EE8A4BFAF}"/>
              </a:ext>
            </a:extLst>
          </p:cNvPr>
          <p:cNvSpPr txBox="1"/>
          <p:nvPr/>
        </p:nvSpPr>
        <p:spPr>
          <a:xfrm>
            <a:off x="347951" y="428726"/>
            <a:ext cx="4302781" cy="630942"/>
          </a:xfrm>
          <a:prstGeom prst="rect">
            <a:avLst/>
          </a:prstGeom>
          <a:noFill/>
        </p:spPr>
        <p:txBody>
          <a:bodyPr wrap="none" rtlCol="0">
            <a:spAutoFit/>
          </a:bodyPr>
          <a:lstStyle/>
          <a:p>
            <a:pPr defTabSz="914309" fontAlgn="auto">
              <a:spcBef>
                <a:spcPts val="0"/>
              </a:spcBef>
              <a:spcAft>
                <a:spcPts val="0"/>
              </a:spcAft>
              <a:defRPr/>
            </a:pPr>
            <a:r>
              <a:rPr lang="es-CL" sz="3500" spc="-30" dirty="0">
                <a:solidFill>
                  <a:prstClr val="white"/>
                </a:solidFill>
                <a:latin typeface="Arial"/>
              </a:rPr>
              <a:t>Grupos Estratégicos</a:t>
            </a:r>
            <a:endParaRPr lang="en-US" sz="3500" spc="-30" dirty="0">
              <a:solidFill>
                <a:prstClr val="white"/>
              </a:solidFill>
              <a:latin typeface="Arial"/>
            </a:endParaRPr>
          </a:p>
        </p:txBody>
      </p:sp>
      <p:sp>
        <p:nvSpPr>
          <p:cNvPr id="19" name="Oval 18">
            <a:extLst>
              <a:ext uri="{FF2B5EF4-FFF2-40B4-BE49-F238E27FC236}">
                <a16:creationId xmlns:a16="http://schemas.microsoft.com/office/drawing/2014/main" id="{FD247385-BDF5-CA65-66BB-DF6C44136923}"/>
              </a:ext>
            </a:extLst>
          </p:cNvPr>
          <p:cNvSpPr/>
          <p:nvPr/>
        </p:nvSpPr>
        <p:spPr>
          <a:xfrm>
            <a:off x="10770596" y="1819473"/>
            <a:ext cx="240044" cy="240044"/>
          </a:xfrm>
          <a:prstGeom prst="ellipse">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0" name="Oval 19">
            <a:extLst>
              <a:ext uri="{FF2B5EF4-FFF2-40B4-BE49-F238E27FC236}">
                <a16:creationId xmlns:a16="http://schemas.microsoft.com/office/drawing/2014/main" id="{356FA585-D3A1-9322-908C-468AB639BB75}"/>
              </a:ext>
            </a:extLst>
          </p:cNvPr>
          <p:cNvSpPr/>
          <p:nvPr/>
        </p:nvSpPr>
        <p:spPr>
          <a:xfrm>
            <a:off x="10728589" y="1777466"/>
            <a:ext cx="324058" cy="324058"/>
          </a:xfrm>
          <a:prstGeom prst="ellipse">
            <a:avLst/>
          </a:prstGeom>
          <a:noFill/>
          <a:ln w="19050" cap="flat" cmpd="sng" algn="ctr">
            <a:solidFill>
              <a:srgbClr val="AA113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1" name="Oval 20">
            <a:extLst>
              <a:ext uri="{FF2B5EF4-FFF2-40B4-BE49-F238E27FC236}">
                <a16:creationId xmlns:a16="http://schemas.microsoft.com/office/drawing/2014/main" id="{2A0977F6-0B52-C04C-16C3-C45E2B7B85CA}"/>
              </a:ext>
            </a:extLst>
          </p:cNvPr>
          <p:cNvSpPr/>
          <p:nvPr/>
        </p:nvSpPr>
        <p:spPr>
          <a:xfrm>
            <a:off x="10674958" y="1723835"/>
            <a:ext cx="431321" cy="431321"/>
          </a:xfrm>
          <a:prstGeom prst="ellipse">
            <a:avLst/>
          </a:prstGeom>
          <a:noFill/>
          <a:ln w="28575" cap="flat" cmpd="sng" algn="ctr">
            <a:solidFill>
              <a:srgbClr val="AA113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pic>
        <p:nvPicPr>
          <p:cNvPr id="22" name="Picture 21">
            <a:extLst>
              <a:ext uri="{FF2B5EF4-FFF2-40B4-BE49-F238E27FC236}">
                <a16:creationId xmlns:a16="http://schemas.microsoft.com/office/drawing/2014/main" id="{6312EE54-7B5E-8C40-E5B7-9AB88A45155A}"/>
              </a:ext>
            </a:extLst>
          </p:cNvPr>
          <p:cNvPicPr>
            <a:picLocks noChangeAspect="1"/>
          </p:cNvPicPr>
          <p:nvPr/>
        </p:nvPicPr>
        <p:blipFill>
          <a:blip r:embed="rId8"/>
          <a:stretch>
            <a:fillRect/>
          </a:stretch>
        </p:blipFill>
        <p:spPr>
          <a:xfrm>
            <a:off x="215901" y="1436832"/>
            <a:ext cx="6743700" cy="3519288"/>
          </a:xfrm>
          <a:prstGeom prst="rect">
            <a:avLst/>
          </a:prstGeom>
        </p:spPr>
      </p:pic>
      <p:sp>
        <p:nvSpPr>
          <p:cNvPr id="23" name="Content Placeholder 3">
            <a:extLst>
              <a:ext uri="{FF2B5EF4-FFF2-40B4-BE49-F238E27FC236}">
                <a16:creationId xmlns:a16="http://schemas.microsoft.com/office/drawing/2014/main" id="{44CCD33C-B31A-FA1B-E97D-31E38ADD5688}"/>
              </a:ext>
            </a:extLst>
          </p:cNvPr>
          <p:cNvSpPr txBox="1">
            <a:spLocks/>
          </p:cNvSpPr>
          <p:nvPr>
            <p:custDataLst>
              <p:tags r:id="rId1"/>
            </p:custDataLst>
          </p:nvPr>
        </p:nvSpPr>
        <p:spPr bwMode="gray">
          <a:xfrm>
            <a:off x="6959601" y="1068448"/>
            <a:ext cx="4857931" cy="951431"/>
          </a:xfrm>
          <a:prstGeom prst="rect">
            <a:avLst/>
          </a:prstGeom>
          <a:noFill/>
          <a:ln w="3175">
            <a:solidFill>
              <a:srgbClr val="FFFFFF"/>
            </a:solidFill>
            <a:miter lim="800000"/>
            <a:headEnd/>
            <a:tailEnd/>
          </a:ln>
          <a:effectLst/>
        </p:spPr>
        <p:txBody>
          <a:bodyPr lIns="72000" tIns="72000" rIns="0" bIns="72000" anchor="ctr">
            <a:noAutofit/>
          </a:bodyPr>
          <a:lstStyle>
            <a:defPPr>
              <a:defRPr lang="en-US"/>
            </a:defPPr>
            <a:lvl2pPr marL="0" lvl="1" algn="ctr">
              <a:lnSpc>
                <a:spcPct val="100000"/>
              </a:lnSpc>
              <a:spcBef>
                <a:spcPct val="10000"/>
              </a:spcBef>
              <a:buClr>
                <a:srgbClr val="000000"/>
              </a:buClr>
              <a:defRPr sz="1000" b="0" i="1" kern="0"/>
            </a:lvl2pPr>
          </a:lstStyle>
          <a:p>
            <a:pPr marL="0" marR="0" lvl="1" indent="0" algn="l" defTabSz="914400" eaLnBrk="1" fontAlgn="auto" latinLnBrk="0" hangingPunct="1">
              <a:lnSpc>
                <a:spcPct val="100000"/>
              </a:lnSpc>
              <a:spcBef>
                <a:spcPct val="10000"/>
              </a:spcBef>
              <a:spcAft>
                <a:spcPts val="0"/>
              </a:spcAft>
              <a:buClr>
                <a:srgbClr val="000000"/>
              </a:buClr>
              <a:buSzTx/>
              <a:buFontTx/>
              <a:buNone/>
              <a:tabLst/>
              <a:defRPr/>
            </a:pPr>
            <a:r>
              <a:rPr kumimoji="0" lang="es-CL" sz="1400" b="1" i="0" u="none" strike="noStrike" kern="1200" cap="none" spc="-50" normalizeH="0" baseline="0" noProof="0" dirty="0">
                <a:ln>
                  <a:noFill/>
                </a:ln>
                <a:solidFill>
                  <a:prstClr val="white"/>
                </a:solidFill>
                <a:effectLst/>
                <a:uLnTx/>
                <a:uFillTx/>
                <a:latin typeface="Arial"/>
              </a:rPr>
              <a:t>Rivalidad entre competidores existentes </a:t>
            </a:r>
            <a:r>
              <a:rPr kumimoji="0" lang="es-CL" sz="1400" b="0" i="0" u="none" strike="noStrike" kern="1200" cap="none" spc="-50" normalizeH="0" baseline="0" noProof="0" dirty="0">
                <a:ln>
                  <a:noFill/>
                </a:ln>
                <a:solidFill>
                  <a:prstClr val="white"/>
                </a:solidFill>
                <a:effectLst/>
                <a:uLnTx/>
                <a:uFillTx/>
                <a:latin typeface="Arial"/>
              </a:rPr>
              <a:t>: Existe una competencia moderada en el mercado de consultoría de ciberseguridad en Colombia.</a:t>
            </a:r>
            <a:endParaRPr kumimoji="0" lang="en-US" sz="1400" b="0" i="0" u="none" strike="noStrike" kern="1200" cap="none" spc="-50" normalizeH="0" baseline="0" noProof="0" dirty="0">
              <a:ln>
                <a:noFill/>
              </a:ln>
              <a:solidFill>
                <a:prstClr val="white"/>
              </a:solidFill>
              <a:effectLst/>
              <a:uLnTx/>
              <a:uFillTx/>
              <a:latin typeface="Arial"/>
              <a:sym typeface="Wingdings" pitchFamily="2" charset="2"/>
            </a:endParaRPr>
          </a:p>
        </p:txBody>
      </p:sp>
      <p:sp>
        <p:nvSpPr>
          <p:cNvPr id="24" name="Content Placeholder 3">
            <a:extLst>
              <a:ext uri="{FF2B5EF4-FFF2-40B4-BE49-F238E27FC236}">
                <a16:creationId xmlns:a16="http://schemas.microsoft.com/office/drawing/2014/main" id="{304C9567-F27C-DAF3-C03F-A317651E0164}"/>
              </a:ext>
            </a:extLst>
          </p:cNvPr>
          <p:cNvSpPr txBox="1">
            <a:spLocks/>
          </p:cNvSpPr>
          <p:nvPr>
            <p:custDataLst>
              <p:tags r:id="rId2"/>
            </p:custDataLst>
          </p:nvPr>
        </p:nvSpPr>
        <p:spPr bwMode="gray">
          <a:xfrm>
            <a:off x="6959601" y="2115040"/>
            <a:ext cx="4857930" cy="951431"/>
          </a:xfrm>
          <a:prstGeom prst="rect">
            <a:avLst/>
          </a:prstGeom>
          <a:noFill/>
          <a:ln w="3175">
            <a:solidFill>
              <a:srgbClr val="FFFFFF"/>
            </a:solidFill>
            <a:miter lim="800000"/>
            <a:headEnd/>
            <a:tailEnd/>
          </a:ln>
          <a:effectLst/>
        </p:spPr>
        <p:txBody>
          <a:bodyPr lIns="72000" tIns="72000" rIns="0" bIns="72000" anchor="ctr">
            <a:noAutofit/>
          </a:bodyPr>
          <a:lstStyle>
            <a:defPPr>
              <a:defRPr lang="en-US"/>
            </a:defPPr>
            <a:lvl2pPr marL="0" lvl="1" algn="ctr">
              <a:lnSpc>
                <a:spcPct val="100000"/>
              </a:lnSpc>
              <a:spcBef>
                <a:spcPct val="10000"/>
              </a:spcBef>
              <a:buClr>
                <a:srgbClr val="000000"/>
              </a:buClr>
              <a:defRPr sz="1000" b="0" i="1" kern="0"/>
            </a:lvl2pPr>
          </a:lstStyle>
          <a:p>
            <a:pPr marL="0" marR="0" lvl="1" indent="0" algn="l" defTabSz="914400" eaLnBrk="1" fontAlgn="auto" latinLnBrk="0" hangingPunct="1">
              <a:lnSpc>
                <a:spcPct val="100000"/>
              </a:lnSpc>
              <a:spcBef>
                <a:spcPct val="10000"/>
              </a:spcBef>
              <a:spcAft>
                <a:spcPts val="0"/>
              </a:spcAft>
              <a:buClr>
                <a:srgbClr val="000000"/>
              </a:buClr>
              <a:buSzTx/>
              <a:buFontTx/>
              <a:buNone/>
              <a:tabLst/>
              <a:defRPr/>
            </a:pPr>
            <a:r>
              <a:rPr kumimoji="0" lang="es-CL" sz="1400" b="1" i="0" u="none" strike="noStrike" kern="1200" cap="none" spc="-50" normalizeH="0" baseline="0" noProof="0" dirty="0">
                <a:ln>
                  <a:noFill/>
                </a:ln>
                <a:solidFill>
                  <a:prstClr val="white"/>
                </a:solidFill>
                <a:effectLst/>
                <a:uLnTx/>
                <a:uFillTx/>
                <a:latin typeface="Arial"/>
              </a:rPr>
              <a:t>Amenaza de nuevos competidores</a:t>
            </a:r>
            <a:r>
              <a:rPr kumimoji="0" lang="es-CL" sz="1400" b="0" i="0" u="none" strike="noStrike" kern="1200" cap="none" spc="-50" normalizeH="0" baseline="0" noProof="0" dirty="0">
                <a:ln>
                  <a:noFill/>
                </a:ln>
                <a:solidFill>
                  <a:prstClr val="white"/>
                </a:solidFill>
                <a:effectLst/>
                <a:uLnTx/>
                <a:uFillTx/>
                <a:latin typeface="Arial"/>
              </a:rPr>
              <a:t>: Aunque la barrera de entrada para nuevos competidores es alta debido a la necesidad de conocimientos técnicos especializados</a:t>
            </a:r>
            <a:endParaRPr kumimoji="0" lang="en-US" sz="1400" b="0" i="0" u="none" strike="noStrike" kern="1200" cap="none" spc="-50" normalizeH="0" baseline="0" noProof="0" dirty="0">
              <a:ln>
                <a:noFill/>
              </a:ln>
              <a:solidFill>
                <a:prstClr val="white"/>
              </a:solidFill>
              <a:effectLst/>
              <a:uLnTx/>
              <a:uFillTx/>
              <a:latin typeface="Arial"/>
              <a:sym typeface="Wingdings" pitchFamily="2" charset="2"/>
            </a:endParaRPr>
          </a:p>
        </p:txBody>
      </p:sp>
      <p:sp>
        <p:nvSpPr>
          <p:cNvPr id="25" name="Content Placeholder 3">
            <a:extLst>
              <a:ext uri="{FF2B5EF4-FFF2-40B4-BE49-F238E27FC236}">
                <a16:creationId xmlns:a16="http://schemas.microsoft.com/office/drawing/2014/main" id="{1EC84764-B43B-A374-DC42-11610D778BCA}"/>
              </a:ext>
            </a:extLst>
          </p:cNvPr>
          <p:cNvSpPr txBox="1">
            <a:spLocks/>
          </p:cNvSpPr>
          <p:nvPr>
            <p:custDataLst>
              <p:tags r:id="rId3"/>
            </p:custDataLst>
          </p:nvPr>
        </p:nvSpPr>
        <p:spPr bwMode="gray">
          <a:xfrm>
            <a:off x="6959601" y="3202796"/>
            <a:ext cx="4857930" cy="951431"/>
          </a:xfrm>
          <a:prstGeom prst="rect">
            <a:avLst/>
          </a:prstGeom>
          <a:noFill/>
          <a:ln w="3175">
            <a:solidFill>
              <a:srgbClr val="FFFFFF"/>
            </a:solidFill>
            <a:miter lim="800000"/>
            <a:headEnd/>
            <a:tailEnd/>
          </a:ln>
          <a:effectLst/>
        </p:spPr>
        <p:txBody>
          <a:bodyPr lIns="72000" tIns="72000" rIns="0" bIns="72000" anchor="ctr">
            <a:noAutofit/>
          </a:bodyPr>
          <a:lstStyle>
            <a:defPPr>
              <a:defRPr lang="en-US"/>
            </a:defPPr>
            <a:lvl2pPr marL="0" lvl="1" algn="ctr">
              <a:lnSpc>
                <a:spcPct val="100000"/>
              </a:lnSpc>
              <a:spcBef>
                <a:spcPct val="10000"/>
              </a:spcBef>
              <a:buClr>
                <a:srgbClr val="000000"/>
              </a:buClr>
              <a:defRPr sz="1000" b="0" i="1" kern="0"/>
            </a:lvl2pPr>
          </a:lstStyle>
          <a:p>
            <a:pPr marL="0" marR="0" lvl="1" indent="0" algn="l" defTabSz="914400" eaLnBrk="1" fontAlgn="auto" latinLnBrk="0" hangingPunct="1">
              <a:lnSpc>
                <a:spcPct val="100000"/>
              </a:lnSpc>
              <a:spcBef>
                <a:spcPct val="10000"/>
              </a:spcBef>
              <a:spcAft>
                <a:spcPts val="0"/>
              </a:spcAft>
              <a:buClr>
                <a:srgbClr val="000000"/>
              </a:buClr>
              <a:buSzTx/>
              <a:buFontTx/>
              <a:buNone/>
              <a:tabLst/>
              <a:defRPr/>
            </a:pPr>
            <a:r>
              <a:rPr kumimoji="0" lang="es-CL" sz="1400" b="1" i="0" u="none" strike="noStrike" kern="1200" cap="none" spc="-50" normalizeH="0" baseline="0" noProof="0" dirty="0">
                <a:ln>
                  <a:noFill/>
                </a:ln>
                <a:solidFill>
                  <a:prstClr val="white"/>
                </a:solidFill>
                <a:effectLst/>
                <a:uLnTx/>
                <a:uFillTx/>
                <a:latin typeface="Arial"/>
              </a:rPr>
              <a:t>Amenaza de productos o servicios sustitutos</a:t>
            </a:r>
            <a:r>
              <a:rPr kumimoji="0" lang="es-CL" sz="1400" b="0" i="0" u="none" strike="noStrike" kern="1200" cap="none" spc="-50" normalizeH="0" baseline="0" noProof="0" dirty="0">
                <a:ln>
                  <a:noFill/>
                </a:ln>
                <a:solidFill>
                  <a:prstClr val="white"/>
                </a:solidFill>
                <a:effectLst/>
                <a:uLnTx/>
                <a:uFillTx/>
                <a:latin typeface="Arial"/>
              </a:rPr>
              <a:t>: Es baja debido a la creciente demanda de servicios de ciberseguridad en el </a:t>
            </a:r>
            <a:endParaRPr kumimoji="0" lang="en-US" sz="1400" b="0" i="0" u="none" strike="noStrike" kern="1200" cap="none" spc="-50" normalizeH="0" baseline="0" noProof="0" dirty="0">
              <a:ln>
                <a:noFill/>
              </a:ln>
              <a:solidFill>
                <a:prstClr val="white"/>
              </a:solidFill>
              <a:effectLst/>
              <a:uLnTx/>
              <a:uFillTx/>
              <a:latin typeface="Arial"/>
              <a:sym typeface="Wingdings" pitchFamily="2" charset="2"/>
            </a:endParaRPr>
          </a:p>
        </p:txBody>
      </p:sp>
      <p:sp>
        <p:nvSpPr>
          <p:cNvPr id="26" name="Content Placeholder 3">
            <a:extLst>
              <a:ext uri="{FF2B5EF4-FFF2-40B4-BE49-F238E27FC236}">
                <a16:creationId xmlns:a16="http://schemas.microsoft.com/office/drawing/2014/main" id="{747885D1-91D4-9380-DB42-738C6689DC14}"/>
              </a:ext>
            </a:extLst>
          </p:cNvPr>
          <p:cNvSpPr txBox="1">
            <a:spLocks/>
          </p:cNvSpPr>
          <p:nvPr>
            <p:custDataLst>
              <p:tags r:id="rId4"/>
            </p:custDataLst>
          </p:nvPr>
        </p:nvSpPr>
        <p:spPr bwMode="gray">
          <a:xfrm>
            <a:off x="6959601" y="4272712"/>
            <a:ext cx="4857930" cy="951431"/>
          </a:xfrm>
          <a:prstGeom prst="rect">
            <a:avLst/>
          </a:prstGeom>
          <a:noFill/>
          <a:ln w="3175">
            <a:solidFill>
              <a:srgbClr val="FFFFFF"/>
            </a:solidFill>
            <a:miter lim="800000"/>
            <a:headEnd/>
            <a:tailEnd/>
          </a:ln>
          <a:effectLst/>
        </p:spPr>
        <p:txBody>
          <a:bodyPr lIns="72000" tIns="72000" rIns="0" bIns="72000" anchor="ctr">
            <a:noAutofit/>
          </a:bodyPr>
          <a:lstStyle>
            <a:defPPr>
              <a:defRPr lang="en-US"/>
            </a:defPPr>
            <a:lvl2pPr marL="0" lvl="1" algn="ctr">
              <a:lnSpc>
                <a:spcPct val="100000"/>
              </a:lnSpc>
              <a:spcBef>
                <a:spcPct val="10000"/>
              </a:spcBef>
              <a:buClr>
                <a:srgbClr val="000000"/>
              </a:buClr>
              <a:defRPr sz="1000" b="0" i="1" kern="0"/>
            </a:lvl2pPr>
          </a:lstStyle>
          <a:p>
            <a:pPr marL="0" marR="0" lvl="1" indent="0" algn="l" defTabSz="914400" eaLnBrk="1" fontAlgn="auto" latinLnBrk="0" hangingPunct="1">
              <a:lnSpc>
                <a:spcPct val="100000"/>
              </a:lnSpc>
              <a:spcBef>
                <a:spcPct val="10000"/>
              </a:spcBef>
              <a:spcAft>
                <a:spcPts val="0"/>
              </a:spcAft>
              <a:buClr>
                <a:srgbClr val="000000"/>
              </a:buClr>
              <a:buSzTx/>
              <a:buFontTx/>
              <a:buNone/>
              <a:tabLst/>
              <a:defRPr/>
            </a:pPr>
            <a:endParaRPr kumimoji="0" lang="es-CL" sz="1400" b="0" i="0" u="none" strike="noStrike" kern="1200" cap="none" spc="-50" normalizeH="0" baseline="0" noProof="0" dirty="0">
              <a:ln>
                <a:noFill/>
              </a:ln>
              <a:solidFill>
                <a:prstClr val="white"/>
              </a:solidFill>
              <a:effectLst/>
              <a:uLnTx/>
              <a:uFillTx/>
              <a:latin typeface="Arial"/>
            </a:endParaRPr>
          </a:p>
          <a:p>
            <a:pPr marL="0" marR="0" lvl="1" indent="0" algn="l" defTabSz="914400" eaLnBrk="1" fontAlgn="auto" latinLnBrk="0" hangingPunct="1">
              <a:lnSpc>
                <a:spcPct val="100000"/>
              </a:lnSpc>
              <a:spcBef>
                <a:spcPct val="10000"/>
              </a:spcBef>
              <a:spcAft>
                <a:spcPts val="0"/>
              </a:spcAft>
              <a:buClr>
                <a:srgbClr val="000000"/>
              </a:buClr>
              <a:buSzTx/>
              <a:buFontTx/>
              <a:buNone/>
              <a:tabLst/>
              <a:defRPr/>
            </a:pPr>
            <a:r>
              <a:rPr kumimoji="0" lang="es-CL" sz="1400" b="1" i="0" u="none" strike="noStrike" kern="1200" cap="none" spc="-50" normalizeH="0" baseline="0" noProof="0" dirty="0">
                <a:ln>
                  <a:noFill/>
                </a:ln>
                <a:solidFill>
                  <a:prstClr val="white"/>
                </a:solidFill>
                <a:effectLst/>
                <a:uLnTx/>
                <a:uFillTx/>
                <a:latin typeface="Arial"/>
              </a:rPr>
              <a:t>Poder de negociación de los clientes</a:t>
            </a:r>
            <a:r>
              <a:rPr kumimoji="0" lang="es-CL" sz="1400" b="0" i="0" u="none" strike="noStrike" kern="1200" cap="none" spc="-50" normalizeH="0" baseline="0" noProof="0" dirty="0">
                <a:ln>
                  <a:noFill/>
                </a:ln>
                <a:solidFill>
                  <a:prstClr val="white"/>
                </a:solidFill>
                <a:effectLst/>
                <a:uLnTx/>
                <a:uFillTx/>
                <a:latin typeface="Arial"/>
              </a:rPr>
              <a:t>: Puede variar, lo que destaca la necesidad de comprender sus necesidades y expectativas para mantener relaciones sólidas y ofrecer servicios de calidad.</a:t>
            </a:r>
            <a:endParaRPr kumimoji="0" lang="en-US" sz="1400" b="0" i="0" u="none" strike="noStrike" kern="1200" cap="none" spc="-50" normalizeH="0" baseline="0" noProof="0" dirty="0">
              <a:ln>
                <a:noFill/>
              </a:ln>
              <a:solidFill>
                <a:prstClr val="white"/>
              </a:solidFill>
              <a:effectLst/>
              <a:uLnTx/>
              <a:uFillTx/>
              <a:latin typeface="Arial"/>
            </a:endParaRPr>
          </a:p>
          <a:p>
            <a:pPr marL="0" marR="0" lvl="1" indent="0" algn="l" defTabSz="914400" eaLnBrk="1" fontAlgn="auto" latinLnBrk="0" hangingPunct="1">
              <a:lnSpc>
                <a:spcPct val="100000"/>
              </a:lnSpc>
              <a:spcBef>
                <a:spcPct val="10000"/>
              </a:spcBef>
              <a:spcAft>
                <a:spcPts val="0"/>
              </a:spcAft>
              <a:buClr>
                <a:srgbClr val="000000"/>
              </a:buClr>
              <a:buSzTx/>
              <a:buFontTx/>
              <a:buNone/>
              <a:tabLst/>
              <a:defRPr/>
            </a:pPr>
            <a:endParaRPr kumimoji="0" lang="en-US" sz="1400" b="0" i="0" u="none" strike="noStrike" kern="1200" cap="none" spc="-50" normalizeH="0" baseline="0" noProof="0" dirty="0">
              <a:ln>
                <a:noFill/>
              </a:ln>
              <a:solidFill>
                <a:prstClr val="white"/>
              </a:solidFill>
              <a:effectLst/>
              <a:uLnTx/>
              <a:uFillTx/>
              <a:latin typeface="Arial"/>
              <a:sym typeface="Wingdings" pitchFamily="2" charset="2"/>
            </a:endParaRPr>
          </a:p>
        </p:txBody>
      </p:sp>
      <p:sp>
        <p:nvSpPr>
          <p:cNvPr id="27" name="Content Placeholder 3">
            <a:extLst>
              <a:ext uri="{FF2B5EF4-FFF2-40B4-BE49-F238E27FC236}">
                <a16:creationId xmlns:a16="http://schemas.microsoft.com/office/drawing/2014/main" id="{43901CF0-911E-9A2E-678A-932F34B50FEC}"/>
              </a:ext>
            </a:extLst>
          </p:cNvPr>
          <p:cNvSpPr txBox="1">
            <a:spLocks/>
          </p:cNvSpPr>
          <p:nvPr>
            <p:custDataLst>
              <p:tags r:id="rId5"/>
            </p:custDataLst>
          </p:nvPr>
        </p:nvSpPr>
        <p:spPr bwMode="gray">
          <a:xfrm>
            <a:off x="6959601" y="5342628"/>
            <a:ext cx="4857930" cy="951431"/>
          </a:xfrm>
          <a:prstGeom prst="rect">
            <a:avLst/>
          </a:prstGeom>
          <a:noFill/>
          <a:ln w="3175">
            <a:solidFill>
              <a:srgbClr val="FFFFFF"/>
            </a:solidFill>
            <a:miter lim="800000"/>
            <a:headEnd/>
            <a:tailEnd/>
          </a:ln>
          <a:effectLst/>
        </p:spPr>
        <p:txBody>
          <a:bodyPr lIns="72000" tIns="72000" rIns="0" bIns="72000" anchor="ctr">
            <a:noAutofit/>
          </a:bodyPr>
          <a:lstStyle>
            <a:defPPr>
              <a:defRPr lang="en-US"/>
            </a:defPPr>
            <a:lvl2pPr marL="0" lvl="1" algn="ctr">
              <a:lnSpc>
                <a:spcPct val="100000"/>
              </a:lnSpc>
              <a:spcBef>
                <a:spcPct val="10000"/>
              </a:spcBef>
              <a:buClr>
                <a:srgbClr val="000000"/>
              </a:buClr>
              <a:defRPr sz="1000" b="0" i="1" kern="0"/>
            </a:lvl2pPr>
          </a:lstStyle>
          <a:p>
            <a:pPr marL="0" marR="0" lvl="1" indent="0" algn="l" defTabSz="914400" eaLnBrk="1" fontAlgn="auto" latinLnBrk="0" hangingPunct="1">
              <a:lnSpc>
                <a:spcPct val="100000"/>
              </a:lnSpc>
              <a:spcBef>
                <a:spcPct val="10000"/>
              </a:spcBef>
              <a:spcAft>
                <a:spcPts val="0"/>
              </a:spcAft>
              <a:buClr>
                <a:srgbClr val="000000"/>
              </a:buClr>
              <a:buSzTx/>
              <a:buFontTx/>
              <a:buNone/>
              <a:tabLst/>
              <a:defRPr/>
            </a:pPr>
            <a:endParaRPr kumimoji="0" lang="es-CL" sz="1400" b="0" i="0" u="none" strike="noStrike" kern="1200" cap="none" spc="-50" normalizeH="0" baseline="0" noProof="0" dirty="0">
              <a:ln>
                <a:noFill/>
              </a:ln>
              <a:solidFill>
                <a:prstClr val="white"/>
              </a:solidFill>
              <a:effectLst/>
              <a:uLnTx/>
              <a:uFillTx/>
              <a:latin typeface="Arial"/>
            </a:endParaRPr>
          </a:p>
          <a:p>
            <a:pPr marL="0" marR="0" lvl="1" indent="0" algn="l" defTabSz="914400" eaLnBrk="1" fontAlgn="auto" latinLnBrk="0" hangingPunct="1">
              <a:lnSpc>
                <a:spcPct val="100000"/>
              </a:lnSpc>
              <a:spcBef>
                <a:spcPct val="10000"/>
              </a:spcBef>
              <a:spcAft>
                <a:spcPts val="0"/>
              </a:spcAft>
              <a:buClr>
                <a:srgbClr val="000000"/>
              </a:buClr>
              <a:buSzTx/>
              <a:buFontTx/>
              <a:buNone/>
              <a:tabLst/>
              <a:defRPr/>
            </a:pPr>
            <a:r>
              <a:rPr kumimoji="0" lang="es-CL" sz="1400" b="1" i="0" u="none" strike="noStrike" kern="1200" cap="none" spc="-50" normalizeH="0" baseline="0" noProof="0" dirty="0">
                <a:ln>
                  <a:noFill/>
                </a:ln>
                <a:solidFill>
                  <a:prstClr val="white"/>
                </a:solidFill>
                <a:effectLst/>
                <a:uLnTx/>
                <a:uFillTx/>
                <a:latin typeface="Arial"/>
              </a:rPr>
              <a:t>Poder de negociación de los proveedores</a:t>
            </a:r>
            <a:r>
              <a:rPr kumimoji="0" lang="es-CL" sz="1400" b="0" i="0" u="none" strike="noStrike" kern="1200" cap="none" spc="-50" normalizeH="0" baseline="0" noProof="0" dirty="0">
                <a:ln>
                  <a:noFill/>
                </a:ln>
                <a:solidFill>
                  <a:prstClr val="white"/>
                </a:solidFill>
                <a:effectLst/>
                <a:uLnTx/>
                <a:uFillTx/>
                <a:latin typeface="Arial"/>
              </a:rPr>
              <a:t>: Es moderado, pero existe una variedad de opciones disponibles en el mercado.</a:t>
            </a:r>
            <a:endParaRPr kumimoji="0" lang="en-US" sz="1400" b="0" i="0" u="none" strike="noStrike" kern="1200" cap="none" spc="-50" normalizeH="0" baseline="0" noProof="0" dirty="0">
              <a:ln>
                <a:noFill/>
              </a:ln>
              <a:solidFill>
                <a:prstClr val="white"/>
              </a:solidFill>
              <a:effectLst/>
              <a:uLnTx/>
              <a:uFillTx/>
              <a:latin typeface="Arial"/>
            </a:endParaRPr>
          </a:p>
          <a:p>
            <a:pPr marL="0" marR="0" lvl="1" indent="0" algn="l" defTabSz="914400" eaLnBrk="1" fontAlgn="auto" latinLnBrk="0" hangingPunct="1">
              <a:lnSpc>
                <a:spcPct val="100000"/>
              </a:lnSpc>
              <a:spcBef>
                <a:spcPct val="10000"/>
              </a:spcBef>
              <a:spcAft>
                <a:spcPts val="0"/>
              </a:spcAft>
              <a:buClr>
                <a:srgbClr val="000000"/>
              </a:buClr>
              <a:buSzTx/>
              <a:buFontTx/>
              <a:buNone/>
              <a:tabLst/>
              <a:defRPr/>
            </a:pPr>
            <a:endParaRPr kumimoji="0" lang="en-US" sz="1400" b="0" i="0" u="none" strike="noStrike" kern="1200" cap="none" spc="-50" normalizeH="0" baseline="0" noProof="0" dirty="0">
              <a:ln>
                <a:noFill/>
              </a:ln>
              <a:solidFill>
                <a:prstClr val="white"/>
              </a:solidFill>
              <a:effectLst/>
              <a:uLnTx/>
              <a:uFillTx/>
              <a:latin typeface="Arial"/>
              <a:sym typeface="Wingdings" pitchFamily="2" charset="2"/>
            </a:endParaRPr>
          </a:p>
        </p:txBody>
      </p:sp>
      <p:sp>
        <p:nvSpPr>
          <p:cNvPr id="28" name="Oval 27">
            <a:extLst>
              <a:ext uri="{FF2B5EF4-FFF2-40B4-BE49-F238E27FC236}">
                <a16:creationId xmlns:a16="http://schemas.microsoft.com/office/drawing/2014/main" id="{155B4750-266F-3B91-1BE2-5CDE8C2DB0BB}"/>
              </a:ext>
            </a:extLst>
          </p:cNvPr>
          <p:cNvSpPr/>
          <p:nvPr/>
        </p:nvSpPr>
        <p:spPr bwMode="auto">
          <a:xfrm>
            <a:off x="1899920" y="2019879"/>
            <a:ext cx="431321" cy="431321"/>
          </a:xfrm>
          <a:prstGeom prst="ellipse">
            <a:avLst/>
          </a:prstGeom>
          <a:solidFill>
            <a:schemeClr val="bg1"/>
          </a:solidFill>
          <a:ln>
            <a:solidFill>
              <a:srgbClr val="7F0D26"/>
            </a:solidFill>
            <a:headEnd/>
            <a:tailEnd/>
          </a:ln>
        </p:spPr>
        <p:style>
          <a:lnRef idx="2">
            <a:schemeClr val="accent2"/>
          </a:lnRef>
          <a:fillRef idx="1">
            <a:schemeClr val="lt1"/>
          </a:fillRef>
          <a:effectRef idx="0">
            <a:schemeClr val="accent2"/>
          </a:effectRef>
          <a:fontRef idx="minor">
            <a:schemeClr val="dk1"/>
          </a:fontRef>
        </p:style>
        <p:txBody>
          <a:bodyPr lIns="180000" rIns="54000" rtlCol="0" anchor="t"/>
          <a:lstStyle/>
          <a:p>
            <a:pPr algn="ctr"/>
            <a:endParaRPr lang="en-US" sz="1100" b="1" dirty="0"/>
          </a:p>
        </p:txBody>
      </p:sp>
      <p:grpSp>
        <p:nvGrpSpPr>
          <p:cNvPr id="33" name="Group 52">
            <a:extLst>
              <a:ext uri="{FF2B5EF4-FFF2-40B4-BE49-F238E27FC236}">
                <a16:creationId xmlns:a16="http://schemas.microsoft.com/office/drawing/2014/main" id="{E06889F5-4F8B-2FA6-A6B4-E4547D9C7814}"/>
              </a:ext>
            </a:extLst>
          </p:cNvPr>
          <p:cNvGrpSpPr>
            <a:grpSpLocks noChangeAspect="1"/>
          </p:cNvGrpSpPr>
          <p:nvPr/>
        </p:nvGrpSpPr>
        <p:grpSpPr bwMode="auto">
          <a:xfrm>
            <a:off x="1956717" y="2076925"/>
            <a:ext cx="317726" cy="317228"/>
            <a:chOff x="3239" y="272"/>
            <a:chExt cx="637" cy="636"/>
          </a:xfrm>
        </p:grpSpPr>
        <p:sp>
          <p:nvSpPr>
            <p:cNvPr id="35" name="Oval 53">
              <a:extLst>
                <a:ext uri="{FF2B5EF4-FFF2-40B4-BE49-F238E27FC236}">
                  <a16:creationId xmlns:a16="http://schemas.microsoft.com/office/drawing/2014/main" id="{32B00863-5D56-2606-1AE2-7F473B90BB91}"/>
                </a:ext>
              </a:extLst>
            </p:cNvPr>
            <p:cNvSpPr>
              <a:spLocks noChangeArrowheads="1"/>
            </p:cNvSpPr>
            <p:nvPr/>
          </p:nvSpPr>
          <p:spPr bwMode="auto">
            <a:xfrm>
              <a:off x="3239" y="272"/>
              <a:ext cx="637" cy="636"/>
            </a:xfrm>
            <a:prstGeom prst="ellipse">
              <a:avLst/>
            </a:prstGeom>
            <a:noFill/>
            <a:ln w="63500" cap="flat">
              <a:solidFill>
                <a:srgbClr val="7F0D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E" sz="1400">
                <a:solidFill>
                  <a:prstClr val="black"/>
                </a:solidFill>
              </a:endParaRPr>
            </a:p>
          </p:txBody>
        </p:sp>
        <p:sp>
          <p:nvSpPr>
            <p:cNvPr id="36" name="Freeform 54">
              <a:extLst>
                <a:ext uri="{FF2B5EF4-FFF2-40B4-BE49-F238E27FC236}">
                  <a16:creationId xmlns:a16="http://schemas.microsoft.com/office/drawing/2014/main" id="{7729B19E-D2FE-B504-7E8E-F235A5F35D66}"/>
                </a:ext>
              </a:extLst>
            </p:cNvPr>
            <p:cNvSpPr>
              <a:spLocks noEditPoints="1"/>
            </p:cNvSpPr>
            <p:nvPr/>
          </p:nvSpPr>
          <p:spPr bwMode="auto">
            <a:xfrm>
              <a:off x="3409" y="331"/>
              <a:ext cx="301" cy="511"/>
            </a:xfrm>
            <a:custGeom>
              <a:avLst/>
              <a:gdLst>
                <a:gd name="T0" fmla="*/ 73 w 122"/>
                <a:gd name="T1" fmla="*/ 207 h 207"/>
                <a:gd name="T2" fmla="*/ 51 w 122"/>
                <a:gd name="T3" fmla="*/ 207 h 207"/>
                <a:gd name="T4" fmla="*/ 49 w 122"/>
                <a:gd name="T5" fmla="*/ 193 h 207"/>
                <a:gd name="T6" fmla="*/ 35 w 122"/>
                <a:gd name="T7" fmla="*/ 153 h 207"/>
                <a:gd name="T8" fmla="*/ 11 w 122"/>
                <a:gd name="T9" fmla="*/ 104 h 207"/>
                <a:gd name="T10" fmla="*/ 4 w 122"/>
                <a:gd name="T11" fmla="*/ 80 h 207"/>
                <a:gd name="T12" fmla="*/ 29 w 122"/>
                <a:gd name="T13" fmla="*/ 24 h 207"/>
                <a:gd name="T14" fmla="*/ 120 w 122"/>
                <a:gd name="T15" fmla="*/ 62 h 207"/>
                <a:gd name="T16" fmla="*/ 116 w 122"/>
                <a:gd name="T17" fmla="*/ 94 h 207"/>
                <a:gd name="T18" fmla="*/ 92 w 122"/>
                <a:gd name="T19" fmla="*/ 145 h 207"/>
                <a:gd name="T20" fmla="*/ 76 w 122"/>
                <a:gd name="T21" fmla="*/ 189 h 207"/>
                <a:gd name="T22" fmla="*/ 73 w 122"/>
                <a:gd name="T23" fmla="*/ 207 h 207"/>
                <a:gd name="T24" fmla="*/ 62 w 122"/>
                <a:gd name="T25" fmla="*/ 47 h 207"/>
                <a:gd name="T26" fmla="*/ 36 w 122"/>
                <a:gd name="T27" fmla="*/ 73 h 207"/>
                <a:gd name="T28" fmla="*/ 62 w 122"/>
                <a:gd name="T29" fmla="*/ 99 h 207"/>
                <a:gd name="T30" fmla="*/ 88 w 122"/>
                <a:gd name="T31" fmla="*/ 73 h 207"/>
                <a:gd name="T32" fmla="*/ 62 w 122"/>
                <a:gd name="T33" fmla="*/ 4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07">
                  <a:moveTo>
                    <a:pt x="73" y="207"/>
                  </a:moveTo>
                  <a:cubicBezTo>
                    <a:pt x="66" y="207"/>
                    <a:pt x="58" y="207"/>
                    <a:pt x="51" y="207"/>
                  </a:cubicBezTo>
                  <a:cubicBezTo>
                    <a:pt x="51" y="202"/>
                    <a:pt x="50" y="198"/>
                    <a:pt x="49" y="193"/>
                  </a:cubicBezTo>
                  <a:cubicBezTo>
                    <a:pt x="47" y="179"/>
                    <a:pt x="41" y="166"/>
                    <a:pt x="35" y="153"/>
                  </a:cubicBezTo>
                  <a:cubicBezTo>
                    <a:pt x="27" y="136"/>
                    <a:pt x="19" y="120"/>
                    <a:pt x="11" y="104"/>
                  </a:cubicBezTo>
                  <a:cubicBezTo>
                    <a:pt x="8" y="96"/>
                    <a:pt x="5" y="88"/>
                    <a:pt x="4" y="80"/>
                  </a:cubicBezTo>
                  <a:cubicBezTo>
                    <a:pt x="0" y="56"/>
                    <a:pt x="10" y="37"/>
                    <a:pt x="29" y="24"/>
                  </a:cubicBezTo>
                  <a:cubicBezTo>
                    <a:pt x="64" y="0"/>
                    <a:pt x="112" y="20"/>
                    <a:pt x="120" y="62"/>
                  </a:cubicBezTo>
                  <a:cubicBezTo>
                    <a:pt x="122" y="73"/>
                    <a:pt x="120" y="84"/>
                    <a:pt x="116" y="94"/>
                  </a:cubicBezTo>
                  <a:cubicBezTo>
                    <a:pt x="108" y="111"/>
                    <a:pt x="100" y="128"/>
                    <a:pt x="92" y="145"/>
                  </a:cubicBezTo>
                  <a:cubicBezTo>
                    <a:pt x="85" y="159"/>
                    <a:pt x="79" y="174"/>
                    <a:pt x="76" y="189"/>
                  </a:cubicBezTo>
                  <a:cubicBezTo>
                    <a:pt x="74" y="195"/>
                    <a:pt x="74" y="201"/>
                    <a:pt x="73" y="207"/>
                  </a:cubicBezTo>
                  <a:close/>
                  <a:moveTo>
                    <a:pt x="62" y="47"/>
                  </a:moveTo>
                  <a:cubicBezTo>
                    <a:pt x="48" y="47"/>
                    <a:pt x="36" y="59"/>
                    <a:pt x="36" y="73"/>
                  </a:cubicBezTo>
                  <a:cubicBezTo>
                    <a:pt x="36" y="87"/>
                    <a:pt x="48" y="99"/>
                    <a:pt x="62" y="99"/>
                  </a:cubicBezTo>
                  <a:cubicBezTo>
                    <a:pt x="76" y="98"/>
                    <a:pt x="88" y="87"/>
                    <a:pt x="88" y="73"/>
                  </a:cubicBezTo>
                  <a:cubicBezTo>
                    <a:pt x="87" y="59"/>
                    <a:pt x="76" y="47"/>
                    <a:pt x="62" y="47"/>
                  </a:cubicBezTo>
                  <a:close/>
                </a:path>
              </a:pathLst>
            </a:custGeom>
            <a:solidFill>
              <a:srgbClr val="00B0F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E" sz="1400">
                <a:solidFill>
                  <a:prstClr val="black"/>
                </a:solidFill>
              </a:endParaRPr>
            </a:p>
          </p:txBody>
        </p:sp>
      </p:grpSp>
    </p:spTree>
    <p:extLst>
      <p:ext uri="{BB962C8B-B14F-4D97-AF65-F5344CB8AC3E}">
        <p14:creationId xmlns:p14="http://schemas.microsoft.com/office/powerpoint/2010/main" val="243470708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E6F7E31B-3B83-F042-F31A-673CB38E509E}"/>
              </a:ext>
            </a:extLst>
          </p:cNvPr>
          <p:cNvSpPr txBox="1"/>
          <p:nvPr/>
        </p:nvSpPr>
        <p:spPr>
          <a:xfrm>
            <a:off x="347951" y="428726"/>
            <a:ext cx="5286575" cy="630942"/>
          </a:xfrm>
          <a:prstGeom prst="rect">
            <a:avLst/>
          </a:prstGeom>
          <a:noFill/>
        </p:spPr>
        <p:txBody>
          <a:bodyPr wrap="none" rtlCol="0">
            <a:spAutoFit/>
          </a:bodyPr>
          <a:lstStyle/>
          <a:p>
            <a:pPr defTabSz="914309" fontAlgn="auto">
              <a:spcBef>
                <a:spcPts val="0"/>
              </a:spcBef>
              <a:spcAft>
                <a:spcPts val="0"/>
              </a:spcAft>
              <a:defRPr/>
            </a:pPr>
            <a:r>
              <a:rPr lang="es-CL" sz="3500" spc="-30" dirty="0">
                <a:solidFill>
                  <a:prstClr val="white"/>
                </a:solidFill>
                <a:latin typeface="Arial"/>
              </a:rPr>
              <a:t>FODA de IT-Trail Services</a:t>
            </a:r>
            <a:endParaRPr lang="en-US" sz="3500" spc="-30" dirty="0">
              <a:solidFill>
                <a:prstClr val="white"/>
              </a:solidFill>
              <a:latin typeface="Arial"/>
            </a:endParaRPr>
          </a:p>
        </p:txBody>
      </p:sp>
      <p:sp>
        <p:nvSpPr>
          <p:cNvPr id="39" name="AutoShape 6">
            <a:extLst>
              <a:ext uri="{FF2B5EF4-FFF2-40B4-BE49-F238E27FC236}">
                <a16:creationId xmlns:a16="http://schemas.microsoft.com/office/drawing/2014/main" id="{5F263C84-E6FA-925B-3B38-89ABF77B362A}"/>
              </a:ext>
            </a:extLst>
          </p:cNvPr>
          <p:cNvSpPr>
            <a:spLocks noChangeArrowheads="1"/>
          </p:cNvSpPr>
          <p:nvPr/>
        </p:nvSpPr>
        <p:spPr bwMode="gray">
          <a:xfrm>
            <a:off x="1536700" y="2730500"/>
            <a:ext cx="5842000" cy="1226824"/>
          </a:xfrm>
          <a:prstGeom prst="rect">
            <a:avLst/>
          </a:prstGeom>
          <a:noFill/>
          <a:ln w="12700" algn="ctr">
            <a:solidFill>
              <a:sysClr val="window" lastClr="FFFFFF"/>
            </a:solidFill>
            <a:round/>
            <a:headEnd/>
            <a:tailEnd/>
          </a:ln>
          <a:effectLst/>
        </p:spPr>
        <p:txBody>
          <a:bodyPr lIns="72000" tIns="72000" rIns="72000" bIns="72000" anchor="ctr"/>
          <a:lstStyle/>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sz="1600" b="0" i="0" u="none" strike="noStrike" kern="0" cap="none" spc="0" normalizeH="0" baseline="0" noProof="0" dirty="0">
                <a:ln>
                  <a:noFill/>
                </a:ln>
                <a:solidFill>
                  <a:prstClr val="white"/>
                </a:solidFill>
                <a:effectLst/>
                <a:uLnTx/>
                <a:uFillTx/>
                <a:latin typeface="Arial" panose="020B0604020202020204" pitchFamily="34" charset="0"/>
              </a:rPr>
              <a:t>El Marco Tecnológico y la inversión en Tecnologías </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sz="1600" b="0" i="0" u="none" strike="noStrike" kern="0" cap="none" spc="0" normalizeH="0" baseline="0" noProof="0" dirty="0">
                <a:ln>
                  <a:noFill/>
                </a:ln>
                <a:solidFill>
                  <a:prstClr val="white"/>
                </a:solidFill>
                <a:effectLst/>
                <a:uLnTx/>
                <a:uFillTx/>
                <a:latin typeface="Arial" panose="020B0604020202020204" pitchFamily="34" charset="0"/>
              </a:rPr>
              <a:t>Desarrollo de negocios digitales, el pronóstico de crecimiento de Colombia y el consumo</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sz="1600" b="0" i="0" u="none" strike="noStrike" kern="0" cap="none" spc="0" normalizeH="0" baseline="0" noProof="0" dirty="0">
                <a:ln>
                  <a:noFill/>
                </a:ln>
                <a:solidFill>
                  <a:prstClr val="white"/>
                </a:solidFill>
                <a:effectLst/>
                <a:uLnTx/>
                <a:uFillTx/>
                <a:latin typeface="Arial" panose="020B0604020202020204" pitchFamily="34" charset="0"/>
              </a:rPr>
              <a:t>Situación general de ciberataques e Inversión en Ciber</a:t>
            </a:r>
          </a:p>
        </p:txBody>
      </p:sp>
      <p:sp>
        <p:nvSpPr>
          <p:cNvPr id="40" name="AutoShape 9">
            <a:extLst>
              <a:ext uri="{FF2B5EF4-FFF2-40B4-BE49-F238E27FC236}">
                <a16:creationId xmlns:a16="http://schemas.microsoft.com/office/drawing/2014/main" id="{2E46324E-2DE9-28F1-0600-BFFFF1CFA55E}"/>
              </a:ext>
            </a:extLst>
          </p:cNvPr>
          <p:cNvSpPr>
            <a:spLocks noChangeArrowheads="1"/>
          </p:cNvSpPr>
          <p:nvPr/>
        </p:nvSpPr>
        <p:spPr bwMode="gray">
          <a:xfrm>
            <a:off x="489030" y="2730499"/>
            <a:ext cx="1489729" cy="1226825"/>
          </a:xfrm>
          <a:prstGeom prst="homePlate">
            <a:avLst>
              <a:gd name="adj" fmla="val 13397"/>
            </a:avLst>
          </a:prstGeom>
          <a:solidFill>
            <a:srgbClr val="9C102E"/>
          </a:solidFill>
          <a:ln w="12700" algn="ctr">
            <a:solidFill>
              <a:sysClr val="window" lastClr="FFFFFF"/>
            </a:solidFill>
            <a:round/>
            <a:headEnd/>
            <a:tailEnd/>
          </a:ln>
          <a:effectLst/>
        </p:spPr>
        <p:txBody>
          <a:bodyPr lIns="72000" tIns="72000" rIns="72000" bIns="72000" anchor="ctr"/>
          <a:lstStyle/>
          <a:p>
            <a:pPr marL="0" marR="0" lvl="0" indent="0" defTabSz="914400" eaLnBrk="0" fontAlgn="auto" latinLnBrk="0" hangingPunct="0">
              <a:lnSpc>
                <a:spcPct val="100000"/>
              </a:lnSpc>
              <a:spcBef>
                <a:spcPct val="20000"/>
              </a:spcBef>
              <a:spcAft>
                <a:spcPts val="0"/>
              </a:spcAft>
              <a:buClrTx/>
              <a:buSzPct val="100000"/>
              <a:buFontTx/>
              <a:buNone/>
              <a:tabLst/>
              <a:defRPr/>
            </a:pPr>
            <a:r>
              <a:rPr kumimoji="0" lang="en-US" sz="1600" b="0" i="0" u="none" strike="noStrike" kern="0" cap="none" spc="-50" normalizeH="0" baseline="0" noProof="0" dirty="0" err="1">
                <a:ln>
                  <a:noFill/>
                </a:ln>
                <a:solidFill>
                  <a:prstClr val="white"/>
                </a:solidFill>
                <a:effectLst/>
                <a:uLnTx/>
                <a:uFillTx/>
              </a:rPr>
              <a:t>Oportunidades</a:t>
            </a:r>
            <a:endParaRPr kumimoji="0" lang="en-US" sz="1600" b="0" i="0" u="none" strike="noStrike" kern="0" cap="none" spc="-50" normalizeH="0" baseline="0" noProof="0" dirty="0">
              <a:ln>
                <a:noFill/>
              </a:ln>
              <a:solidFill>
                <a:prstClr val="white"/>
              </a:solidFill>
              <a:effectLst/>
              <a:uLnTx/>
              <a:uFillTx/>
            </a:endParaRPr>
          </a:p>
        </p:txBody>
      </p:sp>
      <p:sp>
        <p:nvSpPr>
          <p:cNvPr id="41" name="AutoShape 6">
            <a:extLst>
              <a:ext uri="{FF2B5EF4-FFF2-40B4-BE49-F238E27FC236}">
                <a16:creationId xmlns:a16="http://schemas.microsoft.com/office/drawing/2014/main" id="{09FB7EA6-83DB-7074-74B3-83530C644E25}"/>
              </a:ext>
            </a:extLst>
          </p:cNvPr>
          <p:cNvSpPr>
            <a:spLocks noChangeArrowheads="1"/>
          </p:cNvSpPr>
          <p:nvPr/>
        </p:nvSpPr>
        <p:spPr bwMode="gray">
          <a:xfrm>
            <a:off x="1536700" y="4064000"/>
            <a:ext cx="5842000" cy="1226824"/>
          </a:xfrm>
          <a:prstGeom prst="rect">
            <a:avLst/>
          </a:prstGeom>
          <a:noFill/>
          <a:ln w="12700" algn="ctr">
            <a:solidFill>
              <a:sysClr val="window" lastClr="FFFFFF"/>
            </a:solidFill>
            <a:round/>
            <a:headEnd/>
            <a:tailEnd/>
          </a:ln>
          <a:effectLst/>
        </p:spPr>
        <p:txBody>
          <a:bodyPr lIns="72000" tIns="72000" rIns="72000" bIns="72000" anchor="ctr"/>
          <a:lstStyle/>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sz="1600" b="0" i="0" u="none" strike="noStrike" kern="0" cap="none" spc="0" normalizeH="0" baseline="0" noProof="0" dirty="0">
                <a:ln>
                  <a:noFill/>
                </a:ln>
                <a:solidFill>
                  <a:prstClr val="white"/>
                </a:solidFill>
                <a:effectLst/>
                <a:uLnTx/>
                <a:uFillTx/>
                <a:latin typeface="Arial" panose="020B0604020202020204" pitchFamily="34" charset="0"/>
              </a:rPr>
              <a:t>La Tecnología y Tamaño de la Empresa </a:t>
            </a:r>
          </a:p>
        </p:txBody>
      </p:sp>
      <p:sp>
        <p:nvSpPr>
          <p:cNvPr id="42" name="AutoShape 9">
            <a:extLst>
              <a:ext uri="{FF2B5EF4-FFF2-40B4-BE49-F238E27FC236}">
                <a16:creationId xmlns:a16="http://schemas.microsoft.com/office/drawing/2014/main" id="{50C00C09-84B7-742B-F798-DEDE873F2A82}"/>
              </a:ext>
            </a:extLst>
          </p:cNvPr>
          <p:cNvSpPr>
            <a:spLocks noChangeArrowheads="1"/>
          </p:cNvSpPr>
          <p:nvPr/>
        </p:nvSpPr>
        <p:spPr bwMode="gray">
          <a:xfrm>
            <a:off x="489030" y="4063999"/>
            <a:ext cx="1489729" cy="1226825"/>
          </a:xfrm>
          <a:prstGeom prst="homePlate">
            <a:avLst>
              <a:gd name="adj" fmla="val 13397"/>
            </a:avLst>
          </a:prstGeom>
          <a:solidFill>
            <a:srgbClr val="9C102E"/>
          </a:solidFill>
          <a:ln w="12700" algn="ctr">
            <a:solidFill>
              <a:sysClr val="window" lastClr="FFFFFF"/>
            </a:solidFill>
            <a:round/>
            <a:headEnd/>
            <a:tailEnd/>
          </a:ln>
          <a:effectLst/>
        </p:spPr>
        <p:txBody>
          <a:bodyPr lIns="72000" tIns="72000" rIns="72000" bIns="72000" anchor="ctr"/>
          <a:lstStyle/>
          <a:p>
            <a:pPr marL="0" marR="0" lvl="0" indent="0" defTabSz="914400" eaLnBrk="0" fontAlgn="auto" latinLnBrk="0" hangingPunct="0">
              <a:lnSpc>
                <a:spcPct val="100000"/>
              </a:lnSpc>
              <a:spcBef>
                <a:spcPct val="20000"/>
              </a:spcBef>
              <a:spcAft>
                <a:spcPts val="0"/>
              </a:spcAft>
              <a:buClrTx/>
              <a:buSzPct val="100000"/>
              <a:buFontTx/>
              <a:buNone/>
              <a:tabLst/>
              <a:defRPr/>
            </a:pPr>
            <a:r>
              <a:rPr kumimoji="0" lang="en-US" sz="1600" b="0" i="0" u="none" strike="noStrike" kern="0" cap="none" spc="-50" normalizeH="0" baseline="0" noProof="0" dirty="0" err="1">
                <a:ln>
                  <a:noFill/>
                </a:ln>
                <a:solidFill>
                  <a:prstClr val="white"/>
                </a:solidFill>
                <a:effectLst/>
                <a:uLnTx/>
                <a:uFillTx/>
              </a:rPr>
              <a:t>Debilidades</a:t>
            </a:r>
            <a:endParaRPr kumimoji="0" lang="en-US" sz="1600" b="0" i="0" u="none" strike="noStrike" kern="0" cap="none" spc="-50" normalizeH="0" baseline="0" noProof="0" dirty="0">
              <a:ln>
                <a:noFill/>
              </a:ln>
              <a:solidFill>
                <a:prstClr val="white"/>
              </a:solidFill>
              <a:effectLst/>
              <a:uLnTx/>
              <a:uFillTx/>
            </a:endParaRPr>
          </a:p>
        </p:txBody>
      </p:sp>
      <p:sp>
        <p:nvSpPr>
          <p:cNvPr id="43" name="AutoShape 6">
            <a:extLst>
              <a:ext uri="{FF2B5EF4-FFF2-40B4-BE49-F238E27FC236}">
                <a16:creationId xmlns:a16="http://schemas.microsoft.com/office/drawing/2014/main" id="{C7E7098D-45F1-7DA7-7D24-84F66A4D6C51}"/>
              </a:ext>
            </a:extLst>
          </p:cNvPr>
          <p:cNvSpPr>
            <a:spLocks noChangeArrowheads="1"/>
          </p:cNvSpPr>
          <p:nvPr/>
        </p:nvSpPr>
        <p:spPr bwMode="gray">
          <a:xfrm>
            <a:off x="1536700" y="5384799"/>
            <a:ext cx="5842000" cy="1226824"/>
          </a:xfrm>
          <a:prstGeom prst="rect">
            <a:avLst/>
          </a:prstGeom>
          <a:noFill/>
          <a:ln w="12700" algn="ctr">
            <a:solidFill>
              <a:sysClr val="window" lastClr="FFFFFF"/>
            </a:solidFill>
            <a:round/>
            <a:headEnd/>
            <a:tailEnd/>
          </a:ln>
          <a:effectLst/>
        </p:spPr>
        <p:txBody>
          <a:bodyPr lIns="72000" tIns="72000" rIns="72000" bIns="72000" anchor="ctr"/>
          <a:lstStyle/>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sz="1600" b="0" i="0" u="none" strike="noStrike" kern="0" cap="none" spc="0" normalizeH="0" baseline="0" noProof="0" dirty="0">
                <a:ln>
                  <a:noFill/>
                </a:ln>
                <a:solidFill>
                  <a:prstClr val="white"/>
                </a:solidFill>
                <a:effectLst/>
                <a:uLnTx/>
                <a:uFillTx/>
                <a:latin typeface="Arial" panose="020B0604020202020204" pitchFamily="34" charset="0"/>
              </a:rPr>
              <a:t>Entrada de otros actores y rotación de talentos</a:t>
            </a:r>
          </a:p>
        </p:txBody>
      </p:sp>
      <p:sp>
        <p:nvSpPr>
          <p:cNvPr id="44" name="AutoShape 9">
            <a:extLst>
              <a:ext uri="{FF2B5EF4-FFF2-40B4-BE49-F238E27FC236}">
                <a16:creationId xmlns:a16="http://schemas.microsoft.com/office/drawing/2014/main" id="{F6915FAF-4C54-9A9C-FD17-F369221D6AC3}"/>
              </a:ext>
            </a:extLst>
          </p:cNvPr>
          <p:cNvSpPr>
            <a:spLocks noChangeArrowheads="1"/>
          </p:cNvSpPr>
          <p:nvPr/>
        </p:nvSpPr>
        <p:spPr bwMode="gray">
          <a:xfrm>
            <a:off x="489030" y="5384798"/>
            <a:ext cx="1489729" cy="1226825"/>
          </a:xfrm>
          <a:prstGeom prst="homePlate">
            <a:avLst>
              <a:gd name="adj" fmla="val 13397"/>
            </a:avLst>
          </a:prstGeom>
          <a:solidFill>
            <a:srgbClr val="9C102E"/>
          </a:solidFill>
          <a:ln w="12700" algn="ctr">
            <a:solidFill>
              <a:sysClr val="window" lastClr="FFFFFF"/>
            </a:solidFill>
            <a:round/>
            <a:headEnd/>
            <a:tailEnd/>
          </a:ln>
          <a:effectLst/>
        </p:spPr>
        <p:txBody>
          <a:bodyPr lIns="72000" tIns="72000" rIns="72000" bIns="72000" anchor="ctr"/>
          <a:lstStyle/>
          <a:p>
            <a:pPr marL="0" marR="0" lvl="0" indent="0" defTabSz="914400" eaLnBrk="0" fontAlgn="auto" latinLnBrk="0" hangingPunct="0">
              <a:lnSpc>
                <a:spcPct val="100000"/>
              </a:lnSpc>
              <a:spcBef>
                <a:spcPct val="20000"/>
              </a:spcBef>
              <a:spcAft>
                <a:spcPts val="0"/>
              </a:spcAft>
              <a:buClrTx/>
              <a:buSzPct val="100000"/>
              <a:buFontTx/>
              <a:buNone/>
              <a:tabLst/>
              <a:defRPr/>
            </a:pPr>
            <a:r>
              <a:rPr kumimoji="0" lang="en-US" sz="1600" b="0" i="0" u="none" strike="noStrike" kern="0" cap="none" spc="-50" normalizeH="0" baseline="0" noProof="0" dirty="0" err="1">
                <a:ln>
                  <a:noFill/>
                </a:ln>
                <a:solidFill>
                  <a:prstClr val="white"/>
                </a:solidFill>
                <a:effectLst/>
                <a:uLnTx/>
                <a:uFillTx/>
              </a:rPr>
              <a:t>Amenazas</a:t>
            </a:r>
            <a:endParaRPr kumimoji="0" lang="en-US" sz="1600" b="0" i="0" u="none" strike="noStrike" kern="0" cap="none" spc="-50" normalizeH="0" baseline="0" noProof="0" dirty="0">
              <a:ln>
                <a:noFill/>
              </a:ln>
              <a:solidFill>
                <a:prstClr val="white"/>
              </a:solidFill>
              <a:effectLst/>
              <a:uLnTx/>
              <a:uFillTx/>
            </a:endParaRPr>
          </a:p>
        </p:txBody>
      </p:sp>
      <p:sp>
        <p:nvSpPr>
          <p:cNvPr id="45" name="AutoShape 6">
            <a:extLst>
              <a:ext uri="{FF2B5EF4-FFF2-40B4-BE49-F238E27FC236}">
                <a16:creationId xmlns:a16="http://schemas.microsoft.com/office/drawing/2014/main" id="{DC37EC06-4186-E3AC-37F3-3FB9B0F2CE77}"/>
              </a:ext>
            </a:extLst>
          </p:cNvPr>
          <p:cNvSpPr>
            <a:spLocks noChangeArrowheads="1"/>
          </p:cNvSpPr>
          <p:nvPr/>
        </p:nvSpPr>
        <p:spPr bwMode="gray">
          <a:xfrm>
            <a:off x="1536700" y="1450337"/>
            <a:ext cx="5842000" cy="1226824"/>
          </a:xfrm>
          <a:prstGeom prst="rect">
            <a:avLst/>
          </a:prstGeom>
          <a:noFill/>
          <a:ln w="12700" algn="ctr">
            <a:solidFill>
              <a:sysClr val="window" lastClr="FFFFFF"/>
            </a:solidFill>
            <a:round/>
            <a:headEnd/>
            <a:tailEnd/>
          </a:ln>
          <a:effectLst/>
        </p:spPr>
        <p:txBody>
          <a:bodyPr lIns="72000" tIns="72000" rIns="72000" bIns="72000" anchor="ctr"/>
          <a:lstStyle/>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CL" sz="1600" b="0" i="0" u="none" strike="noStrike" kern="0" cap="none" spc="0" normalizeH="0" baseline="0" noProof="0" dirty="0">
                <a:ln>
                  <a:noFill/>
                </a:ln>
                <a:solidFill>
                  <a:prstClr val="white"/>
                </a:solidFill>
                <a:effectLst/>
                <a:uLnTx/>
                <a:uFillTx/>
                <a:latin typeface="Arial" panose="020B0604020202020204" pitchFamily="34" charset="0"/>
              </a:rPr>
              <a:t>El Experiencia y especialización en Servicios de </a:t>
            </a:r>
            <a:r>
              <a:rPr kumimoji="0" lang="es-CL" sz="1600" b="0" i="0" u="none" strike="noStrike" kern="0" cap="none" spc="0" normalizeH="0" baseline="0" noProof="0" dirty="0" err="1">
                <a:ln>
                  <a:noFill/>
                </a:ln>
                <a:solidFill>
                  <a:prstClr val="white"/>
                </a:solidFill>
                <a:effectLst/>
                <a:uLnTx/>
                <a:uFillTx/>
                <a:latin typeface="Arial" panose="020B0604020202020204" pitchFamily="34" charset="0"/>
              </a:rPr>
              <a:t>Cibserseguridad</a:t>
            </a:r>
            <a:endParaRPr kumimoji="0" lang="es-CL" sz="1600" b="0" i="0" u="none" strike="noStrike" kern="0" cap="none" spc="0" normalizeH="0" baseline="0" noProof="0" dirty="0">
              <a:ln>
                <a:noFill/>
              </a:ln>
              <a:solidFill>
                <a:prstClr val="white"/>
              </a:solidFill>
              <a:effectLst/>
              <a:uLnTx/>
              <a:uFillTx/>
              <a:latin typeface="Arial" panose="020B0604020202020204" pitchFamily="34" charset="0"/>
            </a:endParaRPr>
          </a:p>
        </p:txBody>
      </p:sp>
      <p:sp>
        <p:nvSpPr>
          <p:cNvPr id="46" name="AutoShape 9">
            <a:extLst>
              <a:ext uri="{FF2B5EF4-FFF2-40B4-BE49-F238E27FC236}">
                <a16:creationId xmlns:a16="http://schemas.microsoft.com/office/drawing/2014/main" id="{1217586D-BE99-BFAD-071D-4F7F10BCF9E3}"/>
              </a:ext>
            </a:extLst>
          </p:cNvPr>
          <p:cNvSpPr>
            <a:spLocks noChangeArrowheads="1"/>
          </p:cNvSpPr>
          <p:nvPr/>
        </p:nvSpPr>
        <p:spPr bwMode="gray">
          <a:xfrm>
            <a:off x="489030" y="1450336"/>
            <a:ext cx="1489729" cy="1226825"/>
          </a:xfrm>
          <a:prstGeom prst="homePlate">
            <a:avLst>
              <a:gd name="adj" fmla="val 13397"/>
            </a:avLst>
          </a:prstGeom>
          <a:solidFill>
            <a:srgbClr val="9C102E"/>
          </a:solidFill>
          <a:ln w="12700" algn="ctr">
            <a:solidFill>
              <a:sysClr val="window" lastClr="FFFFFF"/>
            </a:solidFill>
            <a:round/>
            <a:headEnd/>
            <a:tailEnd/>
          </a:ln>
          <a:effectLst/>
        </p:spPr>
        <p:txBody>
          <a:bodyPr lIns="72000" tIns="72000" rIns="72000" bIns="72000" anchor="ctr"/>
          <a:lstStyle/>
          <a:p>
            <a:pPr marL="0" marR="0" lvl="0" indent="0" defTabSz="914400" eaLnBrk="0" fontAlgn="auto" latinLnBrk="0" hangingPunct="0">
              <a:lnSpc>
                <a:spcPct val="100000"/>
              </a:lnSpc>
              <a:spcBef>
                <a:spcPct val="20000"/>
              </a:spcBef>
              <a:spcAft>
                <a:spcPts val="0"/>
              </a:spcAft>
              <a:buClrTx/>
              <a:buSzPct val="100000"/>
              <a:buFontTx/>
              <a:buNone/>
              <a:tabLst/>
              <a:defRPr/>
            </a:pPr>
            <a:r>
              <a:rPr kumimoji="0" lang="en-US" sz="1600" b="0" i="0" u="none" strike="noStrike" kern="0" cap="none" spc="-50" normalizeH="0" baseline="0" noProof="0" dirty="0" err="1">
                <a:ln>
                  <a:noFill/>
                </a:ln>
                <a:solidFill>
                  <a:prstClr val="white"/>
                </a:solidFill>
                <a:effectLst/>
                <a:uLnTx/>
                <a:uFillTx/>
              </a:rPr>
              <a:t>Fortalezas</a:t>
            </a:r>
            <a:endParaRPr kumimoji="0" lang="en-US" sz="1600" b="0" i="0" u="none" strike="noStrike" kern="0" cap="none" spc="-50" normalizeH="0" baseline="0" noProof="0" dirty="0">
              <a:ln>
                <a:noFill/>
              </a:ln>
              <a:solidFill>
                <a:prstClr val="white"/>
              </a:solidFill>
              <a:effectLst/>
              <a:uLnTx/>
              <a:uFillTx/>
            </a:endParaRPr>
          </a:p>
        </p:txBody>
      </p:sp>
      <p:sp>
        <p:nvSpPr>
          <p:cNvPr id="47" name="TextBox 46">
            <a:extLst>
              <a:ext uri="{FF2B5EF4-FFF2-40B4-BE49-F238E27FC236}">
                <a16:creationId xmlns:a16="http://schemas.microsoft.com/office/drawing/2014/main" id="{365B15CB-BCC7-988B-55B4-44F381CCAFE0}"/>
              </a:ext>
            </a:extLst>
          </p:cNvPr>
          <p:cNvSpPr txBox="1"/>
          <p:nvPr/>
        </p:nvSpPr>
        <p:spPr>
          <a:xfrm>
            <a:off x="7734300" y="1874504"/>
            <a:ext cx="4081283" cy="341632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s-CL" sz="1800" b="0" i="0" u="none" strike="noStrike" kern="0" cap="none" spc="0" normalizeH="0" baseline="0" noProof="0" dirty="0">
                <a:ln>
                  <a:noFill/>
                </a:ln>
                <a:solidFill>
                  <a:prstClr val="white"/>
                </a:solidFill>
                <a:effectLst/>
                <a:uLnTx/>
                <a:uFillTx/>
                <a:latin typeface="Arial" panose="020B0604020202020204" pitchFamily="34" charset="0"/>
                <a:ea typeface="Arial" panose="020B0604020202020204" pitchFamily="34" charset="0"/>
              </a:rPr>
              <a:t>IT-Trail Services cuenta con fortalezas sólidas y existen oportunidades en el mercado de Consultoría de ciberseguridad en Colombia. </a:t>
            </a:r>
          </a:p>
          <a:p>
            <a:pPr marL="0" marR="0" lvl="0" indent="0"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dirty="0">
              <a:ln>
                <a:noFill/>
              </a:ln>
              <a:solidFill>
                <a:prstClr val="white"/>
              </a:solidFill>
              <a:effectLst/>
              <a:uLnTx/>
              <a:uFillTx/>
              <a:latin typeface="Arial" panose="020B0604020202020204" pitchFamily="34" charset="0"/>
              <a:ea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s-CL" sz="1800" b="0" i="0" u="none" strike="noStrike" kern="0" cap="none" spc="0" normalizeH="0" baseline="0" noProof="0" dirty="0">
                <a:ln>
                  <a:noFill/>
                </a:ln>
                <a:solidFill>
                  <a:prstClr val="white"/>
                </a:solidFill>
                <a:effectLst/>
                <a:uLnTx/>
                <a:uFillTx/>
                <a:latin typeface="Arial" panose="020B0604020202020204" pitchFamily="34" charset="0"/>
                <a:ea typeface="Arial" panose="020B0604020202020204" pitchFamily="34" charset="0"/>
              </a:rPr>
              <a:t>Con un enfoque en potenciar estas fortalezas, aprovechar las oportunidades del mercado y superar los desafíos, la empresa puede lograr un crecimiento y establecerse en el campo de la consultoría de ciberseguridad en el país. </a:t>
            </a:r>
            <a:endParaRPr kumimoji="0" lang="en-US" sz="1800" b="0" i="0" u="none" strike="noStrike" kern="0" cap="none" spc="0" normalizeH="0" baseline="0" noProof="0" dirty="0">
              <a:ln>
                <a:noFill/>
              </a:ln>
              <a:solidFill>
                <a:prstClr val="white"/>
              </a:solidFill>
              <a:effectLst/>
              <a:uLnTx/>
              <a:uFillTx/>
            </a:endParaRPr>
          </a:p>
        </p:txBody>
      </p:sp>
      <p:grpSp>
        <p:nvGrpSpPr>
          <p:cNvPr id="48" name="Group 47">
            <a:extLst>
              <a:ext uri="{FF2B5EF4-FFF2-40B4-BE49-F238E27FC236}">
                <a16:creationId xmlns:a16="http://schemas.microsoft.com/office/drawing/2014/main" id="{431BF872-BCED-6147-ACCD-13FA50D29223}"/>
              </a:ext>
            </a:extLst>
          </p:cNvPr>
          <p:cNvGrpSpPr/>
          <p:nvPr/>
        </p:nvGrpSpPr>
        <p:grpSpPr>
          <a:xfrm>
            <a:off x="9491565" y="5586394"/>
            <a:ext cx="566751" cy="519266"/>
            <a:chOff x="468313" y="2717800"/>
            <a:chExt cx="587376" cy="538163"/>
          </a:xfrm>
          <a:solidFill>
            <a:sysClr val="window" lastClr="FFFFFF"/>
          </a:solidFill>
        </p:grpSpPr>
        <p:sp>
          <p:nvSpPr>
            <p:cNvPr id="49" name="Freeform 6">
              <a:extLst>
                <a:ext uri="{FF2B5EF4-FFF2-40B4-BE49-F238E27FC236}">
                  <a16:creationId xmlns:a16="http://schemas.microsoft.com/office/drawing/2014/main" id="{2A5BFB8A-4F52-4AD8-17B1-E4258C6C03DF}"/>
                </a:ext>
              </a:extLst>
            </p:cNvPr>
            <p:cNvSpPr>
              <a:spLocks/>
            </p:cNvSpPr>
            <p:nvPr/>
          </p:nvSpPr>
          <p:spPr bwMode="auto">
            <a:xfrm>
              <a:off x="520701" y="3051175"/>
              <a:ext cx="403225" cy="204788"/>
            </a:xfrm>
            <a:custGeom>
              <a:avLst/>
              <a:gdLst>
                <a:gd name="T0" fmla="*/ 1264 w 1267"/>
                <a:gd name="T1" fmla="*/ 261 h 645"/>
                <a:gd name="T2" fmla="*/ 1263 w 1267"/>
                <a:gd name="T3" fmla="*/ 285 h 645"/>
                <a:gd name="T4" fmla="*/ 1014 w 1267"/>
                <a:gd name="T5" fmla="*/ 527 h 645"/>
                <a:gd name="T6" fmla="*/ 932 w 1267"/>
                <a:gd name="T7" fmla="*/ 556 h 645"/>
                <a:gd name="T8" fmla="*/ 518 w 1267"/>
                <a:gd name="T9" fmla="*/ 542 h 645"/>
                <a:gd name="T10" fmla="*/ 330 w 1267"/>
                <a:gd name="T11" fmla="*/ 525 h 645"/>
                <a:gd name="T12" fmla="*/ 293 w 1267"/>
                <a:gd name="T13" fmla="*/ 536 h 645"/>
                <a:gd name="T14" fmla="*/ 96 w 1267"/>
                <a:gd name="T15" fmla="*/ 637 h 645"/>
                <a:gd name="T16" fmla="*/ 61 w 1267"/>
                <a:gd name="T17" fmla="*/ 632 h 645"/>
                <a:gd name="T18" fmla="*/ 4 w 1267"/>
                <a:gd name="T19" fmla="*/ 579 h 645"/>
                <a:gd name="T20" fmla="*/ 1 w 1267"/>
                <a:gd name="T21" fmla="*/ 556 h 645"/>
                <a:gd name="T22" fmla="*/ 80 w 1267"/>
                <a:gd name="T23" fmla="*/ 468 h 645"/>
                <a:gd name="T24" fmla="*/ 236 w 1267"/>
                <a:gd name="T25" fmla="*/ 309 h 645"/>
                <a:gd name="T26" fmla="*/ 379 w 1267"/>
                <a:gd name="T27" fmla="*/ 153 h 645"/>
                <a:gd name="T28" fmla="*/ 516 w 1267"/>
                <a:gd name="T29" fmla="*/ 14 h 645"/>
                <a:gd name="T30" fmla="*/ 548 w 1267"/>
                <a:gd name="T31" fmla="*/ 1 h 645"/>
                <a:gd name="T32" fmla="*/ 949 w 1267"/>
                <a:gd name="T33" fmla="*/ 80 h 645"/>
                <a:gd name="T34" fmla="*/ 965 w 1267"/>
                <a:gd name="T35" fmla="*/ 132 h 645"/>
                <a:gd name="T36" fmla="*/ 865 w 1267"/>
                <a:gd name="T37" fmla="*/ 221 h 645"/>
                <a:gd name="T38" fmla="*/ 616 w 1267"/>
                <a:gd name="T39" fmla="*/ 247 h 645"/>
                <a:gd name="T40" fmla="*/ 579 w 1267"/>
                <a:gd name="T41" fmla="*/ 274 h 645"/>
                <a:gd name="T42" fmla="*/ 617 w 1267"/>
                <a:gd name="T43" fmla="*/ 301 h 645"/>
                <a:gd name="T44" fmla="*/ 948 w 1267"/>
                <a:gd name="T45" fmla="*/ 258 h 645"/>
                <a:gd name="T46" fmla="*/ 998 w 1267"/>
                <a:gd name="T47" fmla="*/ 206 h 645"/>
                <a:gd name="T48" fmla="*/ 1017 w 1267"/>
                <a:gd name="T49" fmla="*/ 90 h 645"/>
                <a:gd name="T50" fmla="*/ 1070 w 1267"/>
                <a:gd name="T51" fmla="*/ 55 h 645"/>
                <a:gd name="T52" fmla="*/ 1204 w 1267"/>
                <a:gd name="T53" fmla="*/ 196 h 645"/>
                <a:gd name="T54" fmla="*/ 1264 w 1267"/>
                <a:gd name="T55" fmla="*/ 26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67" h="645">
                  <a:moveTo>
                    <a:pt x="1264" y="261"/>
                  </a:moveTo>
                  <a:cubicBezTo>
                    <a:pt x="1264" y="269"/>
                    <a:pt x="1267" y="281"/>
                    <a:pt x="1263" y="285"/>
                  </a:cubicBezTo>
                  <a:cubicBezTo>
                    <a:pt x="1181" y="366"/>
                    <a:pt x="1098" y="447"/>
                    <a:pt x="1014" y="527"/>
                  </a:cubicBezTo>
                  <a:cubicBezTo>
                    <a:pt x="992" y="548"/>
                    <a:pt x="963" y="557"/>
                    <a:pt x="932" y="556"/>
                  </a:cubicBezTo>
                  <a:cubicBezTo>
                    <a:pt x="794" y="552"/>
                    <a:pt x="656" y="548"/>
                    <a:pt x="518" y="542"/>
                  </a:cubicBezTo>
                  <a:cubicBezTo>
                    <a:pt x="455" y="539"/>
                    <a:pt x="393" y="530"/>
                    <a:pt x="330" y="525"/>
                  </a:cubicBezTo>
                  <a:cubicBezTo>
                    <a:pt x="318" y="524"/>
                    <a:pt x="304" y="531"/>
                    <a:pt x="293" y="536"/>
                  </a:cubicBezTo>
                  <a:cubicBezTo>
                    <a:pt x="227" y="569"/>
                    <a:pt x="161" y="603"/>
                    <a:pt x="96" y="637"/>
                  </a:cubicBezTo>
                  <a:cubicBezTo>
                    <a:pt x="82" y="644"/>
                    <a:pt x="73" y="645"/>
                    <a:pt x="61" y="632"/>
                  </a:cubicBezTo>
                  <a:cubicBezTo>
                    <a:pt x="43" y="614"/>
                    <a:pt x="22" y="598"/>
                    <a:pt x="4" y="579"/>
                  </a:cubicBezTo>
                  <a:cubicBezTo>
                    <a:pt x="0" y="574"/>
                    <a:pt x="2" y="564"/>
                    <a:pt x="1" y="556"/>
                  </a:cubicBezTo>
                  <a:cubicBezTo>
                    <a:pt x="28" y="527"/>
                    <a:pt x="53" y="497"/>
                    <a:pt x="80" y="468"/>
                  </a:cubicBezTo>
                  <a:cubicBezTo>
                    <a:pt x="132" y="415"/>
                    <a:pt x="185" y="363"/>
                    <a:pt x="236" y="309"/>
                  </a:cubicBezTo>
                  <a:cubicBezTo>
                    <a:pt x="284" y="258"/>
                    <a:pt x="330" y="205"/>
                    <a:pt x="379" y="153"/>
                  </a:cubicBezTo>
                  <a:cubicBezTo>
                    <a:pt x="424" y="106"/>
                    <a:pt x="470" y="60"/>
                    <a:pt x="516" y="14"/>
                  </a:cubicBezTo>
                  <a:cubicBezTo>
                    <a:pt x="527" y="9"/>
                    <a:pt x="538" y="0"/>
                    <a:pt x="548" y="1"/>
                  </a:cubicBezTo>
                  <a:cubicBezTo>
                    <a:pt x="685" y="9"/>
                    <a:pt x="818" y="38"/>
                    <a:pt x="949" y="80"/>
                  </a:cubicBezTo>
                  <a:cubicBezTo>
                    <a:pt x="971" y="84"/>
                    <a:pt x="965" y="129"/>
                    <a:pt x="965" y="132"/>
                  </a:cubicBezTo>
                  <a:cubicBezTo>
                    <a:pt x="960" y="227"/>
                    <a:pt x="959" y="206"/>
                    <a:pt x="865" y="221"/>
                  </a:cubicBezTo>
                  <a:cubicBezTo>
                    <a:pt x="783" y="233"/>
                    <a:pt x="699" y="240"/>
                    <a:pt x="616" y="247"/>
                  </a:cubicBezTo>
                  <a:cubicBezTo>
                    <a:pt x="598" y="249"/>
                    <a:pt x="580" y="252"/>
                    <a:pt x="579" y="274"/>
                  </a:cubicBezTo>
                  <a:cubicBezTo>
                    <a:pt x="579" y="297"/>
                    <a:pt x="597" y="301"/>
                    <a:pt x="617" y="301"/>
                  </a:cubicBezTo>
                  <a:cubicBezTo>
                    <a:pt x="729" y="300"/>
                    <a:pt x="839" y="283"/>
                    <a:pt x="948" y="258"/>
                  </a:cubicBezTo>
                  <a:cubicBezTo>
                    <a:pt x="975" y="251"/>
                    <a:pt x="992" y="231"/>
                    <a:pt x="998" y="206"/>
                  </a:cubicBezTo>
                  <a:cubicBezTo>
                    <a:pt x="1007" y="168"/>
                    <a:pt x="1012" y="129"/>
                    <a:pt x="1017" y="90"/>
                  </a:cubicBezTo>
                  <a:cubicBezTo>
                    <a:pt x="1021" y="66"/>
                    <a:pt x="1048" y="47"/>
                    <a:pt x="1070" y="55"/>
                  </a:cubicBezTo>
                  <a:cubicBezTo>
                    <a:pt x="1114" y="102"/>
                    <a:pt x="1159" y="149"/>
                    <a:pt x="1204" y="196"/>
                  </a:cubicBezTo>
                  <a:cubicBezTo>
                    <a:pt x="1224" y="218"/>
                    <a:pt x="1244" y="239"/>
                    <a:pt x="1264" y="2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50" name="Freeform 7">
              <a:extLst>
                <a:ext uri="{FF2B5EF4-FFF2-40B4-BE49-F238E27FC236}">
                  <a16:creationId xmlns:a16="http://schemas.microsoft.com/office/drawing/2014/main" id="{64235E78-BF0D-1409-94F3-C4B486AD32DF}"/>
                </a:ext>
              </a:extLst>
            </p:cNvPr>
            <p:cNvSpPr>
              <a:spLocks/>
            </p:cNvSpPr>
            <p:nvPr/>
          </p:nvSpPr>
          <p:spPr bwMode="auto">
            <a:xfrm>
              <a:off x="854076" y="2967038"/>
              <a:ext cx="201613" cy="179388"/>
            </a:xfrm>
            <a:custGeom>
              <a:avLst/>
              <a:gdLst>
                <a:gd name="T0" fmla="*/ 194 w 632"/>
                <a:gd name="T1" fmla="*/ 553 h 565"/>
                <a:gd name="T2" fmla="*/ 134 w 632"/>
                <a:gd name="T3" fmla="*/ 488 h 565"/>
                <a:gd name="T4" fmla="*/ 0 w 632"/>
                <a:gd name="T5" fmla="*/ 347 h 565"/>
                <a:gd name="T6" fmla="*/ 9 w 632"/>
                <a:gd name="T7" fmla="*/ 324 h 565"/>
                <a:gd name="T8" fmla="*/ 433 w 632"/>
                <a:gd name="T9" fmla="*/ 46 h 565"/>
                <a:gd name="T10" fmla="*/ 632 w 632"/>
                <a:gd name="T11" fmla="*/ 65 h 565"/>
                <a:gd name="T12" fmla="*/ 518 w 632"/>
                <a:gd name="T13" fmla="*/ 204 h 565"/>
                <a:gd name="T14" fmla="*/ 225 w 632"/>
                <a:gd name="T15" fmla="*/ 543 h 565"/>
                <a:gd name="T16" fmla="*/ 194 w 632"/>
                <a:gd name="T17" fmla="*/ 553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2" h="565">
                  <a:moveTo>
                    <a:pt x="194" y="553"/>
                  </a:moveTo>
                  <a:cubicBezTo>
                    <a:pt x="174" y="531"/>
                    <a:pt x="154" y="510"/>
                    <a:pt x="134" y="488"/>
                  </a:cubicBezTo>
                  <a:cubicBezTo>
                    <a:pt x="89" y="441"/>
                    <a:pt x="45" y="394"/>
                    <a:pt x="0" y="347"/>
                  </a:cubicBezTo>
                  <a:cubicBezTo>
                    <a:pt x="3" y="339"/>
                    <a:pt x="4" y="328"/>
                    <a:pt x="9" y="324"/>
                  </a:cubicBezTo>
                  <a:cubicBezTo>
                    <a:pt x="150" y="231"/>
                    <a:pt x="290" y="136"/>
                    <a:pt x="433" y="46"/>
                  </a:cubicBezTo>
                  <a:cubicBezTo>
                    <a:pt x="504" y="0"/>
                    <a:pt x="562" y="8"/>
                    <a:pt x="632" y="65"/>
                  </a:cubicBezTo>
                  <a:cubicBezTo>
                    <a:pt x="594" y="112"/>
                    <a:pt x="557" y="159"/>
                    <a:pt x="518" y="204"/>
                  </a:cubicBezTo>
                  <a:cubicBezTo>
                    <a:pt x="421" y="317"/>
                    <a:pt x="323" y="430"/>
                    <a:pt x="225" y="543"/>
                  </a:cubicBezTo>
                  <a:cubicBezTo>
                    <a:pt x="217" y="552"/>
                    <a:pt x="210" y="565"/>
                    <a:pt x="194" y="5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51" name="Freeform 8">
              <a:extLst>
                <a:ext uri="{FF2B5EF4-FFF2-40B4-BE49-F238E27FC236}">
                  <a16:creationId xmlns:a16="http://schemas.microsoft.com/office/drawing/2014/main" id="{4CDDA58C-DBE2-03B4-EE43-F1916ED35799}"/>
                </a:ext>
              </a:extLst>
            </p:cNvPr>
            <p:cNvSpPr>
              <a:spLocks/>
            </p:cNvSpPr>
            <p:nvPr/>
          </p:nvSpPr>
          <p:spPr bwMode="auto">
            <a:xfrm>
              <a:off x="468313" y="3051175"/>
              <a:ext cx="238125" cy="177800"/>
            </a:xfrm>
            <a:custGeom>
              <a:avLst/>
              <a:gdLst>
                <a:gd name="T0" fmla="*/ 739 w 747"/>
                <a:gd name="T1" fmla="*/ 15 h 559"/>
                <a:gd name="T2" fmla="*/ 592 w 747"/>
                <a:gd name="T3" fmla="*/ 154 h 559"/>
                <a:gd name="T4" fmla="*/ 437 w 747"/>
                <a:gd name="T5" fmla="*/ 310 h 559"/>
                <a:gd name="T6" fmla="*/ 269 w 747"/>
                <a:gd name="T7" fmla="*/ 469 h 559"/>
                <a:gd name="T8" fmla="*/ 184 w 747"/>
                <a:gd name="T9" fmla="*/ 557 h 559"/>
                <a:gd name="T10" fmla="*/ 157 w 747"/>
                <a:gd name="T11" fmla="*/ 555 h 559"/>
                <a:gd name="T12" fmla="*/ 0 w 747"/>
                <a:gd name="T13" fmla="*/ 422 h 559"/>
                <a:gd name="T14" fmla="*/ 148 w 747"/>
                <a:gd name="T15" fmla="*/ 298 h 559"/>
                <a:gd name="T16" fmla="*/ 360 w 747"/>
                <a:gd name="T17" fmla="*/ 119 h 559"/>
                <a:gd name="T18" fmla="*/ 726 w 747"/>
                <a:gd name="T19" fmla="*/ 1 h 559"/>
                <a:gd name="T20" fmla="*/ 739 w 747"/>
                <a:gd name="T21" fmla="*/ 15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7" h="559">
                  <a:moveTo>
                    <a:pt x="739" y="15"/>
                  </a:moveTo>
                  <a:cubicBezTo>
                    <a:pt x="690" y="61"/>
                    <a:pt x="640" y="107"/>
                    <a:pt x="592" y="154"/>
                  </a:cubicBezTo>
                  <a:cubicBezTo>
                    <a:pt x="539" y="206"/>
                    <a:pt x="489" y="259"/>
                    <a:pt x="437" y="310"/>
                  </a:cubicBezTo>
                  <a:cubicBezTo>
                    <a:pt x="383" y="364"/>
                    <a:pt x="325" y="416"/>
                    <a:pt x="269" y="469"/>
                  </a:cubicBezTo>
                  <a:cubicBezTo>
                    <a:pt x="240" y="498"/>
                    <a:pt x="213" y="528"/>
                    <a:pt x="184" y="557"/>
                  </a:cubicBezTo>
                  <a:cubicBezTo>
                    <a:pt x="176" y="556"/>
                    <a:pt x="163" y="559"/>
                    <a:pt x="157" y="555"/>
                  </a:cubicBezTo>
                  <a:cubicBezTo>
                    <a:pt x="106" y="512"/>
                    <a:pt x="54" y="468"/>
                    <a:pt x="0" y="422"/>
                  </a:cubicBezTo>
                  <a:cubicBezTo>
                    <a:pt x="51" y="380"/>
                    <a:pt x="99" y="339"/>
                    <a:pt x="148" y="298"/>
                  </a:cubicBezTo>
                  <a:cubicBezTo>
                    <a:pt x="218" y="239"/>
                    <a:pt x="290" y="179"/>
                    <a:pt x="360" y="119"/>
                  </a:cubicBezTo>
                  <a:cubicBezTo>
                    <a:pt x="463" y="30"/>
                    <a:pt x="588" y="0"/>
                    <a:pt x="726" y="1"/>
                  </a:cubicBezTo>
                  <a:cubicBezTo>
                    <a:pt x="736" y="1"/>
                    <a:pt x="747" y="0"/>
                    <a:pt x="73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52" name="Freeform 9">
              <a:extLst>
                <a:ext uri="{FF2B5EF4-FFF2-40B4-BE49-F238E27FC236}">
                  <a16:creationId xmlns:a16="http://schemas.microsoft.com/office/drawing/2014/main" id="{20072212-EDDB-22A1-B6A7-D380E5C52921}"/>
                </a:ext>
              </a:extLst>
            </p:cNvPr>
            <p:cNvSpPr>
              <a:spLocks/>
            </p:cNvSpPr>
            <p:nvPr/>
          </p:nvSpPr>
          <p:spPr bwMode="auto">
            <a:xfrm>
              <a:off x="685801" y="2930525"/>
              <a:ext cx="227013" cy="127000"/>
            </a:xfrm>
            <a:custGeom>
              <a:avLst/>
              <a:gdLst>
                <a:gd name="T0" fmla="*/ 712 w 712"/>
                <a:gd name="T1" fmla="*/ 227 h 400"/>
                <a:gd name="T2" fmla="*/ 437 w 712"/>
                <a:gd name="T3" fmla="*/ 392 h 400"/>
                <a:gd name="T4" fmla="*/ 92 w 712"/>
                <a:gd name="T5" fmla="*/ 319 h 400"/>
                <a:gd name="T6" fmla="*/ 0 w 712"/>
                <a:gd name="T7" fmla="*/ 311 h 400"/>
                <a:gd name="T8" fmla="*/ 456 w 712"/>
                <a:gd name="T9" fmla="*/ 7 h 400"/>
                <a:gd name="T10" fmla="*/ 712 w 712"/>
                <a:gd name="T11" fmla="*/ 227 h 400"/>
              </a:gdLst>
              <a:ahLst/>
              <a:cxnLst>
                <a:cxn ang="0">
                  <a:pos x="T0" y="T1"/>
                </a:cxn>
                <a:cxn ang="0">
                  <a:pos x="T2" y="T3"/>
                </a:cxn>
                <a:cxn ang="0">
                  <a:pos x="T4" y="T5"/>
                </a:cxn>
                <a:cxn ang="0">
                  <a:pos x="T6" y="T7"/>
                </a:cxn>
                <a:cxn ang="0">
                  <a:pos x="T8" y="T9"/>
                </a:cxn>
                <a:cxn ang="0">
                  <a:pos x="T10" y="T11"/>
                </a:cxn>
              </a:cxnLst>
              <a:rect l="0" t="0" r="r" b="b"/>
              <a:pathLst>
                <a:path w="712" h="400">
                  <a:moveTo>
                    <a:pt x="712" y="227"/>
                  </a:moveTo>
                  <a:cubicBezTo>
                    <a:pt x="641" y="276"/>
                    <a:pt x="461" y="400"/>
                    <a:pt x="437" y="392"/>
                  </a:cubicBezTo>
                  <a:cubicBezTo>
                    <a:pt x="324" y="357"/>
                    <a:pt x="209" y="331"/>
                    <a:pt x="92" y="319"/>
                  </a:cubicBezTo>
                  <a:cubicBezTo>
                    <a:pt x="64" y="316"/>
                    <a:pt x="36" y="314"/>
                    <a:pt x="0" y="311"/>
                  </a:cubicBezTo>
                  <a:cubicBezTo>
                    <a:pt x="87" y="250"/>
                    <a:pt x="457" y="0"/>
                    <a:pt x="456" y="7"/>
                  </a:cubicBezTo>
                  <a:cubicBezTo>
                    <a:pt x="456" y="39"/>
                    <a:pt x="680" y="202"/>
                    <a:pt x="712" y="2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53" name="Freeform 10">
              <a:extLst>
                <a:ext uri="{FF2B5EF4-FFF2-40B4-BE49-F238E27FC236}">
                  <a16:creationId xmlns:a16="http://schemas.microsoft.com/office/drawing/2014/main" id="{1753C12D-BD48-58FC-4DA6-E77AD9AF2AAF}"/>
                </a:ext>
              </a:extLst>
            </p:cNvPr>
            <p:cNvSpPr>
              <a:spLocks/>
            </p:cNvSpPr>
            <p:nvPr/>
          </p:nvSpPr>
          <p:spPr bwMode="auto">
            <a:xfrm>
              <a:off x="803276" y="2717800"/>
              <a:ext cx="117475" cy="238125"/>
            </a:xfrm>
            <a:custGeom>
              <a:avLst/>
              <a:gdLst>
                <a:gd name="T0" fmla="*/ 70 w 370"/>
                <a:gd name="T1" fmla="*/ 723 h 746"/>
                <a:gd name="T2" fmla="*/ 29 w 370"/>
                <a:gd name="T3" fmla="*/ 742 h 746"/>
                <a:gd name="T4" fmla="*/ 28 w 370"/>
                <a:gd name="T5" fmla="*/ 721 h 746"/>
                <a:gd name="T6" fmla="*/ 13 w 370"/>
                <a:gd name="T7" fmla="*/ 450 h 746"/>
                <a:gd name="T8" fmla="*/ 251 w 370"/>
                <a:gd name="T9" fmla="*/ 44 h 746"/>
                <a:gd name="T10" fmla="*/ 355 w 370"/>
                <a:gd name="T11" fmla="*/ 0 h 746"/>
                <a:gd name="T12" fmla="*/ 367 w 370"/>
                <a:gd name="T13" fmla="*/ 77 h 746"/>
                <a:gd name="T14" fmla="*/ 362 w 370"/>
                <a:gd name="T15" fmla="*/ 251 h 746"/>
                <a:gd name="T16" fmla="*/ 180 w 370"/>
                <a:gd name="T17" fmla="*/ 500 h 746"/>
                <a:gd name="T18" fmla="*/ 143 w 370"/>
                <a:gd name="T19" fmla="*/ 521 h 746"/>
                <a:gd name="T20" fmla="*/ 98 w 370"/>
                <a:gd name="T21" fmla="*/ 597 h 746"/>
                <a:gd name="T22" fmla="*/ 70 w 370"/>
                <a:gd name="T23" fmla="*/ 723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0" h="746">
                  <a:moveTo>
                    <a:pt x="70" y="723"/>
                  </a:moveTo>
                  <a:cubicBezTo>
                    <a:pt x="61" y="732"/>
                    <a:pt x="30" y="746"/>
                    <a:pt x="29" y="742"/>
                  </a:cubicBezTo>
                  <a:cubicBezTo>
                    <a:pt x="26" y="736"/>
                    <a:pt x="28" y="728"/>
                    <a:pt x="28" y="721"/>
                  </a:cubicBezTo>
                  <a:cubicBezTo>
                    <a:pt x="23" y="631"/>
                    <a:pt x="19" y="540"/>
                    <a:pt x="13" y="450"/>
                  </a:cubicBezTo>
                  <a:cubicBezTo>
                    <a:pt x="0" y="260"/>
                    <a:pt x="82" y="126"/>
                    <a:pt x="251" y="44"/>
                  </a:cubicBezTo>
                  <a:cubicBezTo>
                    <a:pt x="284" y="29"/>
                    <a:pt x="317" y="16"/>
                    <a:pt x="355" y="0"/>
                  </a:cubicBezTo>
                  <a:cubicBezTo>
                    <a:pt x="360" y="28"/>
                    <a:pt x="367" y="53"/>
                    <a:pt x="367" y="77"/>
                  </a:cubicBezTo>
                  <a:cubicBezTo>
                    <a:pt x="367" y="135"/>
                    <a:pt x="370" y="194"/>
                    <a:pt x="362" y="251"/>
                  </a:cubicBezTo>
                  <a:cubicBezTo>
                    <a:pt x="345" y="364"/>
                    <a:pt x="275" y="442"/>
                    <a:pt x="180" y="500"/>
                  </a:cubicBezTo>
                  <a:cubicBezTo>
                    <a:pt x="168" y="507"/>
                    <a:pt x="156" y="517"/>
                    <a:pt x="143" y="521"/>
                  </a:cubicBezTo>
                  <a:cubicBezTo>
                    <a:pt x="101" y="532"/>
                    <a:pt x="91" y="559"/>
                    <a:pt x="98" y="597"/>
                  </a:cubicBezTo>
                  <a:cubicBezTo>
                    <a:pt x="98" y="600"/>
                    <a:pt x="106" y="690"/>
                    <a:pt x="70" y="7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54" name="Freeform 11">
              <a:extLst>
                <a:ext uri="{FF2B5EF4-FFF2-40B4-BE49-F238E27FC236}">
                  <a16:creationId xmlns:a16="http://schemas.microsoft.com/office/drawing/2014/main" id="{061E0643-76C3-587A-EFB3-B93DFFDF536B}"/>
                </a:ext>
              </a:extLst>
            </p:cNvPr>
            <p:cNvSpPr>
              <a:spLocks/>
            </p:cNvSpPr>
            <p:nvPr/>
          </p:nvSpPr>
          <p:spPr bwMode="auto">
            <a:xfrm>
              <a:off x="715963" y="2760663"/>
              <a:ext cx="93663" cy="109538"/>
            </a:xfrm>
            <a:custGeom>
              <a:avLst/>
              <a:gdLst>
                <a:gd name="T0" fmla="*/ 25 w 292"/>
                <a:gd name="T1" fmla="*/ 0 h 342"/>
                <a:gd name="T2" fmla="*/ 281 w 292"/>
                <a:gd name="T3" fmla="*/ 84 h 342"/>
                <a:gd name="T4" fmla="*/ 290 w 292"/>
                <a:gd name="T5" fmla="*/ 106 h 342"/>
                <a:gd name="T6" fmla="*/ 267 w 292"/>
                <a:gd name="T7" fmla="*/ 337 h 342"/>
                <a:gd name="T8" fmla="*/ 25 w 292"/>
                <a:gd name="T9" fmla="*/ 0 h 342"/>
              </a:gdLst>
              <a:ahLst/>
              <a:cxnLst>
                <a:cxn ang="0">
                  <a:pos x="T0" y="T1"/>
                </a:cxn>
                <a:cxn ang="0">
                  <a:pos x="T2" y="T3"/>
                </a:cxn>
                <a:cxn ang="0">
                  <a:pos x="T4" y="T5"/>
                </a:cxn>
                <a:cxn ang="0">
                  <a:pos x="T6" y="T7"/>
                </a:cxn>
                <a:cxn ang="0">
                  <a:pos x="T8" y="T9"/>
                </a:cxn>
              </a:cxnLst>
              <a:rect l="0" t="0" r="r" b="b"/>
              <a:pathLst>
                <a:path w="292" h="342">
                  <a:moveTo>
                    <a:pt x="25" y="0"/>
                  </a:moveTo>
                  <a:cubicBezTo>
                    <a:pt x="119" y="2"/>
                    <a:pt x="208" y="18"/>
                    <a:pt x="281" y="84"/>
                  </a:cubicBezTo>
                  <a:cubicBezTo>
                    <a:pt x="286" y="89"/>
                    <a:pt x="292" y="101"/>
                    <a:pt x="290" y="106"/>
                  </a:cubicBezTo>
                  <a:cubicBezTo>
                    <a:pt x="265" y="182"/>
                    <a:pt x="262" y="259"/>
                    <a:pt x="267" y="337"/>
                  </a:cubicBezTo>
                  <a:cubicBezTo>
                    <a:pt x="130" y="342"/>
                    <a:pt x="0" y="159"/>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55" name="Freeform 12">
              <a:extLst>
                <a:ext uri="{FF2B5EF4-FFF2-40B4-BE49-F238E27FC236}">
                  <a16:creationId xmlns:a16="http://schemas.microsoft.com/office/drawing/2014/main" id="{AB072EA4-2C63-D2CE-5FD8-4711D83B5D7A}"/>
                </a:ext>
              </a:extLst>
            </p:cNvPr>
            <p:cNvSpPr>
              <a:spLocks/>
            </p:cNvSpPr>
            <p:nvPr/>
          </p:nvSpPr>
          <p:spPr bwMode="auto">
            <a:xfrm>
              <a:off x="819151" y="2741613"/>
              <a:ext cx="85725" cy="131763"/>
            </a:xfrm>
            <a:custGeom>
              <a:avLst/>
              <a:gdLst>
                <a:gd name="T0" fmla="*/ 164 w 272"/>
                <a:gd name="T1" fmla="*/ 201 h 416"/>
                <a:gd name="T2" fmla="*/ 213 w 272"/>
                <a:gd name="T3" fmla="*/ 189 h 416"/>
                <a:gd name="T4" fmla="*/ 240 w 272"/>
                <a:gd name="T5" fmla="*/ 196 h 416"/>
                <a:gd name="T6" fmla="*/ 219 w 272"/>
                <a:gd name="T7" fmla="*/ 217 h 416"/>
                <a:gd name="T8" fmla="*/ 188 w 272"/>
                <a:gd name="T9" fmla="*/ 227 h 416"/>
                <a:gd name="T10" fmla="*/ 107 w 272"/>
                <a:gd name="T11" fmla="*/ 301 h 416"/>
                <a:gd name="T12" fmla="*/ 134 w 272"/>
                <a:gd name="T13" fmla="*/ 295 h 416"/>
                <a:gd name="T14" fmla="*/ 156 w 272"/>
                <a:gd name="T15" fmla="*/ 304 h 416"/>
                <a:gd name="T16" fmla="*/ 142 w 272"/>
                <a:gd name="T17" fmla="*/ 324 h 416"/>
                <a:gd name="T18" fmla="*/ 139 w 272"/>
                <a:gd name="T19" fmla="*/ 325 h 416"/>
                <a:gd name="T20" fmla="*/ 45 w 272"/>
                <a:gd name="T21" fmla="*/ 400 h 416"/>
                <a:gd name="T22" fmla="*/ 16 w 272"/>
                <a:gd name="T23" fmla="*/ 413 h 416"/>
                <a:gd name="T24" fmla="*/ 10 w 272"/>
                <a:gd name="T25" fmla="*/ 379 h 416"/>
                <a:gd name="T26" fmla="*/ 16 w 272"/>
                <a:gd name="T27" fmla="*/ 370 h 416"/>
                <a:gd name="T28" fmla="*/ 30 w 272"/>
                <a:gd name="T29" fmla="*/ 266 h 416"/>
                <a:gd name="T30" fmla="*/ 27 w 272"/>
                <a:gd name="T31" fmla="*/ 253 h 416"/>
                <a:gd name="T32" fmla="*/ 38 w 272"/>
                <a:gd name="T33" fmla="*/ 237 h 416"/>
                <a:gd name="T34" fmla="*/ 55 w 272"/>
                <a:gd name="T35" fmla="*/ 245 h 416"/>
                <a:gd name="T36" fmla="*/ 66 w 272"/>
                <a:gd name="T37" fmla="*/ 278 h 416"/>
                <a:gd name="T38" fmla="*/ 92 w 272"/>
                <a:gd name="T39" fmla="*/ 180 h 416"/>
                <a:gd name="T40" fmla="*/ 79 w 272"/>
                <a:gd name="T41" fmla="*/ 128 h 416"/>
                <a:gd name="T42" fmla="*/ 89 w 272"/>
                <a:gd name="T43" fmla="*/ 109 h 416"/>
                <a:gd name="T44" fmla="*/ 107 w 272"/>
                <a:gd name="T45" fmla="*/ 122 h 416"/>
                <a:gd name="T46" fmla="*/ 124 w 272"/>
                <a:gd name="T47" fmla="*/ 178 h 416"/>
                <a:gd name="T48" fmla="*/ 149 w 272"/>
                <a:gd name="T49" fmla="*/ 75 h 416"/>
                <a:gd name="T50" fmla="*/ 144 w 272"/>
                <a:gd name="T51" fmla="*/ 54 h 416"/>
                <a:gd name="T52" fmla="*/ 155 w 272"/>
                <a:gd name="T53" fmla="*/ 35 h 416"/>
                <a:gd name="T54" fmla="*/ 172 w 272"/>
                <a:gd name="T55" fmla="*/ 48 h 416"/>
                <a:gd name="T56" fmla="*/ 183 w 272"/>
                <a:gd name="T57" fmla="*/ 79 h 416"/>
                <a:gd name="T58" fmla="*/ 215 w 272"/>
                <a:gd name="T59" fmla="*/ 25 h 416"/>
                <a:gd name="T60" fmla="*/ 246 w 272"/>
                <a:gd name="T61" fmla="*/ 12 h 416"/>
                <a:gd name="T62" fmla="*/ 250 w 272"/>
                <a:gd name="T63" fmla="*/ 44 h 416"/>
                <a:gd name="T64" fmla="*/ 219 w 272"/>
                <a:gd name="T65" fmla="*/ 100 h 416"/>
                <a:gd name="T66" fmla="*/ 250 w 272"/>
                <a:gd name="T67" fmla="*/ 94 h 416"/>
                <a:gd name="T68" fmla="*/ 272 w 272"/>
                <a:gd name="T69" fmla="*/ 104 h 416"/>
                <a:gd name="T70" fmla="*/ 260 w 272"/>
                <a:gd name="T71" fmla="*/ 122 h 416"/>
                <a:gd name="T72" fmla="*/ 247 w 272"/>
                <a:gd name="T73" fmla="*/ 126 h 416"/>
                <a:gd name="T74" fmla="*/ 164 w 272"/>
                <a:gd name="T75" fmla="*/ 201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72" h="416">
                  <a:moveTo>
                    <a:pt x="164" y="201"/>
                  </a:moveTo>
                  <a:cubicBezTo>
                    <a:pt x="182" y="197"/>
                    <a:pt x="197" y="191"/>
                    <a:pt x="213" y="189"/>
                  </a:cubicBezTo>
                  <a:cubicBezTo>
                    <a:pt x="222" y="188"/>
                    <a:pt x="231" y="194"/>
                    <a:pt x="240" y="196"/>
                  </a:cubicBezTo>
                  <a:cubicBezTo>
                    <a:pt x="233" y="203"/>
                    <a:pt x="228" y="213"/>
                    <a:pt x="219" y="217"/>
                  </a:cubicBezTo>
                  <a:cubicBezTo>
                    <a:pt x="210" y="223"/>
                    <a:pt x="199" y="226"/>
                    <a:pt x="188" y="227"/>
                  </a:cubicBezTo>
                  <a:cubicBezTo>
                    <a:pt x="144" y="231"/>
                    <a:pt x="120" y="256"/>
                    <a:pt x="107" y="301"/>
                  </a:cubicBezTo>
                  <a:cubicBezTo>
                    <a:pt x="117" y="298"/>
                    <a:pt x="125" y="294"/>
                    <a:pt x="134" y="295"/>
                  </a:cubicBezTo>
                  <a:cubicBezTo>
                    <a:pt x="141" y="295"/>
                    <a:pt x="148" y="301"/>
                    <a:pt x="156" y="304"/>
                  </a:cubicBezTo>
                  <a:cubicBezTo>
                    <a:pt x="151" y="311"/>
                    <a:pt x="147" y="317"/>
                    <a:pt x="142" y="324"/>
                  </a:cubicBezTo>
                  <a:cubicBezTo>
                    <a:pt x="142" y="324"/>
                    <a:pt x="140" y="324"/>
                    <a:pt x="139" y="325"/>
                  </a:cubicBezTo>
                  <a:cubicBezTo>
                    <a:pt x="90" y="328"/>
                    <a:pt x="64" y="357"/>
                    <a:pt x="45" y="400"/>
                  </a:cubicBezTo>
                  <a:cubicBezTo>
                    <a:pt x="41" y="407"/>
                    <a:pt x="23" y="416"/>
                    <a:pt x="16" y="413"/>
                  </a:cubicBezTo>
                  <a:cubicBezTo>
                    <a:pt x="0" y="408"/>
                    <a:pt x="2" y="393"/>
                    <a:pt x="10" y="379"/>
                  </a:cubicBezTo>
                  <a:cubicBezTo>
                    <a:pt x="12" y="376"/>
                    <a:pt x="13" y="373"/>
                    <a:pt x="16" y="370"/>
                  </a:cubicBezTo>
                  <a:cubicBezTo>
                    <a:pt x="42" y="338"/>
                    <a:pt x="47" y="304"/>
                    <a:pt x="30" y="266"/>
                  </a:cubicBezTo>
                  <a:cubicBezTo>
                    <a:pt x="29" y="262"/>
                    <a:pt x="26" y="256"/>
                    <a:pt x="27" y="253"/>
                  </a:cubicBezTo>
                  <a:cubicBezTo>
                    <a:pt x="29" y="247"/>
                    <a:pt x="33" y="239"/>
                    <a:pt x="38" y="237"/>
                  </a:cubicBezTo>
                  <a:cubicBezTo>
                    <a:pt x="42" y="236"/>
                    <a:pt x="52" y="240"/>
                    <a:pt x="55" y="245"/>
                  </a:cubicBezTo>
                  <a:cubicBezTo>
                    <a:pt x="60" y="254"/>
                    <a:pt x="62" y="265"/>
                    <a:pt x="66" y="278"/>
                  </a:cubicBezTo>
                  <a:cubicBezTo>
                    <a:pt x="88" y="247"/>
                    <a:pt x="111" y="221"/>
                    <a:pt x="92" y="180"/>
                  </a:cubicBezTo>
                  <a:cubicBezTo>
                    <a:pt x="85" y="164"/>
                    <a:pt x="82" y="146"/>
                    <a:pt x="79" y="128"/>
                  </a:cubicBezTo>
                  <a:cubicBezTo>
                    <a:pt x="78" y="122"/>
                    <a:pt x="86" y="115"/>
                    <a:pt x="89" y="109"/>
                  </a:cubicBezTo>
                  <a:cubicBezTo>
                    <a:pt x="95" y="113"/>
                    <a:pt x="104" y="116"/>
                    <a:pt x="107" y="122"/>
                  </a:cubicBezTo>
                  <a:cubicBezTo>
                    <a:pt x="114" y="139"/>
                    <a:pt x="118" y="157"/>
                    <a:pt x="124" y="178"/>
                  </a:cubicBezTo>
                  <a:cubicBezTo>
                    <a:pt x="149" y="145"/>
                    <a:pt x="169" y="115"/>
                    <a:pt x="149" y="75"/>
                  </a:cubicBezTo>
                  <a:cubicBezTo>
                    <a:pt x="146" y="68"/>
                    <a:pt x="143" y="60"/>
                    <a:pt x="144" y="54"/>
                  </a:cubicBezTo>
                  <a:cubicBezTo>
                    <a:pt x="145" y="47"/>
                    <a:pt x="151" y="41"/>
                    <a:pt x="155" y="35"/>
                  </a:cubicBezTo>
                  <a:cubicBezTo>
                    <a:pt x="160" y="39"/>
                    <a:pt x="168" y="42"/>
                    <a:pt x="172" y="48"/>
                  </a:cubicBezTo>
                  <a:cubicBezTo>
                    <a:pt x="177" y="56"/>
                    <a:pt x="178" y="66"/>
                    <a:pt x="183" y="79"/>
                  </a:cubicBezTo>
                  <a:cubicBezTo>
                    <a:pt x="195" y="58"/>
                    <a:pt x="205" y="41"/>
                    <a:pt x="215" y="25"/>
                  </a:cubicBezTo>
                  <a:cubicBezTo>
                    <a:pt x="222" y="12"/>
                    <a:pt x="233" y="0"/>
                    <a:pt x="246" y="12"/>
                  </a:cubicBezTo>
                  <a:cubicBezTo>
                    <a:pt x="253" y="18"/>
                    <a:pt x="254" y="35"/>
                    <a:pt x="250" y="44"/>
                  </a:cubicBezTo>
                  <a:cubicBezTo>
                    <a:pt x="243" y="62"/>
                    <a:pt x="231" y="78"/>
                    <a:pt x="219" y="100"/>
                  </a:cubicBezTo>
                  <a:cubicBezTo>
                    <a:pt x="233" y="97"/>
                    <a:pt x="242" y="93"/>
                    <a:pt x="250" y="94"/>
                  </a:cubicBezTo>
                  <a:cubicBezTo>
                    <a:pt x="258" y="94"/>
                    <a:pt x="265" y="100"/>
                    <a:pt x="272" y="104"/>
                  </a:cubicBezTo>
                  <a:cubicBezTo>
                    <a:pt x="268" y="110"/>
                    <a:pt x="265" y="117"/>
                    <a:pt x="260" y="122"/>
                  </a:cubicBezTo>
                  <a:cubicBezTo>
                    <a:pt x="257" y="125"/>
                    <a:pt x="251" y="125"/>
                    <a:pt x="247" y="126"/>
                  </a:cubicBezTo>
                  <a:cubicBezTo>
                    <a:pt x="201" y="129"/>
                    <a:pt x="178" y="158"/>
                    <a:pt x="16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dirty="0">
                <a:ln>
                  <a:noFill/>
                </a:ln>
                <a:solidFill>
                  <a:prstClr val="black"/>
                </a:solidFill>
                <a:effectLst/>
                <a:uLnTx/>
                <a:uFillTx/>
              </a:endParaRPr>
            </a:p>
          </p:txBody>
        </p:sp>
      </p:grpSp>
    </p:spTree>
    <p:extLst>
      <p:ext uri="{BB962C8B-B14F-4D97-AF65-F5344CB8AC3E}">
        <p14:creationId xmlns:p14="http://schemas.microsoft.com/office/powerpoint/2010/main" val="96904328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B60D14-77C6-B6AF-F23D-6FDB3C7B70B7}"/>
              </a:ext>
            </a:extLst>
          </p:cNvPr>
          <p:cNvSpPr txBox="1"/>
          <p:nvPr/>
        </p:nvSpPr>
        <p:spPr>
          <a:xfrm>
            <a:off x="347951" y="428726"/>
            <a:ext cx="4050468" cy="630942"/>
          </a:xfrm>
          <a:prstGeom prst="rect">
            <a:avLst/>
          </a:prstGeom>
          <a:noFill/>
        </p:spPr>
        <p:txBody>
          <a:bodyPr wrap="non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Propuesta de Valor </a:t>
            </a:r>
            <a:endParaRPr lang="en-US" sz="3500" spc="-30" dirty="0">
              <a:solidFill>
                <a:prstClr val="white"/>
              </a:solidFill>
              <a:latin typeface="Arial"/>
            </a:endParaRPr>
          </a:p>
        </p:txBody>
      </p:sp>
      <p:sp>
        <p:nvSpPr>
          <p:cNvPr id="7" name="TextBox 6">
            <a:extLst>
              <a:ext uri="{FF2B5EF4-FFF2-40B4-BE49-F238E27FC236}">
                <a16:creationId xmlns:a16="http://schemas.microsoft.com/office/drawing/2014/main" id="{A09F60D3-BB24-DE91-B92C-0128D49DDB30}"/>
              </a:ext>
            </a:extLst>
          </p:cNvPr>
          <p:cNvSpPr txBox="1"/>
          <p:nvPr/>
        </p:nvSpPr>
        <p:spPr bwMode="auto">
          <a:xfrm>
            <a:off x="1377570" y="4469617"/>
            <a:ext cx="10052432" cy="923330"/>
          </a:xfrm>
          <a:prstGeom prst="rect">
            <a:avLst/>
          </a:prstGeom>
          <a:noFill/>
          <a:ln w="9525">
            <a:noFill/>
            <a:miter lim="800000"/>
            <a:headEnd/>
            <a:tailEnd/>
          </a:ln>
        </p:spPr>
        <p:txBody>
          <a:bodyPr wrap="square">
            <a:spAutoFit/>
          </a:bodyPr>
          <a:lstStyle/>
          <a:p>
            <a:r>
              <a:rPr lang="es-CL" sz="1800" dirty="0">
                <a:solidFill>
                  <a:schemeClr val="bg1"/>
                </a:solidFill>
                <a:effectLst/>
                <a:latin typeface="Arial" panose="020B0604020202020204" pitchFamily="34" charset="0"/>
                <a:ea typeface="Arial" panose="020B0604020202020204" pitchFamily="34" charset="0"/>
              </a:rPr>
              <a:t>Ventaja Competitiva: La especialización y experiencia en soluciones de ciberseguridad de Microsoft. Esta especialización les permite atender una creciente demanda de servicios de ciberseguridad, diferenciarse en el mercado y establecer relaciones sólidas con socios y clientes.</a:t>
            </a:r>
            <a:endParaRPr lang="en-US" dirty="0">
              <a:solidFill>
                <a:schemeClr val="bg1"/>
              </a:solidFill>
            </a:endParaRPr>
          </a:p>
        </p:txBody>
      </p:sp>
      <p:sp>
        <p:nvSpPr>
          <p:cNvPr id="9" name="TextBox 8">
            <a:extLst>
              <a:ext uri="{FF2B5EF4-FFF2-40B4-BE49-F238E27FC236}">
                <a16:creationId xmlns:a16="http://schemas.microsoft.com/office/drawing/2014/main" id="{F2F5C376-AD8B-24B8-E958-DA9379183EE8}"/>
              </a:ext>
            </a:extLst>
          </p:cNvPr>
          <p:cNvSpPr txBox="1"/>
          <p:nvPr/>
        </p:nvSpPr>
        <p:spPr>
          <a:xfrm>
            <a:off x="1365631" y="1550709"/>
            <a:ext cx="10064370" cy="923330"/>
          </a:xfrm>
          <a:prstGeom prst="rect">
            <a:avLst/>
          </a:prstGeom>
          <a:noFill/>
        </p:spPr>
        <p:txBody>
          <a:bodyPr wrap="square" rtlCol="0">
            <a:spAutoFit/>
          </a:bodyPr>
          <a:lstStyle/>
          <a:p>
            <a:r>
              <a:rPr lang="es-ES" dirty="0">
                <a:solidFill>
                  <a:schemeClr val="bg1"/>
                </a:solidFill>
                <a:latin typeface="Arial" panose="020B0604020202020204" pitchFamily="34" charset="0"/>
              </a:rPr>
              <a:t>Misión: Ser un socio de confianza para las empresas ayudándolas en su transformación digital con la seguridad como un </a:t>
            </a:r>
            <a:r>
              <a:rPr lang="es-CL" dirty="0">
                <a:solidFill>
                  <a:schemeClr val="bg1"/>
                </a:solidFill>
                <a:latin typeface="Arial" panose="020B0604020202020204" pitchFamily="34" charset="0"/>
              </a:rPr>
              <a:t>habilitador de negocios, </a:t>
            </a:r>
            <a:r>
              <a:rPr lang="es-ES" dirty="0">
                <a:solidFill>
                  <a:schemeClr val="bg1"/>
                </a:solidFill>
                <a:latin typeface="Arial" panose="020B0604020202020204" pitchFamily="34" charset="0"/>
              </a:rPr>
              <a:t> </a:t>
            </a:r>
            <a:r>
              <a:rPr lang="es-CL" dirty="0">
                <a:solidFill>
                  <a:schemeClr val="bg1"/>
                </a:solidFill>
                <a:latin typeface="Arial" panose="020B0604020202020204" pitchFamily="34" charset="0"/>
              </a:rPr>
              <a:t>brindando soluciones mediante los servicios de Consultoría y Soporte de Tecnológicas.</a:t>
            </a:r>
            <a:endParaRPr lang="en-US" dirty="0">
              <a:solidFill>
                <a:schemeClr val="bg1"/>
              </a:solidFill>
              <a:latin typeface="Arial" panose="020B0604020202020204" pitchFamily="34" charset="0"/>
            </a:endParaRPr>
          </a:p>
        </p:txBody>
      </p:sp>
      <p:sp>
        <p:nvSpPr>
          <p:cNvPr id="12" name="TextBox 11">
            <a:extLst>
              <a:ext uri="{FF2B5EF4-FFF2-40B4-BE49-F238E27FC236}">
                <a16:creationId xmlns:a16="http://schemas.microsoft.com/office/drawing/2014/main" id="{B16634F7-BE82-8803-16EF-CBD09F67F883}"/>
              </a:ext>
            </a:extLst>
          </p:cNvPr>
          <p:cNvSpPr txBox="1"/>
          <p:nvPr/>
        </p:nvSpPr>
        <p:spPr bwMode="auto">
          <a:xfrm>
            <a:off x="1371600" y="3010163"/>
            <a:ext cx="10236200" cy="1200329"/>
          </a:xfrm>
          <a:prstGeom prst="rect">
            <a:avLst/>
          </a:prstGeom>
          <a:noFill/>
          <a:ln w="9525">
            <a:noFill/>
            <a:miter lim="800000"/>
            <a:headEnd/>
            <a:tailEnd/>
          </a:ln>
        </p:spPr>
        <p:txBody>
          <a:bodyPr wrap="square">
            <a:spAutoFit/>
          </a:bodyPr>
          <a:lstStyle/>
          <a:p>
            <a:r>
              <a:rPr lang="es-ES" dirty="0">
                <a:solidFill>
                  <a:schemeClr val="bg1"/>
                </a:solidFill>
                <a:latin typeface="Arial" panose="020B0604020202020204" pitchFamily="34" charset="0"/>
              </a:rPr>
              <a:t>Visión: Ser el principal asesor en Seguridad de la Información en tecnologías Microsoft para nuestros clientes, aprovechando y aplicando todas las dimensiones de la protección de datos y colaborando activamente en la protección de empresas y personas durante su proceso de digitalización.</a:t>
            </a:r>
            <a:endParaRPr lang="en-US" dirty="0">
              <a:solidFill>
                <a:schemeClr val="bg1"/>
              </a:solidFill>
              <a:latin typeface="Arial" panose="020B0604020202020204" pitchFamily="34" charset="0"/>
            </a:endParaRPr>
          </a:p>
        </p:txBody>
      </p:sp>
      <p:grpSp>
        <p:nvGrpSpPr>
          <p:cNvPr id="14" name="Group 13">
            <a:extLst>
              <a:ext uri="{FF2B5EF4-FFF2-40B4-BE49-F238E27FC236}">
                <a16:creationId xmlns:a16="http://schemas.microsoft.com/office/drawing/2014/main" id="{FD852747-D5BD-A57D-8D14-FF7B5B6A082A}"/>
              </a:ext>
            </a:extLst>
          </p:cNvPr>
          <p:cNvGrpSpPr/>
          <p:nvPr/>
        </p:nvGrpSpPr>
        <p:grpSpPr>
          <a:xfrm>
            <a:off x="536363" y="4617657"/>
            <a:ext cx="561265" cy="623628"/>
            <a:chOff x="15828963" y="3441700"/>
            <a:chExt cx="1028700" cy="1143000"/>
          </a:xfrm>
          <a:solidFill>
            <a:schemeClr val="bg1"/>
          </a:solidFill>
        </p:grpSpPr>
        <p:sp>
          <p:nvSpPr>
            <p:cNvPr id="15" name="Freeform 40">
              <a:extLst>
                <a:ext uri="{FF2B5EF4-FFF2-40B4-BE49-F238E27FC236}">
                  <a16:creationId xmlns:a16="http://schemas.microsoft.com/office/drawing/2014/main" id="{109751D6-783D-CC13-462B-1BB4D5001905}"/>
                </a:ext>
              </a:extLst>
            </p:cNvPr>
            <p:cNvSpPr>
              <a:spLocks noEditPoints="1"/>
            </p:cNvSpPr>
            <p:nvPr/>
          </p:nvSpPr>
          <p:spPr bwMode="auto">
            <a:xfrm>
              <a:off x="15828963" y="3441700"/>
              <a:ext cx="1028700" cy="1143000"/>
            </a:xfrm>
            <a:custGeom>
              <a:avLst/>
              <a:gdLst>
                <a:gd name="T0" fmla="*/ 270 w 274"/>
                <a:gd name="T1" fmla="*/ 77 h 304"/>
                <a:gd name="T2" fmla="*/ 216 w 274"/>
                <a:gd name="T3" fmla="*/ 30 h 304"/>
                <a:gd name="T4" fmla="*/ 137 w 274"/>
                <a:gd name="T5" fmla="*/ 0 h 304"/>
                <a:gd name="T6" fmla="*/ 57 w 274"/>
                <a:gd name="T7" fmla="*/ 30 h 304"/>
                <a:gd name="T8" fmla="*/ 3 w 274"/>
                <a:gd name="T9" fmla="*/ 77 h 304"/>
                <a:gd name="T10" fmla="*/ 1 w 274"/>
                <a:gd name="T11" fmla="*/ 86 h 304"/>
                <a:gd name="T12" fmla="*/ 23 w 274"/>
                <a:gd name="T13" fmla="*/ 177 h 304"/>
                <a:gd name="T14" fmla="*/ 132 w 274"/>
                <a:gd name="T15" fmla="*/ 303 h 304"/>
                <a:gd name="T16" fmla="*/ 133 w 274"/>
                <a:gd name="T17" fmla="*/ 303 h 304"/>
                <a:gd name="T18" fmla="*/ 134 w 274"/>
                <a:gd name="T19" fmla="*/ 304 h 304"/>
                <a:gd name="T20" fmla="*/ 135 w 274"/>
                <a:gd name="T21" fmla="*/ 304 h 304"/>
                <a:gd name="T22" fmla="*/ 137 w 274"/>
                <a:gd name="T23" fmla="*/ 304 h 304"/>
                <a:gd name="T24" fmla="*/ 137 w 274"/>
                <a:gd name="T25" fmla="*/ 304 h 304"/>
                <a:gd name="T26" fmla="*/ 137 w 274"/>
                <a:gd name="T27" fmla="*/ 304 h 304"/>
                <a:gd name="T28" fmla="*/ 137 w 274"/>
                <a:gd name="T29" fmla="*/ 304 h 304"/>
                <a:gd name="T30" fmla="*/ 137 w 274"/>
                <a:gd name="T31" fmla="*/ 304 h 304"/>
                <a:gd name="T32" fmla="*/ 139 w 274"/>
                <a:gd name="T33" fmla="*/ 304 h 304"/>
                <a:gd name="T34" fmla="*/ 140 w 274"/>
                <a:gd name="T35" fmla="*/ 304 h 304"/>
                <a:gd name="T36" fmla="*/ 141 w 274"/>
                <a:gd name="T37" fmla="*/ 303 h 304"/>
                <a:gd name="T38" fmla="*/ 142 w 274"/>
                <a:gd name="T39" fmla="*/ 303 h 304"/>
                <a:gd name="T40" fmla="*/ 251 w 274"/>
                <a:gd name="T41" fmla="*/ 177 h 304"/>
                <a:gd name="T42" fmla="*/ 273 w 274"/>
                <a:gd name="T43" fmla="*/ 86 h 304"/>
                <a:gd name="T44" fmla="*/ 270 w 274"/>
                <a:gd name="T45" fmla="*/ 77 h 304"/>
                <a:gd name="T46" fmla="*/ 137 w 274"/>
                <a:gd name="T47" fmla="*/ 277 h 304"/>
                <a:gd name="T48" fmla="*/ 28 w 274"/>
                <a:gd name="T49" fmla="*/ 89 h 304"/>
                <a:gd name="T50" fmla="*/ 71 w 274"/>
                <a:gd name="T51" fmla="*/ 52 h 304"/>
                <a:gd name="T52" fmla="*/ 137 w 274"/>
                <a:gd name="T53" fmla="*/ 26 h 304"/>
                <a:gd name="T54" fmla="*/ 203 w 274"/>
                <a:gd name="T55" fmla="*/ 52 h 304"/>
                <a:gd name="T56" fmla="*/ 246 w 274"/>
                <a:gd name="T57" fmla="*/ 89 h 304"/>
                <a:gd name="T58" fmla="*/ 137 w 274"/>
                <a:gd name="T59" fmla="*/ 277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74" h="304">
                  <a:moveTo>
                    <a:pt x="270" y="77"/>
                  </a:moveTo>
                  <a:cubicBezTo>
                    <a:pt x="270" y="76"/>
                    <a:pt x="248" y="49"/>
                    <a:pt x="216" y="30"/>
                  </a:cubicBezTo>
                  <a:cubicBezTo>
                    <a:pt x="168" y="1"/>
                    <a:pt x="140" y="0"/>
                    <a:pt x="137" y="0"/>
                  </a:cubicBezTo>
                  <a:cubicBezTo>
                    <a:pt x="134" y="0"/>
                    <a:pt x="105" y="1"/>
                    <a:pt x="57" y="30"/>
                  </a:cubicBezTo>
                  <a:cubicBezTo>
                    <a:pt x="26" y="49"/>
                    <a:pt x="4" y="76"/>
                    <a:pt x="3" y="77"/>
                  </a:cubicBezTo>
                  <a:cubicBezTo>
                    <a:pt x="1" y="80"/>
                    <a:pt x="0" y="83"/>
                    <a:pt x="1" y="86"/>
                  </a:cubicBezTo>
                  <a:cubicBezTo>
                    <a:pt x="1" y="88"/>
                    <a:pt x="5" y="130"/>
                    <a:pt x="23" y="177"/>
                  </a:cubicBezTo>
                  <a:cubicBezTo>
                    <a:pt x="47" y="241"/>
                    <a:pt x="84" y="285"/>
                    <a:pt x="132" y="303"/>
                  </a:cubicBezTo>
                  <a:cubicBezTo>
                    <a:pt x="132" y="303"/>
                    <a:pt x="132" y="303"/>
                    <a:pt x="133" y="303"/>
                  </a:cubicBezTo>
                  <a:cubicBezTo>
                    <a:pt x="133" y="304"/>
                    <a:pt x="134" y="304"/>
                    <a:pt x="134" y="304"/>
                  </a:cubicBezTo>
                  <a:cubicBezTo>
                    <a:pt x="134" y="304"/>
                    <a:pt x="135" y="304"/>
                    <a:pt x="135" y="304"/>
                  </a:cubicBezTo>
                  <a:cubicBezTo>
                    <a:pt x="135" y="304"/>
                    <a:pt x="136" y="304"/>
                    <a:pt x="137" y="304"/>
                  </a:cubicBezTo>
                  <a:cubicBezTo>
                    <a:pt x="137" y="304"/>
                    <a:pt x="137" y="304"/>
                    <a:pt x="137" y="304"/>
                  </a:cubicBezTo>
                  <a:cubicBezTo>
                    <a:pt x="137" y="304"/>
                    <a:pt x="137" y="304"/>
                    <a:pt x="137" y="304"/>
                  </a:cubicBezTo>
                  <a:cubicBezTo>
                    <a:pt x="137" y="304"/>
                    <a:pt x="137" y="304"/>
                    <a:pt x="137" y="304"/>
                  </a:cubicBezTo>
                  <a:cubicBezTo>
                    <a:pt x="137" y="304"/>
                    <a:pt x="137" y="304"/>
                    <a:pt x="137" y="304"/>
                  </a:cubicBezTo>
                  <a:cubicBezTo>
                    <a:pt x="138" y="304"/>
                    <a:pt x="138" y="304"/>
                    <a:pt x="139" y="304"/>
                  </a:cubicBezTo>
                  <a:cubicBezTo>
                    <a:pt x="139" y="304"/>
                    <a:pt x="140" y="304"/>
                    <a:pt x="140" y="304"/>
                  </a:cubicBezTo>
                  <a:cubicBezTo>
                    <a:pt x="140" y="304"/>
                    <a:pt x="141" y="304"/>
                    <a:pt x="141" y="303"/>
                  </a:cubicBezTo>
                  <a:cubicBezTo>
                    <a:pt x="142" y="303"/>
                    <a:pt x="142" y="303"/>
                    <a:pt x="142" y="303"/>
                  </a:cubicBezTo>
                  <a:cubicBezTo>
                    <a:pt x="189" y="285"/>
                    <a:pt x="227" y="241"/>
                    <a:pt x="251" y="177"/>
                  </a:cubicBezTo>
                  <a:cubicBezTo>
                    <a:pt x="269" y="130"/>
                    <a:pt x="273" y="88"/>
                    <a:pt x="273" y="86"/>
                  </a:cubicBezTo>
                  <a:cubicBezTo>
                    <a:pt x="274" y="83"/>
                    <a:pt x="273" y="80"/>
                    <a:pt x="270" y="77"/>
                  </a:cubicBezTo>
                  <a:close/>
                  <a:moveTo>
                    <a:pt x="137" y="277"/>
                  </a:moveTo>
                  <a:cubicBezTo>
                    <a:pt x="53" y="239"/>
                    <a:pt x="31" y="117"/>
                    <a:pt x="28" y="89"/>
                  </a:cubicBezTo>
                  <a:cubicBezTo>
                    <a:pt x="34" y="82"/>
                    <a:pt x="50" y="65"/>
                    <a:pt x="71" y="52"/>
                  </a:cubicBezTo>
                  <a:cubicBezTo>
                    <a:pt x="112" y="27"/>
                    <a:pt x="136" y="26"/>
                    <a:pt x="137" y="26"/>
                  </a:cubicBezTo>
                  <a:cubicBezTo>
                    <a:pt x="138" y="26"/>
                    <a:pt x="162" y="27"/>
                    <a:pt x="203" y="52"/>
                  </a:cubicBezTo>
                  <a:cubicBezTo>
                    <a:pt x="223" y="65"/>
                    <a:pt x="240" y="82"/>
                    <a:pt x="246" y="89"/>
                  </a:cubicBezTo>
                  <a:cubicBezTo>
                    <a:pt x="243" y="117"/>
                    <a:pt x="221" y="239"/>
                    <a:pt x="137" y="2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16" name="Freeform 41">
              <a:extLst>
                <a:ext uri="{FF2B5EF4-FFF2-40B4-BE49-F238E27FC236}">
                  <a16:creationId xmlns:a16="http://schemas.microsoft.com/office/drawing/2014/main" id="{FCE86EEC-4F25-3C1E-7742-B53E20905ED1}"/>
                </a:ext>
              </a:extLst>
            </p:cNvPr>
            <p:cNvSpPr>
              <a:spLocks noEditPoints="1"/>
            </p:cNvSpPr>
            <p:nvPr/>
          </p:nvSpPr>
          <p:spPr bwMode="auto">
            <a:xfrm>
              <a:off x="15990888" y="3603625"/>
              <a:ext cx="706438" cy="800100"/>
            </a:xfrm>
            <a:custGeom>
              <a:avLst/>
              <a:gdLst>
                <a:gd name="T0" fmla="*/ 153 w 188"/>
                <a:gd name="T1" fmla="*/ 21 h 213"/>
                <a:gd name="T2" fmla="*/ 94 w 188"/>
                <a:gd name="T3" fmla="*/ 0 h 213"/>
                <a:gd name="T4" fmla="*/ 35 w 188"/>
                <a:gd name="T5" fmla="*/ 21 h 213"/>
                <a:gd name="T6" fmla="*/ 0 w 188"/>
                <a:gd name="T7" fmla="*/ 54 h 213"/>
                <a:gd name="T8" fmla="*/ 94 w 188"/>
                <a:gd name="T9" fmla="*/ 213 h 213"/>
                <a:gd name="T10" fmla="*/ 188 w 188"/>
                <a:gd name="T11" fmla="*/ 54 h 213"/>
                <a:gd name="T12" fmla="*/ 153 w 188"/>
                <a:gd name="T13" fmla="*/ 21 h 213"/>
                <a:gd name="T14" fmla="*/ 170 w 188"/>
                <a:gd name="T15" fmla="*/ 69 h 213"/>
                <a:gd name="T16" fmla="*/ 90 w 188"/>
                <a:gd name="T17" fmla="*/ 153 h 213"/>
                <a:gd name="T18" fmla="*/ 85 w 188"/>
                <a:gd name="T19" fmla="*/ 155 h 213"/>
                <a:gd name="T20" fmla="*/ 85 w 188"/>
                <a:gd name="T21" fmla="*/ 155 h 213"/>
                <a:gd name="T22" fmla="*/ 80 w 188"/>
                <a:gd name="T23" fmla="*/ 153 h 213"/>
                <a:gd name="T24" fmla="*/ 31 w 188"/>
                <a:gd name="T25" fmla="*/ 101 h 213"/>
                <a:gd name="T26" fmla="*/ 30 w 188"/>
                <a:gd name="T27" fmla="*/ 94 h 213"/>
                <a:gd name="T28" fmla="*/ 36 w 188"/>
                <a:gd name="T29" fmla="*/ 90 h 213"/>
                <a:gd name="T30" fmla="*/ 63 w 188"/>
                <a:gd name="T31" fmla="*/ 90 h 213"/>
                <a:gd name="T32" fmla="*/ 67 w 188"/>
                <a:gd name="T33" fmla="*/ 92 h 213"/>
                <a:gd name="T34" fmla="*/ 85 w 188"/>
                <a:gd name="T35" fmla="*/ 111 h 213"/>
                <a:gd name="T36" fmla="*/ 134 w 188"/>
                <a:gd name="T37" fmla="*/ 60 h 213"/>
                <a:gd name="T38" fmla="*/ 139 w 188"/>
                <a:gd name="T39" fmla="*/ 58 h 213"/>
                <a:gd name="T40" fmla="*/ 166 w 188"/>
                <a:gd name="T41" fmla="*/ 58 h 213"/>
                <a:gd name="T42" fmla="*/ 172 w 188"/>
                <a:gd name="T43" fmla="*/ 62 h 213"/>
                <a:gd name="T44" fmla="*/ 170 w 188"/>
                <a:gd name="T45" fmla="*/ 69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8" h="213">
                  <a:moveTo>
                    <a:pt x="153" y="21"/>
                  </a:moveTo>
                  <a:cubicBezTo>
                    <a:pt x="125" y="1"/>
                    <a:pt x="94" y="0"/>
                    <a:pt x="94" y="0"/>
                  </a:cubicBezTo>
                  <a:cubicBezTo>
                    <a:pt x="94" y="0"/>
                    <a:pt x="63" y="1"/>
                    <a:pt x="35" y="21"/>
                  </a:cubicBezTo>
                  <a:cubicBezTo>
                    <a:pt x="7" y="41"/>
                    <a:pt x="0" y="54"/>
                    <a:pt x="0" y="54"/>
                  </a:cubicBezTo>
                  <a:cubicBezTo>
                    <a:pt x="0" y="54"/>
                    <a:pt x="10" y="178"/>
                    <a:pt x="94" y="213"/>
                  </a:cubicBezTo>
                  <a:cubicBezTo>
                    <a:pt x="178" y="178"/>
                    <a:pt x="188" y="54"/>
                    <a:pt x="188" y="54"/>
                  </a:cubicBezTo>
                  <a:cubicBezTo>
                    <a:pt x="188" y="54"/>
                    <a:pt x="181" y="41"/>
                    <a:pt x="153" y="21"/>
                  </a:cubicBezTo>
                  <a:close/>
                  <a:moveTo>
                    <a:pt x="170" y="69"/>
                  </a:moveTo>
                  <a:cubicBezTo>
                    <a:pt x="90" y="153"/>
                    <a:pt x="90" y="153"/>
                    <a:pt x="90" y="153"/>
                  </a:cubicBezTo>
                  <a:cubicBezTo>
                    <a:pt x="89" y="154"/>
                    <a:pt x="87" y="155"/>
                    <a:pt x="85" y="155"/>
                  </a:cubicBezTo>
                  <a:cubicBezTo>
                    <a:pt x="85" y="155"/>
                    <a:pt x="85" y="155"/>
                    <a:pt x="85" y="155"/>
                  </a:cubicBezTo>
                  <a:cubicBezTo>
                    <a:pt x="83" y="155"/>
                    <a:pt x="82" y="154"/>
                    <a:pt x="80" y="153"/>
                  </a:cubicBezTo>
                  <a:cubicBezTo>
                    <a:pt x="31" y="101"/>
                    <a:pt x="31" y="101"/>
                    <a:pt x="31" y="101"/>
                  </a:cubicBezTo>
                  <a:cubicBezTo>
                    <a:pt x="29" y="100"/>
                    <a:pt x="29" y="97"/>
                    <a:pt x="30" y="94"/>
                  </a:cubicBezTo>
                  <a:cubicBezTo>
                    <a:pt x="31" y="92"/>
                    <a:pt x="33" y="90"/>
                    <a:pt x="36" y="90"/>
                  </a:cubicBezTo>
                  <a:cubicBezTo>
                    <a:pt x="63" y="90"/>
                    <a:pt x="63" y="90"/>
                    <a:pt x="63" y="90"/>
                  </a:cubicBezTo>
                  <a:cubicBezTo>
                    <a:pt x="64" y="90"/>
                    <a:pt x="66" y="91"/>
                    <a:pt x="67" y="92"/>
                  </a:cubicBezTo>
                  <a:cubicBezTo>
                    <a:pt x="85" y="111"/>
                    <a:pt x="85" y="111"/>
                    <a:pt x="85" y="111"/>
                  </a:cubicBezTo>
                  <a:cubicBezTo>
                    <a:pt x="134" y="60"/>
                    <a:pt x="134" y="60"/>
                    <a:pt x="134" y="60"/>
                  </a:cubicBezTo>
                  <a:cubicBezTo>
                    <a:pt x="135" y="59"/>
                    <a:pt x="137" y="58"/>
                    <a:pt x="139" y="58"/>
                  </a:cubicBezTo>
                  <a:cubicBezTo>
                    <a:pt x="166" y="58"/>
                    <a:pt x="166" y="58"/>
                    <a:pt x="166" y="58"/>
                  </a:cubicBezTo>
                  <a:cubicBezTo>
                    <a:pt x="168" y="58"/>
                    <a:pt x="171" y="60"/>
                    <a:pt x="172" y="62"/>
                  </a:cubicBezTo>
                  <a:cubicBezTo>
                    <a:pt x="173" y="64"/>
                    <a:pt x="172" y="67"/>
                    <a:pt x="170"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grpSp>
      <p:sp>
        <p:nvSpPr>
          <p:cNvPr id="17" name="Oval 16">
            <a:extLst>
              <a:ext uri="{FF2B5EF4-FFF2-40B4-BE49-F238E27FC236}">
                <a16:creationId xmlns:a16="http://schemas.microsoft.com/office/drawing/2014/main" id="{537BB60D-47CC-62DA-76AE-2F1F18BBF0D4}"/>
              </a:ext>
            </a:extLst>
          </p:cNvPr>
          <p:cNvSpPr/>
          <p:nvPr/>
        </p:nvSpPr>
        <p:spPr>
          <a:xfrm>
            <a:off x="353521" y="4465996"/>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36CC5E7-D4F7-8CD8-DFD4-8706C817B4EA}"/>
              </a:ext>
            </a:extLst>
          </p:cNvPr>
          <p:cNvSpPr/>
          <p:nvPr/>
        </p:nvSpPr>
        <p:spPr>
          <a:xfrm>
            <a:off x="353521" y="3117925"/>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4EF586D6-1BC5-B3F1-B63E-DDD88D5C8CF3}"/>
              </a:ext>
            </a:extLst>
          </p:cNvPr>
          <p:cNvGrpSpPr/>
          <p:nvPr/>
        </p:nvGrpSpPr>
        <p:grpSpPr>
          <a:xfrm>
            <a:off x="489758" y="3362999"/>
            <a:ext cx="694973" cy="436801"/>
            <a:chOff x="1654410" y="1353376"/>
            <a:chExt cx="790575" cy="496888"/>
          </a:xfrm>
          <a:solidFill>
            <a:schemeClr val="bg1"/>
          </a:solidFill>
          <a:effectLst/>
        </p:grpSpPr>
        <p:sp>
          <p:nvSpPr>
            <p:cNvPr id="20" name="Freeform 12">
              <a:extLst>
                <a:ext uri="{FF2B5EF4-FFF2-40B4-BE49-F238E27FC236}">
                  <a16:creationId xmlns:a16="http://schemas.microsoft.com/office/drawing/2014/main" id="{7E9BEF58-5E2F-D52D-05FA-1E4AFF98912A}"/>
                </a:ext>
              </a:extLst>
            </p:cNvPr>
            <p:cNvSpPr>
              <a:spLocks/>
            </p:cNvSpPr>
            <p:nvPr/>
          </p:nvSpPr>
          <p:spPr bwMode="auto">
            <a:xfrm>
              <a:off x="1835385" y="1353376"/>
              <a:ext cx="530225" cy="304800"/>
            </a:xfrm>
            <a:custGeom>
              <a:avLst/>
              <a:gdLst>
                <a:gd name="T0" fmla="*/ 141 w 141"/>
                <a:gd name="T1" fmla="*/ 79 h 81"/>
                <a:gd name="T2" fmla="*/ 131 w 141"/>
                <a:gd name="T3" fmla="*/ 81 h 81"/>
                <a:gd name="T4" fmla="*/ 47 w 141"/>
                <a:gd name="T5" fmla="*/ 25 h 81"/>
                <a:gd name="T6" fmla="*/ 12 w 141"/>
                <a:gd name="T7" fmla="*/ 42 h 81"/>
                <a:gd name="T8" fmla="*/ 1 w 141"/>
                <a:gd name="T9" fmla="*/ 28 h 81"/>
                <a:gd name="T10" fmla="*/ 19 w 141"/>
                <a:gd name="T11" fmla="*/ 13 h 81"/>
                <a:gd name="T12" fmla="*/ 44 w 141"/>
                <a:gd name="T13" fmla="*/ 0 h 81"/>
                <a:gd name="T14" fmla="*/ 105 w 141"/>
                <a:gd name="T15" fmla="*/ 25 h 81"/>
                <a:gd name="T16" fmla="*/ 124 w 141"/>
                <a:gd name="T17" fmla="*/ 24 h 81"/>
                <a:gd name="T18" fmla="*/ 137 w 141"/>
                <a:gd name="T19" fmla="*/ 47 h 81"/>
                <a:gd name="T20" fmla="*/ 141 w 141"/>
                <a:gd name="T21" fmla="*/ 7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 h="81">
                  <a:moveTo>
                    <a:pt x="141" y="79"/>
                  </a:moveTo>
                  <a:cubicBezTo>
                    <a:pt x="137" y="79"/>
                    <a:pt x="134" y="80"/>
                    <a:pt x="131" y="81"/>
                  </a:cubicBezTo>
                  <a:cubicBezTo>
                    <a:pt x="102" y="64"/>
                    <a:pt x="79" y="40"/>
                    <a:pt x="47" y="25"/>
                  </a:cubicBezTo>
                  <a:cubicBezTo>
                    <a:pt x="32" y="28"/>
                    <a:pt x="26" y="43"/>
                    <a:pt x="12" y="42"/>
                  </a:cubicBezTo>
                  <a:cubicBezTo>
                    <a:pt x="6" y="42"/>
                    <a:pt x="0" y="37"/>
                    <a:pt x="1" y="28"/>
                  </a:cubicBezTo>
                  <a:cubicBezTo>
                    <a:pt x="2" y="21"/>
                    <a:pt x="14" y="16"/>
                    <a:pt x="19" y="13"/>
                  </a:cubicBezTo>
                  <a:cubicBezTo>
                    <a:pt x="25" y="9"/>
                    <a:pt x="38" y="0"/>
                    <a:pt x="44" y="0"/>
                  </a:cubicBezTo>
                  <a:cubicBezTo>
                    <a:pt x="64" y="1"/>
                    <a:pt x="88" y="23"/>
                    <a:pt x="105" y="25"/>
                  </a:cubicBezTo>
                  <a:cubicBezTo>
                    <a:pt x="111" y="26"/>
                    <a:pt x="119" y="22"/>
                    <a:pt x="124" y="24"/>
                  </a:cubicBezTo>
                  <a:cubicBezTo>
                    <a:pt x="131" y="25"/>
                    <a:pt x="135" y="39"/>
                    <a:pt x="137" y="47"/>
                  </a:cubicBezTo>
                  <a:cubicBezTo>
                    <a:pt x="140" y="57"/>
                    <a:pt x="141" y="67"/>
                    <a:pt x="141"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21" name="Freeform 13">
              <a:extLst>
                <a:ext uri="{FF2B5EF4-FFF2-40B4-BE49-F238E27FC236}">
                  <a16:creationId xmlns:a16="http://schemas.microsoft.com/office/drawing/2014/main" id="{7836AA09-8CD1-AB4F-C78A-5E7E46D06B06}"/>
                </a:ext>
              </a:extLst>
            </p:cNvPr>
            <p:cNvSpPr>
              <a:spLocks/>
            </p:cNvSpPr>
            <p:nvPr/>
          </p:nvSpPr>
          <p:spPr bwMode="auto">
            <a:xfrm>
              <a:off x="1654410" y="1377189"/>
              <a:ext cx="136525" cy="280988"/>
            </a:xfrm>
            <a:custGeom>
              <a:avLst/>
              <a:gdLst>
                <a:gd name="T0" fmla="*/ 36 w 36"/>
                <a:gd name="T1" fmla="*/ 6 h 75"/>
                <a:gd name="T2" fmla="*/ 19 w 36"/>
                <a:gd name="T3" fmla="*/ 75 h 75"/>
                <a:gd name="T4" fmla="*/ 0 w 36"/>
                <a:gd name="T5" fmla="*/ 70 h 75"/>
                <a:gd name="T6" fmla="*/ 22 w 36"/>
                <a:gd name="T7" fmla="*/ 1 h 75"/>
                <a:gd name="T8" fmla="*/ 36 w 36"/>
                <a:gd name="T9" fmla="*/ 6 h 75"/>
              </a:gdLst>
              <a:ahLst/>
              <a:cxnLst>
                <a:cxn ang="0">
                  <a:pos x="T0" y="T1"/>
                </a:cxn>
                <a:cxn ang="0">
                  <a:pos x="T2" y="T3"/>
                </a:cxn>
                <a:cxn ang="0">
                  <a:pos x="T4" y="T5"/>
                </a:cxn>
                <a:cxn ang="0">
                  <a:pos x="T6" y="T7"/>
                </a:cxn>
                <a:cxn ang="0">
                  <a:pos x="T8" y="T9"/>
                </a:cxn>
              </a:cxnLst>
              <a:rect l="0" t="0" r="r" b="b"/>
              <a:pathLst>
                <a:path w="36" h="75">
                  <a:moveTo>
                    <a:pt x="36" y="6"/>
                  </a:moveTo>
                  <a:cubicBezTo>
                    <a:pt x="28" y="27"/>
                    <a:pt x="18" y="46"/>
                    <a:pt x="19" y="75"/>
                  </a:cubicBezTo>
                  <a:cubicBezTo>
                    <a:pt x="12" y="74"/>
                    <a:pt x="3" y="74"/>
                    <a:pt x="0" y="70"/>
                  </a:cubicBezTo>
                  <a:cubicBezTo>
                    <a:pt x="4" y="47"/>
                    <a:pt x="12" y="21"/>
                    <a:pt x="22" y="1"/>
                  </a:cubicBezTo>
                  <a:cubicBezTo>
                    <a:pt x="29" y="0"/>
                    <a:pt x="31" y="5"/>
                    <a:pt x="3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22" name="Freeform 14">
              <a:extLst>
                <a:ext uri="{FF2B5EF4-FFF2-40B4-BE49-F238E27FC236}">
                  <a16:creationId xmlns:a16="http://schemas.microsoft.com/office/drawing/2014/main" id="{619A831F-7A1C-456E-ACEA-81A457B6EA53}"/>
                </a:ext>
              </a:extLst>
            </p:cNvPr>
            <p:cNvSpPr>
              <a:spLocks/>
            </p:cNvSpPr>
            <p:nvPr/>
          </p:nvSpPr>
          <p:spPr bwMode="auto">
            <a:xfrm>
              <a:off x="2321160" y="1391476"/>
              <a:ext cx="123825" cy="271463"/>
            </a:xfrm>
            <a:custGeom>
              <a:avLst/>
              <a:gdLst>
                <a:gd name="T0" fmla="*/ 25 w 33"/>
                <a:gd name="T1" fmla="*/ 5 h 72"/>
                <a:gd name="T2" fmla="*/ 31 w 33"/>
                <a:gd name="T3" fmla="*/ 70 h 72"/>
                <a:gd name="T4" fmla="*/ 18 w 33"/>
                <a:gd name="T5" fmla="*/ 72 h 72"/>
                <a:gd name="T6" fmla="*/ 0 w 33"/>
                <a:gd name="T7" fmla="*/ 7 h 72"/>
                <a:gd name="T8" fmla="*/ 25 w 33"/>
                <a:gd name="T9" fmla="*/ 5 h 72"/>
              </a:gdLst>
              <a:ahLst/>
              <a:cxnLst>
                <a:cxn ang="0">
                  <a:pos x="T0" y="T1"/>
                </a:cxn>
                <a:cxn ang="0">
                  <a:pos x="T2" y="T3"/>
                </a:cxn>
                <a:cxn ang="0">
                  <a:pos x="T4" y="T5"/>
                </a:cxn>
                <a:cxn ang="0">
                  <a:pos x="T6" y="T7"/>
                </a:cxn>
                <a:cxn ang="0">
                  <a:pos x="T8" y="T9"/>
                </a:cxn>
              </a:cxnLst>
              <a:rect l="0" t="0" r="r" b="b"/>
              <a:pathLst>
                <a:path w="33" h="72">
                  <a:moveTo>
                    <a:pt x="25" y="5"/>
                  </a:moveTo>
                  <a:cubicBezTo>
                    <a:pt x="28" y="25"/>
                    <a:pt x="33" y="51"/>
                    <a:pt x="31" y="70"/>
                  </a:cubicBezTo>
                  <a:cubicBezTo>
                    <a:pt x="28" y="72"/>
                    <a:pt x="21" y="70"/>
                    <a:pt x="18" y="72"/>
                  </a:cubicBezTo>
                  <a:cubicBezTo>
                    <a:pt x="19" y="44"/>
                    <a:pt x="11" y="24"/>
                    <a:pt x="0" y="7"/>
                  </a:cubicBezTo>
                  <a:cubicBezTo>
                    <a:pt x="9" y="7"/>
                    <a:pt x="18" y="0"/>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23" name="Freeform 15">
              <a:extLst>
                <a:ext uri="{FF2B5EF4-FFF2-40B4-BE49-F238E27FC236}">
                  <a16:creationId xmlns:a16="http://schemas.microsoft.com/office/drawing/2014/main" id="{6D947F50-B485-E9FB-486C-7DADA2007E4D}"/>
                </a:ext>
              </a:extLst>
            </p:cNvPr>
            <p:cNvSpPr>
              <a:spLocks/>
            </p:cNvSpPr>
            <p:nvPr/>
          </p:nvSpPr>
          <p:spPr bwMode="auto">
            <a:xfrm>
              <a:off x="1744897" y="1413701"/>
              <a:ext cx="571500" cy="436563"/>
            </a:xfrm>
            <a:custGeom>
              <a:avLst/>
              <a:gdLst>
                <a:gd name="T0" fmla="*/ 24 w 152"/>
                <a:gd name="T1" fmla="*/ 0 h 116"/>
                <a:gd name="T2" fmla="*/ 41 w 152"/>
                <a:gd name="T3" fmla="*/ 32 h 116"/>
                <a:gd name="T4" fmla="*/ 70 w 152"/>
                <a:gd name="T5" fmla="*/ 16 h 116"/>
                <a:gd name="T6" fmla="*/ 112 w 152"/>
                <a:gd name="T7" fmla="*/ 42 h 116"/>
                <a:gd name="T8" fmla="*/ 151 w 152"/>
                <a:gd name="T9" fmla="*/ 71 h 116"/>
                <a:gd name="T10" fmla="*/ 111 w 152"/>
                <a:gd name="T11" fmla="*/ 64 h 116"/>
                <a:gd name="T12" fmla="*/ 136 w 152"/>
                <a:gd name="T13" fmla="*/ 85 h 116"/>
                <a:gd name="T14" fmla="*/ 95 w 152"/>
                <a:gd name="T15" fmla="*/ 73 h 116"/>
                <a:gd name="T16" fmla="*/ 120 w 152"/>
                <a:gd name="T17" fmla="*/ 95 h 116"/>
                <a:gd name="T18" fmla="*/ 87 w 152"/>
                <a:gd name="T19" fmla="*/ 89 h 116"/>
                <a:gd name="T20" fmla="*/ 102 w 152"/>
                <a:gd name="T21" fmla="*/ 103 h 116"/>
                <a:gd name="T22" fmla="*/ 95 w 152"/>
                <a:gd name="T23" fmla="*/ 112 h 116"/>
                <a:gd name="T24" fmla="*/ 79 w 152"/>
                <a:gd name="T25" fmla="*/ 101 h 116"/>
                <a:gd name="T26" fmla="*/ 65 w 152"/>
                <a:gd name="T27" fmla="*/ 72 h 116"/>
                <a:gd name="T28" fmla="*/ 55 w 152"/>
                <a:gd name="T29" fmla="*/ 61 h 116"/>
                <a:gd name="T30" fmla="*/ 44 w 152"/>
                <a:gd name="T31" fmla="*/ 63 h 116"/>
                <a:gd name="T32" fmla="*/ 36 w 152"/>
                <a:gd name="T33" fmla="*/ 59 h 116"/>
                <a:gd name="T34" fmla="*/ 25 w 152"/>
                <a:gd name="T35" fmla="*/ 61 h 116"/>
                <a:gd name="T36" fmla="*/ 16 w 152"/>
                <a:gd name="T37" fmla="*/ 57 h 116"/>
                <a:gd name="T38" fmla="*/ 0 w 152"/>
                <a:gd name="T39" fmla="*/ 65 h 116"/>
                <a:gd name="T40" fmla="*/ 16 w 152"/>
                <a:gd name="T41" fmla="*/ 0 h 116"/>
                <a:gd name="T42" fmla="*/ 24 w 152"/>
                <a:gd name="T43"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2" h="116">
                  <a:moveTo>
                    <a:pt x="24" y="0"/>
                  </a:moveTo>
                  <a:cubicBezTo>
                    <a:pt x="13" y="13"/>
                    <a:pt x="22" y="35"/>
                    <a:pt x="41" y="32"/>
                  </a:cubicBezTo>
                  <a:cubicBezTo>
                    <a:pt x="54" y="30"/>
                    <a:pt x="62" y="17"/>
                    <a:pt x="70" y="16"/>
                  </a:cubicBezTo>
                  <a:cubicBezTo>
                    <a:pt x="81" y="16"/>
                    <a:pt x="105" y="37"/>
                    <a:pt x="112" y="42"/>
                  </a:cubicBezTo>
                  <a:cubicBezTo>
                    <a:pt x="126" y="52"/>
                    <a:pt x="139" y="61"/>
                    <a:pt x="151" y="71"/>
                  </a:cubicBezTo>
                  <a:cubicBezTo>
                    <a:pt x="152" y="103"/>
                    <a:pt x="124" y="65"/>
                    <a:pt x="111" y="64"/>
                  </a:cubicBezTo>
                  <a:cubicBezTo>
                    <a:pt x="115" y="72"/>
                    <a:pt x="130" y="77"/>
                    <a:pt x="136" y="85"/>
                  </a:cubicBezTo>
                  <a:cubicBezTo>
                    <a:pt x="131" y="111"/>
                    <a:pt x="106" y="72"/>
                    <a:pt x="95" y="73"/>
                  </a:cubicBezTo>
                  <a:cubicBezTo>
                    <a:pt x="100" y="83"/>
                    <a:pt x="113" y="86"/>
                    <a:pt x="120" y="95"/>
                  </a:cubicBezTo>
                  <a:cubicBezTo>
                    <a:pt x="114" y="116"/>
                    <a:pt x="99" y="91"/>
                    <a:pt x="87" y="89"/>
                  </a:cubicBezTo>
                  <a:cubicBezTo>
                    <a:pt x="89" y="96"/>
                    <a:pt x="98" y="97"/>
                    <a:pt x="102" y="103"/>
                  </a:cubicBezTo>
                  <a:cubicBezTo>
                    <a:pt x="102" y="109"/>
                    <a:pt x="98" y="110"/>
                    <a:pt x="95" y="112"/>
                  </a:cubicBezTo>
                  <a:cubicBezTo>
                    <a:pt x="88" y="109"/>
                    <a:pt x="83" y="106"/>
                    <a:pt x="79" y="101"/>
                  </a:cubicBezTo>
                  <a:cubicBezTo>
                    <a:pt x="83" y="87"/>
                    <a:pt x="82" y="73"/>
                    <a:pt x="65" y="72"/>
                  </a:cubicBezTo>
                  <a:cubicBezTo>
                    <a:pt x="64" y="66"/>
                    <a:pt x="62" y="62"/>
                    <a:pt x="55" y="61"/>
                  </a:cubicBezTo>
                  <a:cubicBezTo>
                    <a:pt x="51" y="60"/>
                    <a:pt x="48" y="63"/>
                    <a:pt x="44" y="63"/>
                  </a:cubicBezTo>
                  <a:cubicBezTo>
                    <a:pt x="41" y="62"/>
                    <a:pt x="38" y="59"/>
                    <a:pt x="36" y="59"/>
                  </a:cubicBezTo>
                  <a:cubicBezTo>
                    <a:pt x="33" y="59"/>
                    <a:pt x="29" y="61"/>
                    <a:pt x="25" y="61"/>
                  </a:cubicBezTo>
                  <a:cubicBezTo>
                    <a:pt x="22" y="60"/>
                    <a:pt x="19" y="57"/>
                    <a:pt x="16" y="57"/>
                  </a:cubicBezTo>
                  <a:cubicBezTo>
                    <a:pt x="9" y="57"/>
                    <a:pt x="6" y="64"/>
                    <a:pt x="0" y="65"/>
                  </a:cubicBezTo>
                  <a:cubicBezTo>
                    <a:pt x="0" y="38"/>
                    <a:pt x="9" y="19"/>
                    <a:pt x="16" y="0"/>
                  </a:cubicBezTo>
                  <a:cubicBezTo>
                    <a:pt x="19" y="0"/>
                    <a:pt x="22"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24" name="Freeform 16">
              <a:extLst>
                <a:ext uri="{FF2B5EF4-FFF2-40B4-BE49-F238E27FC236}">
                  <a16:creationId xmlns:a16="http://schemas.microsoft.com/office/drawing/2014/main" id="{DFAEFEA0-FFA9-BF23-6E5F-100AFC740566}"/>
                </a:ext>
              </a:extLst>
            </p:cNvPr>
            <p:cNvSpPr>
              <a:spLocks/>
            </p:cNvSpPr>
            <p:nvPr/>
          </p:nvSpPr>
          <p:spPr bwMode="auto">
            <a:xfrm>
              <a:off x="1736960" y="1586739"/>
              <a:ext cx="301625" cy="252413"/>
            </a:xfrm>
            <a:custGeom>
              <a:avLst/>
              <a:gdLst>
                <a:gd name="T0" fmla="*/ 26 w 80"/>
                <a:gd name="T1" fmla="*/ 24 h 67"/>
                <a:gd name="T2" fmla="*/ 44 w 80"/>
                <a:gd name="T3" fmla="*/ 26 h 67"/>
                <a:gd name="T4" fmla="*/ 61 w 80"/>
                <a:gd name="T5" fmla="*/ 34 h 67"/>
                <a:gd name="T6" fmla="*/ 73 w 80"/>
                <a:gd name="T7" fmla="*/ 61 h 67"/>
                <a:gd name="T8" fmla="*/ 56 w 80"/>
                <a:gd name="T9" fmla="*/ 56 h 67"/>
                <a:gd name="T10" fmla="*/ 40 w 80"/>
                <a:gd name="T11" fmla="*/ 48 h 67"/>
                <a:gd name="T12" fmla="*/ 25 w 80"/>
                <a:gd name="T13" fmla="*/ 46 h 67"/>
                <a:gd name="T14" fmla="*/ 26 w 80"/>
                <a:gd name="T15" fmla="*/ 24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67">
                  <a:moveTo>
                    <a:pt x="26" y="24"/>
                  </a:moveTo>
                  <a:cubicBezTo>
                    <a:pt x="30" y="17"/>
                    <a:pt x="43" y="17"/>
                    <a:pt x="44" y="26"/>
                  </a:cubicBezTo>
                  <a:cubicBezTo>
                    <a:pt x="48" y="16"/>
                    <a:pt x="68" y="22"/>
                    <a:pt x="61" y="34"/>
                  </a:cubicBezTo>
                  <a:cubicBezTo>
                    <a:pt x="78" y="25"/>
                    <a:pt x="80" y="49"/>
                    <a:pt x="73" y="61"/>
                  </a:cubicBezTo>
                  <a:cubicBezTo>
                    <a:pt x="68" y="67"/>
                    <a:pt x="56" y="65"/>
                    <a:pt x="56" y="56"/>
                  </a:cubicBezTo>
                  <a:cubicBezTo>
                    <a:pt x="50" y="61"/>
                    <a:pt x="38" y="59"/>
                    <a:pt x="40" y="48"/>
                  </a:cubicBezTo>
                  <a:cubicBezTo>
                    <a:pt x="37" y="53"/>
                    <a:pt x="25" y="53"/>
                    <a:pt x="25" y="46"/>
                  </a:cubicBezTo>
                  <a:cubicBezTo>
                    <a:pt x="0" y="50"/>
                    <a:pt x="10" y="0"/>
                    <a:pt x="2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25" name="Freeform 17">
              <a:extLst>
                <a:ext uri="{FF2B5EF4-FFF2-40B4-BE49-F238E27FC236}">
                  <a16:creationId xmlns:a16="http://schemas.microsoft.com/office/drawing/2014/main" id="{33FE7582-1354-737F-F01B-400CC4712F1F}"/>
                </a:ext>
              </a:extLst>
            </p:cNvPr>
            <p:cNvSpPr>
              <a:spLocks noEditPoints="1"/>
            </p:cNvSpPr>
            <p:nvPr/>
          </p:nvSpPr>
          <p:spPr bwMode="auto">
            <a:xfrm>
              <a:off x="1654410" y="1353376"/>
              <a:ext cx="790575" cy="496888"/>
            </a:xfrm>
            <a:custGeom>
              <a:avLst/>
              <a:gdLst>
                <a:gd name="T0" fmla="*/ 185 w 210"/>
                <a:gd name="T1" fmla="*/ 47 h 132"/>
                <a:gd name="T2" fmla="*/ 172 w 210"/>
                <a:gd name="T3" fmla="*/ 24 h 132"/>
                <a:gd name="T4" fmla="*/ 153 w 210"/>
                <a:gd name="T5" fmla="*/ 25 h 132"/>
                <a:gd name="T6" fmla="*/ 92 w 210"/>
                <a:gd name="T7" fmla="*/ 0 h 132"/>
                <a:gd name="T8" fmla="*/ 67 w 210"/>
                <a:gd name="T9" fmla="*/ 13 h 132"/>
                <a:gd name="T10" fmla="*/ 49 w 210"/>
                <a:gd name="T11" fmla="*/ 28 h 132"/>
                <a:gd name="T12" fmla="*/ 60 w 210"/>
                <a:gd name="T13" fmla="*/ 42 h 132"/>
                <a:gd name="T14" fmla="*/ 95 w 210"/>
                <a:gd name="T15" fmla="*/ 25 h 132"/>
                <a:gd name="T16" fmla="*/ 179 w 210"/>
                <a:gd name="T17" fmla="*/ 81 h 132"/>
                <a:gd name="T18" fmla="*/ 189 w 210"/>
                <a:gd name="T19" fmla="*/ 79 h 132"/>
                <a:gd name="T20" fmla="*/ 185 w 210"/>
                <a:gd name="T21" fmla="*/ 47 h 132"/>
                <a:gd name="T22" fmla="*/ 22 w 210"/>
                <a:gd name="T23" fmla="*/ 7 h 132"/>
                <a:gd name="T24" fmla="*/ 0 w 210"/>
                <a:gd name="T25" fmla="*/ 76 h 132"/>
                <a:gd name="T26" fmla="*/ 19 w 210"/>
                <a:gd name="T27" fmla="*/ 81 h 132"/>
                <a:gd name="T28" fmla="*/ 36 w 210"/>
                <a:gd name="T29" fmla="*/ 12 h 132"/>
                <a:gd name="T30" fmla="*/ 22 w 210"/>
                <a:gd name="T31" fmla="*/ 7 h 132"/>
                <a:gd name="T32" fmla="*/ 177 w 210"/>
                <a:gd name="T33" fmla="*/ 17 h 132"/>
                <a:gd name="T34" fmla="*/ 195 w 210"/>
                <a:gd name="T35" fmla="*/ 82 h 132"/>
                <a:gd name="T36" fmla="*/ 208 w 210"/>
                <a:gd name="T37" fmla="*/ 80 h 132"/>
                <a:gd name="T38" fmla="*/ 202 w 210"/>
                <a:gd name="T39" fmla="*/ 15 h 132"/>
                <a:gd name="T40" fmla="*/ 177 w 210"/>
                <a:gd name="T41" fmla="*/ 17 h 132"/>
                <a:gd name="T42" fmla="*/ 40 w 210"/>
                <a:gd name="T43" fmla="*/ 16 h 132"/>
                <a:gd name="T44" fmla="*/ 24 w 210"/>
                <a:gd name="T45" fmla="*/ 81 h 132"/>
                <a:gd name="T46" fmla="*/ 40 w 210"/>
                <a:gd name="T47" fmla="*/ 73 h 132"/>
                <a:gd name="T48" fmla="*/ 49 w 210"/>
                <a:gd name="T49" fmla="*/ 77 h 132"/>
                <a:gd name="T50" fmla="*/ 60 w 210"/>
                <a:gd name="T51" fmla="*/ 75 h 132"/>
                <a:gd name="T52" fmla="*/ 68 w 210"/>
                <a:gd name="T53" fmla="*/ 79 h 132"/>
                <a:gd name="T54" fmla="*/ 79 w 210"/>
                <a:gd name="T55" fmla="*/ 77 h 132"/>
                <a:gd name="T56" fmla="*/ 89 w 210"/>
                <a:gd name="T57" fmla="*/ 88 h 132"/>
                <a:gd name="T58" fmla="*/ 103 w 210"/>
                <a:gd name="T59" fmla="*/ 117 h 132"/>
                <a:gd name="T60" fmla="*/ 119 w 210"/>
                <a:gd name="T61" fmla="*/ 128 h 132"/>
                <a:gd name="T62" fmla="*/ 126 w 210"/>
                <a:gd name="T63" fmla="*/ 119 h 132"/>
                <a:gd name="T64" fmla="*/ 111 w 210"/>
                <a:gd name="T65" fmla="*/ 105 h 132"/>
                <a:gd name="T66" fmla="*/ 144 w 210"/>
                <a:gd name="T67" fmla="*/ 111 h 132"/>
                <a:gd name="T68" fmla="*/ 119 w 210"/>
                <a:gd name="T69" fmla="*/ 89 h 132"/>
                <a:gd name="T70" fmla="*/ 160 w 210"/>
                <a:gd name="T71" fmla="*/ 101 h 132"/>
                <a:gd name="T72" fmla="*/ 135 w 210"/>
                <a:gd name="T73" fmla="*/ 80 h 132"/>
                <a:gd name="T74" fmla="*/ 175 w 210"/>
                <a:gd name="T75" fmla="*/ 87 h 132"/>
                <a:gd name="T76" fmla="*/ 136 w 210"/>
                <a:gd name="T77" fmla="*/ 58 h 132"/>
                <a:gd name="T78" fmla="*/ 94 w 210"/>
                <a:gd name="T79" fmla="*/ 32 h 132"/>
                <a:gd name="T80" fmla="*/ 65 w 210"/>
                <a:gd name="T81" fmla="*/ 48 h 132"/>
                <a:gd name="T82" fmla="*/ 48 w 210"/>
                <a:gd name="T83" fmla="*/ 16 h 132"/>
                <a:gd name="T84" fmla="*/ 40 w 210"/>
                <a:gd name="T85" fmla="*/ 16 h 132"/>
                <a:gd name="T86" fmla="*/ 47 w 210"/>
                <a:gd name="T87" fmla="*/ 108 h 132"/>
                <a:gd name="T88" fmla="*/ 62 w 210"/>
                <a:gd name="T89" fmla="*/ 110 h 132"/>
                <a:gd name="T90" fmla="*/ 78 w 210"/>
                <a:gd name="T91" fmla="*/ 118 h 132"/>
                <a:gd name="T92" fmla="*/ 95 w 210"/>
                <a:gd name="T93" fmla="*/ 123 h 132"/>
                <a:gd name="T94" fmla="*/ 83 w 210"/>
                <a:gd name="T95" fmla="*/ 96 h 132"/>
                <a:gd name="T96" fmla="*/ 66 w 210"/>
                <a:gd name="T97" fmla="*/ 88 h 132"/>
                <a:gd name="T98" fmla="*/ 48 w 210"/>
                <a:gd name="T99" fmla="*/ 86 h 132"/>
                <a:gd name="T100" fmla="*/ 47 w 210"/>
                <a:gd name="T101" fmla="*/ 108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10" h="132">
                  <a:moveTo>
                    <a:pt x="185" y="47"/>
                  </a:moveTo>
                  <a:cubicBezTo>
                    <a:pt x="183" y="39"/>
                    <a:pt x="179" y="25"/>
                    <a:pt x="172" y="24"/>
                  </a:cubicBezTo>
                  <a:cubicBezTo>
                    <a:pt x="167" y="22"/>
                    <a:pt x="159" y="26"/>
                    <a:pt x="153" y="25"/>
                  </a:cubicBezTo>
                  <a:cubicBezTo>
                    <a:pt x="136" y="23"/>
                    <a:pt x="112" y="1"/>
                    <a:pt x="92" y="0"/>
                  </a:cubicBezTo>
                  <a:cubicBezTo>
                    <a:pt x="86" y="0"/>
                    <a:pt x="73" y="9"/>
                    <a:pt x="67" y="13"/>
                  </a:cubicBezTo>
                  <a:cubicBezTo>
                    <a:pt x="62" y="16"/>
                    <a:pt x="50" y="21"/>
                    <a:pt x="49" y="28"/>
                  </a:cubicBezTo>
                  <a:cubicBezTo>
                    <a:pt x="48" y="37"/>
                    <a:pt x="54" y="42"/>
                    <a:pt x="60" y="42"/>
                  </a:cubicBezTo>
                  <a:cubicBezTo>
                    <a:pt x="74" y="43"/>
                    <a:pt x="80" y="28"/>
                    <a:pt x="95" y="25"/>
                  </a:cubicBezTo>
                  <a:cubicBezTo>
                    <a:pt x="127" y="40"/>
                    <a:pt x="150" y="64"/>
                    <a:pt x="179" y="81"/>
                  </a:cubicBezTo>
                  <a:cubicBezTo>
                    <a:pt x="182" y="80"/>
                    <a:pt x="185" y="79"/>
                    <a:pt x="189" y="79"/>
                  </a:cubicBezTo>
                  <a:cubicBezTo>
                    <a:pt x="189" y="67"/>
                    <a:pt x="188" y="57"/>
                    <a:pt x="185" y="47"/>
                  </a:cubicBezTo>
                  <a:close/>
                  <a:moveTo>
                    <a:pt x="22" y="7"/>
                  </a:moveTo>
                  <a:cubicBezTo>
                    <a:pt x="12" y="27"/>
                    <a:pt x="4" y="53"/>
                    <a:pt x="0" y="76"/>
                  </a:cubicBezTo>
                  <a:cubicBezTo>
                    <a:pt x="3" y="80"/>
                    <a:pt x="12" y="80"/>
                    <a:pt x="19" y="81"/>
                  </a:cubicBezTo>
                  <a:cubicBezTo>
                    <a:pt x="18" y="52"/>
                    <a:pt x="28" y="33"/>
                    <a:pt x="36" y="12"/>
                  </a:cubicBezTo>
                  <a:cubicBezTo>
                    <a:pt x="31" y="11"/>
                    <a:pt x="29" y="6"/>
                    <a:pt x="22" y="7"/>
                  </a:cubicBezTo>
                  <a:close/>
                  <a:moveTo>
                    <a:pt x="177" y="17"/>
                  </a:moveTo>
                  <a:cubicBezTo>
                    <a:pt x="188" y="34"/>
                    <a:pt x="196" y="54"/>
                    <a:pt x="195" y="82"/>
                  </a:cubicBezTo>
                  <a:cubicBezTo>
                    <a:pt x="198" y="80"/>
                    <a:pt x="205" y="82"/>
                    <a:pt x="208" y="80"/>
                  </a:cubicBezTo>
                  <a:cubicBezTo>
                    <a:pt x="210" y="61"/>
                    <a:pt x="205" y="35"/>
                    <a:pt x="202" y="15"/>
                  </a:cubicBezTo>
                  <a:cubicBezTo>
                    <a:pt x="195" y="10"/>
                    <a:pt x="186" y="17"/>
                    <a:pt x="177" y="17"/>
                  </a:cubicBezTo>
                  <a:close/>
                  <a:moveTo>
                    <a:pt x="40" y="16"/>
                  </a:moveTo>
                  <a:cubicBezTo>
                    <a:pt x="33" y="35"/>
                    <a:pt x="24" y="54"/>
                    <a:pt x="24" y="81"/>
                  </a:cubicBezTo>
                  <a:cubicBezTo>
                    <a:pt x="30" y="80"/>
                    <a:pt x="33" y="73"/>
                    <a:pt x="40" y="73"/>
                  </a:cubicBezTo>
                  <a:cubicBezTo>
                    <a:pt x="43" y="73"/>
                    <a:pt x="46" y="76"/>
                    <a:pt x="49" y="77"/>
                  </a:cubicBezTo>
                  <a:cubicBezTo>
                    <a:pt x="53" y="77"/>
                    <a:pt x="57" y="75"/>
                    <a:pt x="60" y="75"/>
                  </a:cubicBezTo>
                  <a:cubicBezTo>
                    <a:pt x="62" y="75"/>
                    <a:pt x="65" y="78"/>
                    <a:pt x="68" y="79"/>
                  </a:cubicBezTo>
                  <a:cubicBezTo>
                    <a:pt x="72" y="79"/>
                    <a:pt x="75" y="76"/>
                    <a:pt x="79" y="77"/>
                  </a:cubicBezTo>
                  <a:cubicBezTo>
                    <a:pt x="86" y="78"/>
                    <a:pt x="88" y="82"/>
                    <a:pt x="89" y="88"/>
                  </a:cubicBezTo>
                  <a:cubicBezTo>
                    <a:pt x="106" y="89"/>
                    <a:pt x="107" y="103"/>
                    <a:pt x="103" y="117"/>
                  </a:cubicBezTo>
                  <a:cubicBezTo>
                    <a:pt x="107" y="122"/>
                    <a:pt x="112" y="125"/>
                    <a:pt x="119" y="128"/>
                  </a:cubicBezTo>
                  <a:cubicBezTo>
                    <a:pt x="122" y="126"/>
                    <a:pt x="126" y="125"/>
                    <a:pt x="126" y="119"/>
                  </a:cubicBezTo>
                  <a:cubicBezTo>
                    <a:pt x="122" y="113"/>
                    <a:pt x="113" y="112"/>
                    <a:pt x="111" y="105"/>
                  </a:cubicBezTo>
                  <a:cubicBezTo>
                    <a:pt x="123" y="107"/>
                    <a:pt x="138" y="132"/>
                    <a:pt x="144" y="111"/>
                  </a:cubicBezTo>
                  <a:cubicBezTo>
                    <a:pt x="137" y="102"/>
                    <a:pt x="124" y="99"/>
                    <a:pt x="119" y="89"/>
                  </a:cubicBezTo>
                  <a:cubicBezTo>
                    <a:pt x="130" y="88"/>
                    <a:pt x="155" y="127"/>
                    <a:pt x="160" y="101"/>
                  </a:cubicBezTo>
                  <a:cubicBezTo>
                    <a:pt x="154" y="93"/>
                    <a:pt x="139" y="88"/>
                    <a:pt x="135" y="80"/>
                  </a:cubicBezTo>
                  <a:cubicBezTo>
                    <a:pt x="148" y="81"/>
                    <a:pt x="176" y="119"/>
                    <a:pt x="175" y="87"/>
                  </a:cubicBezTo>
                  <a:cubicBezTo>
                    <a:pt x="163" y="77"/>
                    <a:pt x="150" y="68"/>
                    <a:pt x="136" y="58"/>
                  </a:cubicBezTo>
                  <a:cubicBezTo>
                    <a:pt x="129" y="53"/>
                    <a:pt x="105" y="32"/>
                    <a:pt x="94" y="32"/>
                  </a:cubicBezTo>
                  <a:cubicBezTo>
                    <a:pt x="86" y="33"/>
                    <a:pt x="78" y="46"/>
                    <a:pt x="65" y="48"/>
                  </a:cubicBezTo>
                  <a:cubicBezTo>
                    <a:pt x="46" y="51"/>
                    <a:pt x="37" y="29"/>
                    <a:pt x="48" y="16"/>
                  </a:cubicBezTo>
                  <a:cubicBezTo>
                    <a:pt x="46" y="16"/>
                    <a:pt x="43" y="16"/>
                    <a:pt x="40" y="16"/>
                  </a:cubicBezTo>
                  <a:close/>
                  <a:moveTo>
                    <a:pt x="47" y="108"/>
                  </a:moveTo>
                  <a:cubicBezTo>
                    <a:pt x="47" y="115"/>
                    <a:pt x="59" y="115"/>
                    <a:pt x="62" y="110"/>
                  </a:cubicBezTo>
                  <a:cubicBezTo>
                    <a:pt x="60" y="121"/>
                    <a:pt x="72" y="123"/>
                    <a:pt x="78" y="118"/>
                  </a:cubicBezTo>
                  <a:cubicBezTo>
                    <a:pt x="78" y="127"/>
                    <a:pt x="90" y="129"/>
                    <a:pt x="95" y="123"/>
                  </a:cubicBezTo>
                  <a:cubicBezTo>
                    <a:pt x="102" y="111"/>
                    <a:pt x="100" y="87"/>
                    <a:pt x="83" y="96"/>
                  </a:cubicBezTo>
                  <a:cubicBezTo>
                    <a:pt x="90" y="84"/>
                    <a:pt x="70" y="78"/>
                    <a:pt x="66" y="88"/>
                  </a:cubicBezTo>
                  <a:cubicBezTo>
                    <a:pt x="65" y="79"/>
                    <a:pt x="52" y="79"/>
                    <a:pt x="48" y="86"/>
                  </a:cubicBezTo>
                  <a:cubicBezTo>
                    <a:pt x="32" y="62"/>
                    <a:pt x="22" y="112"/>
                    <a:pt x="47"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grpSp>
      <p:sp>
        <p:nvSpPr>
          <p:cNvPr id="26" name="Oval 25">
            <a:extLst>
              <a:ext uri="{FF2B5EF4-FFF2-40B4-BE49-F238E27FC236}">
                <a16:creationId xmlns:a16="http://schemas.microsoft.com/office/drawing/2014/main" id="{929568C0-93CD-2BDB-BFC0-96E6A0E39422}"/>
              </a:ext>
            </a:extLst>
          </p:cNvPr>
          <p:cNvSpPr/>
          <p:nvPr/>
        </p:nvSpPr>
        <p:spPr>
          <a:xfrm>
            <a:off x="363999" y="1541781"/>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94FD2D6A-8658-7D37-A467-DBD9E938E6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303" y="1769853"/>
            <a:ext cx="564704" cy="457410"/>
          </a:xfrm>
          <a:prstGeom prst="rect">
            <a:avLst/>
          </a:prstGeom>
        </p:spPr>
      </p:pic>
    </p:spTree>
    <p:extLst>
      <p:ext uri="{BB962C8B-B14F-4D97-AF65-F5344CB8AC3E}">
        <p14:creationId xmlns:p14="http://schemas.microsoft.com/office/powerpoint/2010/main" val="101439412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951" y="428726"/>
            <a:ext cx="1684435" cy="630942"/>
          </a:xfrm>
          <a:prstGeom prst="rect">
            <a:avLst/>
          </a:prstGeom>
          <a:noFill/>
        </p:spPr>
        <p:txBody>
          <a:bodyPr wrap="non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err="1">
                <a:solidFill>
                  <a:prstClr val="white"/>
                </a:solidFill>
                <a:latin typeface="Arial"/>
              </a:rPr>
              <a:t>Canvas</a:t>
            </a:r>
            <a:endParaRPr lang="en-US" sz="3500" spc="-30" dirty="0">
              <a:solidFill>
                <a:prstClr val="white"/>
              </a:solidFill>
              <a:latin typeface="Arial"/>
            </a:endParaRPr>
          </a:p>
        </p:txBody>
      </p:sp>
      <p:graphicFrame>
        <p:nvGraphicFramePr>
          <p:cNvPr id="3" name="Tabla 9">
            <a:extLst>
              <a:ext uri="{FF2B5EF4-FFF2-40B4-BE49-F238E27FC236}">
                <a16:creationId xmlns:a16="http://schemas.microsoft.com/office/drawing/2014/main" id="{56582197-BCC6-7040-494E-D61925DAEB06}"/>
              </a:ext>
            </a:extLst>
          </p:cNvPr>
          <p:cNvGraphicFramePr>
            <a:graphicFrameLocks noGrp="1"/>
          </p:cNvGraphicFramePr>
          <p:nvPr/>
        </p:nvGraphicFramePr>
        <p:xfrm>
          <a:off x="347952" y="1064929"/>
          <a:ext cx="11508768" cy="4063821"/>
        </p:xfrm>
        <a:graphic>
          <a:graphicData uri="http://schemas.openxmlformats.org/drawingml/2006/table">
            <a:tbl>
              <a:tblPr firstRow="1" firstCol="1" bandRow="1"/>
              <a:tblGrid>
                <a:gridCol w="3854669">
                  <a:extLst>
                    <a:ext uri="{9D8B030D-6E8A-4147-A177-3AD203B41FA5}">
                      <a16:colId xmlns:a16="http://schemas.microsoft.com/office/drawing/2014/main" val="496735115"/>
                    </a:ext>
                  </a:extLst>
                </a:gridCol>
                <a:gridCol w="3959344">
                  <a:extLst>
                    <a:ext uri="{9D8B030D-6E8A-4147-A177-3AD203B41FA5}">
                      <a16:colId xmlns:a16="http://schemas.microsoft.com/office/drawing/2014/main" val="174559784"/>
                    </a:ext>
                  </a:extLst>
                </a:gridCol>
                <a:gridCol w="3694755">
                  <a:extLst>
                    <a:ext uri="{9D8B030D-6E8A-4147-A177-3AD203B41FA5}">
                      <a16:colId xmlns:a16="http://schemas.microsoft.com/office/drawing/2014/main" val="2891364884"/>
                    </a:ext>
                  </a:extLst>
                </a:gridCol>
              </a:tblGrid>
              <a:tr h="279919">
                <a:tc>
                  <a:txBody>
                    <a:bodyPr/>
                    <a:lstStyle/>
                    <a:p>
                      <a:r>
                        <a:rPr lang="es-CL" sz="16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Infraestructura</a:t>
                      </a:r>
                      <a:endParaRPr lang="en-US" sz="16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7194" marR="7194"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rgbClr val="640D26"/>
                    </a:solidFill>
                  </a:tcPr>
                </a:tc>
                <a:tc>
                  <a:txBody>
                    <a:bodyPr/>
                    <a:lstStyle/>
                    <a:p>
                      <a:r>
                        <a:rPr lang="es-CL" sz="16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Servicios</a:t>
                      </a:r>
                      <a:endParaRPr lang="en-US" sz="16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7194" marR="7194"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noFill/>
                      <a:prstDash val="sysDash"/>
                      <a:round/>
                      <a:headEnd type="none" w="med" len="med"/>
                      <a:tailEnd type="none" w="med" len="med"/>
                    </a:lnB>
                    <a:solidFill>
                      <a:srgbClr val="640D26"/>
                    </a:solidFill>
                  </a:tcPr>
                </a:tc>
                <a:tc>
                  <a:txBody>
                    <a:bodyPr/>
                    <a:lstStyle/>
                    <a:p>
                      <a:r>
                        <a:rPr lang="es-CL" sz="16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Clientes</a:t>
                      </a:r>
                      <a:endParaRPr lang="en-US" sz="16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7194" marR="7194"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rgbClr val="640D26"/>
                    </a:solidFill>
                  </a:tcPr>
                </a:tc>
                <a:extLst>
                  <a:ext uri="{0D108BD9-81ED-4DB2-BD59-A6C34878D82A}">
                    <a16:rowId xmlns:a16="http://schemas.microsoft.com/office/drawing/2014/main" val="502211145"/>
                  </a:ext>
                </a:extLst>
              </a:tr>
              <a:tr h="3783902">
                <a:tc>
                  <a:txBody>
                    <a:bodyPr/>
                    <a:lstStyle/>
                    <a:p>
                      <a:r>
                        <a:rPr lang="es-CL" sz="11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a:t>
                      </a:r>
                      <a:r>
                        <a:rPr lang="es-CL" sz="1200" b="1" kern="1200" spc="-50" dirty="0">
                          <a:solidFill>
                            <a:srgbClr val="AADDEE"/>
                          </a:solidFill>
                          <a:latin typeface="Arial" charset="0"/>
                          <a:ea typeface="+mn-ea"/>
                          <a:cs typeface="Arial" charset="0"/>
                        </a:rPr>
                        <a:t>Socios de Negocio</a:t>
                      </a:r>
                      <a:endParaRPr lang="en-US" sz="1200" b="1" kern="1200" spc="-50" dirty="0">
                        <a:solidFill>
                          <a:srgbClr val="AADDEE"/>
                        </a:solidFill>
                        <a:latin typeface="Arial" charset="0"/>
                        <a:ea typeface="+mn-ea"/>
                        <a:cs typeface="Arial" charset="0"/>
                      </a:endParaRPr>
                    </a:p>
                    <a:p>
                      <a:pPr marL="171450" lvl="0" indent="-171450">
                        <a:lnSpc>
                          <a:spcPct val="107000"/>
                        </a:lnSpc>
                        <a:buFont typeface="Arial" panose="020B0604020202020204" pitchFamily="34" charset="0"/>
                        <a:buChar char="•"/>
                      </a:pPr>
                      <a:r>
                        <a:rPr lang="es-ES" sz="1200" kern="1200" dirty="0">
                          <a:solidFill>
                            <a:schemeClr val="bg1"/>
                          </a:solidFill>
                          <a:effectLst/>
                          <a:latin typeface="Arial" panose="020B0604020202020204" pitchFamily="34" charset="0"/>
                          <a:ea typeface="Arial" panose="020B0604020202020204" pitchFamily="34" charset="0"/>
                          <a:cs typeface="Arial" charset="0"/>
                        </a:rPr>
                        <a:t>Red de Partners Microsoft.</a:t>
                      </a: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p>
                      <a:pPr marL="171450" lvl="0" indent="-171450">
                        <a:lnSpc>
                          <a:spcPct val="107000"/>
                        </a:lnSpc>
                        <a:buFont typeface="Arial" panose="020B0604020202020204" pitchFamily="34" charset="0"/>
                        <a:buChar char="•"/>
                      </a:pPr>
                      <a:r>
                        <a:rPr lang="es-ES" sz="1200" kern="1200" dirty="0">
                          <a:solidFill>
                            <a:schemeClr val="bg1"/>
                          </a:solidFill>
                          <a:effectLst/>
                          <a:latin typeface="Arial" panose="020B0604020202020204" pitchFamily="34" charset="0"/>
                          <a:ea typeface="Arial" panose="020B0604020202020204" pitchFamily="34" charset="0"/>
                          <a:cs typeface="Arial" charset="0"/>
                        </a:rPr>
                        <a:t>Entidades que impulsan el emprendimiento Tecnológico con Microsoft y sus productos de Seguridad.</a:t>
                      </a: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p>
                      <a:pPr marL="171450" lvl="0" indent="-171450">
                        <a:lnSpc>
                          <a:spcPct val="107000"/>
                        </a:lnSpc>
                        <a:buFont typeface="Arial" panose="020B0604020202020204" pitchFamily="34" charset="0"/>
                        <a:buChar char="•"/>
                      </a:pPr>
                      <a:endParaRPr lang="en-US" sz="12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p>
                      <a:r>
                        <a:rPr lang="es-CL" sz="12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a:t>
                      </a:r>
                      <a:r>
                        <a:rPr lang="es-CL" sz="1200" b="1" kern="1200" spc="-50" dirty="0">
                          <a:solidFill>
                            <a:srgbClr val="AADDEE"/>
                          </a:solidFill>
                          <a:latin typeface="Arial" charset="0"/>
                          <a:ea typeface="+mn-ea"/>
                          <a:cs typeface="Arial" charset="0"/>
                        </a:rPr>
                        <a:t>Actividades Claves</a:t>
                      </a:r>
                      <a:endParaRPr lang="en-US" sz="1200" b="1" kern="1200" spc="-50" dirty="0">
                        <a:solidFill>
                          <a:srgbClr val="AADDEE"/>
                        </a:solidFill>
                        <a:latin typeface="Arial" charset="0"/>
                        <a:ea typeface="+mn-ea"/>
                        <a:cs typeface="Arial" charset="0"/>
                      </a:endParaRPr>
                    </a:p>
                    <a:p>
                      <a:pPr marL="171450" lvl="0" indent="-171450">
                        <a:lnSpc>
                          <a:spcPct val="107000"/>
                        </a:lnSpc>
                        <a:buFont typeface="Arial" panose="020B0604020202020204" pitchFamily="34" charset="0"/>
                        <a:buChar char="•"/>
                      </a:pPr>
                      <a:r>
                        <a:rPr lang="es-ES" sz="1200" kern="1200" dirty="0" err="1">
                          <a:solidFill>
                            <a:schemeClr val="bg1"/>
                          </a:solidFill>
                          <a:effectLst/>
                          <a:latin typeface="Arial" panose="020B0604020202020204" pitchFamily="34" charset="0"/>
                          <a:ea typeface="Arial" panose="020B0604020202020204" pitchFamily="34" charset="0"/>
                          <a:cs typeface="Arial" charset="0"/>
                        </a:rPr>
                        <a:t>Pre-venta</a:t>
                      </a:r>
                      <a:r>
                        <a:rPr lang="es-ES" sz="1200" kern="1200" dirty="0">
                          <a:solidFill>
                            <a:schemeClr val="bg1"/>
                          </a:solidFill>
                          <a:effectLst/>
                          <a:latin typeface="Arial" panose="020B0604020202020204" pitchFamily="34" charset="0"/>
                          <a:ea typeface="Arial" panose="020B0604020202020204" pitchFamily="34" charset="0"/>
                          <a:cs typeface="Arial" charset="0"/>
                        </a:rPr>
                        <a:t> Técnica de Programas de Adopción de Soluciones </a:t>
                      </a: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p>
                      <a:pPr marL="171450" lvl="0" indent="-171450">
                        <a:lnSpc>
                          <a:spcPct val="107000"/>
                        </a:lnSpc>
                        <a:buFont typeface="Arial" panose="020B0604020202020204" pitchFamily="34" charset="0"/>
                        <a:buChar char="•"/>
                      </a:pPr>
                      <a:r>
                        <a:rPr lang="es-ES" sz="1200" kern="1200" dirty="0">
                          <a:solidFill>
                            <a:schemeClr val="bg1"/>
                          </a:solidFill>
                          <a:effectLst/>
                          <a:latin typeface="Arial" panose="020B0604020202020204" pitchFamily="34" charset="0"/>
                          <a:ea typeface="Arial" panose="020B0604020202020204" pitchFamily="34" charset="0"/>
                          <a:cs typeface="Arial" charset="0"/>
                        </a:rPr>
                        <a:t>Diseño e Implementación de Servicios de Consultoría Especializados</a:t>
                      </a: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p>
                      <a:pPr marL="171450" lvl="0" indent="-171450">
                        <a:lnSpc>
                          <a:spcPct val="107000"/>
                        </a:lnSpc>
                        <a:buFont typeface="Arial" panose="020B0604020202020204" pitchFamily="34" charset="0"/>
                        <a:buChar char="•"/>
                      </a:pPr>
                      <a:r>
                        <a:rPr lang="es-ES" sz="1200" kern="1200" dirty="0">
                          <a:solidFill>
                            <a:schemeClr val="bg1"/>
                          </a:solidFill>
                          <a:effectLst/>
                          <a:latin typeface="Arial" panose="020B0604020202020204" pitchFamily="34" charset="0"/>
                          <a:ea typeface="Arial" panose="020B0604020202020204" pitchFamily="34" charset="0"/>
                          <a:cs typeface="Arial" charset="0"/>
                        </a:rPr>
                        <a:t>Gestión de Relacionamiento con Clientes</a:t>
                      </a: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p>
                      <a:pPr marL="151130">
                        <a:lnSpc>
                          <a:spcPct val="107000"/>
                        </a:lnSpc>
                        <a:spcAft>
                          <a:spcPts val="800"/>
                        </a:spcAft>
                      </a:pPr>
                      <a:r>
                        <a:rPr lang="es-ES" sz="1200" dirty="0">
                          <a:solidFill>
                            <a:schemeClr val="bg1"/>
                          </a:solidFill>
                          <a:effectLst/>
                          <a:latin typeface="Arial" panose="020B0604020202020204" pitchFamily="34" charset="0"/>
                          <a:ea typeface="Arial" panose="020B0604020202020204" pitchFamily="34" charset="0"/>
                          <a:cs typeface="Arial" panose="020B0604020202020204" pitchFamily="34" charset="0"/>
                        </a:rPr>
                        <a:t> </a:t>
                      </a:r>
                      <a:r>
                        <a:rPr lang="es-CL" sz="1200" dirty="0">
                          <a:solidFill>
                            <a:schemeClr val="bg1"/>
                          </a:solidFill>
                          <a:effectLst/>
                          <a:latin typeface="Arial" panose="020B0604020202020204" pitchFamily="34" charset="0"/>
                          <a:ea typeface="Arial" panose="020B0604020202020204" pitchFamily="34" charset="0"/>
                          <a:cs typeface="Arial" panose="020B0604020202020204" pitchFamily="34" charset="0"/>
                        </a:rPr>
                        <a:t> </a:t>
                      </a:r>
                      <a:endParaRPr lang="en-US" sz="12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endParaRPr>
                    </a:p>
                    <a:p>
                      <a:r>
                        <a:rPr lang="es-CL" sz="12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a:t>
                      </a:r>
                      <a:r>
                        <a:rPr lang="es-CL" sz="1200" b="1" kern="1200" spc="-50" dirty="0">
                          <a:solidFill>
                            <a:srgbClr val="AADDEE"/>
                          </a:solidFill>
                          <a:latin typeface="Arial" charset="0"/>
                          <a:ea typeface="+mn-ea"/>
                          <a:cs typeface="Arial" charset="0"/>
                        </a:rPr>
                        <a:t>Recursos Claves </a:t>
                      </a:r>
                      <a:endParaRPr lang="en-US" sz="1200" b="1" kern="1200" spc="-50" dirty="0">
                        <a:solidFill>
                          <a:srgbClr val="AADDEE"/>
                        </a:solidFill>
                        <a:latin typeface="Arial" charset="0"/>
                        <a:ea typeface="+mn-ea"/>
                        <a:cs typeface="Arial" charset="0"/>
                      </a:endParaRPr>
                    </a:p>
                    <a:p>
                      <a:pPr marL="171450" indent="-171450">
                        <a:buFont typeface="Arial" panose="020B0604020202020204" pitchFamily="34" charset="0"/>
                        <a:buChar char="•"/>
                      </a:pPr>
                      <a:r>
                        <a:rPr lang="es-ES" sz="1200" kern="1200" dirty="0">
                          <a:solidFill>
                            <a:schemeClr val="bg1"/>
                          </a:solidFill>
                          <a:effectLst/>
                          <a:latin typeface="Arial" panose="020B0604020202020204" pitchFamily="34" charset="0"/>
                          <a:ea typeface="+mn-ea"/>
                          <a:cs typeface="Arial" charset="0"/>
                        </a:rPr>
                        <a:t>Empleados, acreditaciones y certificaciones.</a:t>
                      </a: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p>
                      <a:pPr marL="171450" indent="-171450">
                        <a:buFont typeface="Arial" panose="020B0604020202020204" pitchFamily="34" charset="0"/>
                        <a:buChar char="•"/>
                      </a:pPr>
                      <a:r>
                        <a:rPr lang="es-ES" sz="1200" kern="1200" dirty="0">
                          <a:solidFill>
                            <a:schemeClr val="bg1"/>
                          </a:solidFill>
                          <a:effectLst/>
                          <a:latin typeface="Arial" panose="020B0604020202020204" pitchFamily="34" charset="0"/>
                          <a:ea typeface="+mn-ea"/>
                          <a:cs typeface="Arial" charset="0"/>
                        </a:rPr>
                        <a:t>Soluciones de Seguridad y tecnología Microsoft para la entrega de Servicios</a:t>
                      </a:r>
                      <a:r>
                        <a:rPr lang="es-ES" sz="1400" kern="1200" dirty="0">
                          <a:solidFill>
                            <a:schemeClr val="bg1"/>
                          </a:solidFill>
                          <a:effectLst/>
                          <a:latin typeface="Arial" panose="020B0604020202020204" pitchFamily="34" charset="0"/>
                          <a:ea typeface="+mn-ea"/>
                          <a:cs typeface="Arial" charset="0"/>
                        </a:rPr>
                        <a:t>.</a:t>
                      </a:r>
                      <a:endParaRPr lang="en-US" sz="1400" kern="1200" dirty="0">
                        <a:solidFill>
                          <a:schemeClr val="bg1"/>
                        </a:solidFill>
                        <a:effectLst/>
                        <a:latin typeface="Arial" panose="020B0604020202020204" pitchFamily="34" charset="0"/>
                        <a:ea typeface="Calibri" panose="020F0502020204030204" pitchFamily="34" charset="0"/>
                        <a:cs typeface="Arial" charset="0"/>
                      </a:endParaRPr>
                    </a:p>
                    <a:p>
                      <a:pPr marL="151130">
                        <a:lnSpc>
                          <a:spcPct val="107000"/>
                        </a:lnSpc>
                        <a:spcAft>
                          <a:spcPts val="800"/>
                        </a:spcAft>
                      </a:pPr>
                      <a:r>
                        <a:rPr lang="es-CL" sz="1100"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endParaRPr lang="en-US" sz="1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txBody>
                  <a:tcPr marL="7194" marR="7194" marT="0" marB="0">
                    <a:lnL w="3175" cap="flat" cmpd="sng" algn="ctr">
                      <a:noFill/>
                      <a:prstDash val="solid"/>
                      <a:round/>
                      <a:headEnd type="none" w="med" len="med"/>
                      <a:tailEnd type="none" w="med" len="med"/>
                    </a:lnL>
                    <a:lnR w="6350" cap="flat" cmpd="sng" algn="ctr">
                      <a:solidFill>
                        <a:schemeClr val="bg1"/>
                      </a:solidFill>
                      <a:prstDash val="sysDash"/>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s-CL" sz="10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a:t>
                      </a:r>
                      <a:r>
                        <a:rPr lang="es-CL" sz="1600" b="1" kern="1200" spc="-50" dirty="0">
                          <a:solidFill>
                            <a:srgbClr val="AADDEE"/>
                          </a:solidFill>
                          <a:latin typeface="Arial" charset="0"/>
                          <a:ea typeface="+mn-ea"/>
                          <a:cs typeface="Arial" charset="0"/>
                        </a:rPr>
                        <a:t>Propuesta de Valor </a:t>
                      </a:r>
                      <a:endParaRPr lang="en-US" sz="1600" b="1" kern="1200" spc="-50" dirty="0">
                        <a:solidFill>
                          <a:srgbClr val="AADDEE"/>
                        </a:solidFill>
                        <a:latin typeface="Arial" charset="0"/>
                        <a:ea typeface="+mn-ea"/>
                        <a:cs typeface="Arial" charset="0"/>
                      </a:endParaRPr>
                    </a:p>
                    <a:p>
                      <a:pPr algn="l"/>
                      <a:endParaRPr lang="es-CL" sz="1000" dirty="0">
                        <a:solidFill>
                          <a:schemeClr val="bg1"/>
                        </a:solidFill>
                        <a:effectLst/>
                        <a:latin typeface="Arial" panose="020B0604020202020204" pitchFamily="34" charset="0"/>
                        <a:ea typeface="Arial" panose="020B0604020202020204" pitchFamily="34" charset="0"/>
                        <a:cs typeface="Arial" panose="020B0604020202020204" pitchFamily="34" charset="0"/>
                      </a:endParaRPr>
                    </a:p>
                    <a:p>
                      <a:pPr marL="396875" indent="-285750" algn="l">
                        <a:buFont typeface="Arial" panose="020B0604020202020204" pitchFamily="34" charset="0"/>
                        <a:buChar char="•"/>
                      </a:pPr>
                      <a:r>
                        <a:rPr lang="es-ES" sz="1200" kern="1200" dirty="0">
                          <a:solidFill>
                            <a:schemeClr val="bg1"/>
                          </a:solidFill>
                          <a:effectLst/>
                          <a:latin typeface="Arial" panose="020B0604020202020204" pitchFamily="34" charset="0"/>
                          <a:ea typeface="Arial" panose="020B0604020202020204" pitchFamily="34" charset="0"/>
                          <a:cs typeface="Arial" charset="0"/>
                        </a:rPr>
                        <a:t>Servicios especializados de ciberseguridad en soluciones Microsoft</a:t>
                      </a: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p>
                      <a:pPr marL="151130" indent="0" algn="l">
                        <a:lnSpc>
                          <a:spcPct val="107000"/>
                        </a:lnSpc>
                        <a:buFont typeface="Arial" panose="020B0604020202020204" pitchFamily="34" charset="0"/>
                        <a:buNone/>
                      </a:pPr>
                      <a:endParaRPr lang="es-ES" sz="1200" kern="1200" dirty="0">
                        <a:solidFill>
                          <a:schemeClr val="bg1"/>
                        </a:solidFill>
                        <a:effectLst/>
                        <a:latin typeface="Arial" panose="020B0604020202020204" pitchFamily="34" charset="0"/>
                        <a:ea typeface="Arial" panose="020B0604020202020204" pitchFamily="34" charset="0"/>
                        <a:cs typeface="Arial" charset="0"/>
                      </a:endParaRPr>
                    </a:p>
                    <a:p>
                      <a:pPr marL="436880" indent="-285750" algn="l">
                        <a:lnSpc>
                          <a:spcPct val="107000"/>
                        </a:lnSpc>
                        <a:buFont typeface="Arial" panose="020B0604020202020204" pitchFamily="34" charset="0"/>
                        <a:buChar char="•"/>
                      </a:pPr>
                      <a:r>
                        <a:rPr lang="es-ES" sz="1200" kern="1200" dirty="0">
                          <a:solidFill>
                            <a:schemeClr val="bg1"/>
                          </a:solidFill>
                          <a:effectLst/>
                          <a:latin typeface="Arial" panose="020B0604020202020204" pitchFamily="34" charset="0"/>
                          <a:ea typeface="Arial" panose="020B0604020202020204" pitchFamily="34" charset="0"/>
                          <a:cs typeface="Arial" charset="0"/>
                        </a:rPr>
                        <a:t>Equipo de expertos en ciberseguridad con amplia experiencia en el sector, acreditaciones de industria y certificaciones Microsoft</a:t>
                      </a: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p>
                      <a:pPr marL="151130" indent="0" algn="l">
                        <a:lnSpc>
                          <a:spcPct val="107000"/>
                        </a:lnSpc>
                        <a:buFont typeface="Arial" panose="020B0604020202020204" pitchFamily="34" charset="0"/>
                        <a:buNone/>
                      </a:pP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p>
                      <a:pPr marL="436880" indent="-285750" algn="l">
                        <a:lnSpc>
                          <a:spcPct val="107000"/>
                        </a:lnSpc>
                        <a:buFont typeface="Arial" panose="020B0604020202020204" pitchFamily="34" charset="0"/>
                        <a:buChar char="•"/>
                      </a:pPr>
                      <a:r>
                        <a:rPr lang="es-ES" sz="1200" kern="1200" dirty="0">
                          <a:solidFill>
                            <a:schemeClr val="bg1"/>
                          </a:solidFill>
                          <a:effectLst/>
                          <a:latin typeface="Arial" panose="020B0604020202020204" pitchFamily="34" charset="0"/>
                          <a:ea typeface="Arial" panose="020B0604020202020204" pitchFamily="34" charset="0"/>
                          <a:cs typeface="Arial" charset="0"/>
                        </a:rPr>
                        <a:t>Herramientas y tecnología Microsoft de última generación para monitoreo, detección y prevención de amenazas de seguridad</a:t>
                      </a: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txBody>
                  <a:tcPr marL="7194" marR="7194" marT="0" marB="0">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r>
                        <a:rPr lang="es-CL" sz="11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a:t>
                      </a:r>
                      <a:r>
                        <a:rPr lang="es-CL" sz="1200" b="1" kern="1200" spc="-50" dirty="0">
                          <a:solidFill>
                            <a:srgbClr val="AADDEE"/>
                          </a:solidFill>
                          <a:latin typeface="Arial" charset="0"/>
                          <a:ea typeface="+mn-ea"/>
                          <a:cs typeface="Arial" charset="0"/>
                        </a:rPr>
                        <a:t>Segmentos</a:t>
                      </a:r>
                      <a:endParaRPr lang="en-US" sz="1200" b="1" kern="1200" spc="-50" dirty="0">
                        <a:solidFill>
                          <a:srgbClr val="AADDEE"/>
                        </a:solidFill>
                        <a:latin typeface="Arial" charset="0"/>
                        <a:ea typeface="+mn-ea"/>
                        <a:cs typeface="Arial" charset="0"/>
                      </a:endParaRPr>
                    </a:p>
                    <a:p>
                      <a:pPr marL="171450" lvl="0" indent="-171450">
                        <a:lnSpc>
                          <a:spcPct val="107000"/>
                        </a:lnSpc>
                        <a:buFont typeface="Arial" panose="020B0604020202020204" pitchFamily="34" charset="0"/>
                        <a:buChar char="•"/>
                      </a:pPr>
                      <a:r>
                        <a:rPr lang="es-ES" sz="1200" kern="1200" dirty="0">
                          <a:solidFill>
                            <a:schemeClr val="bg1"/>
                          </a:solidFill>
                          <a:effectLst/>
                          <a:latin typeface="Arial" panose="020B0604020202020204" pitchFamily="34" charset="0"/>
                          <a:ea typeface="Arial" panose="020B0604020202020204" pitchFamily="34" charset="0"/>
                          <a:cs typeface="Arial" charset="0"/>
                        </a:rPr>
                        <a:t>Diversas empresas en Proceso de Digitalización, que usan tecnologías Microsoft y sus soluciones de Seguridad.</a:t>
                      </a: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p>
                      <a:pPr marL="151130">
                        <a:lnSpc>
                          <a:spcPct val="107000"/>
                        </a:lnSpc>
                        <a:spcAft>
                          <a:spcPts val="800"/>
                        </a:spcAft>
                      </a:pPr>
                      <a:r>
                        <a:rPr lang="es-ES" sz="1200" kern="1200" dirty="0">
                          <a:solidFill>
                            <a:schemeClr val="bg1"/>
                          </a:solidFill>
                          <a:effectLst/>
                          <a:latin typeface="Arial" panose="020B0604020202020204" pitchFamily="34" charset="0"/>
                          <a:ea typeface="Arial" panose="020B0604020202020204" pitchFamily="34" charset="0"/>
                          <a:cs typeface="Arial" charset="0"/>
                        </a:rPr>
                        <a:t> </a:t>
                      </a:r>
                      <a:r>
                        <a:rPr lang="es-CL" sz="1200" kern="1200" dirty="0">
                          <a:solidFill>
                            <a:schemeClr val="bg1"/>
                          </a:solidFill>
                          <a:effectLst/>
                          <a:latin typeface="Arial" panose="020B0604020202020204" pitchFamily="34" charset="0"/>
                          <a:ea typeface="Times New Roman" panose="02020603050405020304" pitchFamily="18" charset="0"/>
                          <a:cs typeface="Arial" charset="0"/>
                        </a:rPr>
                        <a:t> </a:t>
                      </a:r>
                      <a:endParaRPr lang="en-US" sz="1200" kern="1200" dirty="0">
                        <a:solidFill>
                          <a:schemeClr val="bg1"/>
                        </a:solidFill>
                        <a:effectLst/>
                        <a:latin typeface="Arial" panose="020B0604020202020204" pitchFamily="34" charset="0"/>
                        <a:ea typeface="Times New Roman" panose="02020603050405020304" pitchFamily="18" charset="0"/>
                        <a:cs typeface="Arial" charset="0"/>
                      </a:endParaRPr>
                    </a:p>
                    <a:p>
                      <a:r>
                        <a:rPr lang="es-CL" sz="12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a:t>
                      </a:r>
                      <a:r>
                        <a:rPr lang="es-CL" sz="1200" b="1" kern="1200" spc="-50" dirty="0">
                          <a:solidFill>
                            <a:srgbClr val="AADDEE"/>
                          </a:solidFill>
                          <a:latin typeface="Arial" charset="0"/>
                          <a:ea typeface="+mn-ea"/>
                          <a:cs typeface="Arial" charset="0"/>
                        </a:rPr>
                        <a:t>Relación con Clientes</a:t>
                      </a:r>
                      <a:endParaRPr lang="en-US" sz="1200" b="1" kern="1200" spc="-50" dirty="0">
                        <a:solidFill>
                          <a:srgbClr val="AADDEE"/>
                        </a:solidFill>
                        <a:latin typeface="Arial" charset="0"/>
                        <a:ea typeface="+mn-ea"/>
                        <a:cs typeface="Arial" charset="0"/>
                      </a:endParaRPr>
                    </a:p>
                    <a:p>
                      <a:pPr marL="171450" lvl="0" indent="-171450">
                        <a:lnSpc>
                          <a:spcPct val="107000"/>
                        </a:lnSpc>
                        <a:buFont typeface="Arial" panose="020B0604020202020204" pitchFamily="34" charset="0"/>
                        <a:buChar char="•"/>
                      </a:pPr>
                      <a:r>
                        <a:rPr lang="es-ES" sz="1200" kern="1200" dirty="0">
                          <a:solidFill>
                            <a:schemeClr val="bg1"/>
                          </a:solidFill>
                          <a:effectLst/>
                          <a:latin typeface="Arial" panose="020B0604020202020204" pitchFamily="34" charset="0"/>
                          <a:ea typeface="Arial" panose="020B0604020202020204" pitchFamily="34" charset="0"/>
                          <a:cs typeface="Arial" charset="0"/>
                        </a:rPr>
                        <a:t>Ideación y Co-Creación de Programas de Adopción de Soluciones de Seguridad a través del Framework de IT-Trail Services “Plan de Relacionamiento y Éxito de Clientes” que se describe a continuación.</a:t>
                      </a: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p>
                      <a:pPr marL="151130">
                        <a:lnSpc>
                          <a:spcPct val="107000"/>
                        </a:lnSpc>
                        <a:spcAft>
                          <a:spcPts val="800"/>
                        </a:spcAft>
                      </a:pPr>
                      <a:r>
                        <a:rPr lang="es-ES" sz="1200" dirty="0">
                          <a:solidFill>
                            <a:schemeClr val="bg1"/>
                          </a:solidFill>
                          <a:effectLst/>
                          <a:latin typeface="Arial" panose="020B0604020202020204" pitchFamily="34" charset="0"/>
                          <a:ea typeface="Arial" panose="020B0604020202020204" pitchFamily="34" charset="0"/>
                          <a:cs typeface="Arial" panose="020B0604020202020204" pitchFamily="34" charset="0"/>
                        </a:rPr>
                        <a:t> </a:t>
                      </a:r>
                      <a:endParaRPr lang="en-US" sz="12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p>
                      <a:r>
                        <a:rPr lang="es-CL" sz="12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a:t>
                      </a:r>
                      <a:r>
                        <a:rPr lang="es-CL" sz="1200" b="1" kern="1200" spc="-50" dirty="0">
                          <a:solidFill>
                            <a:srgbClr val="AADDEE"/>
                          </a:solidFill>
                          <a:latin typeface="Arial" charset="0"/>
                          <a:ea typeface="+mn-ea"/>
                          <a:cs typeface="Arial" charset="0"/>
                        </a:rPr>
                        <a:t>Canales</a:t>
                      </a:r>
                      <a:endParaRPr lang="en-US" sz="1200" b="1" kern="1200" spc="-50" dirty="0">
                        <a:solidFill>
                          <a:srgbClr val="AADDEE"/>
                        </a:solidFill>
                        <a:latin typeface="Arial" charset="0"/>
                        <a:ea typeface="+mn-ea"/>
                        <a:cs typeface="Arial" charset="0"/>
                      </a:endParaRPr>
                    </a:p>
                    <a:p>
                      <a:pPr marL="171450" lvl="0" indent="-171450">
                        <a:lnSpc>
                          <a:spcPct val="107000"/>
                        </a:lnSpc>
                        <a:spcAft>
                          <a:spcPts val="800"/>
                        </a:spcAft>
                        <a:buFont typeface="Arial" panose="020B0604020202020204" pitchFamily="34" charset="0"/>
                        <a:buChar char="•"/>
                      </a:pPr>
                      <a:r>
                        <a:rPr lang="es-ES" sz="1200" kern="1200" dirty="0">
                          <a:solidFill>
                            <a:schemeClr val="bg1"/>
                          </a:solidFill>
                          <a:effectLst/>
                          <a:latin typeface="Arial" panose="020B0604020202020204" pitchFamily="34" charset="0"/>
                          <a:ea typeface="Arial" panose="020B0604020202020204" pitchFamily="34" charset="0"/>
                          <a:cs typeface="Arial" charset="0"/>
                        </a:rPr>
                        <a:t>Entrega de Servicios de forma remota y/o presencial </a:t>
                      </a:r>
                      <a:endParaRPr lang="en-US" sz="1200" kern="1200" dirty="0">
                        <a:solidFill>
                          <a:schemeClr val="bg1"/>
                        </a:solidFill>
                        <a:effectLst/>
                        <a:latin typeface="Arial" panose="020B0604020202020204" pitchFamily="34" charset="0"/>
                        <a:ea typeface="Calibri" panose="020F0502020204030204" pitchFamily="34" charset="0"/>
                        <a:cs typeface="Arial" charset="0"/>
                      </a:endParaRPr>
                    </a:p>
                  </a:txBody>
                  <a:tcPr marL="7194" marR="7194" marT="0" marB="0">
                    <a:lnL w="6350" cap="flat" cmpd="sng" algn="ctr">
                      <a:solidFill>
                        <a:schemeClr val="bg1"/>
                      </a:solidFill>
                      <a:prstDash val="sysDash"/>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9599131"/>
                  </a:ext>
                </a:extLst>
              </a:tr>
            </a:tbl>
          </a:graphicData>
        </a:graphic>
      </p:graphicFrame>
      <p:sp>
        <p:nvSpPr>
          <p:cNvPr id="4" name="AutoShape 9">
            <a:extLst>
              <a:ext uri="{FF2B5EF4-FFF2-40B4-BE49-F238E27FC236}">
                <a16:creationId xmlns:a16="http://schemas.microsoft.com/office/drawing/2014/main" id="{E4B1854E-71B5-AEFA-9189-3F395B15F8A4}"/>
              </a:ext>
            </a:extLst>
          </p:cNvPr>
          <p:cNvSpPr>
            <a:spLocks noChangeArrowheads="1"/>
          </p:cNvSpPr>
          <p:nvPr/>
        </p:nvSpPr>
        <p:spPr bwMode="gray">
          <a:xfrm>
            <a:off x="405210" y="5297414"/>
            <a:ext cx="5580726" cy="757185"/>
          </a:xfrm>
          <a:prstGeom prst="homePlate">
            <a:avLst>
              <a:gd name="adj" fmla="val 13397"/>
            </a:avLst>
          </a:prstGeom>
          <a:solidFill>
            <a:srgbClr val="9C102E"/>
          </a:solidFill>
          <a:ln w="12700" algn="ctr">
            <a:solidFill>
              <a:schemeClr val="bg1"/>
            </a:solidFill>
            <a:round/>
            <a:headEnd/>
            <a:tailEnd/>
          </a:ln>
          <a:effectLst/>
        </p:spPr>
        <p:txBody>
          <a:bodyPr lIns="72000" tIns="72000" rIns="72000" bIns="72000" anchor="ctr"/>
          <a:lstStyle/>
          <a:p>
            <a:pPr marL="171450" lvl="0" indent="-171450">
              <a:lnSpc>
                <a:spcPct val="107000"/>
              </a:lnSpc>
              <a:buFont typeface="Arial" panose="020B0604020202020204" pitchFamily="34" charset="0"/>
              <a:buChar char="•"/>
            </a:pPr>
            <a:endParaRPr lang="es-ES" sz="1200" dirty="0">
              <a:solidFill>
                <a:schemeClr val="bg1"/>
              </a:solidFill>
              <a:latin typeface="Arial" panose="020B0604020202020204" pitchFamily="34" charset="0"/>
            </a:endParaRPr>
          </a:p>
          <a:p>
            <a:pPr marL="171450" lvl="0" indent="-171450">
              <a:lnSpc>
                <a:spcPct val="107000"/>
              </a:lnSpc>
              <a:buFont typeface="Arial" panose="020B0604020202020204" pitchFamily="34" charset="0"/>
              <a:buChar char="•"/>
            </a:pPr>
            <a:r>
              <a:rPr lang="es-ES" sz="1200" dirty="0">
                <a:solidFill>
                  <a:schemeClr val="bg1"/>
                </a:solidFill>
                <a:latin typeface="Arial" panose="020B0604020202020204" pitchFamily="34" charset="0"/>
              </a:rPr>
              <a:t>Entrenamientos /Acreditaciones</a:t>
            </a:r>
          </a:p>
          <a:p>
            <a:pPr marL="171450" indent="-171450">
              <a:lnSpc>
                <a:spcPct val="107000"/>
              </a:lnSpc>
              <a:buFont typeface="Arial" panose="020B0604020202020204" pitchFamily="34" charset="0"/>
              <a:buChar char="•"/>
            </a:pPr>
            <a:r>
              <a:rPr lang="es-ES" sz="1200" dirty="0">
                <a:solidFill>
                  <a:schemeClr val="bg1"/>
                </a:solidFill>
                <a:latin typeface="Arial" panose="020B0604020202020204" pitchFamily="34" charset="0"/>
              </a:rPr>
              <a:t>Empleados, Costos de Marketing , Infraestructura Tecnológica</a:t>
            </a:r>
            <a:endParaRPr lang="en-US" sz="1200" dirty="0">
              <a:solidFill>
                <a:schemeClr val="bg1"/>
              </a:solidFill>
              <a:latin typeface="Arial" panose="020B0604020202020204" pitchFamily="34" charset="0"/>
            </a:endParaRPr>
          </a:p>
        </p:txBody>
      </p:sp>
      <p:sp>
        <p:nvSpPr>
          <p:cNvPr id="6" name="AutoShape 9">
            <a:extLst>
              <a:ext uri="{FF2B5EF4-FFF2-40B4-BE49-F238E27FC236}">
                <a16:creationId xmlns:a16="http://schemas.microsoft.com/office/drawing/2014/main" id="{21A28A62-7D48-DCC1-C186-A7FEEC5C9705}"/>
              </a:ext>
            </a:extLst>
          </p:cNvPr>
          <p:cNvSpPr>
            <a:spLocks noChangeArrowheads="1"/>
          </p:cNvSpPr>
          <p:nvPr/>
        </p:nvSpPr>
        <p:spPr bwMode="gray">
          <a:xfrm rot="10800000">
            <a:off x="6106694" y="5281729"/>
            <a:ext cx="5669092" cy="757184"/>
          </a:xfrm>
          <a:prstGeom prst="homePlate">
            <a:avLst>
              <a:gd name="adj" fmla="val 13397"/>
            </a:avLst>
          </a:prstGeom>
          <a:solidFill>
            <a:srgbClr val="9C102E"/>
          </a:solidFill>
          <a:ln w="12700" algn="ctr">
            <a:solidFill>
              <a:schemeClr val="bg1"/>
            </a:solidFill>
            <a:round/>
            <a:headEnd/>
            <a:tailEnd/>
          </a:ln>
          <a:effectLst/>
        </p:spPr>
        <p:txBody>
          <a:bodyPr lIns="72000" tIns="72000" rIns="72000" bIns="72000" anchor="ctr"/>
          <a:lstStyle/>
          <a:p>
            <a:pPr marL="171450" indent="-171450">
              <a:buFont typeface="Arial" panose="020B0604020202020204" pitchFamily="34" charset="0"/>
              <a:buChar char="•"/>
            </a:pPr>
            <a:endParaRPr lang="en-US" sz="1200" dirty="0">
              <a:solidFill>
                <a:schemeClr val="bg1"/>
              </a:solidFill>
              <a:latin typeface="Arial" panose="020B0604020202020204" pitchFamily="34" charset="0"/>
            </a:endParaRPr>
          </a:p>
        </p:txBody>
      </p:sp>
      <p:sp>
        <p:nvSpPr>
          <p:cNvPr id="8" name="TextBox 7">
            <a:extLst>
              <a:ext uri="{FF2B5EF4-FFF2-40B4-BE49-F238E27FC236}">
                <a16:creationId xmlns:a16="http://schemas.microsoft.com/office/drawing/2014/main" id="{7A7059BD-0155-ABAA-D08B-A2502913E30F}"/>
              </a:ext>
            </a:extLst>
          </p:cNvPr>
          <p:cNvSpPr txBox="1"/>
          <p:nvPr/>
        </p:nvSpPr>
        <p:spPr bwMode="auto">
          <a:xfrm>
            <a:off x="6181422" y="5521085"/>
            <a:ext cx="6943231" cy="474041"/>
          </a:xfrm>
          <a:prstGeom prst="rect">
            <a:avLst/>
          </a:prstGeom>
          <a:noFill/>
          <a:ln w="9525">
            <a:noFill/>
            <a:miter lim="800000"/>
            <a:headEnd/>
            <a:tailEnd/>
          </a:ln>
        </p:spPr>
        <p:txBody>
          <a:bodyPr wrap="square">
            <a:spAutoFit/>
          </a:bodyPr>
          <a:lstStyle/>
          <a:p>
            <a:pPr marL="171450" lvl="0" indent="-171450">
              <a:lnSpc>
                <a:spcPct val="107000"/>
              </a:lnSpc>
              <a:buFont typeface="Arial" panose="020B0604020202020204" pitchFamily="34" charset="0"/>
              <a:buChar char="•"/>
            </a:pPr>
            <a:r>
              <a:rPr lang="es-ES" sz="1200" dirty="0">
                <a:solidFill>
                  <a:schemeClr val="bg1"/>
                </a:solidFill>
                <a:effectLst/>
                <a:latin typeface="Arial" panose="020B0604020202020204" pitchFamily="34" charset="0"/>
                <a:ea typeface="Arial" panose="020B0604020202020204" pitchFamily="34" charset="0"/>
                <a:cs typeface="Arial" panose="020B0604020202020204" pitchFamily="34" charset="0"/>
              </a:rPr>
              <a:t>Ingresos por Implementación de Proyectos </a:t>
            </a:r>
            <a:endParaRPr lang="en-US" sz="12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a:p>
            <a:pPr marL="171450" lvl="0" indent="-171450">
              <a:lnSpc>
                <a:spcPct val="107000"/>
              </a:lnSpc>
              <a:spcAft>
                <a:spcPts val="800"/>
              </a:spcAft>
              <a:buFont typeface="Arial" panose="020B0604020202020204" pitchFamily="34" charset="0"/>
              <a:buChar char="•"/>
            </a:pPr>
            <a:r>
              <a:rPr lang="es-ES" sz="1200" dirty="0">
                <a:solidFill>
                  <a:schemeClr val="bg1"/>
                </a:solidFill>
                <a:effectLst/>
                <a:latin typeface="Arial" panose="020B0604020202020204" pitchFamily="34" charset="0"/>
                <a:ea typeface="Arial" panose="020B0604020202020204" pitchFamily="34" charset="0"/>
                <a:cs typeface="Arial" panose="020B0604020202020204" pitchFamily="34" charset="0"/>
              </a:rPr>
              <a:t>Ingresos por la subscripción de servicios o contratos de Servicios Anuales</a:t>
            </a:r>
            <a:endParaRPr lang="en-US" sz="12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E4D71CF4-9096-B600-5409-F5270191DCC4}"/>
              </a:ext>
            </a:extLst>
          </p:cNvPr>
          <p:cNvSpPr txBox="1"/>
          <p:nvPr/>
        </p:nvSpPr>
        <p:spPr bwMode="auto">
          <a:xfrm>
            <a:off x="405210" y="5262473"/>
            <a:ext cx="2857500" cy="276999"/>
          </a:xfrm>
          <a:prstGeom prst="rect">
            <a:avLst/>
          </a:prstGeom>
          <a:noFill/>
          <a:ln w="9525">
            <a:noFill/>
            <a:miter lim="800000"/>
            <a:headEnd/>
            <a:tailEnd/>
          </a:ln>
        </p:spPr>
        <p:txBody>
          <a:bodyPr wrap="square">
            <a:spAutoFit/>
          </a:bodyPr>
          <a:lstStyle/>
          <a:p>
            <a:r>
              <a:rPr lang="es-CL" sz="1200" b="1" kern="1200" spc="-50" dirty="0">
                <a:solidFill>
                  <a:srgbClr val="AADDEE"/>
                </a:solidFill>
                <a:latin typeface="Arial" charset="0"/>
                <a:ea typeface="+mn-ea"/>
                <a:cs typeface="Arial" charset="0"/>
              </a:rPr>
              <a:t>Estructura de Costos</a:t>
            </a:r>
            <a:endParaRPr lang="en-US" sz="1200" dirty="0"/>
          </a:p>
        </p:txBody>
      </p:sp>
      <p:sp>
        <p:nvSpPr>
          <p:cNvPr id="11" name="TextBox 10">
            <a:extLst>
              <a:ext uri="{FF2B5EF4-FFF2-40B4-BE49-F238E27FC236}">
                <a16:creationId xmlns:a16="http://schemas.microsoft.com/office/drawing/2014/main" id="{AC334DD6-BF1F-1488-7EB5-D326F61A3F13}"/>
              </a:ext>
            </a:extLst>
          </p:cNvPr>
          <p:cNvSpPr txBox="1"/>
          <p:nvPr/>
        </p:nvSpPr>
        <p:spPr bwMode="auto">
          <a:xfrm>
            <a:off x="10158810" y="5244086"/>
            <a:ext cx="2857500" cy="276999"/>
          </a:xfrm>
          <a:prstGeom prst="rect">
            <a:avLst/>
          </a:prstGeom>
          <a:noFill/>
          <a:ln w="9525">
            <a:noFill/>
            <a:miter lim="800000"/>
            <a:headEnd/>
            <a:tailEnd/>
          </a:ln>
        </p:spPr>
        <p:txBody>
          <a:bodyPr wrap="square">
            <a:spAutoFit/>
          </a:bodyPr>
          <a:lstStyle/>
          <a:p>
            <a:r>
              <a:rPr lang="es-CL" sz="1200" b="1" kern="1200" spc="-50" dirty="0">
                <a:solidFill>
                  <a:srgbClr val="AADDEE"/>
                </a:solidFill>
                <a:latin typeface="Arial" charset="0"/>
                <a:ea typeface="+mn-ea"/>
                <a:cs typeface="Arial" charset="0"/>
              </a:rPr>
              <a:t>Flujo de Ingresos</a:t>
            </a:r>
            <a:endParaRPr lang="en-US" sz="1200" dirty="0"/>
          </a:p>
        </p:txBody>
      </p:sp>
    </p:spTree>
    <p:extLst>
      <p:ext uri="{BB962C8B-B14F-4D97-AF65-F5344CB8AC3E}">
        <p14:creationId xmlns:p14="http://schemas.microsoft.com/office/powerpoint/2010/main" val="277171465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Arrow: Chevron 49">
            <a:extLst>
              <a:ext uri="{FF2B5EF4-FFF2-40B4-BE49-F238E27FC236}">
                <a16:creationId xmlns:a16="http://schemas.microsoft.com/office/drawing/2014/main" id="{2FAD8C4F-54D4-A6C6-5C9F-A8EFC075F124}"/>
              </a:ext>
            </a:extLst>
          </p:cNvPr>
          <p:cNvSpPr/>
          <p:nvPr/>
        </p:nvSpPr>
        <p:spPr bwMode="auto">
          <a:xfrm>
            <a:off x="4223736" y="3293787"/>
            <a:ext cx="4352415" cy="2455129"/>
          </a:xfrm>
          <a:prstGeom prst="chevron">
            <a:avLst>
              <a:gd name="adj" fmla="val 17545"/>
            </a:avLst>
          </a:prstGeom>
          <a:solidFill>
            <a:schemeClr val="tx2"/>
          </a:solidFill>
          <a:ln>
            <a:solidFill>
              <a:schemeClr val="accent6">
                <a:lumMod val="50000"/>
              </a:schemeClr>
            </a:solidFill>
            <a:headEnd/>
            <a:tailEnd/>
          </a:ln>
        </p:spPr>
        <p:style>
          <a:lnRef idx="2">
            <a:schemeClr val="accent2"/>
          </a:lnRef>
          <a:fillRef idx="1">
            <a:schemeClr val="lt1"/>
          </a:fillRef>
          <a:effectRef idx="0">
            <a:schemeClr val="accent2"/>
          </a:effectRef>
          <a:fontRef idx="minor">
            <a:schemeClr val="dk1"/>
          </a:fontRef>
        </p:style>
        <p:txBody>
          <a:bodyPr lIns="180000" rIns="54000" rtlCol="0" anchor="t"/>
          <a:lstStyle/>
          <a:p>
            <a:pPr algn="ctr"/>
            <a:endParaRPr lang="en-US" sz="1100" b="1" dirty="0">
              <a:solidFill>
                <a:schemeClr val="tx1"/>
              </a:solidFill>
            </a:endParaRPr>
          </a:p>
        </p:txBody>
      </p:sp>
      <p:sp>
        <p:nvSpPr>
          <p:cNvPr id="49" name="Arrow: Pentagon 48">
            <a:extLst>
              <a:ext uri="{FF2B5EF4-FFF2-40B4-BE49-F238E27FC236}">
                <a16:creationId xmlns:a16="http://schemas.microsoft.com/office/drawing/2014/main" id="{B2DEA532-02EB-9999-F9D5-ED39DEEC62E7}"/>
              </a:ext>
            </a:extLst>
          </p:cNvPr>
          <p:cNvSpPr/>
          <p:nvPr/>
        </p:nvSpPr>
        <p:spPr bwMode="auto">
          <a:xfrm>
            <a:off x="444759" y="3328119"/>
            <a:ext cx="3815289" cy="2455129"/>
          </a:xfrm>
          <a:prstGeom prst="homePlate">
            <a:avLst>
              <a:gd name="adj" fmla="val 18097"/>
            </a:avLst>
          </a:prstGeom>
          <a:noFill/>
          <a:ln>
            <a:solidFill>
              <a:schemeClr val="bg1"/>
            </a:solidFill>
            <a:headEnd/>
            <a:tailEnd/>
          </a:ln>
        </p:spPr>
        <p:style>
          <a:lnRef idx="2">
            <a:schemeClr val="accent2"/>
          </a:lnRef>
          <a:fillRef idx="1">
            <a:schemeClr val="lt1"/>
          </a:fillRef>
          <a:effectRef idx="0">
            <a:schemeClr val="accent2"/>
          </a:effectRef>
          <a:fontRef idx="minor">
            <a:schemeClr val="dk1"/>
          </a:fontRef>
        </p:style>
        <p:txBody>
          <a:bodyPr lIns="180000" rIns="54000" rtlCol="0" anchor="t"/>
          <a:lstStyle/>
          <a:p>
            <a:pPr algn="ctr"/>
            <a:endParaRPr lang="en-US" sz="1100" b="1" dirty="0"/>
          </a:p>
        </p:txBody>
      </p:sp>
      <p:sp>
        <p:nvSpPr>
          <p:cNvPr id="2" name="TextBox 1"/>
          <p:cNvSpPr txBox="1"/>
          <p:nvPr/>
        </p:nvSpPr>
        <p:spPr>
          <a:xfrm>
            <a:off x="347951" y="428726"/>
            <a:ext cx="3861635" cy="630942"/>
          </a:xfrm>
          <a:prstGeom prst="rect">
            <a:avLst/>
          </a:prstGeom>
          <a:noFill/>
        </p:spPr>
        <p:txBody>
          <a:bodyPr wrap="non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Plan de Marketing </a:t>
            </a:r>
            <a:endParaRPr lang="en-US" sz="3500" spc="-30" dirty="0">
              <a:solidFill>
                <a:prstClr val="white"/>
              </a:solidFill>
              <a:latin typeface="Arial"/>
            </a:endParaRPr>
          </a:p>
        </p:txBody>
      </p:sp>
      <p:sp>
        <p:nvSpPr>
          <p:cNvPr id="19" name="TextBox 18">
            <a:extLst>
              <a:ext uri="{FF2B5EF4-FFF2-40B4-BE49-F238E27FC236}">
                <a16:creationId xmlns:a16="http://schemas.microsoft.com/office/drawing/2014/main" id="{A46AE783-4C2A-2243-E48D-CAA17432F04E}"/>
              </a:ext>
            </a:extLst>
          </p:cNvPr>
          <p:cNvSpPr txBox="1"/>
          <p:nvPr/>
        </p:nvSpPr>
        <p:spPr>
          <a:xfrm>
            <a:off x="427866" y="1417033"/>
            <a:ext cx="11169424" cy="1015663"/>
          </a:xfrm>
          <a:prstGeom prst="rect">
            <a:avLst/>
          </a:prstGeom>
          <a:noFill/>
        </p:spPr>
        <p:txBody>
          <a:bodyPr wrap="square" rtlCol="0">
            <a:spAutoFit/>
          </a:bodyPr>
          <a:lstStyle/>
          <a:p>
            <a:pPr algn="just"/>
            <a:r>
              <a:rPr lang="es-ES" sz="2000" spc="-50" dirty="0">
                <a:solidFill>
                  <a:prstClr val="white"/>
                </a:solidFill>
                <a:latin typeface="Arial"/>
              </a:rPr>
              <a:t>Tiene como objetivo resaltar la especialización de IT-Trail Services, la calidad y los beneficios de los servicios ofrecidos por la empresa con el objetivo de establecerse como una marca y asesor de confianza en servicios de ciberseguridad. </a:t>
            </a:r>
            <a:endParaRPr lang="es-ES" sz="2000" dirty="0"/>
          </a:p>
        </p:txBody>
      </p:sp>
      <p:sp>
        <p:nvSpPr>
          <p:cNvPr id="6" name="TextBox 5">
            <a:extLst>
              <a:ext uri="{FF2B5EF4-FFF2-40B4-BE49-F238E27FC236}">
                <a16:creationId xmlns:a16="http://schemas.microsoft.com/office/drawing/2014/main" id="{0FE50E7A-25FE-7EEF-8302-B29499811F10}"/>
              </a:ext>
            </a:extLst>
          </p:cNvPr>
          <p:cNvSpPr txBox="1"/>
          <p:nvPr/>
        </p:nvSpPr>
        <p:spPr>
          <a:xfrm>
            <a:off x="444759" y="2778274"/>
            <a:ext cx="4323674" cy="369332"/>
          </a:xfrm>
          <a:prstGeom prst="rect">
            <a:avLst/>
          </a:prstGeom>
          <a:noFill/>
        </p:spPr>
        <p:txBody>
          <a:bodyPr wrap="square" rtlCol="0">
            <a:spAutoFit/>
          </a:bodyPr>
          <a:lstStyle/>
          <a:p>
            <a:r>
              <a:rPr lang="en-US" spc="-50" dirty="0" err="1">
                <a:solidFill>
                  <a:schemeClr val="bg1"/>
                </a:solidFill>
              </a:rPr>
              <a:t>Estrategia</a:t>
            </a:r>
            <a:r>
              <a:rPr lang="en-US" spc="-50" dirty="0">
                <a:solidFill>
                  <a:schemeClr val="bg1"/>
                </a:solidFill>
              </a:rPr>
              <a:t> de </a:t>
            </a:r>
            <a:r>
              <a:rPr lang="en-US" b="1" spc="-50" dirty="0" err="1">
                <a:solidFill>
                  <a:srgbClr val="AADDEE"/>
                </a:solidFill>
              </a:rPr>
              <a:t>Conocimiento</a:t>
            </a:r>
            <a:r>
              <a:rPr lang="en-US" b="1" spc="-50" dirty="0">
                <a:solidFill>
                  <a:srgbClr val="AADDEE"/>
                </a:solidFill>
              </a:rPr>
              <a:t> </a:t>
            </a:r>
          </a:p>
        </p:txBody>
      </p:sp>
      <p:sp>
        <p:nvSpPr>
          <p:cNvPr id="9" name="TextBox 8">
            <a:extLst>
              <a:ext uri="{FF2B5EF4-FFF2-40B4-BE49-F238E27FC236}">
                <a16:creationId xmlns:a16="http://schemas.microsoft.com/office/drawing/2014/main" id="{98B5A99A-8FF4-AF6F-FC3F-96AA6BBC15A6}"/>
              </a:ext>
            </a:extLst>
          </p:cNvPr>
          <p:cNvSpPr txBox="1"/>
          <p:nvPr/>
        </p:nvSpPr>
        <p:spPr>
          <a:xfrm>
            <a:off x="4551682" y="2792425"/>
            <a:ext cx="4345980" cy="369332"/>
          </a:xfrm>
          <a:prstGeom prst="rect">
            <a:avLst/>
          </a:prstGeom>
          <a:noFill/>
        </p:spPr>
        <p:txBody>
          <a:bodyPr wrap="square" rtlCol="0">
            <a:spAutoFit/>
          </a:bodyPr>
          <a:lstStyle/>
          <a:p>
            <a:r>
              <a:rPr lang="en-US" dirty="0">
                <a:solidFill>
                  <a:schemeClr val="bg1"/>
                </a:solidFill>
                <a:latin typeface="Arial"/>
                <a:cs typeface="Arial"/>
              </a:rPr>
              <a:t>El </a:t>
            </a:r>
            <a:r>
              <a:rPr lang="en-US" spc="-50" dirty="0">
                <a:solidFill>
                  <a:schemeClr val="bg1"/>
                </a:solidFill>
              </a:rPr>
              <a:t>Plan de </a:t>
            </a:r>
            <a:r>
              <a:rPr lang="en-US" b="1" spc="-50" dirty="0">
                <a:solidFill>
                  <a:srgbClr val="AADDEE"/>
                </a:solidFill>
              </a:rPr>
              <a:t>Marketing Mix</a:t>
            </a:r>
          </a:p>
        </p:txBody>
      </p:sp>
      <p:sp>
        <p:nvSpPr>
          <p:cNvPr id="25" name="TextBox 24">
            <a:extLst>
              <a:ext uri="{FF2B5EF4-FFF2-40B4-BE49-F238E27FC236}">
                <a16:creationId xmlns:a16="http://schemas.microsoft.com/office/drawing/2014/main" id="{9C8BB990-EAB7-6FAB-F260-B203645FFCAC}"/>
              </a:ext>
            </a:extLst>
          </p:cNvPr>
          <p:cNvSpPr txBox="1"/>
          <p:nvPr/>
        </p:nvSpPr>
        <p:spPr>
          <a:xfrm>
            <a:off x="509682" y="3694461"/>
            <a:ext cx="2510495" cy="615553"/>
          </a:xfrm>
          <a:prstGeom prst="rect">
            <a:avLst/>
          </a:prstGeom>
          <a:noFill/>
        </p:spPr>
        <p:txBody>
          <a:bodyPr wrap="square" rtlCol="0">
            <a:spAutoFit/>
          </a:bodyPr>
          <a:lstStyle/>
          <a:p>
            <a:pPr marL="285750" indent="-285750">
              <a:buFont typeface="Arial" panose="020B0604020202020204" pitchFamily="34" charset="0"/>
              <a:buChar char="•"/>
            </a:pPr>
            <a:r>
              <a:rPr lang="en-US" spc="-50" dirty="0" err="1">
                <a:solidFill>
                  <a:schemeClr val="bg1"/>
                </a:solidFill>
              </a:rPr>
              <a:t>Contenidos</a:t>
            </a:r>
            <a:endParaRPr lang="en-US" spc="-50" dirty="0">
              <a:solidFill>
                <a:schemeClr val="bg1"/>
              </a:solidFill>
            </a:endParaRPr>
          </a:p>
          <a:p>
            <a:endParaRPr lang="en-US" sz="1600" dirty="0">
              <a:solidFill>
                <a:schemeClr val="bg1"/>
              </a:solidFill>
            </a:endParaRPr>
          </a:p>
        </p:txBody>
      </p:sp>
      <p:sp>
        <p:nvSpPr>
          <p:cNvPr id="31" name="TextBox 30">
            <a:extLst>
              <a:ext uri="{FF2B5EF4-FFF2-40B4-BE49-F238E27FC236}">
                <a16:creationId xmlns:a16="http://schemas.microsoft.com/office/drawing/2014/main" id="{60EE07EA-CF9D-AE7D-4F93-996CFF5BDF3A}"/>
              </a:ext>
            </a:extLst>
          </p:cNvPr>
          <p:cNvSpPr txBox="1"/>
          <p:nvPr/>
        </p:nvSpPr>
        <p:spPr>
          <a:xfrm>
            <a:off x="506852" y="4332906"/>
            <a:ext cx="3315474" cy="615553"/>
          </a:xfrm>
          <a:prstGeom prst="rect">
            <a:avLst/>
          </a:prstGeom>
          <a:noFill/>
        </p:spPr>
        <p:txBody>
          <a:bodyPr wrap="square" rtlCol="0">
            <a:spAutoFit/>
          </a:bodyPr>
          <a:lstStyle/>
          <a:p>
            <a:pPr marL="285750" indent="-285750">
              <a:buFont typeface="Arial" panose="020B0604020202020204" pitchFamily="34" charset="0"/>
              <a:buChar char="•"/>
            </a:pPr>
            <a:r>
              <a:rPr lang="en-US" spc="-50" dirty="0" err="1">
                <a:solidFill>
                  <a:schemeClr val="bg1"/>
                </a:solidFill>
              </a:rPr>
              <a:t>Eventos</a:t>
            </a:r>
            <a:r>
              <a:rPr lang="en-US" spc="-50" dirty="0">
                <a:solidFill>
                  <a:schemeClr val="bg1"/>
                </a:solidFill>
              </a:rPr>
              <a:t> de </a:t>
            </a:r>
            <a:r>
              <a:rPr lang="en-US" spc="-50" dirty="0" err="1">
                <a:solidFill>
                  <a:schemeClr val="bg1"/>
                </a:solidFill>
              </a:rPr>
              <a:t>Tecnología</a:t>
            </a:r>
            <a:r>
              <a:rPr lang="en-US" spc="-50" dirty="0">
                <a:solidFill>
                  <a:schemeClr val="bg1"/>
                </a:solidFill>
              </a:rPr>
              <a:t>  </a:t>
            </a:r>
          </a:p>
          <a:p>
            <a:endParaRPr lang="en-US" sz="1600" dirty="0">
              <a:solidFill>
                <a:schemeClr val="bg1"/>
              </a:solidFill>
            </a:endParaRPr>
          </a:p>
        </p:txBody>
      </p:sp>
      <p:sp>
        <p:nvSpPr>
          <p:cNvPr id="33" name="TextBox 32">
            <a:extLst>
              <a:ext uri="{FF2B5EF4-FFF2-40B4-BE49-F238E27FC236}">
                <a16:creationId xmlns:a16="http://schemas.microsoft.com/office/drawing/2014/main" id="{E8BC2EF0-FB9E-1BBD-2203-8CFAD52292F2}"/>
              </a:ext>
            </a:extLst>
          </p:cNvPr>
          <p:cNvSpPr txBox="1"/>
          <p:nvPr/>
        </p:nvSpPr>
        <p:spPr>
          <a:xfrm>
            <a:off x="506852" y="5052569"/>
            <a:ext cx="3315474" cy="615553"/>
          </a:xfrm>
          <a:prstGeom prst="rect">
            <a:avLst/>
          </a:prstGeom>
          <a:noFill/>
        </p:spPr>
        <p:txBody>
          <a:bodyPr wrap="square" rtlCol="0">
            <a:spAutoFit/>
          </a:bodyPr>
          <a:lstStyle/>
          <a:p>
            <a:pPr marL="285750" indent="-285750">
              <a:buFont typeface="Arial" panose="020B0604020202020204" pitchFamily="34" charset="0"/>
              <a:buChar char="•"/>
            </a:pPr>
            <a:r>
              <a:rPr lang="en-US" spc="-50" dirty="0">
                <a:solidFill>
                  <a:schemeClr val="bg1"/>
                </a:solidFill>
              </a:rPr>
              <a:t>Red de </a:t>
            </a:r>
            <a:r>
              <a:rPr lang="en-US" spc="-50" dirty="0" err="1">
                <a:solidFill>
                  <a:schemeClr val="bg1"/>
                </a:solidFill>
              </a:rPr>
              <a:t>Socios</a:t>
            </a:r>
            <a:r>
              <a:rPr lang="en-US" spc="-50" dirty="0">
                <a:solidFill>
                  <a:schemeClr val="bg1"/>
                </a:solidFill>
              </a:rPr>
              <a:t> Microsoft</a:t>
            </a:r>
          </a:p>
          <a:p>
            <a:endParaRPr lang="en-US" sz="1600" dirty="0">
              <a:solidFill>
                <a:schemeClr val="bg1"/>
              </a:solidFill>
            </a:endParaRPr>
          </a:p>
        </p:txBody>
      </p:sp>
      <p:sp>
        <p:nvSpPr>
          <p:cNvPr id="35" name="TextBox 34">
            <a:extLst>
              <a:ext uri="{FF2B5EF4-FFF2-40B4-BE49-F238E27FC236}">
                <a16:creationId xmlns:a16="http://schemas.microsoft.com/office/drawing/2014/main" id="{15996D19-A0E1-E90A-A453-357B933A3E33}"/>
              </a:ext>
            </a:extLst>
          </p:cNvPr>
          <p:cNvSpPr txBox="1"/>
          <p:nvPr/>
        </p:nvSpPr>
        <p:spPr>
          <a:xfrm>
            <a:off x="4771264" y="3440958"/>
            <a:ext cx="4332147" cy="615553"/>
          </a:xfrm>
          <a:prstGeom prst="rect">
            <a:avLst/>
          </a:prstGeom>
          <a:noFill/>
        </p:spPr>
        <p:txBody>
          <a:bodyPr wrap="square" rtlCol="0">
            <a:spAutoFit/>
          </a:bodyPr>
          <a:lstStyle/>
          <a:p>
            <a:r>
              <a:rPr lang="en-US" spc="-50" dirty="0" err="1">
                <a:solidFill>
                  <a:schemeClr val="bg1"/>
                </a:solidFill>
              </a:rPr>
              <a:t>Producto</a:t>
            </a:r>
            <a:r>
              <a:rPr lang="en-US" spc="-50" dirty="0">
                <a:solidFill>
                  <a:schemeClr val="bg1"/>
                </a:solidFill>
              </a:rPr>
              <a:t>: </a:t>
            </a:r>
            <a:r>
              <a:rPr lang="en-US" b="1" spc="-50" dirty="0">
                <a:solidFill>
                  <a:srgbClr val="AADDEE"/>
                </a:solidFill>
              </a:rPr>
              <a:t>Assessments </a:t>
            </a:r>
            <a:endParaRPr lang="en-US" spc="-50" dirty="0">
              <a:solidFill>
                <a:schemeClr val="bg1"/>
              </a:solidFill>
            </a:endParaRPr>
          </a:p>
          <a:p>
            <a:endParaRPr lang="en-US" sz="1600" dirty="0">
              <a:solidFill>
                <a:schemeClr val="bg1"/>
              </a:solidFill>
            </a:endParaRPr>
          </a:p>
        </p:txBody>
      </p:sp>
      <p:sp>
        <p:nvSpPr>
          <p:cNvPr id="37" name="TextBox 36">
            <a:extLst>
              <a:ext uri="{FF2B5EF4-FFF2-40B4-BE49-F238E27FC236}">
                <a16:creationId xmlns:a16="http://schemas.microsoft.com/office/drawing/2014/main" id="{DD8B46AC-B68B-C07D-4D4A-9468FC39E312}"/>
              </a:ext>
            </a:extLst>
          </p:cNvPr>
          <p:cNvSpPr txBox="1"/>
          <p:nvPr/>
        </p:nvSpPr>
        <p:spPr>
          <a:xfrm>
            <a:off x="4768433" y="4079403"/>
            <a:ext cx="4223552" cy="615553"/>
          </a:xfrm>
          <a:prstGeom prst="rect">
            <a:avLst/>
          </a:prstGeom>
          <a:noFill/>
        </p:spPr>
        <p:txBody>
          <a:bodyPr wrap="square" rtlCol="0">
            <a:spAutoFit/>
          </a:bodyPr>
          <a:lstStyle/>
          <a:p>
            <a:r>
              <a:rPr lang="en-US" spc="-50" dirty="0" err="1">
                <a:solidFill>
                  <a:schemeClr val="bg1"/>
                </a:solidFill>
              </a:rPr>
              <a:t>Precio</a:t>
            </a:r>
            <a:r>
              <a:rPr lang="en-US" spc="-50" dirty="0">
                <a:solidFill>
                  <a:schemeClr val="bg1"/>
                </a:solidFill>
              </a:rPr>
              <a:t>: </a:t>
            </a:r>
            <a:r>
              <a:rPr lang="en-US" b="1" spc="-50" dirty="0">
                <a:solidFill>
                  <a:srgbClr val="AADDEE"/>
                </a:solidFill>
              </a:rPr>
              <a:t>Bajo la media </a:t>
            </a:r>
            <a:r>
              <a:rPr lang="en-US" spc="-50" dirty="0">
                <a:solidFill>
                  <a:schemeClr val="bg1"/>
                </a:solidFill>
              </a:rPr>
              <a:t>del Mercado  </a:t>
            </a:r>
          </a:p>
          <a:p>
            <a:endParaRPr lang="en-US" sz="1600" dirty="0">
              <a:solidFill>
                <a:schemeClr val="bg1"/>
              </a:solidFill>
            </a:endParaRPr>
          </a:p>
        </p:txBody>
      </p:sp>
      <p:sp>
        <p:nvSpPr>
          <p:cNvPr id="39" name="TextBox 38">
            <a:extLst>
              <a:ext uri="{FF2B5EF4-FFF2-40B4-BE49-F238E27FC236}">
                <a16:creationId xmlns:a16="http://schemas.microsoft.com/office/drawing/2014/main" id="{9EE51088-5DDA-994E-9622-F4AB5F09462F}"/>
              </a:ext>
            </a:extLst>
          </p:cNvPr>
          <p:cNvSpPr txBox="1"/>
          <p:nvPr/>
        </p:nvSpPr>
        <p:spPr>
          <a:xfrm>
            <a:off x="4768434" y="4738103"/>
            <a:ext cx="4223551" cy="615553"/>
          </a:xfrm>
          <a:prstGeom prst="rect">
            <a:avLst/>
          </a:prstGeom>
          <a:noFill/>
        </p:spPr>
        <p:txBody>
          <a:bodyPr wrap="square" rtlCol="0">
            <a:spAutoFit/>
          </a:bodyPr>
          <a:lstStyle/>
          <a:p>
            <a:r>
              <a:rPr lang="en-US" spc="-50" dirty="0" err="1">
                <a:solidFill>
                  <a:schemeClr val="bg1"/>
                </a:solidFill>
              </a:rPr>
              <a:t>Promoción</a:t>
            </a:r>
            <a:r>
              <a:rPr lang="en-US" spc="-50" dirty="0">
                <a:solidFill>
                  <a:schemeClr val="bg1"/>
                </a:solidFill>
              </a:rPr>
              <a:t>: </a:t>
            </a:r>
            <a:r>
              <a:rPr lang="en-US" b="1" spc="-50" dirty="0">
                <a:solidFill>
                  <a:srgbClr val="AADDEE"/>
                </a:solidFill>
              </a:rPr>
              <a:t>RRSS &amp; </a:t>
            </a:r>
            <a:r>
              <a:rPr lang="en-US" b="1" spc="-50" dirty="0" err="1">
                <a:solidFill>
                  <a:srgbClr val="AADDEE"/>
                </a:solidFill>
              </a:rPr>
              <a:t>Eventos</a:t>
            </a:r>
            <a:endParaRPr lang="en-US" i="1" spc="-50" dirty="0">
              <a:solidFill>
                <a:schemeClr val="bg1"/>
              </a:solidFill>
            </a:endParaRPr>
          </a:p>
          <a:p>
            <a:endParaRPr lang="en-US" sz="1600" dirty="0">
              <a:solidFill>
                <a:schemeClr val="bg1"/>
              </a:solidFill>
            </a:endParaRPr>
          </a:p>
        </p:txBody>
      </p:sp>
      <p:sp>
        <p:nvSpPr>
          <p:cNvPr id="57" name="Arc 56">
            <a:extLst>
              <a:ext uri="{FF2B5EF4-FFF2-40B4-BE49-F238E27FC236}">
                <a16:creationId xmlns:a16="http://schemas.microsoft.com/office/drawing/2014/main" id="{3B833A92-C9BE-F6A6-2033-184F0923A55E}"/>
              </a:ext>
            </a:extLst>
          </p:cNvPr>
          <p:cNvSpPr/>
          <p:nvPr/>
        </p:nvSpPr>
        <p:spPr>
          <a:xfrm rot="2975445">
            <a:off x="5938774" y="1774138"/>
            <a:ext cx="5313074" cy="4911383"/>
          </a:xfrm>
          <a:prstGeom prst="arc">
            <a:avLst>
              <a:gd name="adj1" fmla="val 16021104"/>
              <a:gd name="adj2" fmla="val 267375"/>
            </a:avLst>
          </a:prstGeom>
          <a:noFill/>
          <a:ln w="1016000" cap="flat" cmpd="sng" algn="ctr">
            <a:solidFill>
              <a:schemeClr val="tx1">
                <a:lumMod val="75000"/>
                <a:alpha val="40000"/>
              </a:schemeClr>
            </a:solidFill>
            <a:prstDash val="solid"/>
            <a:headEnd type="none"/>
            <a:tailEnd type="none"/>
          </a:ln>
          <a:effectLst/>
        </p:spPr>
        <p:txBody>
          <a:bodyPr rot="0" spcFirstLastPara="0" vertOverflow="overflow" horzOverflow="overflow" vert="horz" wrap="square" lIns="91403" tIns="45702" rIns="91403" bIns="45702" numCol="1" spcCol="0" rtlCol="0" fromWordArt="0" anchor="ctr" anchorCtr="0" forceAA="0" compatLnSpc="1">
            <a:prstTxWarp prst="textNoShape">
              <a:avLst/>
            </a:prstTxWarp>
            <a:noAutofit/>
          </a:bodyPr>
          <a:lstStyle/>
          <a:p>
            <a:pPr marL="0" marR="0" lvl="0" indent="0" algn="ctr" defTabSz="912294" rtl="0" eaLnBrk="1" fontAlgn="auto" latinLnBrk="0" hangingPunct="1">
              <a:lnSpc>
                <a:spcPct val="100000"/>
              </a:lnSpc>
              <a:spcBef>
                <a:spcPts val="0"/>
              </a:spcBef>
              <a:spcAft>
                <a:spcPts val="0"/>
              </a:spcAft>
              <a:buClrTx/>
              <a:buSzTx/>
              <a:buFontTx/>
              <a:buNone/>
              <a:tabLst/>
              <a:defRPr/>
            </a:pPr>
            <a:endParaRPr kumimoji="0" lang="es-CO" sz="1764" b="0" i="0" u="none" strike="noStrike" kern="0" cap="none" spc="0" normalizeH="0" baseline="0" noProof="0" dirty="0">
              <a:ln>
                <a:noFill/>
              </a:ln>
              <a:solidFill>
                <a:srgbClr val="0A193D"/>
              </a:solidFill>
              <a:effectLst/>
              <a:uLnTx/>
              <a:uFillTx/>
              <a:latin typeface="Segoe UI"/>
              <a:ea typeface="+mn-ea"/>
              <a:cs typeface="+mn-cs"/>
            </a:endParaRPr>
          </a:p>
        </p:txBody>
      </p:sp>
      <p:sp>
        <p:nvSpPr>
          <p:cNvPr id="58" name="Oval 7">
            <a:extLst>
              <a:ext uri="{FF2B5EF4-FFF2-40B4-BE49-F238E27FC236}">
                <a16:creationId xmlns:a16="http://schemas.microsoft.com/office/drawing/2014/main" id="{4BF57773-1954-DD0C-5494-53933107F50E}"/>
              </a:ext>
            </a:extLst>
          </p:cNvPr>
          <p:cNvSpPr>
            <a:spLocks noChangeArrowheads="1"/>
          </p:cNvSpPr>
          <p:nvPr/>
        </p:nvSpPr>
        <p:spPr bwMode="auto">
          <a:xfrm>
            <a:off x="10559357" y="4742810"/>
            <a:ext cx="926406" cy="922919"/>
          </a:xfrm>
          <a:prstGeom prst="ellipse">
            <a:avLst/>
          </a:prstGeom>
          <a:solidFill>
            <a:schemeClr val="tx2"/>
          </a:solidFill>
          <a:ln w="6350">
            <a:solidFill>
              <a:schemeClr val="bg1"/>
            </a:solidFill>
            <a:round/>
            <a:headEnd/>
            <a:tailEnd/>
          </a:ln>
          <a:effectLst/>
        </p:spPr>
        <p:txBody>
          <a:bodyPr wrap="none" lIns="45720" rIns="45720" anchor="ctr"/>
          <a:lstStyle/>
          <a:p>
            <a:pPr algn="ctr" eaLnBrk="0" hangingPunct="0"/>
            <a:r>
              <a:rPr lang="es-CL" sz="1100" b="1" dirty="0">
                <a:solidFill>
                  <a:schemeClr val="bg1"/>
                </a:solidFill>
                <a:effectLst/>
                <a:latin typeface="Arial" panose="020B0604020202020204" pitchFamily="34" charset="0"/>
                <a:ea typeface="MS Mincho" panose="02020609040205080304" pitchFamily="49" charset="-128"/>
              </a:rPr>
              <a:t>Real </a:t>
            </a:r>
          </a:p>
          <a:p>
            <a:pPr algn="ctr" eaLnBrk="0" hangingPunct="0"/>
            <a:r>
              <a:rPr lang="es-CL" sz="1100" b="1" dirty="0" err="1">
                <a:solidFill>
                  <a:schemeClr val="bg1"/>
                </a:solidFill>
                <a:latin typeface="Arial" panose="020B0604020202020204" pitchFamily="34" charset="0"/>
                <a:ea typeface="MS Mincho" panose="02020609040205080304" pitchFamily="49" charset="-128"/>
              </a:rPr>
              <a:t>State</a:t>
            </a:r>
            <a:endParaRPr lang="en-GB" sz="1100" b="1" dirty="0">
              <a:solidFill>
                <a:schemeClr val="bg1"/>
              </a:solidFill>
            </a:endParaRPr>
          </a:p>
        </p:txBody>
      </p:sp>
      <p:sp>
        <p:nvSpPr>
          <p:cNvPr id="59" name="Oval 7">
            <a:extLst>
              <a:ext uri="{FF2B5EF4-FFF2-40B4-BE49-F238E27FC236}">
                <a16:creationId xmlns:a16="http://schemas.microsoft.com/office/drawing/2014/main" id="{9B78B543-AD81-4F52-19E5-D19E8F59D330}"/>
              </a:ext>
            </a:extLst>
          </p:cNvPr>
          <p:cNvSpPr>
            <a:spLocks noChangeArrowheads="1"/>
          </p:cNvSpPr>
          <p:nvPr/>
        </p:nvSpPr>
        <p:spPr bwMode="auto">
          <a:xfrm>
            <a:off x="9957836" y="5648371"/>
            <a:ext cx="926406" cy="922919"/>
          </a:xfrm>
          <a:prstGeom prst="ellipse">
            <a:avLst/>
          </a:prstGeom>
          <a:solidFill>
            <a:schemeClr val="tx2"/>
          </a:solidFill>
          <a:ln w="6350">
            <a:solidFill>
              <a:schemeClr val="bg1"/>
            </a:solidFill>
            <a:round/>
            <a:headEnd/>
            <a:tailEnd/>
          </a:ln>
          <a:effectLst/>
        </p:spPr>
        <p:txBody>
          <a:bodyPr wrap="none" lIns="45720" rIns="45720" anchor="ctr"/>
          <a:lstStyle/>
          <a:p>
            <a:pPr algn="ctr" eaLnBrk="0" hangingPunct="0"/>
            <a:r>
              <a:rPr lang="es-CL" sz="1100" b="1" dirty="0">
                <a:solidFill>
                  <a:schemeClr val="bg1"/>
                </a:solidFill>
                <a:effectLst/>
                <a:latin typeface="Arial" panose="020B0604020202020204" pitchFamily="34" charset="0"/>
                <a:ea typeface="MS Mincho" panose="02020609040205080304" pitchFamily="49" charset="-128"/>
              </a:rPr>
              <a:t>Fintech</a:t>
            </a:r>
            <a:endParaRPr lang="en-GB" sz="1100" b="1" dirty="0">
              <a:solidFill>
                <a:schemeClr val="bg1"/>
              </a:solidFill>
            </a:endParaRPr>
          </a:p>
        </p:txBody>
      </p:sp>
      <p:sp>
        <p:nvSpPr>
          <p:cNvPr id="60" name="Oval 7">
            <a:extLst>
              <a:ext uri="{FF2B5EF4-FFF2-40B4-BE49-F238E27FC236}">
                <a16:creationId xmlns:a16="http://schemas.microsoft.com/office/drawing/2014/main" id="{AAAD20D3-4E00-15A0-097D-C12B4EC0045A}"/>
              </a:ext>
            </a:extLst>
          </p:cNvPr>
          <p:cNvSpPr>
            <a:spLocks noChangeArrowheads="1"/>
          </p:cNvSpPr>
          <p:nvPr/>
        </p:nvSpPr>
        <p:spPr bwMode="auto">
          <a:xfrm>
            <a:off x="10685622" y="3560836"/>
            <a:ext cx="926406" cy="922919"/>
          </a:xfrm>
          <a:prstGeom prst="ellipse">
            <a:avLst/>
          </a:prstGeom>
          <a:solidFill>
            <a:schemeClr val="tx2"/>
          </a:solidFill>
          <a:ln w="6350">
            <a:solidFill>
              <a:schemeClr val="bg1"/>
            </a:solidFill>
            <a:round/>
            <a:headEnd/>
            <a:tailEnd/>
          </a:ln>
          <a:effectLst/>
        </p:spPr>
        <p:txBody>
          <a:bodyPr wrap="none" lIns="45720" rIns="45720" anchor="ctr"/>
          <a:lstStyle/>
          <a:p>
            <a:pPr algn="ctr" eaLnBrk="0" hangingPunct="0"/>
            <a:r>
              <a:rPr lang="es-CL" sz="1100" b="1" dirty="0" err="1">
                <a:solidFill>
                  <a:schemeClr val="bg1"/>
                </a:solidFill>
                <a:effectLst/>
                <a:latin typeface="Arial" panose="020B0604020202020204" pitchFamily="34" charset="0"/>
                <a:ea typeface="MS Mincho" panose="02020609040205080304" pitchFamily="49" charset="-128"/>
              </a:rPr>
              <a:t>Retail</a:t>
            </a:r>
            <a:endParaRPr lang="es-CL" sz="1100" b="1" dirty="0">
              <a:solidFill>
                <a:schemeClr val="bg1"/>
              </a:solidFill>
              <a:effectLst/>
              <a:latin typeface="Arial" panose="020B0604020202020204" pitchFamily="34" charset="0"/>
              <a:ea typeface="MS Mincho" panose="02020609040205080304" pitchFamily="49" charset="-128"/>
            </a:endParaRPr>
          </a:p>
          <a:p>
            <a:pPr algn="ctr" eaLnBrk="0" hangingPunct="0"/>
            <a:r>
              <a:rPr lang="es-CL" sz="1100" b="1" dirty="0">
                <a:solidFill>
                  <a:schemeClr val="bg1"/>
                </a:solidFill>
                <a:latin typeface="Arial" panose="020B0604020202020204" pitchFamily="34" charset="0"/>
                <a:ea typeface="MS Mincho" panose="02020609040205080304" pitchFamily="49" charset="-128"/>
              </a:rPr>
              <a:t>Tech</a:t>
            </a:r>
            <a:endParaRPr lang="en-GB" sz="1100" b="1" dirty="0">
              <a:solidFill>
                <a:schemeClr val="bg1"/>
              </a:solidFill>
            </a:endParaRPr>
          </a:p>
        </p:txBody>
      </p:sp>
      <p:sp>
        <p:nvSpPr>
          <p:cNvPr id="61" name="Oval 7">
            <a:extLst>
              <a:ext uri="{FF2B5EF4-FFF2-40B4-BE49-F238E27FC236}">
                <a16:creationId xmlns:a16="http://schemas.microsoft.com/office/drawing/2014/main" id="{EDB5D7D7-3AB3-B113-33D4-DC02FA8C75FB}"/>
              </a:ext>
            </a:extLst>
          </p:cNvPr>
          <p:cNvSpPr>
            <a:spLocks noChangeArrowheads="1"/>
          </p:cNvSpPr>
          <p:nvPr/>
        </p:nvSpPr>
        <p:spPr bwMode="auto">
          <a:xfrm>
            <a:off x="10294290" y="2413064"/>
            <a:ext cx="926406" cy="922919"/>
          </a:xfrm>
          <a:prstGeom prst="ellipse">
            <a:avLst/>
          </a:prstGeom>
          <a:solidFill>
            <a:schemeClr val="tx2"/>
          </a:solidFill>
          <a:ln w="6350">
            <a:solidFill>
              <a:schemeClr val="bg1"/>
            </a:solidFill>
            <a:round/>
            <a:headEnd/>
            <a:tailEnd/>
          </a:ln>
          <a:effectLst/>
        </p:spPr>
        <p:txBody>
          <a:bodyPr wrap="none" lIns="45720" rIns="45720" anchor="ctr"/>
          <a:lstStyle/>
          <a:p>
            <a:pPr algn="ctr" eaLnBrk="0" hangingPunct="0"/>
            <a:r>
              <a:rPr lang="es-CL" sz="1100" b="1" dirty="0" err="1">
                <a:solidFill>
                  <a:schemeClr val="bg1"/>
                </a:solidFill>
                <a:effectLst/>
                <a:latin typeface="Arial" panose="020B0604020202020204" pitchFamily="34" charset="0"/>
                <a:ea typeface="MS Mincho" panose="02020609040205080304" pitchFamily="49" charset="-128"/>
              </a:rPr>
              <a:t>LogTech</a:t>
            </a:r>
            <a:endParaRPr lang="en-GB" sz="1100" b="1" dirty="0">
              <a:solidFill>
                <a:schemeClr val="bg1"/>
              </a:solidFill>
            </a:endParaRPr>
          </a:p>
        </p:txBody>
      </p:sp>
      <p:sp>
        <p:nvSpPr>
          <p:cNvPr id="66" name="TextBox 65">
            <a:extLst>
              <a:ext uri="{FF2B5EF4-FFF2-40B4-BE49-F238E27FC236}">
                <a16:creationId xmlns:a16="http://schemas.microsoft.com/office/drawing/2014/main" id="{2D48482A-16C6-7EB2-1021-B73739E5BD28}"/>
              </a:ext>
            </a:extLst>
          </p:cNvPr>
          <p:cNvSpPr txBox="1"/>
          <p:nvPr/>
        </p:nvSpPr>
        <p:spPr bwMode="auto">
          <a:xfrm>
            <a:off x="8541010" y="4996210"/>
            <a:ext cx="1503472" cy="1200329"/>
          </a:xfrm>
          <a:prstGeom prst="rect">
            <a:avLst/>
          </a:prstGeom>
          <a:noFill/>
          <a:ln w="9525">
            <a:noFill/>
            <a:miter lim="800000"/>
            <a:headEnd/>
            <a:tailEnd/>
          </a:ln>
        </p:spPr>
        <p:txBody>
          <a:bodyPr wrap="square">
            <a:spAutoFit/>
          </a:bodyPr>
          <a:lstStyle/>
          <a:p>
            <a:r>
              <a:rPr lang="es-CL" sz="1800" dirty="0">
                <a:solidFill>
                  <a:schemeClr val="bg1"/>
                </a:solidFill>
                <a:effectLst/>
                <a:latin typeface="Arial" panose="020B0604020202020204" pitchFamily="34" charset="0"/>
                <a:ea typeface="Arial" panose="020B0604020202020204" pitchFamily="34" charset="0"/>
              </a:rPr>
              <a:t>El 45% con</a:t>
            </a:r>
          </a:p>
          <a:p>
            <a:r>
              <a:rPr lang="es-CL" sz="1800" dirty="0">
                <a:solidFill>
                  <a:schemeClr val="bg1"/>
                </a:solidFill>
                <a:effectLst/>
                <a:latin typeface="Arial" panose="020B0604020202020204" pitchFamily="34" charset="0"/>
                <a:ea typeface="Arial" panose="020B0604020202020204" pitchFamily="34" charset="0"/>
              </a:rPr>
              <a:t>mayor </a:t>
            </a:r>
          </a:p>
          <a:p>
            <a:r>
              <a:rPr lang="es-CL" sz="1800" dirty="0">
                <a:solidFill>
                  <a:schemeClr val="bg1"/>
                </a:solidFill>
                <a:effectLst/>
                <a:latin typeface="Arial" panose="020B0604020202020204" pitchFamily="34" charset="0"/>
                <a:ea typeface="Arial" panose="020B0604020202020204" pitchFamily="34" charset="0"/>
              </a:rPr>
              <a:t>inversión en </a:t>
            </a:r>
          </a:p>
          <a:p>
            <a:r>
              <a:rPr lang="es-CL" sz="1800" dirty="0">
                <a:solidFill>
                  <a:schemeClr val="bg1"/>
                </a:solidFill>
                <a:effectLst/>
                <a:latin typeface="Arial" panose="020B0604020202020204" pitchFamily="34" charset="0"/>
                <a:ea typeface="Arial" panose="020B0604020202020204" pitchFamily="34" charset="0"/>
              </a:rPr>
              <a:t>tecnología</a:t>
            </a:r>
            <a:endParaRPr lang="en-US" dirty="0">
              <a:solidFill>
                <a:schemeClr val="bg1"/>
              </a:solidFill>
            </a:endParaRPr>
          </a:p>
        </p:txBody>
      </p:sp>
      <p:sp>
        <p:nvSpPr>
          <p:cNvPr id="67" name="Oval 7">
            <a:extLst>
              <a:ext uri="{FF2B5EF4-FFF2-40B4-BE49-F238E27FC236}">
                <a16:creationId xmlns:a16="http://schemas.microsoft.com/office/drawing/2014/main" id="{CB23BC1A-7077-6595-0B71-12B6C407363D}"/>
              </a:ext>
            </a:extLst>
          </p:cNvPr>
          <p:cNvSpPr>
            <a:spLocks noChangeArrowheads="1"/>
          </p:cNvSpPr>
          <p:nvPr/>
        </p:nvSpPr>
        <p:spPr bwMode="auto">
          <a:xfrm>
            <a:off x="8849265" y="3974636"/>
            <a:ext cx="926406" cy="922919"/>
          </a:xfrm>
          <a:prstGeom prst="ellipse">
            <a:avLst/>
          </a:prstGeom>
          <a:solidFill>
            <a:schemeClr val="accent6">
              <a:lumMod val="50000"/>
            </a:schemeClr>
          </a:solidFill>
          <a:ln w="6350">
            <a:solidFill>
              <a:schemeClr val="bg1"/>
            </a:solidFill>
            <a:round/>
            <a:headEnd/>
            <a:tailEnd/>
          </a:ln>
          <a:effectLst/>
        </p:spPr>
        <p:txBody>
          <a:bodyPr wrap="none" lIns="45720" rIns="45720" anchor="ctr"/>
          <a:lstStyle/>
          <a:p>
            <a:pPr algn="ctr" eaLnBrk="0" hangingPunct="0"/>
            <a:r>
              <a:rPr lang="en-GB" sz="1100" b="1" dirty="0" err="1">
                <a:solidFill>
                  <a:schemeClr val="bg1"/>
                </a:solidFill>
                <a:latin typeface="Arial" panose="020B0604020202020204" pitchFamily="34" charset="0"/>
                <a:ea typeface="MS Mincho" panose="02020609040205080304" pitchFamily="49" charset="-128"/>
              </a:rPr>
              <a:t>Segmento</a:t>
            </a:r>
            <a:endParaRPr lang="en-GB" sz="1100" b="1" dirty="0">
              <a:solidFill>
                <a:schemeClr val="bg1"/>
              </a:solidFill>
              <a:latin typeface="Arial" panose="020B0604020202020204" pitchFamily="34" charset="0"/>
              <a:ea typeface="MS Mincho" panose="02020609040205080304" pitchFamily="49" charset="-128"/>
            </a:endParaRPr>
          </a:p>
        </p:txBody>
      </p:sp>
      <p:sp>
        <p:nvSpPr>
          <p:cNvPr id="4" name="TextBox 3">
            <a:extLst>
              <a:ext uri="{FF2B5EF4-FFF2-40B4-BE49-F238E27FC236}">
                <a16:creationId xmlns:a16="http://schemas.microsoft.com/office/drawing/2014/main" id="{69164018-AC9D-6A3D-2222-3F156FAA118B}"/>
              </a:ext>
            </a:extLst>
          </p:cNvPr>
          <p:cNvSpPr txBox="1"/>
          <p:nvPr/>
        </p:nvSpPr>
        <p:spPr bwMode="auto">
          <a:xfrm>
            <a:off x="347951" y="5952730"/>
            <a:ext cx="8228200" cy="646331"/>
          </a:xfrm>
          <a:prstGeom prst="rect">
            <a:avLst/>
          </a:prstGeom>
          <a:noFill/>
          <a:ln w="9525">
            <a:noFill/>
            <a:miter lim="800000"/>
            <a:headEnd/>
            <a:tailEnd/>
          </a:ln>
        </p:spPr>
        <p:txBody>
          <a:bodyPr wrap="square">
            <a:spAutoFit/>
          </a:bodyPr>
          <a:lstStyle/>
          <a:p>
            <a:r>
              <a:rPr lang="es-CL" sz="1800" dirty="0">
                <a:solidFill>
                  <a:schemeClr val="bg1"/>
                </a:solidFill>
                <a:effectLst/>
                <a:latin typeface="Arial" panose="020B0604020202020204" pitchFamily="34" charset="0"/>
                <a:ea typeface="Arial" panose="020B0604020202020204" pitchFamily="34" charset="0"/>
              </a:rPr>
              <a:t>Segmento: Empresas en proceso de digitalización y transformación, que utilicen tecnologías Microsoft y sus soluciones de Seguridad</a:t>
            </a:r>
            <a:endParaRPr lang="en-US" dirty="0">
              <a:solidFill>
                <a:schemeClr val="bg1"/>
              </a:solidFill>
            </a:endParaRPr>
          </a:p>
        </p:txBody>
      </p:sp>
    </p:spTree>
    <p:extLst>
      <p:ext uri="{BB962C8B-B14F-4D97-AF65-F5344CB8AC3E}">
        <p14:creationId xmlns:p14="http://schemas.microsoft.com/office/powerpoint/2010/main" val="281120281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951" y="428726"/>
            <a:ext cx="10085453" cy="630942"/>
          </a:xfrm>
          <a:prstGeom prst="rect">
            <a:avLst/>
          </a:prstGeom>
          <a:noFill/>
        </p:spPr>
        <p:txBody>
          <a:bodyPr wrap="non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Plan de Marketing y la Estrategia de Conocimiento</a:t>
            </a:r>
            <a:endParaRPr lang="en-US" sz="3500" spc="-30" dirty="0">
              <a:solidFill>
                <a:prstClr val="white"/>
              </a:solidFill>
              <a:latin typeface="Arial"/>
            </a:endParaRPr>
          </a:p>
        </p:txBody>
      </p:sp>
      <p:sp>
        <p:nvSpPr>
          <p:cNvPr id="19" name="TextBox 18">
            <a:extLst>
              <a:ext uri="{FF2B5EF4-FFF2-40B4-BE49-F238E27FC236}">
                <a16:creationId xmlns:a16="http://schemas.microsoft.com/office/drawing/2014/main" id="{A46AE783-4C2A-2243-E48D-CAA17432F04E}"/>
              </a:ext>
            </a:extLst>
          </p:cNvPr>
          <p:cNvSpPr txBox="1"/>
          <p:nvPr/>
        </p:nvSpPr>
        <p:spPr>
          <a:xfrm>
            <a:off x="439558" y="1398309"/>
            <a:ext cx="11169424" cy="1015663"/>
          </a:xfrm>
          <a:prstGeom prst="rect">
            <a:avLst/>
          </a:prstGeom>
          <a:noFill/>
        </p:spPr>
        <p:txBody>
          <a:bodyPr wrap="square" rtlCol="0">
            <a:spAutoFit/>
          </a:bodyPr>
          <a:lstStyle/>
          <a:p>
            <a:pPr algn="just"/>
            <a:r>
              <a:rPr lang="es-CL" sz="2000" spc="-50" dirty="0">
                <a:solidFill>
                  <a:prstClr val="white"/>
                </a:solidFill>
                <a:latin typeface="Arial"/>
              </a:rPr>
              <a:t>La estrategia de conocimiento en la introducción de IT-Trail Services y servicios en el mercado colombiano considerará los siguientes aspectos para dar a conocer la propuesta de valor IT-Trail Services</a:t>
            </a:r>
            <a:endParaRPr lang="es-ES" sz="2000" spc="-50" dirty="0">
              <a:solidFill>
                <a:prstClr val="white"/>
              </a:solidFill>
              <a:latin typeface="Arial"/>
            </a:endParaRPr>
          </a:p>
        </p:txBody>
      </p:sp>
      <p:sp>
        <p:nvSpPr>
          <p:cNvPr id="7" name="AutoShape 7">
            <a:extLst>
              <a:ext uri="{FF2B5EF4-FFF2-40B4-BE49-F238E27FC236}">
                <a16:creationId xmlns:a16="http://schemas.microsoft.com/office/drawing/2014/main" id="{62623613-DE3E-663D-CDA0-A5420FAB6F6C}"/>
              </a:ext>
            </a:extLst>
          </p:cNvPr>
          <p:cNvSpPr>
            <a:spLocks noChangeArrowheads="1"/>
          </p:cNvSpPr>
          <p:nvPr/>
        </p:nvSpPr>
        <p:spPr bwMode="gray">
          <a:xfrm>
            <a:off x="895350" y="2637130"/>
            <a:ext cx="2849394" cy="1150937"/>
          </a:xfrm>
          <a:prstGeom prst="homePlate">
            <a:avLst>
              <a:gd name="adj" fmla="val 13397"/>
            </a:avLst>
          </a:prstGeom>
          <a:solidFill>
            <a:schemeClr val="tx2"/>
          </a:solidFill>
          <a:ln w="12700" algn="ctr">
            <a:solidFill>
              <a:schemeClr val="bg1"/>
            </a:solidFill>
            <a:round/>
            <a:headEnd/>
            <a:tailEnd/>
          </a:ln>
          <a:effectLst/>
        </p:spPr>
        <p:txBody>
          <a:bodyPr lIns="72000" tIns="72000" rIns="72000" bIns="72000" anchor="ctr"/>
          <a:lstStyle/>
          <a:p>
            <a:pPr marL="0" marR="0" lvl="0" indent="0" defTabSz="914400" eaLnBrk="0" fontAlgn="auto" latinLnBrk="0" hangingPunct="0">
              <a:lnSpc>
                <a:spcPct val="100000"/>
              </a:lnSpc>
              <a:spcBef>
                <a:spcPct val="20000"/>
              </a:spcBef>
              <a:spcAft>
                <a:spcPts val="0"/>
              </a:spcAft>
              <a:buClrTx/>
              <a:buSzPct val="100000"/>
              <a:buFont typeface="Wingdings" pitchFamily="2" charset="2"/>
              <a:buNone/>
              <a:tabLst/>
              <a:defRPr/>
            </a:pPr>
            <a:r>
              <a:rPr lang="en-US" spc="-50" dirty="0" err="1">
                <a:solidFill>
                  <a:schemeClr val="bg1"/>
                </a:solidFill>
              </a:rPr>
              <a:t>Contenidos</a:t>
            </a:r>
            <a:endParaRPr lang="en-US" spc="-50" dirty="0">
              <a:solidFill>
                <a:schemeClr val="bg1"/>
              </a:solidFill>
            </a:endParaRPr>
          </a:p>
        </p:txBody>
      </p:sp>
      <p:sp>
        <p:nvSpPr>
          <p:cNvPr id="8" name="AutoShape 9">
            <a:extLst>
              <a:ext uri="{FF2B5EF4-FFF2-40B4-BE49-F238E27FC236}">
                <a16:creationId xmlns:a16="http://schemas.microsoft.com/office/drawing/2014/main" id="{9F899F47-6C37-26F7-5FE9-09E019041C9B}"/>
              </a:ext>
            </a:extLst>
          </p:cNvPr>
          <p:cNvSpPr>
            <a:spLocks noChangeArrowheads="1"/>
          </p:cNvSpPr>
          <p:nvPr/>
        </p:nvSpPr>
        <p:spPr bwMode="gray">
          <a:xfrm>
            <a:off x="895350" y="4052928"/>
            <a:ext cx="2849394" cy="1150938"/>
          </a:xfrm>
          <a:prstGeom prst="homePlate">
            <a:avLst>
              <a:gd name="adj" fmla="val 13397"/>
            </a:avLst>
          </a:prstGeom>
          <a:noFill/>
          <a:ln w="12700" algn="ctr">
            <a:solidFill>
              <a:schemeClr val="bg1"/>
            </a:solidFill>
            <a:round/>
            <a:headEnd/>
            <a:tailEnd/>
          </a:ln>
          <a:effectLst/>
        </p:spPr>
        <p:txBody>
          <a:bodyPr lIns="72000" tIns="72000" rIns="72000" bIns="72000" anchor="ctr"/>
          <a:lstStyle/>
          <a:p>
            <a:pPr eaLnBrk="0" fontAlgn="auto" hangingPunct="0">
              <a:spcBef>
                <a:spcPct val="20000"/>
              </a:spcBef>
              <a:spcAft>
                <a:spcPts val="0"/>
              </a:spcAft>
              <a:buSzPct val="100000"/>
            </a:pPr>
            <a:r>
              <a:rPr lang="en-US" spc="-50" dirty="0" err="1">
                <a:solidFill>
                  <a:schemeClr val="bg1"/>
                </a:solidFill>
              </a:rPr>
              <a:t>Eventos</a:t>
            </a:r>
            <a:r>
              <a:rPr lang="en-US" spc="-50" dirty="0">
                <a:solidFill>
                  <a:schemeClr val="bg1"/>
                </a:solidFill>
              </a:rPr>
              <a:t> de </a:t>
            </a:r>
            <a:r>
              <a:rPr lang="en-US" spc="-50" dirty="0" err="1">
                <a:solidFill>
                  <a:schemeClr val="bg1"/>
                </a:solidFill>
              </a:rPr>
              <a:t>Tecnología</a:t>
            </a:r>
            <a:endParaRPr lang="en-US" spc="-50" dirty="0">
              <a:solidFill>
                <a:schemeClr val="bg1"/>
              </a:solidFill>
            </a:endParaRPr>
          </a:p>
        </p:txBody>
      </p:sp>
      <p:sp>
        <p:nvSpPr>
          <p:cNvPr id="10" name="AutoShape 9">
            <a:extLst>
              <a:ext uri="{FF2B5EF4-FFF2-40B4-BE49-F238E27FC236}">
                <a16:creationId xmlns:a16="http://schemas.microsoft.com/office/drawing/2014/main" id="{C9A208DE-C353-AE8A-EC1E-527CB6A49BF1}"/>
              </a:ext>
            </a:extLst>
          </p:cNvPr>
          <p:cNvSpPr>
            <a:spLocks noChangeArrowheads="1"/>
          </p:cNvSpPr>
          <p:nvPr/>
        </p:nvSpPr>
        <p:spPr bwMode="gray">
          <a:xfrm>
            <a:off x="895350" y="5397882"/>
            <a:ext cx="2849394" cy="1150938"/>
          </a:xfrm>
          <a:prstGeom prst="homePlate">
            <a:avLst>
              <a:gd name="adj" fmla="val 13397"/>
            </a:avLst>
          </a:prstGeom>
          <a:solidFill>
            <a:schemeClr val="tx2"/>
          </a:solidFill>
          <a:ln w="12700" algn="ctr">
            <a:solidFill>
              <a:schemeClr val="bg1"/>
            </a:solidFill>
            <a:round/>
            <a:headEnd/>
            <a:tailEnd/>
          </a:ln>
          <a:effectLst/>
        </p:spPr>
        <p:txBody>
          <a:bodyPr lIns="72000" tIns="72000" rIns="72000" bIns="72000" anchor="ctr"/>
          <a:lstStyle/>
          <a:p>
            <a:pPr marL="0" marR="0" lvl="0" indent="0" defTabSz="914400" eaLnBrk="0" fontAlgn="auto" latinLnBrk="0" hangingPunct="0">
              <a:lnSpc>
                <a:spcPct val="100000"/>
              </a:lnSpc>
              <a:spcBef>
                <a:spcPct val="20000"/>
              </a:spcBef>
              <a:spcAft>
                <a:spcPts val="0"/>
              </a:spcAft>
              <a:buClrTx/>
              <a:buSzPct val="100000"/>
              <a:buFont typeface="Wingdings" pitchFamily="2" charset="2"/>
              <a:buNone/>
              <a:tabLst/>
              <a:defRPr/>
            </a:pPr>
            <a:r>
              <a:rPr lang="en-US" spc="-50" dirty="0">
                <a:solidFill>
                  <a:schemeClr val="bg1"/>
                </a:solidFill>
              </a:rPr>
              <a:t>Red de </a:t>
            </a:r>
            <a:r>
              <a:rPr lang="en-US" spc="-50" dirty="0" err="1">
                <a:solidFill>
                  <a:schemeClr val="bg1"/>
                </a:solidFill>
              </a:rPr>
              <a:t>Socios</a:t>
            </a:r>
            <a:r>
              <a:rPr lang="en-US" spc="-50" dirty="0">
                <a:solidFill>
                  <a:schemeClr val="bg1"/>
                </a:solidFill>
              </a:rPr>
              <a:t> Microsoft</a:t>
            </a:r>
          </a:p>
        </p:txBody>
      </p:sp>
      <p:sp>
        <p:nvSpPr>
          <p:cNvPr id="11" name="AutoShape 6">
            <a:extLst>
              <a:ext uri="{FF2B5EF4-FFF2-40B4-BE49-F238E27FC236}">
                <a16:creationId xmlns:a16="http://schemas.microsoft.com/office/drawing/2014/main" id="{AAE3CC78-8181-EFD7-112C-F5781ACCC009}"/>
              </a:ext>
            </a:extLst>
          </p:cNvPr>
          <p:cNvSpPr>
            <a:spLocks noChangeArrowheads="1"/>
          </p:cNvSpPr>
          <p:nvPr/>
        </p:nvSpPr>
        <p:spPr bwMode="gray">
          <a:xfrm>
            <a:off x="4338247" y="2901990"/>
            <a:ext cx="7270735" cy="1150938"/>
          </a:xfrm>
          <a:prstGeom prst="rect">
            <a:avLst/>
          </a:prstGeom>
          <a:noFill/>
          <a:ln w="12700" algn="ctr">
            <a:no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t"/>
          <a:lstStyle/>
          <a:p>
            <a:pPr marL="143510" indent="-143510" eaLnBrk="0" hangingPunct="0">
              <a:spcBef>
                <a:spcPts val="300"/>
              </a:spcBef>
              <a:spcAft>
                <a:spcPts val="300"/>
              </a:spcAft>
              <a:buSzPct val="100000"/>
              <a:buFont typeface="Arial" pitchFamily="34" charset="0"/>
              <a:buChar char="•"/>
            </a:pPr>
            <a:endParaRPr lang="en-US" spc="-50" dirty="0">
              <a:solidFill>
                <a:schemeClr val="bg1"/>
              </a:solidFill>
            </a:endParaRPr>
          </a:p>
        </p:txBody>
      </p:sp>
      <p:sp>
        <p:nvSpPr>
          <p:cNvPr id="13" name="AutoShape 6">
            <a:extLst>
              <a:ext uri="{FF2B5EF4-FFF2-40B4-BE49-F238E27FC236}">
                <a16:creationId xmlns:a16="http://schemas.microsoft.com/office/drawing/2014/main" id="{4E5A1F8D-3C74-8DB4-6260-77D3508A141A}"/>
              </a:ext>
            </a:extLst>
          </p:cNvPr>
          <p:cNvSpPr>
            <a:spLocks noChangeArrowheads="1"/>
          </p:cNvSpPr>
          <p:nvPr/>
        </p:nvSpPr>
        <p:spPr bwMode="gray">
          <a:xfrm>
            <a:off x="4338247" y="5707062"/>
            <a:ext cx="7270735" cy="1150938"/>
          </a:xfrm>
          <a:prstGeom prst="rect">
            <a:avLst/>
          </a:prstGeom>
          <a:noFill/>
          <a:ln w="12700" algn="ctr">
            <a:no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t"/>
          <a:lstStyle/>
          <a:p>
            <a:pPr marL="144000" indent="-144000" eaLnBrk="0" hangingPunct="0">
              <a:spcBef>
                <a:spcPts val="300"/>
              </a:spcBef>
              <a:spcAft>
                <a:spcPts val="300"/>
              </a:spcAft>
              <a:buSzPct val="100000"/>
              <a:buFont typeface="Arial" pitchFamily="34" charset="0"/>
              <a:buChar char="•"/>
            </a:pPr>
            <a:r>
              <a:rPr lang="es-CL" spc="-50" dirty="0" err="1">
                <a:solidFill>
                  <a:schemeClr val="bg1"/>
                </a:solidFill>
              </a:rPr>
              <a:t>Participacion</a:t>
            </a:r>
            <a:r>
              <a:rPr lang="es-CL" spc="-50">
                <a:solidFill>
                  <a:schemeClr val="bg1"/>
                </a:solidFill>
              </a:rPr>
              <a:t> en la red de </a:t>
            </a:r>
            <a:r>
              <a:rPr lang="es-CL" spc="-50" dirty="0">
                <a:solidFill>
                  <a:schemeClr val="bg1"/>
                </a:solidFill>
              </a:rPr>
              <a:t>socios y alianzas de Microsoft</a:t>
            </a:r>
            <a:endParaRPr lang="en-US" spc="-50" dirty="0">
              <a:solidFill>
                <a:schemeClr val="bg1"/>
              </a:solidFill>
            </a:endParaRPr>
          </a:p>
        </p:txBody>
      </p:sp>
      <p:sp>
        <p:nvSpPr>
          <p:cNvPr id="3" name="AutoShape 6">
            <a:extLst>
              <a:ext uri="{FF2B5EF4-FFF2-40B4-BE49-F238E27FC236}">
                <a16:creationId xmlns:a16="http://schemas.microsoft.com/office/drawing/2014/main" id="{D6E78F73-2775-8500-A7FF-840FDAA7254E}"/>
              </a:ext>
            </a:extLst>
          </p:cNvPr>
          <p:cNvSpPr>
            <a:spLocks noChangeArrowheads="1"/>
          </p:cNvSpPr>
          <p:nvPr/>
        </p:nvSpPr>
        <p:spPr bwMode="gray">
          <a:xfrm>
            <a:off x="4449707" y="4120048"/>
            <a:ext cx="7029125" cy="1150938"/>
          </a:xfrm>
          <a:prstGeom prst="rect">
            <a:avLst/>
          </a:prstGeom>
          <a:noFill/>
          <a:ln w="12700" algn="ctr">
            <a:no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t"/>
          <a:lstStyle/>
          <a:p>
            <a:pPr marL="143510" indent="-143510" eaLnBrk="0" hangingPunct="0">
              <a:spcBef>
                <a:spcPts val="300"/>
              </a:spcBef>
              <a:spcAft>
                <a:spcPts val="300"/>
              </a:spcAft>
              <a:buSzPct val="100000"/>
              <a:buFont typeface="Arial" pitchFamily="34" charset="0"/>
              <a:buChar char="•"/>
            </a:pPr>
            <a:r>
              <a:rPr lang="en-US" spc="-50" dirty="0" err="1">
                <a:solidFill>
                  <a:schemeClr val="bg1"/>
                </a:solidFill>
                <a:latin typeface="Arial"/>
                <a:cs typeface="Arial"/>
              </a:rPr>
              <a:t>Participacion</a:t>
            </a:r>
            <a:r>
              <a:rPr lang="en-US" spc="-50" dirty="0">
                <a:solidFill>
                  <a:schemeClr val="bg1"/>
                </a:solidFill>
                <a:latin typeface="Arial"/>
                <a:cs typeface="Arial"/>
              </a:rPr>
              <a:t> </a:t>
            </a:r>
            <a:r>
              <a:rPr lang="en-US" spc="-50" dirty="0" err="1">
                <a:solidFill>
                  <a:schemeClr val="bg1"/>
                </a:solidFill>
                <a:latin typeface="Arial"/>
                <a:cs typeface="Arial"/>
              </a:rPr>
              <a:t>en</a:t>
            </a:r>
            <a:r>
              <a:rPr lang="en-US" spc="-50">
                <a:solidFill>
                  <a:schemeClr val="bg1"/>
                </a:solidFill>
                <a:latin typeface="Arial"/>
                <a:cs typeface="Arial"/>
              </a:rPr>
              <a:t> </a:t>
            </a:r>
            <a:r>
              <a:rPr lang="en-US" spc="-50" dirty="0" err="1">
                <a:solidFill>
                  <a:schemeClr val="bg1"/>
                </a:solidFill>
                <a:latin typeface="Arial"/>
                <a:cs typeface="Arial"/>
              </a:rPr>
              <a:t>eventos</a:t>
            </a:r>
            <a:r>
              <a:rPr lang="en-US" spc="-50" dirty="0">
                <a:solidFill>
                  <a:schemeClr val="bg1"/>
                </a:solidFill>
                <a:latin typeface="Arial"/>
                <a:cs typeface="Arial"/>
              </a:rPr>
              <a:t>, </a:t>
            </a:r>
            <a:r>
              <a:rPr lang="en-US" spc="-50" dirty="0" err="1">
                <a:solidFill>
                  <a:schemeClr val="bg1"/>
                </a:solidFill>
                <a:latin typeface="Arial"/>
                <a:cs typeface="Arial"/>
              </a:rPr>
              <a:t>seminarios</a:t>
            </a:r>
            <a:r>
              <a:rPr lang="en-US" spc="-50" dirty="0">
                <a:solidFill>
                  <a:schemeClr val="bg1"/>
                </a:solidFill>
                <a:latin typeface="Arial"/>
                <a:cs typeface="Arial"/>
              </a:rPr>
              <a:t> y </a:t>
            </a:r>
            <a:r>
              <a:rPr lang="en-US" spc="-50" dirty="0" err="1">
                <a:solidFill>
                  <a:schemeClr val="bg1"/>
                </a:solidFill>
                <a:latin typeface="Arial"/>
                <a:cs typeface="Arial"/>
              </a:rPr>
              <a:t>conferencias</a:t>
            </a:r>
            <a:r>
              <a:rPr lang="en-US" spc="-50" dirty="0">
                <a:solidFill>
                  <a:schemeClr val="bg1"/>
                </a:solidFill>
                <a:latin typeface="Arial"/>
                <a:cs typeface="Arial"/>
              </a:rPr>
              <a:t> </a:t>
            </a:r>
            <a:r>
              <a:rPr lang="en-US" spc="-50" dirty="0" err="1">
                <a:solidFill>
                  <a:schemeClr val="bg1"/>
                </a:solidFill>
                <a:latin typeface="Arial"/>
                <a:cs typeface="Arial"/>
              </a:rPr>
              <a:t>relacionadas</a:t>
            </a:r>
            <a:r>
              <a:rPr lang="en-US" spc="-50">
                <a:solidFill>
                  <a:schemeClr val="bg1"/>
                </a:solidFill>
                <a:latin typeface="Arial"/>
                <a:cs typeface="Arial"/>
              </a:rPr>
              <a:t> con </a:t>
            </a:r>
            <a:r>
              <a:rPr lang="en-US" spc="-50" dirty="0" err="1">
                <a:solidFill>
                  <a:schemeClr val="bg1"/>
                </a:solidFill>
                <a:latin typeface="Arial"/>
                <a:cs typeface="Arial"/>
              </a:rPr>
              <a:t>soluciones</a:t>
            </a:r>
            <a:r>
              <a:rPr lang="en-US" spc="-50" dirty="0">
                <a:solidFill>
                  <a:schemeClr val="bg1"/>
                </a:solidFill>
                <a:latin typeface="Arial"/>
                <a:cs typeface="Arial"/>
              </a:rPr>
              <a:t> Microsoft </a:t>
            </a:r>
            <a:r>
              <a:rPr lang="en-US" spc="-50" dirty="0" err="1">
                <a:solidFill>
                  <a:schemeClr val="bg1"/>
                </a:solidFill>
                <a:latin typeface="Arial"/>
                <a:cs typeface="Arial"/>
              </a:rPr>
              <a:t>en</a:t>
            </a:r>
            <a:r>
              <a:rPr lang="en-US" spc="-50" dirty="0">
                <a:solidFill>
                  <a:schemeClr val="bg1"/>
                </a:solidFill>
                <a:latin typeface="Arial"/>
                <a:cs typeface="Arial"/>
              </a:rPr>
              <a:t> </a:t>
            </a:r>
            <a:r>
              <a:rPr lang="en-US" spc="-50" dirty="0" err="1">
                <a:solidFill>
                  <a:schemeClr val="bg1"/>
                </a:solidFill>
                <a:latin typeface="Arial"/>
                <a:cs typeface="Arial"/>
              </a:rPr>
              <a:t>ciberseguridad</a:t>
            </a:r>
            <a:r>
              <a:rPr lang="en-US" spc="-50" dirty="0">
                <a:solidFill>
                  <a:schemeClr val="bg1"/>
                </a:solidFill>
                <a:latin typeface="Arial"/>
                <a:cs typeface="Arial"/>
              </a:rPr>
              <a:t> </a:t>
            </a:r>
            <a:endParaRPr lang="en-US" spc="-50" dirty="0">
              <a:solidFill>
                <a:schemeClr val="bg1"/>
              </a:solidFill>
            </a:endParaRPr>
          </a:p>
        </p:txBody>
      </p:sp>
      <p:sp>
        <p:nvSpPr>
          <p:cNvPr id="14" name="AutoShape 6">
            <a:extLst>
              <a:ext uri="{FF2B5EF4-FFF2-40B4-BE49-F238E27FC236}">
                <a16:creationId xmlns:a16="http://schemas.microsoft.com/office/drawing/2014/main" id="{A30B3458-36C8-1943-8DA1-AA81C606FAA2}"/>
              </a:ext>
            </a:extLst>
          </p:cNvPr>
          <p:cNvSpPr>
            <a:spLocks noChangeArrowheads="1"/>
          </p:cNvSpPr>
          <p:nvPr/>
        </p:nvSpPr>
        <p:spPr bwMode="gray">
          <a:xfrm>
            <a:off x="4449707" y="2818010"/>
            <a:ext cx="7270735" cy="1150938"/>
          </a:xfrm>
          <a:prstGeom prst="rect">
            <a:avLst/>
          </a:prstGeom>
          <a:noFill/>
          <a:ln w="12700" algn="ctr">
            <a:no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72000" rIns="72000" bIns="72000" anchor="t"/>
          <a:lstStyle/>
          <a:p>
            <a:pPr marL="143510" indent="-143510" eaLnBrk="0" hangingPunct="0">
              <a:spcBef>
                <a:spcPts val="300"/>
              </a:spcBef>
              <a:spcAft>
                <a:spcPts val="300"/>
              </a:spcAft>
              <a:buSzPct val="100000"/>
              <a:buFont typeface="Arial" pitchFamily="34" charset="0"/>
              <a:buChar char="•"/>
            </a:pPr>
            <a:r>
              <a:rPr lang="en-US" spc="-50" dirty="0" err="1">
                <a:solidFill>
                  <a:schemeClr val="bg1"/>
                </a:solidFill>
                <a:latin typeface="Arial"/>
                <a:cs typeface="Arial"/>
              </a:rPr>
              <a:t>Generacion</a:t>
            </a:r>
            <a:r>
              <a:rPr lang="en-US" spc="-50" dirty="0">
                <a:solidFill>
                  <a:schemeClr val="bg1"/>
                </a:solidFill>
                <a:latin typeface="Arial"/>
                <a:cs typeface="Arial"/>
              </a:rPr>
              <a:t> y </a:t>
            </a:r>
            <a:r>
              <a:rPr lang="en-US" spc="-50" dirty="0" err="1">
                <a:solidFill>
                  <a:schemeClr val="bg1"/>
                </a:solidFill>
                <a:latin typeface="Arial"/>
                <a:cs typeface="Arial"/>
              </a:rPr>
              <a:t>publicacion</a:t>
            </a:r>
            <a:r>
              <a:rPr lang="en-US" spc="-50" dirty="0">
                <a:solidFill>
                  <a:schemeClr val="bg1"/>
                </a:solidFill>
                <a:latin typeface="Arial"/>
                <a:cs typeface="Arial"/>
              </a:rPr>
              <a:t> </a:t>
            </a:r>
            <a:r>
              <a:rPr lang="en-US" spc="-50" dirty="0" err="1">
                <a:solidFill>
                  <a:schemeClr val="bg1"/>
                </a:solidFill>
                <a:latin typeface="Arial"/>
                <a:cs typeface="Arial"/>
              </a:rPr>
              <a:t>en</a:t>
            </a:r>
            <a:r>
              <a:rPr lang="en-US" spc="-50" dirty="0">
                <a:solidFill>
                  <a:schemeClr val="bg1"/>
                </a:solidFill>
                <a:latin typeface="Arial"/>
                <a:cs typeface="Arial"/>
              </a:rPr>
              <a:t> </a:t>
            </a:r>
            <a:r>
              <a:rPr lang="en-US" spc="-50" dirty="0" err="1">
                <a:solidFill>
                  <a:schemeClr val="bg1"/>
                </a:solidFill>
                <a:latin typeface="Arial"/>
                <a:cs typeface="Arial"/>
              </a:rPr>
              <a:t>medios</a:t>
            </a:r>
            <a:r>
              <a:rPr lang="en-US" spc="-50" dirty="0">
                <a:solidFill>
                  <a:schemeClr val="bg1"/>
                </a:solidFill>
                <a:latin typeface="Arial"/>
                <a:cs typeface="Arial"/>
              </a:rPr>
              <a:t> </a:t>
            </a:r>
            <a:r>
              <a:rPr lang="en-US" spc="-50" dirty="0" err="1">
                <a:solidFill>
                  <a:schemeClr val="bg1"/>
                </a:solidFill>
                <a:latin typeface="Arial"/>
                <a:cs typeface="Arial"/>
              </a:rPr>
              <a:t>digitales</a:t>
            </a:r>
            <a:endParaRPr lang="en-US" spc="-50" dirty="0">
              <a:solidFill>
                <a:schemeClr val="bg1"/>
              </a:solidFill>
            </a:endParaRPr>
          </a:p>
        </p:txBody>
      </p:sp>
    </p:spTree>
    <p:extLst>
      <p:ext uri="{BB962C8B-B14F-4D97-AF65-F5344CB8AC3E}">
        <p14:creationId xmlns:p14="http://schemas.microsoft.com/office/powerpoint/2010/main" val="342374519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950" y="428726"/>
            <a:ext cx="8973849"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El Plan de Marketing </a:t>
            </a:r>
            <a:r>
              <a:rPr lang="es-CL" sz="3500" spc="-30" dirty="0" err="1">
                <a:solidFill>
                  <a:prstClr val="white"/>
                </a:solidFill>
                <a:latin typeface="Arial"/>
              </a:rPr>
              <a:t>Mix</a:t>
            </a:r>
            <a:endParaRPr lang="en-US" sz="3500" spc="-30" dirty="0">
              <a:solidFill>
                <a:prstClr val="white"/>
              </a:solidFill>
              <a:latin typeface="Arial"/>
            </a:endParaRPr>
          </a:p>
        </p:txBody>
      </p:sp>
      <p:sp>
        <p:nvSpPr>
          <p:cNvPr id="3" name="Oval 2">
            <a:extLst>
              <a:ext uri="{FF2B5EF4-FFF2-40B4-BE49-F238E27FC236}">
                <a16:creationId xmlns:a16="http://schemas.microsoft.com/office/drawing/2014/main" id="{6CFF167B-BFA2-AB94-2FFC-139E09967F36}"/>
              </a:ext>
            </a:extLst>
          </p:cNvPr>
          <p:cNvSpPr/>
          <p:nvPr/>
        </p:nvSpPr>
        <p:spPr>
          <a:xfrm>
            <a:off x="543808" y="1971903"/>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5A917652-A7D3-B614-6284-21AD322FB0B6}"/>
              </a:ext>
            </a:extLst>
          </p:cNvPr>
          <p:cNvSpPr/>
          <p:nvPr/>
        </p:nvSpPr>
        <p:spPr>
          <a:xfrm>
            <a:off x="6273803" y="1971903"/>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2C1C0B6-E725-0E18-85C3-01BD7C7EB54F}"/>
              </a:ext>
            </a:extLst>
          </p:cNvPr>
          <p:cNvSpPr/>
          <p:nvPr/>
        </p:nvSpPr>
        <p:spPr>
          <a:xfrm>
            <a:off x="6273803" y="4521657"/>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F3D01A3-EA35-94C8-981B-18C240488257}"/>
              </a:ext>
            </a:extLst>
          </p:cNvPr>
          <p:cNvSpPr/>
          <p:nvPr/>
        </p:nvSpPr>
        <p:spPr>
          <a:xfrm>
            <a:off x="543808" y="4521657"/>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C66CE57-7019-2A89-8771-409BD41D85F5}"/>
              </a:ext>
            </a:extLst>
          </p:cNvPr>
          <p:cNvSpPr txBox="1"/>
          <p:nvPr/>
        </p:nvSpPr>
        <p:spPr>
          <a:xfrm>
            <a:off x="1523925" y="2080902"/>
            <a:ext cx="4323674" cy="646331"/>
          </a:xfrm>
          <a:prstGeom prst="rect">
            <a:avLst/>
          </a:prstGeom>
          <a:noFill/>
        </p:spPr>
        <p:txBody>
          <a:bodyPr wrap="square" rtlCol="0">
            <a:spAutoFit/>
          </a:bodyPr>
          <a:lstStyle/>
          <a:p>
            <a:r>
              <a:rPr lang="es-ES" b="1" spc="-50" dirty="0">
                <a:solidFill>
                  <a:srgbClr val="AADDEE"/>
                </a:solidFill>
              </a:rPr>
              <a:t>Productos</a:t>
            </a:r>
            <a:r>
              <a:rPr lang="es-ES" spc="-50" dirty="0">
                <a:solidFill>
                  <a:schemeClr val="bg1"/>
                </a:solidFill>
              </a:rPr>
              <a:t>: </a:t>
            </a:r>
            <a:r>
              <a:rPr lang="es-ES" spc="-50" dirty="0" err="1">
                <a:solidFill>
                  <a:schemeClr val="bg1"/>
                </a:solidFill>
              </a:rPr>
              <a:t>Assessments</a:t>
            </a:r>
            <a:r>
              <a:rPr lang="es-ES" spc="-50" dirty="0">
                <a:solidFill>
                  <a:schemeClr val="bg1"/>
                </a:solidFill>
              </a:rPr>
              <a:t> de Seguridad y Contratos de Soporte y Consultoría</a:t>
            </a:r>
            <a:endParaRPr lang="en-US" spc="-50" dirty="0">
              <a:solidFill>
                <a:schemeClr val="bg1"/>
              </a:solidFill>
            </a:endParaRPr>
          </a:p>
        </p:txBody>
      </p:sp>
      <p:sp>
        <p:nvSpPr>
          <p:cNvPr id="14" name="TextBox 13">
            <a:extLst>
              <a:ext uri="{FF2B5EF4-FFF2-40B4-BE49-F238E27FC236}">
                <a16:creationId xmlns:a16="http://schemas.microsoft.com/office/drawing/2014/main" id="{74BB9FC3-0263-8DBC-B777-2319214865B7}"/>
              </a:ext>
            </a:extLst>
          </p:cNvPr>
          <p:cNvSpPr txBox="1"/>
          <p:nvPr/>
        </p:nvSpPr>
        <p:spPr>
          <a:xfrm>
            <a:off x="7321886" y="2063139"/>
            <a:ext cx="4345980" cy="646331"/>
          </a:xfrm>
          <a:prstGeom prst="rect">
            <a:avLst/>
          </a:prstGeom>
          <a:noFill/>
        </p:spPr>
        <p:txBody>
          <a:bodyPr wrap="square" rtlCol="0">
            <a:spAutoFit/>
          </a:bodyPr>
          <a:lstStyle/>
          <a:p>
            <a:r>
              <a:rPr lang="en-US" b="1" spc="-50" dirty="0" err="1">
                <a:solidFill>
                  <a:srgbClr val="AADDEE"/>
                </a:solidFill>
              </a:rPr>
              <a:t>Precios</a:t>
            </a:r>
            <a:r>
              <a:rPr lang="en-US" b="1" spc="-50" dirty="0">
                <a:solidFill>
                  <a:srgbClr val="AADDEE"/>
                </a:solidFill>
              </a:rPr>
              <a:t>: </a:t>
            </a:r>
            <a:r>
              <a:rPr lang="es-CL" spc="-50" dirty="0">
                <a:solidFill>
                  <a:schemeClr val="bg1"/>
                </a:solidFill>
              </a:rPr>
              <a:t>bajos en relación a la mediana del Mercado</a:t>
            </a:r>
            <a:endParaRPr lang="en-US" spc="-50" dirty="0">
              <a:solidFill>
                <a:schemeClr val="bg1"/>
              </a:solidFill>
            </a:endParaRPr>
          </a:p>
        </p:txBody>
      </p:sp>
      <p:sp>
        <p:nvSpPr>
          <p:cNvPr id="15" name="TextBox 14">
            <a:extLst>
              <a:ext uri="{FF2B5EF4-FFF2-40B4-BE49-F238E27FC236}">
                <a16:creationId xmlns:a16="http://schemas.microsoft.com/office/drawing/2014/main" id="{D53A354B-7AE4-3710-4B39-38E994DD03F6}"/>
              </a:ext>
            </a:extLst>
          </p:cNvPr>
          <p:cNvSpPr txBox="1"/>
          <p:nvPr/>
        </p:nvSpPr>
        <p:spPr>
          <a:xfrm>
            <a:off x="1593552" y="4690696"/>
            <a:ext cx="4184420" cy="646331"/>
          </a:xfrm>
          <a:prstGeom prst="rect">
            <a:avLst/>
          </a:prstGeom>
          <a:noFill/>
        </p:spPr>
        <p:txBody>
          <a:bodyPr wrap="square" rtlCol="0">
            <a:spAutoFit/>
          </a:bodyPr>
          <a:lstStyle/>
          <a:p>
            <a:r>
              <a:rPr lang="en-US" b="1" spc="-50" dirty="0">
                <a:solidFill>
                  <a:srgbClr val="AADDEE"/>
                </a:solidFill>
              </a:rPr>
              <a:t>Plaza</a:t>
            </a:r>
            <a:r>
              <a:rPr lang="en-US" spc="-50" dirty="0">
                <a:solidFill>
                  <a:schemeClr val="bg1"/>
                </a:solidFill>
              </a:rPr>
              <a:t>: No se </a:t>
            </a:r>
            <a:r>
              <a:rPr lang="en-US" spc="-50" dirty="0" err="1">
                <a:solidFill>
                  <a:schemeClr val="bg1"/>
                </a:solidFill>
              </a:rPr>
              <a:t>considera</a:t>
            </a:r>
            <a:r>
              <a:rPr lang="en-US" spc="-50" dirty="0">
                <a:solidFill>
                  <a:schemeClr val="bg1"/>
                </a:solidFill>
              </a:rPr>
              <a:t> </a:t>
            </a:r>
            <a:r>
              <a:rPr lang="en-US" spc="-50" dirty="0" err="1">
                <a:solidFill>
                  <a:schemeClr val="bg1"/>
                </a:solidFill>
              </a:rPr>
              <a:t>dentro</a:t>
            </a:r>
            <a:r>
              <a:rPr lang="en-US" spc="-50" dirty="0">
                <a:solidFill>
                  <a:schemeClr val="bg1"/>
                </a:solidFill>
              </a:rPr>
              <a:t> de Servicios </a:t>
            </a:r>
          </a:p>
        </p:txBody>
      </p:sp>
      <p:sp>
        <p:nvSpPr>
          <p:cNvPr id="16" name="TextBox 15">
            <a:extLst>
              <a:ext uri="{FF2B5EF4-FFF2-40B4-BE49-F238E27FC236}">
                <a16:creationId xmlns:a16="http://schemas.microsoft.com/office/drawing/2014/main" id="{3A98D769-A92A-BD59-8455-FCA402266300}"/>
              </a:ext>
            </a:extLst>
          </p:cNvPr>
          <p:cNvSpPr txBox="1"/>
          <p:nvPr/>
        </p:nvSpPr>
        <p:spPr>
          <a:xfrm>
            <a:off x="7393175" y="4676067"/>
            <a:ext cx="4000246" cy="1200329"/>
          </a:xfrm>
          <a:prstGeom prst="rect">
            <a:avLst/>
          </a:prstGeom>
          <a:noFill/>
        </p:spPr>
        <p:txBody>
          <a:bodyPr wrap="square" rtlCol="0">
            <a:spAutoFit/>
          </a:bodyPr>
          <a:lstStyle/>
          <a:p>
            <a:r>
              <a:rPr lang="en-US" b="1" spc="-50" dirty="0" err="1">
                <a:solidFill>
                  <a:srgbClr val="AADDEE"/>
                </a:solidFill>
              </a:rPr>
              <a:t>Promoción</a:t>
            </a:r>
            <a:r>
              <a:rPr lang="en-US" b="1" spc="-50" dirty="0">
                <a:solidFill>
                  <a:srgbClr val="AADDEE"/>
                </a:solidFill>
              </a:rPr>
              <a:t>: </a:t>
            </a:r>
            <a:r>
              <a:rPr lang="es-ES" spc="-50" dirty="0">
                <a:solidFill>
                  <a:schemeClr val="bg1"/>
                </a:solidFill>
              </a:rPr>
              <a:t>focalizada en Redes Sociales, Uso de Canales en </a:t>
            </a:r>
            <a:r>
              <a:rPr lang="en-US" spc="-50" dirty="0" err="1">
                <a:solidFill>
                  <a:schemeClr val="bg1"/>
                </a:solidFill>
              </a:rPr>
              <a:t>Clientes</a:t>
            </a:r>
            <a:r>
              <a:rPr lang="en-US" spc="-50" dirty="0">
                <a:solidFill>
                  <a:schemeClr val="bg1"/>
                </a:solidFill>
              </a:rPr>
              <a:t> Microsoft </a:t>
            </a:r>
            <a:r>
              <a:rPr lang="en-US" i="1" spc="-50" dirty="0">
                <a:solidFill>
                  <a:schemeClr val="bg1"/>
                </a:solidFill>
              </a:rPr>
              <a:t> </a:t>
            </a:r>
            <a:endParaRPr lang="en-US" dirty="0"/>
          </a:p>
          <a:p>
            <a:endParaRPr lang="en-US" spc="-50" dirty="0">
              <a:solidFill>
                <a:schemeClr val="bg1"/>
              </a:solidFill>
            </a:endParaRPr>
          </a:p>
        </p:txBody>
      </p:sp>
      <p:grpSp>
        <p:nvGrpSpPr>
          <p:cNvPr id="35" name="Group 34">
            <a:extLst>
              <a:ext uri="{FF2B5EF4-FFF2-40B4-BE49-F238E27FC236}">
                <a16:creationId xmlns:a16="http://schemas.microsoft.com/office/drawing/2014/main" id="{90A72E2E-E937-6D5B-09A7-C21D6476567F}"/>
              </a:ext>
            </a:extLst>
          </p:cNvPr>
          <p:cNvGrpSpPr/>
          <p:nvPr/>
        </p:nvGrpSpPr>
        <p:grpSpPr>
          <a:xfrm>
            <a:off x="6536124" y="2137927"/>
            <a:ext cx="483464" cy="550285"/>
            <a:chOff x="3557588" y="2686050"/>
            <a:chExt cx="341312" cy="449262"/>
          </a:xfrm>
          <a:solidFill>
            <a:schemeClr val="bg1"/>
          </a:solidFill>
        </p:grpSpPr>
        <p:sp>
          <p:nvSpPr>
            <p:cNvPr id="36" name="Freeform 40">
              <a:extLst>
                <a:ext uri="{FF2B5EF4-FFF2-40B4-BE49-F238E27FC236}">
                  <a16:creationId xmlns:a16="http://schemas.microsoft.com/office/drawing/2014/main" id="{9E4EDED4-6B1A-1FB2-A6FB-B50C4268BCDE}"/>
                </a:ext>
              </a:extLst>
            </p:cNvPr>
            <p:cNvSpPr>
              <a:spLocks/>
            </p:cNvSpPr>
            <p:nvPr/>
          </p:nvSpPr>
          <p:spPr bwMode="auto">
            <a:xfrm>
              <a:off x="3559175" y="2990850"/>
              <a:ext cx="339725" cy="144462"/>
            </a:xfrm>
            <a:custGeom>
              <a:avLst/>
              <a:gdLst>
                <a:gd name="T0" fmla="*/ 209 w 268"/>
                <a:gd name="T1" fmla="*/ 0 h 114"/>
                <a:gd name="T2" fmla="*/ 159 w 268"/>
                <a:gd name="T3" fmla="*/ 0 h 114"/>
                <a:gd name="T4" fmla="*/ 107 w 268"/>
                <a:gd name="T5" fmla="*/ 0 h 114"/>
                <a:gd name="T6" fmla="*/ 91 w 268"/>
                <a:gd name="T7" fmla="*/ 16 h 114"/>
                <a:gd name="T8" fmla="*/ 107 w 268"/>
                <a:gd name="T9" fmla="*/ 31 h 114"/>
                <a:gd name="T10" fmla="*/ 140 w 268"/>
                <a:gd name="T11" fmla="*/ 31 h 114"/>
                <a:gd name="T12" fmla="*/ 140 w 268"/>
                <a:gd name="T13" fmla="*/ 42 h 114"/>
                <a:gd name="T14" fmla="*/ 56 w 268"/>
                <a:gd name="T15" fmla="*/ 42 h 114"/>
                <a:gd name="T16" fmla="*/ 30 w 268"/>
                <a:gd name="T17" fmla="*/ 11 h 114"/>
                <a:gd name="T18" fmla="*/ 7 w 268"/>
                <a:gd name="T19" fmla="*/ 9 h 114"/>
                <a:gd name="T20" fmla="*/ 6 w 268"/>
                <a:gd name="T21" fmla="*/ 31 h 114"/>
                <a:gd name="T22" fmla="*/ 45 w 268"/>
                <a:gd name="T23" fmla="*/ 78 h 114"/>
                <a:gd name="T24" fmla="*/ 57 w 268"/>
                <a:gd name="T25" fmla="*/ 83 h 114"/>
                <a:gd name="T26" fmla="*/ 196 w 268"/>
                <a:gd name="T27" fmla="*/ 83 h 114"/>
                <a:gd name="T28" fmla="*/ 226 w 268"/>
                <a:gd name="T29" fmla="*/ 114 h 114"/>
                <a:gd name="T30" fmla="*/ 268 w 268"/>
                <a:gd name="T31" fmla="*/ 60 h 114"/>
                <a:gd name="T32" fmla="*/ 209 w 268"/>
                <a:gd name="T3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8" h="114">
                  <a:moveTo>
                    <a:pt x="209" y="0"/>
                  </a:moveTo>
                  <a:cubicBezTo>
                    <a:pt x="159" y="0"/>
                    <a:pt x="159" y="0"/>
                    <a:pt x="159" y="0"/>
                  </a:cubicBezTo>
                  <a:cubicBezTo>
                    <a:pt x="107" y="0"/>
                    <a:pt x="107" y="0"/>
                    <a:pt x="107" y="0"/>
                  </a:cubicBezTo>
                  <a:cubicBezTo>
                    <a:pt x="99" y="0"/>
                    <a:pt x="91" y="7"/>
                    <a:pt x="91" y="16"/>
                  </a:cubicBezTo>
                  <a:cubicBezTo>
                    <a:pt x="91" y="24"/>
                    <a:pt x="99" y="31"/>
                    <a:pt x="107" y="31"/>
                  </a:cubicBezTo>
                  <a:cubicBezTo>
                    <a:pt x="140" y="31"/>
                    <a:pt x="140" y="31"/>
                    <a:pt x="140" y="31"/>
                  </a:cubicBezTo>
                  <a:cubicBezTo>
                    <a:pt x="140" y="42"/>
                    <a:pt x="140" y="42"/>
                    <a:pt x="140" y="42"/>
                  </a:cubicBezTo>
                  <a:cubicBezTo>
                    <a:pt x="56" y="42"/>
                    <a:pt x="56" y="42"/>
                    <a:pt x="56" y="42"/>
                  </a:cubicBezTo>
                  <a:cubicBezTo>
                    <a:pt x="30" y="11"/>
                    <a:pt x="30" y="11"/>
                    <a:pt x="30" y="11"/>
                  </a:cubicBezTo>
                  <a:cubicBezTo>
                    <a:pt x="24" y="4"/>
                    <a:pt x="14" y="3"/>
                    <a:pt x="7" y="9"/>
                  </a:cubicBezTo>
                  <a:cubicBezTo>
                    <a:pt x="1" y="15"/>
                    <a:pt x="0" y="25"/>
                    <a:pt x="6" y="31"/>
                  </a:cubicBezTo>
                  <a:cubicBezTo>
                    <a:pt x="45" y="78"/>
                    <a:pt x="45" y="78"/>
                    <a:pt x="45" y="78"/>
                  </a:cubicBezTo>
                  <a:cubicBezTo>
                    <a:pt x="48" y="81"/>
                    <a:pt x="53" y="83"/>
                    <a:pt x="57" y="83"/>
                  </a:cubicBezTo>
                  <a:cubicBezTo>
                    <a:pt x="196" y="83"/>
                    <a:pt x="196" y="83"/>
                    <a:pt x="196" y="83"/>
                  </a:cubicBezTo>
                  <a:cubicBezTo>
                    <a:pt x="226" y="114"/>
                    <a:pt x="226" y="114"/>
                    <a:pt x="226" y="114"/>
                  </a:cubicBezTo>
                  <a:cubicBezTo>
                    <a:pt x="268" y="60"/>
                    <a:pt x="268" y="60"/>
                    <a:pt x="268" y="60"/>
                  </a:cubicBezTo>
                  <a:lnTo>
                    <a:pt x="20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
          <p:nvSpPr>
            <p:cNvPr id="37" name="Freeform 41">
              <a:extLst>
                <a:ext uri="{FF2B5EF4-FFF2-40B4-BE49-F238E27FC236}">
                  <a16:creationId xmlns:a16="http://schemas.microsoft.com/office/drawing/2014/main" id="{59FA338A-DF4F-69BA-0204-B60DCB54695B}"/>
                </a:ext>
              </a:extLst>
            </p:cNvPr>
            <p:cNvSpPr>
              <a:spLocks noEditPoints="1"/>
            </p:cNvSpPr>
            <p:nvPr/>
          </p:nvSpPr>
          <p:spPr bwMode="auto">
            <a:xfrm>
              <a:off x="3557588" y="2686050"/>
              <a:ext cx="287338" cy="287337"/>
            </a:xfrm>
            <a:custGeom>
              <a:avLst/>
              <a:gdLst>
                <a:gd name="T0" fmla="*/ 218 w 227"/>
                <a:gd name="T1" fmla="*/ 168 h 227"/>
                <a:gd name="T2" fmla="*/ 227 w 227"/>
                <a:gd name="T3" fmla="*/ 143 h 227"/>
                <a:gd name="T4" fmla="*/ 208 w 227"/>
                <a:gd name="T5" fmla="*/ 127 h 227"/>
                <a:gd name="T6" fmla="*/ 208 w 227"/>
                <a:gd name="T7" fmla="*/ 95 h 227"/>
                <a:gd name="T8" fmla="*/ 226 w 227"/>
                <a:gd name="T9" fmla="*/ 79 h 227"/>
                <a:gd name="T10" fmla="*/ 215 w 227"/>
                <a:gd name="T11" fmla="*/ 54 h 227"/>
                <a:gd name="T12" fmla="*/ 190 w 227"/>
                <a:gd name="T13" fmla="*/ 57 h 227"/>
                <a:gd name="T14" fmla="*/ 167 w 227"/>
                <a:gd name="T15" fmla="*/ 34 h 227"/>
                <a:gd name="T16" fmla="*/ 168 w 227"/>
                <a:gd name="T17" fmla="*/ 10 h 227"/>
                <a:gd name="T18" fmla="*/ 143 w 227"/>
                <a:gd name="T19" fmla="*/ 0 h 227"/>
                <a:gd name="T20" fmla="*/ 127 w 227"/>
                <a:gd name="T21" fmla="*/ 19 h 227"/>
                <a:gd name="T22" fmla="*/ 95 w 227"/>
                <a:gd name="T23" fmla="*/ 20 h 227"/>
                <a:gd name="T24" fmla="*/ 79 w 227"/>
                <a:gd name="T25" fmla="*/ 2 h 227"/>
                <a:gd name="T26" fmla="*/ 54 w 227"/>
                <a:gd name="T27" fmla="*/ 13 h 227"/>
                <a:gd name="T28" fmla="*/ 57 w 227"/>
                <a:gd name="T29" fmla="*/ 37 h 227"/>
                <a:gd name="T30" fmla="*/ 34 w 227"/>
                <a:gd name="T31" fmla="*/ 61 h 227"/>
                <a:gd name="T32" fmla="*/ 10 w 227"/>
                <a:gd name="T33" fmla="*/ 59 h 227"/>
                <a:gd name="T34" fmla="*/ 0 w 227"/>
                <a:gd name="T35" fmla="*/ 85 h 227"/>
                <a:gd name="T36" fmla="*/ 19 w 227"/>
                <a:gd name="T37" fmla="*/ 100 h 227"/>
                <a:gd name="T38" fmla="*/ 20 w 227"/>
                <a:gd name="T39" fmla="*/ 132 h 227"/>
                <a:gd name="T40" fmla="*/ 2 w 227"/>
                <a:gd name="T41" fmla="*/ 149 h 227"/>
                <a:gd name="T42" fmla="*/ 13 w 227"/>
                <a:gd name="T43" fmla="*/ 173 h 227"/>
                <a:gd name="T44" fmla="*/ 37 w 227"/>
                <a:gd name="T45" fmla="*/ 171 h 227"/>
                <a:gd name="T46" fmla="*/ 61 w 227"/>
                <a:gd name="T47" fmla="*/ 193 h 227"/>
                <a:gd name="T48" fmla="*/ 59 w 227"/>
                <a:gd name="T49" fmla="*/ 218 h 227"/>
                <a:gd name="T50" fmla="*/ 85 w 227"/>
                <a:gd name="T51" fmla="*/ 227 h 227"/>
                <a:gd name="T52" fmla="*/ 100 w 227"/>
                <a:gd name="T53" fmla="*/ 208 h 227"/>
                <a:gd name="T54" fmla="*/ 132 w 227"/>
                <a:gd name="T55" fmla="*/ 208 h 227"/>
                <a:gd name="T56" fmla="*/ 149 w 227"/>
                <a:gd name="T57" fmla="*/ 226 h 227"/>
                <a:gd name="T58" fmla="*/ 173 w 227"/>
                <a:gd name="T59" fmla="*/ 215 h 227"/>
                <a:gd name="T60" fmla="*/ 171 w 227"/>
                <a:gd name="T61" fmla="*/ 190 h 227"/>
                <a:gd name="T62" fmla="*/ 193 w 227"/>
                <a:gd name="T63" fmla="*/ 167 h 227"/>
                <a:gd name="T64" fmla="*/ 218 w 227"/>
                <a:gd name="T65" fmla="*/ 168 h 227"/>
                <a:gd name="T66" fmla="*/ 89 w 227"/>
                <a:gd name="T67" fmla="*/ 177 h 227"/>
                <a:gd name="T68" fmla="*/ 50 w 227"/>
                <a:gd name="T69" fmla="*/ 89 h 227"/>
                <a:gd name="T70" fmla="*/ 138 w 227"/>
                <a:gd name="T71" fmla="*/ 50 h 227"/>
                <a:gd name="T72" fmla="*/ 177 w 227"/>
                <a:gd name="T73" fmla="*/ 138 h 227"/>
                <a:gd name="T74" fmla="*/ 89 w 227"/>
                <a:gd name="T75" fmla="*/ 177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7" h="227">
                  <a:moveTo>
                    <a:pt x="218" y="168"/>
                  </a:moveTo>
                  <a:cubicBezTo>
                    <a:pt x="227" y="143"/>
                    <a:pt x="227" y="143"/>
                    <a:pt x="227" y="143"/>
                  </a:cubicBezTo>
                  <a:cubicBezTo>
                    <a:pt x="208" y="127"/>
                    <a:pt x="208" y="127"/>
                    <a:pt x="208" y="127"/>
                  </a:cubicBezTo>
                  <a:cubicBezTo>
                    <a:pt x="210" y="117"/>
                    <a:pt x="210" y="106"/>
                    <a:pt x="208" y="95"/>
                  </a:cubicBezTo>
                  <a:cubicBezTo>
                    <a:pt x="226" y="79"/>
                    <a:pt x="226" y="79"/>
                    <a:pt x="226" y="79"/>
                  </a:cubicBezTo>
                  <a:cubicBezTo>
                    <a:pt x="215" y="54"/>
                    <a:pt x="215" y="54"/>
                    <a:pt x="215" y="54"/>
                  </a:cubicBezTo>
                  <a:cubicBezTo>
                    <a:pt x="190" y="57"/>
                    <a:pt x="190" y="57"/>
                    <a:pt x="190" y="57"/>
                  </a:cubicBezTo>
                  <a:cubicBezTo>
                    <a:pt x="184" y="48"/>
                    <a:pt x="176" y="41"/>
                    <a:pt x="167" y="34"/>
                  </a:cubicBezTo>
                  <a:cubicBezTo>
                    <a:pt x="168" y="10"/>
                    <a:pt x="168" y="10"/>
                    <a:pt x="168" y="10"/>
                  </a:cubicBezTo>
                  <a:cubicBezTo>
                    <a:pt x="143" y="0"/>
                    <a:pt x="143" y="0"/>
                    <a:pt x="143" y="0"/>
                  </a:cubicBezTo>
                  <a:cubicBezTo>
                    <a:pt x="127" y="19"/>
                    <a:pt x="127" y="19"/>
                    <a:pt x="127" y="19"/>
                  </a:cubicBezTo>
                  <a:cubicBezTo>
                    <a:pt x="117" y="18"/>
                    <a:pt x="106" y="18"/>
                    <a:pt x="95" y="20"/>
                  </a:cubicBezTo>
                  <a:cubicBezTo>
                    <a:pt x="79" y="2"/>
                    <a:pt x="79" y="2"/>
                    <a:pt x="79" y="2"/>
                  </a:cubicBezTo>
                  <a:cubicBezTo>
                    <a:pt x="54" y="13"/>
                    <a:pt x="54" y="13"/>
                    <a:pt x="54" y="13"/>
                  </a:cubicBezTo>
                  <a:cubicBezTo>
                    <a:pt x="57" y="37"/>
                    <a:pt x="57" y="37"/>
                    <a:pt x="57" y="37"/>
                  </a:cubicBezTo>
                  <a:cubicBezTo>
                    <a:pt x="48" y="44"/>
                    <a:pt x="41" y="51"/>
                    <a:pt x="34" y="61"/>
                  </a:cubicBezTo>
                  <a:cubicBezTo>
                    <a:pt x="10" y="59"/>
                    <a:pt x="10" y="59"/>
                    <a:pt x="10" y="59"/>
                  </a:cubicBezTo>
                  <a:cubicBezTo>
                    <a:pt x="0" y="85"/>
                    <a:pt x="0" y="85"/>
                    <a:pt x="0" y="85"/>
                  </a:cubicBezTo>
                  <a:cubicBezTo>
                    <a:pt x="19" y="100"/>
                    <a:pt x="19" y="100"/>
                    <a:pt x="19" y="100"/>
                  </a:cubicBezTo>
                  <a:cubicBezTo>
                    <a:pt x="18" y="111"/>
                    <a:pt x="18" y="122"/>
                    <a:pt x="20" y="132"/>
                  </a:cubicBezTo>
                  <a:cubicBezTo>
                    <a:pt x="2" y="149"/>
                    <a:pt x="2" y="149"/>
                    <a:pt x="2" y="149"/>
                  </a:cubicBezTo>
                  <a:cubicBezTo>
                    <a:pt x="13" y="173"/>
                    <a:pt x="13" y="173"/>
                    <a:pt x="13" y="173"/>
                  </a:cubicBezTo>
                  <a:cubicBezTo>
                    <a:pt x="37" y="171"/>
                    <a:pt x="37" y="171"/>
                    <a:pt x="37" y="171"/>
                  </a:cubicBezTo>
                  <a:cubicBezTo>
                    <a:pt x="44" y="180"/>
                    <a:pt x="51" y="187"/>
                    <a:pt x="61" y="193"/>
                  </a:cubicBezTo>
                  <a:cubicBezTo>
                    <a:pt x="59" y="218"/>
                    <a:pt x="59" y="218"/>
                    <a:pt x="59" y="218"/>
                  </a:cubicBezTo>
                  <a:cubicBezTo>
                    <a:pt x="85" y="227"/>
                    <a:pt x="85" y="227"/>
                    <a:pt x="85" y="227"/>
                  </a:cubicBezTo>
                  <a:cubicBezTo>
                    <a:pt x="100" y="208"/>
                    <a:pt x="100" y="208"/>
                    <a:pt x="100" y="208"/>
                  </a:cubicBezTo>
                  <a:cubicBezTo>
                    <a:pt x="111" y="210"/>
                    <a:pt x="122" y="210"/>
                    <a:pt x="132" y="208"/>
                  </a:cubicBezTo>
                  <a:cubicBezTo>
                    <a:pt x="149" y="226"/>
                    <a:pt x="149" y="226"/>
                    <a:pt x="149" y="226"/>
                  </a:cubicBezTo>
                  <a:cubicBezTo>
                    <a:pt x="173" y="215"/>
                    <a:pt x="173" y="215"/>
                    <a:pt x="173" y="215"/>
                  </a:cubicBezTo>
                  <a:cubicBezTo>
                    <a:pt x="171" y="190"/>
                    <a:pt x="171" y="190"/>
                    <a:pt x="171" y="190"/>
                  </a:cubicBezTo>
                  <a:cubicBezTo>
                    <a:pt x="180" y="184"/>
                    <a:pt x="187" y="176"/>
                    <a:pt x="193" y="167"/>
                  </a:cubicBezTo>
                  <a:lnTo>
                    <a:pt x="218" y="168"/>
                  </a:lnTo>
                  <a:close/>
                  <a:moveTo>
                    <a:pt x="89" y="177"/>
                  </a:moveTo>
                  <a:cubicBezTo>
                    <a:pt x="55" y="164"/>
                    <a:pt x="37" y="124"/>
                    <a:pt x="50" y="89"/>
                  </a:cubicBezTo>
                  <a:cubicBezTo>
                    <a:pt x="64" y="55"/>
                    <a:pt x="103" y="37"/>
                    <a:pt x="138" y="50"/>
                  </a:cubicBezTo>
                  <a:cubicBezTo>
                    <a:pt x="173" y="64"/>
                    <a:pt x="191" y="103"/>
                    <a:pt x="177" y="138"/>
                  </a:cubicBezTo>
                  <a:cubicBezTo>
                    <a:pt x="164" y="173"/>
                    <a:pt x="124" y="191"/>
                    <a:pt x="89" y="1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
          <p:nvSpPr>
            <p:cNvPr id="38" name="Freeform 42">
              <a:extLst>
                <a:ext uri="{FF2B5EF4-FFF2-40B4-BE49-F238E27FC236}">
                  <a16:creationId xmlns:a16="http://schemas.microsoft.com/office/drawing/2014/main" id="{E8CD4D90-6E4C-5970-A268-3EF32D49A47F}"/>
                </a:ext>
              </a:extLst>
            </p:cNvPr>
            <p:cNvSpPr>
              <a:spLocks/>
            </p:cNvSpPr>
            <p:nvPr/>
          </p:nvSpPr>
          <p:spPr bwMode="auto">
            <a:xfrm>
              <a:off x="3662363" y="2760663"/>
              <a:ext cx="79375" cy="138112"/>
            </a:xfrm>
            <a:custGeom>
              <a:avLst/>
              <a:gdLst>
                <a:gd name="T0" fmla="*/ 47 w 62"/>
                <a:gd name="T1" fmla="*/ 45 h 110"/>
                <a:gd name="T2" fmla="*/ 18 w 62"/>
                <a:gd name="T3" fmla="*/ 45 h 110"/>
                <a:gd name="T4" fmla="*/ 18 w 62"/>
                <a:gd name="T5" fmla="*/ 37 h 110"/>
                <a:gd name="T6" fmla="*/ 53 w 62"/>
                <a:gd name="T7" fmla="*/ 37 h 110"/>
                <a:gd name="T8" fmla="*/ 62 w 62"/>
                <a:gd name="T9" fmla="*/ 28 h 110"/>
                <a:gd name="T10" fmla="*/ 53 w 62"/>
                <a:gd name="T11" fmla="*/ 19 h 110"/>
                <a:gd name="T12" fmla="*/ 40 w 62"/>
                <a:gd name="T13" fmla="*/ 19 h 110"/>
                <a:gd name="T14" fmla="*/ 40 w 62"/>
                <a:gd name="T15" fmla="*/ 9 h 110"/>
                <a:gd name="T16" fmla="*/ 31 w 62"/>
                <a:gd name="T17" fmla="*/ 0 h 110"/>
                <a:gd name="T18" fmla="*/ 22 w 62"/>
                <a:gd name="T19" fmla="*/ 9 h 110"/>
                <a:gd name="T20" fmla="*/ 22 w 62"/>
                <a:gd name="T21" fmla="*/ 19 h 110"/>
                <a:gd name="T22" fmla="*/ 15 w 62"/>
                <a:gd name="T23" fmla="*/ 19 h 110"/>
                <a:gd name="T24" fmla="*/ 0 w 62"/>
                <a:gd name="T25" fmla="*/ 33 h 110"/>
                <a:gd name="T26" fmla="*/ 0 w 62"/>
                <a:gd name="T27" fmla="*/ 49 h 110"/>
                <a:gd name="T28" fmla="*/ 15 w 62"/>
                <a:gd name="T29" fmla="*/ 63 h 110"/>
                <a:gd name="T30" fmla="*/ 44 w 62"/>
                <a:gd name="T31" fmla="*/ 63 h 110"/>
                <a:gd name="T32" fmla="*/ 44 w 62"/>
                <a:gd name="T33" fmla="*/ 70 h 110"/>
                <a:gd name="T34" fmla="*/ 9 w 62"/>
                <a:gd name="T35" fmla="*/ 70 h 110"/>
                <a:gd name="T36" fmla="*/ 0 w 62"/>
                <a:gd name="T37" fmla="*/ 79 h 110"/>
                <a:gd name="T38" fmla="*/ 9 w 62"/>
                <a:gd name="T39" fmla="*/ 88 h 110"/>
                <a:gd name="T40" fmla="*/ 22 w 62"/>
                <a:gd name="T41" fmla="*/ 88 h 110"/>
                <a:gd name="T42" fmla="*/ 22 w 62"/>
                <a:gd name="T43" fmla="*/ 101 h 110"/>
                <a:gd name="T44" fmla="*/ 31 w 62"/>
                <a:gd name="T45" fmla="*/ 110 h 110"/>
                <a:gd name="T46" fmla="*/ 40 w 62"/>
                <a:gd name="T47" fmla="*/ 101 h 110"/>
                <a:gd name="T48" fmla="*/ 40 w 62"/>
                <a:gd name="T49" fmla="*/ 88 h 110"/>
                <a:gd name="T50" fmla="*/ 47 w 62"/>
                <a:gd name="T51" fmla="*/ 88 h 110"/>
                <a:gd name="T52" fmla="*/ 62 w 62"/>
                <a:gd name="T53" fmla="*/ 75 h 110"/>
                <a:gd name="T54" fmla="*/ 62 w 62"/>
                <a:gd name="T55" fmla="*/ 58 h 110"/>
                <a:gd name="T56" fmla="*/ 47 w 62"/>
                <a:gd name="T57" fmla="*/ 45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2" h="110">
                  <a:moveTo>
                    <a:pt x="47" y="45"/>
                  </a:moveTo>
                  <a:cubicBezTo>
                    <a:pt x="18" y="45"/>
                    <a:pt x="18" y="45"/>
                    <a:pt x="18" y="45"/>
                  </a:cubicBezTo>
                  <a:cubicBezTo>
                    <a:pt x="18" y="37"/>
                    <a:pt x="18" y="37"/>
                    <a:pt x="18" y="37"/>
                  </a:cubicBezTo>
                  <a:cubicBezTo>
                    <a:pt x="53" y="37"/>
                    <a:pt x="53" y="37"/>
                    <a:pt x="53" y="37"/>
                  </a:cubicBezTo>
                  <a:cubicBezTo>
                    <a:pt x="58" y="37"/>
                    <a:pt x="62" y="33"/>
                    <a:pt x="62" y="28"/>
                  </a:cubicBezTo>
                  <a:cubicBezTo>
                    <a:pt x="62" y="23"/>
                    <a:pt x="58" y="19"/>
                    <a:pt x="53" y="19"/>
                  </a:cubicBezTo>
                  <a:cubicBezTo>
                    <a:pt x="40" y="19"/>
                    <a:pt x="40" y="19"/>
                    <a:pt x="40" y="19"/>
                  </a:cubicBezTo>
                  <a:cubicBezTo>
                    <a:pt x="40" y="9"/>
                    <a:pt x="40" y="9"/>
                    <a:pt x="40" y="9"/>
                  </a:cubicBezTo>
                  <a:cubicBezTo>
                    <a:pt x="40" y="4"/>
                    <a:pt x="36" y="0"/>
                    <a:pt x="31" y="0"/>
                  </a:cubicBezTo>
                  <a:cubicBezTo>
                    <a:pt x="26" y="0"/>
                    <a:pt x="22" y="4"/>
                    <a:pt x="22" y="9"/>
                  </a:cubicBezTo>
                  <a:cubicBezTo>
                    <a:pt x="22" y="19"/>
                    <a:pt x="22" y="19"/>
                    <a:pt x="22" y="19"/>
                  </a:cubicBezTo>
                  <a:cubicBezTo>
                    <a:pt x="15" y="19"/>
                    <a:pt x="15" y="19"/>
                    <a:pt x="15" y="19"/>
                  </a:cubicBezTo>
                  <a:cubicBezTo>
                    <a:pt x="6" y="19"/>
                    <a:pt x="0" y="25"/>
                    <a:pt x="0" y="33"/>
                  </a:cubicBezTo>
                  <a:cubicBezTo>
                    <a:pt x="0" y="49"/>
                    <a:pt x="0" y="49"/>
                    <a:pt x="0" y="49"/>
                  </a:cubicBezTo>
                  <a:cubicBezTo>
                    <a:pt x="0" y="57"/>
                    <a:pt x="6" y="63"/>
                    <a:pt x="15" y="63"/>
                  </a:cubicBezTo>
                  <a:cubicBezTo>
                    <a:pt x="44" y="63"/>
                    <a:pt x="44" y="63"/>
                    <a:pt x="44" y="63"/>
                  </a:cubicBezTo>
                  <a:cubicBezTo>
                    <a:pt x="44" y="70"/>
                    <a:pt x="44" y="70"/>
                    <a:pt x="44" y="70"/>
                  </a:cubicBezTo>
                  <a:cubicBezTo>
                    <a:pt x="9" y="70"/>
                    <a:pt x="9" y="70"/>
                    <a:pt x="9" y="70"/>
                  </a:cubicBezTo>
                  <a:cubicBezTo>
                    <a:pt x="4" y="70"/>
                    <a:pt x="0" y="74"/>
                    <a:pt x="0" y="79"/>
                  </a:cubicBezTo>
                  <a:cubicBezTo>
                    <a:pt x="0" y="84"/>
                    <a:pt x="4" y="88"/>
                    <a:pt x="9" y="88"/>
                  </a:cubicBezTo>
                  <a:cubicBezTo>
                    <a:pt x="22" y="88"/>
                    <a:pt x="22" y="88"/>
                    <a:pt x="22" y="88"/>
                  </a:cubicBezTo>
                  <a:cubicBezTo>
                    <a:pt x="22" y="101"/>
                    <a:pt x="22" y="101"/>
                    <a:pt x="22" y="101"/>
                  </a:cubicBezTo>
                  <a:cubicBezTo>
                    <a:pt x="22" y="106"/>
                    <a:pt x="26" y="110"/>
                    <a:pt x="31" y="110"/>
                  </a:cubicBezTo>
                  <a:cubicBezTo>
                    <a:pt x="36" y="110"/>
                    <a:pt x="40" y="106"/>
                    <a:pt x="40" y="101"/>
                  </a:cubicBezTo>
                  <a:cubicBezTo>
                    <a:pt x="40" y="88"/>
                    <a:pt x="40" y="88"/>
                    <a:pt x="40" y="88"/>
                  </a:cubicBezTo>
                  <a:cubicBezTo>
                    <a:pt x="47" y="88"/>
                    <a:pt x="47" y="88"/>
                    <a:pt x="47" y="88"/>
                  </a:cubicBezTo>
                  <a:cubicBezTo>
                    <a:pt x="55" y="88"/>
                    <a:pt x="62" y="82"/>
                    <a:pt x="62" y="75"/>
                  </a:cubicBezTo>
                  <a:cubicBezTo>
                    <a:pt x="62" y="58"/>
                    <a:pt x="62" y="58"/>
                    <a:pt x="62" y="58"/>
                  </a:cubicBezTo>
                  <a:cubicBezTo>
                    <a:pt x="62" y="51"/>
                    <a:pt x="55" y="45"/>
                    <a:pt x="47"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grpSp>
      <p:sp>
        <p:nvSpPr>
          <p:cNvPr id="40" name="TextBox 39">
            <a:extLst>
              <a:ext uri="{FF2B5EF4-FFF2-40B4-BE49-F238E27FC236}">
                <a16:creationId xmlns:a16="http://schemas.microsoft.com/office/drawing/2014/main" id="{CAB31427-D09B-6DE6-EBFF-09E1F89639DB}"/>
              </a:ext>
            </a:extLst>
          </p:cNvPr>
          <p:cNvSpPr txBox="1"/>
          <p:nvPr/>
        </p:nvSpPr>
        <p:spPr bwMode="auto">
          <a:xfrm>
            <a:off x="1523925" y="2777792"/>
            <a:ext cx="6102350" cy="2031325"/>
          </a:xfrm>
          <a:prstGeom prst="rect">
            <a:avLst/>
          </a:prstGeom>
          <a:noFill/>
          <a:ln w="9525">
            <a:noFill/>
            <a:miter lim="800000"/>
            <a:headEnd/>
            <a:tailEnd/>
          </a:ln>
        </p:spPr>
        <p:txBody>
          <a:bodyPr wrap="square">
            <a:spAutoFit/>
          </a:bodyPr>
          <a:lstStyle/>
          <a:p>
            <a:pPr marL="285750" indent="-285750">
              <a:buFont typeface="Arial" panose="020B0604020202020204" pitchFamily="34" charset="0"/>
              <a:buChar char="•"/>
            </a:pPr>
            <a:r>
              <a:rPr lang="es-CL" i="1" spc="-50" dirty="0">
                <a:solidFill>
                  <a:schemeClr val="bg1"/>
                </a:solidFill>
              </a:rPr>
              <a:t>Paquete de Lanzamiento: </a:t>
            </a:r>
            <a:r>
              <a:rPr lang="es-CL" i="1" spc="-50" dirty="0" err="1">
                <a:solidFill>
                  <a:schemeClr val="bg1"/>
                </a:solidFill>
              </a:rPr>
              <a:t>Assessments</a:t>
            </a:r>
            <a:r>
              <a:rPr lang="es-CL" sz="1800" b="1" i="1" dirty="0">
                <a:solidFill>
                  <a:srgbClr val="000000"/>
                </a:solidFill>
                <a:effectLst/>
                <a:latin typeface="Arial" panose="020B0604020202020204" pitchFamily="34" charset="0"/>
                <a:ea typeface="Arial" panose="020B0604020202020204" pitchFamily="34" charset="0"/>
              </a:rPr>
              <a:t> </a:t>
            </a:r>
          </a:p>
          <a:p>
            <a:pPr marL="285750" indent="-285750">
              <a:buFont typeface="Arial" panose="020B0604020202020204" pitchFamily="34" charset="0"/>
              <a:buChar char="•"/>
            </a:pPr>
            <a:r>
              <a:rPr lang="es-CL" i="1" spc="-50" dirty="0">
                <a:solidFill>
                  <a:schemeClr val="bg1"/>
                </a:solidFill>
              </a:rPr>
              <a:t>Servicios de Consultor Asignado</a:t>
            </a:r>
          </a:p>
          <a:p>
            <a:r>
              <a:rPr lang="es-CL" i="1" spc="-50" dirty="0">
                <a:solidFill>
                  <a:schemeClr val="bg1"/>
                </a:solidFill>
              </a:rPr>
              <a:t>       +  Servicios Extendidos</a:t>
            </a:r>
          </a:p>
          <a:p>
            <a:pPr marL="285750" indent="-285750">
              <a:buFont typeface="Arial" panose="020B0604020202020204" pitchFamily="34" charset="0"/>
              <a:buChar char="•"/>
            </a:pPr>
            <a:r>
              <a:rPr lang="es-CL" i="1" spc="-50" dirty="0">
                <a:solidFill>
                  <a:schemeClr val="bg1"/>
                </a:solidFill>
              </a:rPr>
              <a:t>Servicios a largo Plazo</a:t>
            </a:r>
          </a:p>
          <a:p>
            <a:pPr marL="285750" indent="-285750">
              <a:buFont typeface="Arial" panose="020B0604020202020204" pitchFamily="34" charset="0"/>
              <a:buChar char="•"/>
            </a:pPr>
            <a:endParaRPr lang="es-CL" spc="-50" dirty="0">
              <a:solidFill>
                <a:schemeClr val="bg1"/>
              </a:solidFill>
            </a:endParaRPr>
          </a:p>
          <a:p>
            <a:pPr marL="285750" indent="-285750">
              <a:buFont typeface="Arial" panose="020B0604020202020204" pitchFamily="34" charset="0"/>
              <a:buChar char="•"/>
            </a:pPr>
            <a:endParaRPr lang="en-US" dirty="0"/>
          </a:p>
          <a:p>
            <a:endParaRPr lang="en-US" dirty="0"/>
          </a:p>
        </p:txBody>
      </p:sp>
      <p:sp>
        <p:nvSpPr>
          <p:cNvPr id="41" name="TextBox 40">
            <a:extLst>
              <a:ext uri="{FF2B5EF4-FFF2-40B4-BE49-F238E27FC236}">
                <a16:creationId xmlns:a16="http://schemas.microsoft.com/office/drawing/2014/main" id="{37CB065C-D163-2730-465B-864E820D207F}"/>
              </a:ext>
            </a:extLst>
          </p:cNvPr>
          <p:cNvSpPr txBox="1"/>
          <p:nvPr/>
        </p:nvSpPr>
        <p:spPr bwMode="auto">
          <a:xfrm>
            <a:off x="7430014" y="2783323"/>
            <a:ext cx="6102350" cy="2031325"/>
          </a:xfrm>
          <a:prstGeom prst="rect">
            <a:avLst/>
          </a:prstGeom>
          <a:noFill/>
          <a:ln w="9525">
            <a:noFill/>
            <a:miter lim="800000"/>
            <a:headEnd/>
            <a:tailEnd/>
          </a:ln>
        </p:spPr>
        <p:txBody>
          <a:bodyPr wrap="square">
            <a:spAutoFit/>
          </a:bodyPr>
          <a:lstStyle/>
          <a:p>
            <a:pPr marL="285750" indent="-285750">
              <a:buFont typeface="Arial" panose="020B0604020202020204" pitchFamily="34" charset="0"/>
              <a:buChar char="•"/>
            </a:pPr>
            <a:r>
              <a:rPr lang="es-CL" i="1" spc="-50" dirty="0">
                <a:solidFill>
                  <a:schemeClr val="bg1"/>
                </a:solidFill>
              </a:rPr>
              <a:t>Valor Hora USD 130 v/s 170 USD</a:t>
            </a:r>
            <a:endParaRPr lang="es-CL" sz="1800" b="1" i="1" dirty="0">
              <a:solidFill>
                <a:srgbClr val="000000"/>
              </a:solidFill>
              <a:effectLst/>
              <a:latin typeface="Arial" panose="020B0604020202020204" pitchFamily="34" charset="0"/>
              <a:ea typeface="Arial" panose="020B0604020202020204" pitchFamily="34" charset="0"/>
            </a:endParaRPr>
          </a:p>
          <a:p>
            <a:pPr marL="285750" indent="-285750">
              <a:buFont typeface="Arial" panose="020B0604020202020204" pitchFamily="34" charset="0"/>
              <a:buChar char="•"/>
            </a:pPr>
            <a:r>
              <a:rPr lang="es-CL" i="1" spc="-50" dirty="0">
                <a:solidFill>
                  <a:schemeClr val="bg1"/>
                </a:solidFill>
              </a:rPr>
              <a:t>Uso de servicios y productos existentes </a:t>
            </a:r>
          </a:p>
          <a:p>
            <a:pPr marL="285750" indent="-285750">
              <a:buFont typeface="Arial" panose="020B0604020202020204" pitchFamily="34" charset="0"/>
              <a:buChar char="•"/>
            </a:pPr>
            <a:r>
              <a:rPr lang="es-CL" i="1" spc="-50" dirty="0">
                <a:solidFill>
                  <a:schemeClr val="bg1"/>
                </a:solidFill>
              </a:rPr>
              <a:t>Estructura Costos acotada</a:t>
            </a:r>
          </a:p>
          <a:p>
            <a:r>
              <a:rPr lang="es-CL" i="1" spc="-50" dirty="0">
                <a:solidFill>
                  <a:schemeClr val="bg1"/>
                </a:solidFill>
              </a:rPr>
              <a:t>        </a:t>
            </a:r>
          </a:p>
          <a:p>
            <a:pPr marL="285750" indent="-285750">
              <a:buFont typeface="Arial" panose="020B0604020202020204" pitchFamily="34" charset="0"/>
              <a:buChar char="•"/>
            </a:pPr>
            <a:endParaRPr lang="es-CL" spc="-50" dirty="0">
              <a:solidFill>
                <a:schemeClr val="bg1"/>
              </a:solidFill>
            </a:endParaRPr>
          </a:p>
          <a:p>
            <a:pPr marL="285750" indent="-285750">
              <a:buFont typeface="Arial" panose="020B0604020202020204" pitchFamily="34" charset="0"/>
              <a:buChar char="•"/>
            </a:pPr>
            <a:endParaRPr lang="en-US" dirty="0"/>
          </a:p>
          <a:p>
            <a:endParaRPr lang="en-US" dirty="0"/>
          </a:p>
        </p:txBody>
      </p:sp>
      <p:sp>
        <p:nvSpPr>
          <p:cNvPr id="45" name="TextBox 44">
            <a:extLst>
              <a:ext uri="{FF2B5EF4-FFF2-40B4-BE49-F238E27FC236}">
                <a16:creationId xmlns:a16="http://schemas.microsoft.com/office/drawing/2014/main" id="{EF3919F0-4B03-8584-FCB3-D5628A77EEBE}"/>
              </a:ext>
            </a:extLst>
          </p:cNvPr>
          <p:cNvSpPr txBox="1"/>
          <p:nvPr/>
        </p:nvSpPr>
        <p:spPr bwMode="auto">
          <a:xfrm>
            <a:off x="538607" y="5851537"/>
            <a:ext cx="11470391" cy="707886"/>
          </a:xfrm>
          <a:prstGeom prst="rect">
            <a:avLst/>
          </a:prstGeom>
          <a:noFill/>
          <a:ln w="9525">
            <a:noFill/>
            <a:miter lim="800000"/>
            <a:headEnd/>
            <a:tailEnd/>
          </a:ln>
        </p:spPr>
        <p:txBody>
          <a:bodyPr wrap="square">
            <a:spAutoFit/>
          </a:bodyPr>
          <a:lstStyle/>
          <a:p>
            <a:r>
              <a:rPr lang="es-CL" sz="2000" dirty="0">
                <a:solidFill>
                  <a:schemeClr val="bg1"/>
                </a:solidFill>
                <a:effectLst/>
                <a:latin typeface="Arial" panose="020B0604020202020204" pitchFamily="34" charset="0"/>
                <a:ea typeface="Arial" panose="020B0604020202020204" pitchFamily="34" charset="0"/>
              </a:rPr>
              <a:t>Al enfocarse en segmentos específicos, la empresa busca posicionarse como una opción confiable y accesible en el mercado de la ciberseguridad en Colombia</a:t>
            </a:r>
            <a:endParaRPr lang="en-US" sz="2000" dirty="0">
              <a:solidFill>
                <a:schemeClr val="bg1"/>
              </a:solidFill>
            </a:endParaRPr>
          </a:p>
        </p:txBody>
      </p:sp>
      <p:grpSp>
        <p:nvGrpSpPr>
          <p:cNvPr id="46" name="Group 15">
            <a:extLst>
              <a:ext uri="{FF2B5EF4-FFF2-40B4-BE49-F238E27FC236}">
                <a16:creationId xmlns:a16="http://schemas.microsoft.com/office/drawing/2014/main" id="{FE702058-FE8E-8E67-C850-988A381AF1CD}"/>
              </a:ext>
            </a:extLst>
          </p:cNvPr>
          <p:cNvGrpSpPr>
            <a:grpSpLocks noChangeAspect="1"/>
          </p:cNvGrpSpPr>
          <p:nvPr/>
        </p:nvGrpSpPr>
        <p:grpSpPr bwMode="auto">
          <a:xfrm>
            <a:off x="6525728" y="4660975"/>
            <a:ext cx="487235" cy="646331"/>
            <a:chOff x="348" y="884"/>
            <a:chExt cx="343" cy="455"/>
          </a:xfrm>
          <a:solidFill>
            <a:schemeClr val="bg1"/>
          </a:solidFill>
        </p:grpSpPr>
        <p:sp>
          <p:nvSpPr>
            <p:cNvPr id="47" name="Freeform 16">
              <a:extLst>
                <a:ext uri="{FF2B5EF4-FFF2-40B4-BE49-F238E27FC236}">
                  <a16:creationId xmlns:a16="http://schemas.microsoft.com/office/drawing/2014/main" id="{6C2FDB8E-0E55-66F2-5549-A8A16F8C36D3}"/>
                </a:ext>
              </a:extLst>
            </p:cNvPr>
            <p:cNvSpPr>
              <a:spLocks/>
            </p:cNvSpPr>
            <p:nvPr/>
          </p:nvSpPr>
          <p:spPr bwMode="auto">
            <a:xfrm>
              <a:off x="446" y="1024"/>
              <a:ext cx="133" cy="315"/>
            </a:xfrm>
            <a:custGeom>
              <a:avLst/>
              <a:gdLst>
                <a:gd name="T0" fmla="*/ 33 w 65"/>
                <a:gd name="T1" fmla="*/ 155 h 155"/>
                <a:gd name="T2" fmla="*/ 8 w 65"/>
                <a:gd name="T3" fmla="*/ 155 h 155"/>
                <a:gd name="T4" fmla="*/ 2 w 65"/>
                <a:gd name="T5" fmla="*/ 148 h 155"/>
                <a:gd name="T6" fmla="*/ 22 w 65"/>
                <a:gd name="T7" fmla="*/ 49 h 155"/>
                <a:gd name="T8" fmla="*/ 23 w 65"/>
                <a:gd name="T9" fmla="*/ 47 h 155"/>
                <a:gd name="T10" fmla="*/ 21 w 65"/>
                <a:gd name="T11" fmla="*/ 41 h 155"/>
                <a:gd name="T12" fmla="*/ 11 w 65"/>
                <a:gd name="T13" fmla="*/ 21 h 155"/>
                <a:gd name="T14" fmla="*/ 33 w 65"/>
                <a:gd name="T15" fmla="*/ 0 h 155"/>
                <a:gd name="T16" fmla="*/ 55 w 65"/>
                <a:gd name="T17" fmla="*/ 21 h 155"/>
                <a:gd name="T18" fmla="*/ 46 w 65"/>
                <a:gd name="T19" fmla="*/ 41 h 155"/>
                <a:gd name="T20" fmla="*/ 43 w 65"/>
                <a:gd name="T21" fmla="*/ 47 h 155"/>
                <a:gd name="T22" fmla="*/ 60 w 65"/>
                <a:gd name="T23" fmla="*/ 128 h 155"/>
                <a:gd name="T24" fmla="*/ 64 w 65"/>
                <a:gd name="T25" fmla="*/ 146 h 155"/>
                <a:gd name="T26" fmla="*/ 64 w 65"/>
                <a:gd name="T27" fmla="*/ 148 h 155"/>
                <a:gd name="T28" fmla="*/ 58 w 65"/>
                <a:gd name="T29" fmla="*/ 155 h 155"/>
                <a:gd name="T30" fmla="*/ 33 w 65"/>
                <a:gd name="T31" fmla="*/ 155 h 155"/>
                <a:gd name="T32" fmla="*/ 33 w 65"/>
                <a:gd name="T33"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5" h="155">
                  <a:moveTo>
                    <a:pt x="33" y="155"/>
                  </a:moveTo>
                  <a:cubicBezTo>
                    <a:pt x="25" y="155"/>
                    <a:pt x="16" y="155"/>
                    <a:pt x="8" y="155"/>
                  </a:cubicBezTo>
                  <a:cubicBezTo>
                    <a:pt x="2" y="155"/>
                    <a:pt x="0" y="154"/>
                    <a:pt x="2" y="148"/>
                  </a:cubicBezTo>
                  <a:cubicBezTo>
                    <a:pt x="9" y="115"/>
                    <a:pt x="16" y="82"/>
                    <a:pt x="22" y="49"/>
                  </a:cubicBezTo>
                  <a:cubicBezTo>
                    <a:pt x="23" y="48"/>
                    <a:pt x="23" y="47"/>
                    <a:pt x="23" y="47"/>
                  </a:cubicBezTo>
                  <a:cubicBezTo>
                    <a:pt x="24" y="44"/>
                    <a:pt x="23" y="43"/>
                    <a:pt x="21" y="41"/>
                  </a:cubicBezTo>
                  <a:cubicBezTo>
                    <a:pt x="14" y="37"/>
                    <a:pt x="10" y="30"/>
                    <a:pt x="11" y="21"/>
                  </a:cubicBezTo>
                  <a:cubicBezTo>
                    <a:pt x="11" y="9"/>
                    <a:pt x="21" y="0"/>
                    <a:pt x="33" y="0"/>
                  </a:cubicBezTo>
                  <a:cubicBezTo>
                    <a:pt x="45" y="0"/>
                    <a:pt x="55" y="9"/>
                    <a:pt x="55" y="21"/>
                  </a:cubicBezTo>
                  <a:cubicBezTo>
                    <a:pt x="56" y="29"/>
                    <a:pt x="53" y="36"/>
                    <a:pt x="46" y="41"/>
                  </a:cubicBezTo>
                  <a:cubicBezTo>
                    <a:pt x="43" y="43"/>
                    <a:pt x="43" y="44"/>
                    <a:pt x="43" y="47"/>
                  </a:cubicBezTo>
                  <a:cubicBezTo>
                    <a:pt x="49" y="74"/>
                    <a:pt x="55" y="101"/>
                    <a:pt x="60" y="128"/>
                  </a:cubicBezTo>
                  <a:cubicBezTo>
                    <a:pt x="62" y="134"/>
                    <a:pt x="63" y="140"/>
                    <a:pt x="64" y="146"/>
                  </a:cubicBezTo>
                  <a:cubicBezTo>
                    <a:pt x="64" y="147"/>
                    <a:pt x="64" y="147"/>
                    <a:pt x="64" y="148"/>
                  </a:cubicBezTo>
                  <a:cubicBezTo>
                    <a:pt x="65" y="154"/>
                    <a:pt x="64" y="155"/>
                    <a:pt x="58" y="155"/>
                  </a:cubicBezTo>
                  <a:cubicBezTo>
                    <a:pt x="49" y="155"/>
                    <a:pt x="41" y="155"/>
                    <a:pt x="33" y="155"/>
                  </a:cubicBezTo>
                  <a:cubicBezTo>
                    <a:pt x="33" y="155"/>
                    <a:pt x="33" y="155"/>
                    <a:pt x="33" y="1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48" name="Freeform 17">
              <a:extLst>
                <a:ext uri="{FF2B5EF4-FFF2-40B4-BE49-F238E27FC236}">
                  <a16:creationId xmlns:a16="http://schemas.microsoft.com/office/drawing/2014/main" id="{1C279829-ED15-6C79-FFAE-4560E8AB8A02}"/>
                </a:ext>
              </a:extLst>
            </p:cNvPr>
            <p:cNvSpPr>
              <a:spLocks/>
            </p:cNvSpPr>
            <p:nvPr/>
          </p:nvSpPr>
          <p:spPr bwMode="auto">
            <a:xfrm>
              <a:off x="348" y="884"/>
              <a:ext cx="343" cy="335"/>
            </a:xfrm>
            <a:custGeom>
              <a:avLst/>
              <a:gdLst>
                <a:gd name="T0" fmla="*/ 0 w 168"/>
                <a:gd name="T1" fmla="*/ 90 h 165"/>
                <a:gd name="T2" fmla="*/ 63 w 168"/>
                <a:gd name="T3" fmla="*/ 11 h 165"/>
                <a:gd name="T4" fmla="*/ 161 w 168"/>
                <a:gd name="T5" fmla="*/ 75 h 165"/>
                <a:gd name="T6" fmla="*/ 119 w 168"/>
                <a:gd name="T7" fmla="*/ 162 h 165"/>
                <a:gd name="T8" fmla="*/ 115 w 168"/>
                <a:gd name="T9" fmla="*/ 164 h 165"/>
                <a:gd name="T10" fmla="*/ 110 w 168"/>
                <a:gd name="T11" fmla="*/ 162 h 165"/>
                <a:gd name="T12" fmla="*/ 112 w 168"/>
                <a:gd name="T13" fmla="*/ 156 h 165"/>
                <a:gd name="T14" fmla="*/ 115 w 168"/>
                <a:gd name="T15" fmla="*/ 155 h 165"/>
                <a:gd name="T16" fmla="*/ 153 w 168"/>
                <a:gd name="T17" fmla="*/ 101 h 165"/>
                <a:gd name="T18" fmla="*/ 99 w 168"/>
                <a:gd name="T19" fmla="*/ 20 h 165"/>
                <a:gd name="T20" fmla="*/ 10 w 168"/>
                <a:gd name="T21" fmla="*/ 78 h 165"/>
                <a:gd name="T22" fmla="*/ 46 w 168"/>
                <a:gd name="T23" fmla="*/ 154 h 165"/>
                <a:gd name="T24" fmla="*/ 50 w 168"/>
                <a:gd name="T25" fmla="*/ 156 h 165"/>
                <a:gd name="T26" fmla="*/ 52 w 168"/>
                <a:gd name="T27" fmla="*/ 162 h 165"/>
                <a:gd name="T28" fmla="*/ 47 w 168"/>
                <a:gd name="T29" fmla="*/ 164 h 165"/>
                <a:gd name="T30" fmla="*/ 43 w 168"/>
                <a:gd name="T31" fmla="*/ 163 h 165"/>
                <a:gd name="T32" fmla="*/ 1 w 168"/>
                <a:gd name="T33" fmla="*/ 102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8" h="165">
                  <a:moveTo>
                    <a:pt x="0" y="90"/>
                  </a:moveTo>
                  <a:cubicBezTo>
                    <a:pt x="0" y="52"/>
                    <a:pt x="26" y="19"/>
                    <a:pt x="63" y="11"/>
                  </a:cubicBezTo>
                  <a:cubicBezTo>
                    <a:pt x="112" y="0"/>
                    <a:pt x="153" y="33"/>
                    <a:pt x="161" y="75"/>
                  </a:cubicBezTo>
                  <a:cubicBezTo>
                    <a:pt x="168" y="112"/>
                    <a:pt x="149" y="147"/>
                    <a:pt x="119" y="162"/>
                  </a:cubicBezTo>
                  <a:cubicBezTo>
                    <a:pt x="118" y="163"/>
                    <a:pt x="117" y="164"/>
                    <a:pt x="115" y="164"/>
                  </a:cubicBezTo>
                  <a:cubicBezTo>
                    <a:pt x="113" y="165"/>
                    <a:pt x="111" y="164"/>
                    <a:pt x="110" y="162"/>
                  </a:cubicBezTo>
                  <a:cubicBezTo>
                    <a:pt x="110" y="160"/>
                    <a:pt x="110" y="158"/>
                    <a:pt x="112" y="156"/>
                  </a:cubicBezTo>
                  <a:cubicBezTo>
                    <a:pt x="113" y="156"/>
                    <a:pt x="114" y="155"/>
                    <a:pt x="115" y="155"/>
                  </a:cubicBezTo>
                  <a:cubicBezTo>
                    <a:pt x="136" y="143"/>
                    <a:pt x="149" y="125"/>
                    <a:pt x="153" y="101"/>
                  </a:cubicBezTo>
                  <a:cubicBezTo>
                    <a:pt x="158" y="64"/>
                    <a:pt x="135" y="29"/>
                    <a:pt x="99" y="20"/>
                  </a:cubicBezTo>
                  <a:cubicBezTo>
                    <a:pt x="58" y="10"/>
                    <a:pt x="18" y="36"/>
                    <a:pt x="10" y="78"/>
                  </a:cubicBezTo>
                  <a:cubicBezTo>
                    <a:pt x="4" y="108"/>
                    <a:pt x="19" y="139"/>
                    <a:pt x="46" y="154"/>
                  </a:cubicBezTo>
                  <a:cubicBezTo>
                    <a:pt x="48" y="155"/>
                    <a:pt x="49" y="156"/>
                    <a:pt x="50" y="156"/>
                  </a:cubicBezTo>
                  <a:cubicBezTo>
                    <a:pt x="52" y="158"/>
                    <a:pt x="53" y="160"/>
                    <a:pt x="52" y="162"/>
                  </a:cubicBezTo>
                  <a:cubicBezTo>
                    <a:pt x="51" y="164"/>
                    <a:pt x="49" y="165"/>
                    <a:pt x="47" y="164"/>
                  </a:cubicBezTo>
                  <a:cubicBezTo>
                    <a:pt x="45" y="164"/>
                    <a:pt x="44" y="163"/>
                    <a:pt x="43" y="163"/>
                  </a:cubicBezTo>
                  <a:cubicBezTo>
                    <a:pt x="19" y="149"/>
                    <a:pt x="5" y="129"/>
                    <a:pt x="1" y="1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49" name="Freeform 18">
              <a:extLst>
                <a:ext uri="{FF2B5EF4-FFF2-40B4-BE49-F238E27FC236}">
                  <a16:creationId xmlns:a16="http://schemas.microsoft.com/office/drawing/2014/main" id="{35C55C05-7FAE-059F-5034-92FBC682BFC6}"/>
                </a:ext>
              </a:extLst>
            </p:cNvPr>
            <p:cNvSpPr>
              <a:spLocks/>
            </p:cNvSpPr>
            <p:nvPr/>
          </p:nvSpPr>
          <p:spPr bwMode="auto">
            <a:xfrm>
              <a:off x="391" y="941"/>
              <a:ext cx="249" cy="231"/>
            </a:xfrm>
            <a:custGeom>
              <a:avLst/>
              <a:gdLst>
                <a:gd name="T0" fmla="*/ 1 w 122"/>
                <a:gd name="T1" fmla="*/ 58 h 114"/>
                <a:gd name="T2" fmla="*/ 54 w 122"/>
                <a:gd name="T3" fmla="*/ 4 h 114"/>
                <a:gd name="T4" fmla="*/ 118 w 122"/>
                <a:gd name="T5" fmla="*/ 51 h 114"/>
                <a:gd name="T6" fmla="*/ 95 w 122"/>
                <a:gd name="T7" fmla="*/ 110 h 114"/>
                <a:gd name="T8" fmla="*/ 90 w 122"/>
                <a:gd name="T9" fmla="*/ 113 h 114"/>
                <a:gd name="T10" fmla="*/ 84 w 122"/>
                <a:gd name="T11" fmla="*/ 112 h 114"/>
                <a:gd name="T12" fmla="*/ 86 w 122"/>
                <a:gd name="T13" fmla="*/ 106 h 114"/>
                <a:gd name="T14" fmla="*/ 89 w 122"/>
                <a:gd name="T15" fmla="*/ 103 h 114"/>
                <a:gd name="T16" fmla="*/ 109 w 122"/>
                <a:gd name="T17" fmla="*/ 52 h 114"/>
                <a:gd name="T18" fmla="*/ 69 w 122"/>
                <a:gd name="T19" fmla="*/ 13 h 114"/>
                <a:gd name="T20" fmla="*/ 11 w 122"/>
                <a:gd name="T21" fmla="*/ 55 h 114"/>
                <a:gd name="T22" fmla="*/ 31 w 122"/>
                <a:gd name="T23" fmla="*/ 104 h 114"/>
                <a:gd name="T24" fmla="*/ 35 w 122"/>
                <a:gd name="T25" fmla="*/ 106 h 114"/>
                <a:gd name="T26" fmla="*/ 36 w 122"/>
                <a:gd name="T27" fmla="*/ 112 h 114"/>
                <a:gd name="T28" fmla="*/ 30 w 122"/>
                <a:gd name="T29" fmla="*/ 113 h 114"/>
                <a:gd name="T30" fmla="*/ 25 w 122"/>
                <a:gd name="T31" fmla="*/ 110 h 114"/>
                <a:gd name="T32" fmla="*/ 1 w 122"/>
                <a:gd name="T33" fmla="*/ 5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114">
                  <a:moveTo>
                    <a:pt x="1" y="58"/>
                  </a:moveTo>
                  <a:cubicBezTo>
                    <a:pt x="0" y="37"/>
                    <a:pt x="20" y="8"/>
                    <a:pt x="54" y="4"/>
                  </a:cubicBezTo>
                  <a:cubicBezTo>
                    <a:pt x="84" y="0"/>
                    <a:pt x="112" y="21"/>
                    <a:pt x="118" y="51"/>
                  </a:cubicBezTo>
                  <a:cubicBezTo>
                    <a:pt x="122" y="75"/>
                    <a:pt x="114" y="95"/>
                    <a:pt x="95" y="110"/>
                  </a:cubicBezTo>
                  <a:cubicBezTo>
                    <a:pt x="94" y="111"/>
                    <a:pt x="92" y="112"/>
                    <a:pt x="90" y="113"/>
                  </a:cubicBezTo>
                  <a:cubicBezTo>
                    <a:pt x="88" y="114"/>
                    <a:pt x="86" y="113"/>
                    <a:pt x="84" y="112"/>
                  </a:cubicBezTo>
                  <a:cubicBezTo>
                    <a:pt x="83" y="110"/>
                    <a:pt x="84" y="108"/>
                    <a:pt x="86" y="106"/>
                  </a:cubicBezTo>
                  <a:cubicBezTo>
                    <a:pt x="87" y="105"/>
                    <a:pt x="88" y="104"/>
                    <a:pt x="89" y="103"/>
                  </a:cubicBezTo>
                  <a:cubicBezTo>
                    <a:pt x="105" y="92"/>
                    <a:pt x="113" y="71"/>
                    <a:pt x="109" y="52"/>
                  </a:cubicBezTo>
                  <a:cubicBezTo>
                    <a:pt x="104" y="32"/>
                    <a:pt x="88" y="17"/>
                    <a:pt x="69" y="13"/>
                  </a:cubicBezTo>
                  <a:cubicBezTo>
                    <a:pt x="42" y="8"/>
                    <a:pt x="15" y="27"/>
                    <a:pt x="11" y="55"/>
                  </a:cubicBezTo>
                  <a:cubicBezTo>
                    <a:pt x="8" y="75"/>
                    <a:pt x="15" y="91"/>
                    <a:pt x="31" y="104"/>
                  </a:cubicBezTo>
                  <a:cubicBezTo>
                    <a:pt x="32" y="104"/>
                    <a:pt x="33" y="105"/>
                    <a:pt x="35" y="106"/>
                  </a:cubicBezTo>
                  <a:cubicBezTo>
                    <a:pt x="37" y="108"/>
                    <a:pt x="37" y="110"/>
                    <a:pt x="36" y="112"/>
                  </a:cubicBezTo>
                  <a:cubicBezTo>
                    <a:pt x="35" y="113"/>
                    <a:pt x="33" y="114"/>
                    <a:pt x="30" y="113"/>
                  </a:cubicBezTo>
                  <a:cubicBezTo>
                    <a:pt x="29" y="113"/>
                    <a:pt x="27" y="112"/>
                    <a:pt x="25" y="110"/>
                  </a:cubicBezTo>
                  <a:cubicBezTo>
                    <a:pt x="9" y="98"/>
                    <a:pt x="1" y="82"/>
                    <a:pt x="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grpSp>
      <p:grpSp>
        <p:nvGrpSpPr>
          <p:cNvPr id="50" name="Group 49">
            <a:extLst>
              <a:ext uri="{FF2B5EF4-FFF2-40B4-BE49-F238E27FC236}">
                <a16:creationId xmlns:a16="http://schemas.microsoft.com/office/drawing/2014/main" id="{69E6A0D6-A705-0D24-1E22-DA0D29CF18A9}"/>
              </a:ext>
            </a:extLst>
          </p:cNvPr>
          <p:cNvGrpSpPr/>
          <p:nvPr/>
        </p:nvGrpSpPr>
        <p:grpSpPr>
          <a:xfrm>
            <a:off x="681199" y="2150045"/>
            <a:ext cx="566751" cy="519266"/>
            <a:chOff x="468313" y="2717800"/>
            <a:chExt cx="587376" cy="538163"/>
          </a:xfrm>
          <a:solidFill>
            <a:schemeClr val="bg1"/>
          </a:solidFill>
        </p:grpSpPr>
        <p:sp>
          <p:nvSpPr>
            <p:cNvPr id="51" name="Freeform 6">
              <a:extLst>
                <a:ext uri="{FF2B5EF4-FFF2-40B4-BE49-F238E27FC236}">
                  <a16:creationId xmlns:a16="http://schemas.microsoft.com/office/drawing/2014/main" id="{EFA1129B-8A2F-38AF-8CC5-A80D636460C3}"/>
                </a:ext>
              </a:extLst>
            </p:cNvPr>
            <p:cNvSpPr>
              <a:spLocks/>
            </p:cNvSpPr>
            <p:nvPr/>
          </p:nvSpPr>
          <p:spPr bwMode="auto">
            <a:xfrm>
              <a:off x="520701" y="3051175"/>
              <a:ext cx="403225" cy="204788"/>
            </a:xfrm>
            <a:custGeom>
              <a:avLst/>
              <a:gdLst>
                <a:gd name="T0" fmla="*/ 1264 w 1267"/>
                <a:gd name="T1" fmla="*/ 261 h 645"/>
                <a:gd name="T2" fmla="*/ 1263 w 1267"/>
                <a:gd name="T3" fmla="*/ 285 h 645"/>
                <a:gd name="T4" fmla="*/ 1014 w 1267"/>
                <a:gd name="T5" fmla="*/ 527 h 645"/>
                <a:gd name="T6" fmla="*/ 932 w 1267"/>
                <a:gd name="T7" fmla="*/ 556 h 645"/>
                <a:gd name="T8" fmla="*/ 518 w 1267"/>
                <a:gd name="T9" fmla="*/ 542 h 645"/>
                <a:gd name="T10" fmla="*/ 330 w 1267"/>
                <a:gd name="T11" fmla="*/ 525 h 645"/>
                <a:gd name="T12" fmla="*/ 293 w 1267"/>
                <a:gd name="T13" fmla="*/ 536 h 645"/>
                <a:gd name="T14" fmla="*/ 96 w 1267"/>
                <a:gd name="T15" fmla="*/ 637 h 645"/>
                <a:gd name="T16" fmla="*/ 61 w 1267"/>
                <a:gd name="T17" fmla="*/ 632 h 645"/>
                <a:gd name="T18" fmla="*/ 4 w 1267"/>
                <a:gd name="T19" fmla="*/ 579 h 645"/>
                <a:gd name="T20" fmla="*/ 1 w 1267"/>
                <a:gd name="T21" fmla="*/ 556 h 645"/>
                <a:gd name="T22" fmla="*/ 80 w 1267"/>
                <a:gd name="T23" fmla="*/ 468 h 645"/>
                <a:gd name="T24" fmla="*/ 236 w 1267"/>
                <a:gd name="T25" fmla="*/ 309 h 645"/>
                <a:gd name="T26" fmla="*/ 379 w 1267"/>
                <a:gd name="T27" fmla="*/ 153 h 645"/>
                <a:gd name="T28" fmla="*/ 516 w 1267"/>
                <a:gd name="T29" fmla="*/ 14 h 645"/>
                <a:gd name="T30" fmla="*/ 548 w 1267"/>
                <a:gd name="T31" fmla="*/ 1 h 645"/>
                <a:gd name="T32" fmla="*/ 949 w 1267"/>
                <a:gd name="T33" fmla="*/ 80 h 645"/>
                <a:gd name="T34" fmla="*/ 965 w 1267"/>
                <a:gd name="T35" fmla="*/ 132 h 645"/>
                <a:gd name="T36" fmla="*/ 865 w 1267"/>
                <a:gd name="T37" fmla="*/ 221 h 645"/>
                <a:gd name="T38" fmla="*/ 616 w 1267"/>
                <a:gd name="T39" fmla="*/ 247 h 645"/>
                <a:gd name="T40" fmla="*/ 579 w 1267"/>
                <a:gd name="T41" fmla="*/ 274 h 645"/>
                <a:gd name="T42" fmla="*/ 617 w 1267"/>
                <a:gd name="T43" fmla="*/ 301 h 645"/>
                <a:gd name="T44" fmla="*/ 948 w 1267"/>
                <a:gd name="T45" fmla="*/ 258 h 645"/>
                <a:gd name="T46" fmla="*/ 998 w 1267"/>
                <a:gd name="T47" fmla="*/ 206 h 645"/>
                <a:gd name="T48" fmla="*/ 1017 w 1267"/>
                <a:gd name="T49" fmla="*/ 90 h 645"/>
                <a:gd name="T50" fmla="*/ 1070 w 1267"/>
                <a:gd name="T51" fmla="*/ 55 h 645"/>
                <a:gd name="T52" fmla="*/ 1204 w 1267"/>
                <a:gd name="T53" fmla="*/ 196 h 645"/>
                <a:gd name="T54" fmla="*/ 1264 w 1267"/>
                <a:gd name="T55" fmla="*/ 261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67" h="645">
                  <a:moveTo>
                    <a:pt x="1264" y="261"/>
                  </a:moveTo>
                  <a:cubicBezTo>
                    <a:pt x="1264" y="269"/>
                    <a:pt x="1267" y="281"/>
                    <a:pt x="1263" y="285"/>
                  </a:cubicBezTo>
                  <a:cubicBezTo>
                    <a:pt x="1181" y="366"/>
                    <a:pt x="1098" y="447"/>
                    <a:pt x="1014" y="527"/>
                  </a:cubicBezTo>
                  <a:cubicBezTo>
                    <a:pt x="992" y="548"/>
                    <a:pt x="963" y="557"/>
                    <a:pt x="932" y="556"/>
                  </a:cubicBezTo>
                  <a:cubicBezTo>
                    <a:pt x="794" y="552"/>
                    <a:pt x="656" y="548"/>
                    <a:pt x="518" y="542"/>
                  </a:cubicBezTo>
                  <a:cubicBezTo>
                    <a:pt x="455" y="539"/>
                    <a:pt x="393" y="530"/>
                    <a:pt x="330" y="525"/>
                  </a:cubicBezTo>
                  <a:cubicBezTo>
                    <a:pt x="318" y="524"/>
                    <a:pt x="304" y="531"/>
                    <a:pt x="293" y="536"/>
                  </a:cubicBezTo>
                  <a:cubicBezTo>
                    <a:pt x="227" y="569"/>
                    <a:pt x="161" y="603"/>
                    <a:pt x="96" y="637"/>
                  </a:cubicBezTo>
                  <a:cubicBezTo>
                    <a:pt x="82" y="644"/>
                    <a:pt x="73" y="645"/>
                    <a:pt x="61" y="632"/>
                  </a:cubicBezTo>
                  <a:cubicBezTo>
                    <a:pt x="43" y="614"/>
                    <a:pt x="22" y="598"/>
                    <a:pt x="4" y="579"/>
                  </a:cubicBezTo>
                  <a:cubicBezTo>
                    <a:pt x="0" y="574"/>
                    <a:pt x="2" y="564"/>
                    <a:pt x="1" y="556"/>
                  </a:cubicBezTo>
                  <a:cubicBezTo>
                    <a:pt x="28" y="527"/>
                    <a:pt x="53" y="497"/>
                    <a:pt x="80" y="468"/>
                  </a:cubicBezTo>
                  <a:cubicBezTo>
                    <a:pt x="132" y="415"/>
                    <a:pt x="185" y="363"/>
                    <a:pt x="236" y="309"/>
                  </a:cubicBezTo>
                  <a:cubicBezTo>
                    <a:pt x="284" y="258"/>
                    <a:pt x="330" y="205"/>
                    <a:pt x="379" y="153"/>
                  </a:cubicBezTo>
                  <a:cubicBezTo>
                    <a:pt x="424" y="106"/>
                    <a:pt x="470" y="60"/>
                    <a:pt x="516" y="14"/>
                  </a:cubicBezTo>
                  <a:cubicBezTo>
                    <a:pt x="527" y="9"/>
                    <a:pt x="538" y="0"/>
                    <a:pt x="548" y="1"/>
                  </a:cubicBezTo>
                  <a:cubicBezTo>
                    <a:pt x="685" y="9"/>
                    <a:pt x="818" y="38"/>
                    <a:pt x="949" y="80"/>
                  </a:cubicBezTo>
                  <a:cubicBezTo>
                    <a:pt x="971" y="84"/>
                    <a:pt x="965" y="129"/>
                    <a:pt x="965" y="132"/>
                  </a:cubicBezTo>
                  <a:cubicBezTo>
                    <a:pt x="960" y="227"/>
                    <a:pt x="959" y="206"/>
                    <a:pt x="865" y="221"/>
                  </a:cubicBezTo>
                  <a:cubicBezTo>
                    <a:pt x="783" y="233"/>
                    <a:pt x="699" y="240"/>
                    <a:pt x="616" y="247"/>
                  </a:cubicBezTo>
                  <a:cubicBezTo>
                    <a:pt x="598" y="249"/>
                    <a:pt x="580" y="252"/>
                    <a:pt x="579" y="274"/>
                  </a:cubicBezTo>
                  <a:cubicBezTo>
                    <a:pt x="579" y="297"/>
                    <a:pt x="597" y="301"/>
                    <a:pt x="617" y="301"/>
                  </a:cubicBezTo>
                  <a:cubicBezTo>
                    <a:pt x="729" y="300"/>
                    <a:pt x="839" y="283"/>
                    <a:pt x="948" y="258"/>
                  </a:cubicBezTo>
                  <a:cubicBezTo>
                    <a:pt x="975" y="251"/>
                    <a:pt x="992" y="231"/>
                    <a:pt x="998" y="206"/>
                  </a:cubicBezTo>
                  <a:cubicBezTo>
                    <a:pt x="1007" y="168"/>
                    <a:pt x="1012" y="129"/>
                    <a:pt x="1017" y="90"/>
                  </a:cubicBezTo>
                  <a:cubicBezTo>
                    <a:pt x="1021" y="66"/>
                    <a:pt x="1048" y="47"/>
                    <a:pt x="1070" y="55"/>
                  </a:cubicBezTo>
                  <a:cubicBezTo>
                    <a:pt x="1114" y="102"/>
                    <a:pt x="1159" y="149"/>
                    <a:pt x="1204" y="196"/>
                  </a:cubicBezTo>
                  <a:cubicBezTo>
                    <a:pt x="1224" y="218"/>
                    <a:pt x="1244" y="239"/>
                    <a:pt x="1264" y="2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52" name="Freeform 7">
              <a:extLst>
                <a:ext uri="{FF2B5EF4-FFF2-40B4-BE49-F238E27FC236}">
                  <a16:creationId xmlns:a16="http://schemas.microsoft.com/office/drawing/2014/main" id="{379812B0-E13B-41C1-2546-9C75744BB88E}"/>
                </a:ext>
              </a:extLst>
            </p:cNvPr>
            <p:cNvSpPr>
              <a:spLocks/>
            </p:cNvSpPr>
            <p:nvPr/>
          </p:nvSpPr>
          <p:spPr bwMode="auto">
            <a:xfrm>
              <a:off x="854076" y="2967038"/>
              <a:ext cx="201613" cy="179388"/>
            </a:xfrm>
            <a:custGeom>
              <a:avLst/>
              <a:gdLst>
                <a:gd name="T0" fmla="*/ 194 w 632"/>
                <a:gd name="T1" fmla="*/ 553 h 565"/>
                <a:gd name="T2" fmla="*/ 134 w 632"/>
                <a:gd name="T3" fmla="*/ 488 h 565"/>
                <a:gd name="T4" fmla="*/ 0 w 632"/>
                <a:gd name="T5" fmla="*/ 347 h 565"/>
                <a:gd name="T6" fmla="*/ 9 w 632"/>
                <a:gd name="T7" fmla="*/ 324 h 565"/>
                <a:gd name="T8" fmla="*/ 433 w 632"/>
                <a:gd name="T9" fmla="*/ 46 h 565"/>
                <a:gd name="T10" fmla="*/ 632 w 632"/>
                <a:gd name="T11" fmla="*/ 65 h 565"/>
                <a:gd name="T12" fmla="*/ 518 w 632"/>
                <a:gd name="T13" fmla="*/ 204 h 565"/>
                <a:gd name="T14" fmla="*/ 225 w 632"/>
                <a:gd name="T15" fmla="*/ 543 h 565"/>
                <a:gd name="T16" fmla="*/ 194 w 632"/>
                <a:gd name="T17" fmla="*/ 553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2" h="565">
                  <a:moveTo>
                    <a:pt x="194" y="553"/>
                  </a:moveTo>
                  <a:cubicBezTo>
                    <a:pt x="174" y="531"/>
                    <a:pt x="154" y="510"/>
                    <a:pt x="134" y="488"/>
                  </a:cubicBezTo>
                  <a:cubicBezTo>
                    <a:pt x="89" y="441"/>
                    <a:pt x="45" y="394"/>
                    <a:pt x="0" y="347"/>
                  </a:cubicBezTo>
                  <a:cubicBezTo>
                    <a:pt x="3" y="339"/>
                    <a:pt x="4" y="328"/>
                    <a:pt x="9" y="324"/>
                  </a:cubicBezTo>
                  <a:cubicBezTo>
                    <a:pt x="150" y="231"/>
                    <a:pt x="290" y="136"/>
                    <a:pt x="433" y="46"/>
                  </a:cubicBezTo>
                  <a:cubicBezTo>
                    <a:pt x="504" y="0"/>
                    <a:pt x="562" y="8"/>
                    <a:pt x="632" y="65"/>
                  </a:cubicBezTo>
                  <a:cubicBezTo>
                    <a:pt x="594" y="112"/>
                    <a:pt x="557" y="159"/>
                    <a:pt x="518" y="204"/>
                  </a:cubicBezTo>
                  <a:cubicBezTo>
                    <a:pt x="421" y="317"/>
                    <a:pt x="323" y="430"/>
                    <a:pt x="225" y="543"/>
                  </a:cubicBezTo>
                  <a:cubicBezTo>
                    <a:pt x="217" y="552"/>
                    <a:pt x="210" y="565"/>
                    <a:pt x="194" y="5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53" name="Freeform 8">
              <a:extLst>
                <a:ext uri="{FF2B5EF4-FFF2-40B4-BE49-F238E27FC236}">
                  <a16:creationId xmlns:a16="http://schemas.microsoft.com/office/drawing/2014/main" id="{B64E72E5-8DB9-BC5C-3649-96638C530EFD}"/>
                </a:ext>
              </a:extLst>
            </p:cNvPr>
            <p:cNvSpPr>
              <a:spLocks/>
            </p:cNvSpPr>
            <p:nvPr/>
          </p:nvSpPr>
          <p:spPr bwMode="auto">
            <a:xfrm>
              <a:off x="468313" y="3051175"/>
              <a:ext cx="238125" cy="177800"/>
            </a:xfrm>
            <a:custGeom>
              <a:avLst/>
              <a:gdLst>
                <a:gd name="T0" fmla="*/ 739 w 747"/>
                <a:gd name="T1" fmla="*/ 15 h 559"/>
                <a:gd name="T2" fmla="*/ 592 w 747"/>
                <a:gd name="T3" fmla="*/ 154 h 559"/>
                <a:gd name="T4" fmla="*/ 437 w 747"/>
                <a:gd name="T5" fmla="*/ 310 h 559"/>
                <a:gd name="T6" fmla="*/ 269 w 747"/>
                <a:gd name="T7" fmla="*/ 469 h 559"/>
                <a:gd name="T8" fmla="*/ 184 w 747"/>
                <a:gd name="T9" fmla="*/ 557 h 559"/>
                <a:gd name="T10" fmla="*/ 157 w 747"/>
                <a:gd name="T11" fmla="*/ 555 h 559"/>
                <a:gd name="T12" fmla="*/ 0 w 747"/>
                <a:gd name="T13" fmla="*/ 422 h 559"/>
                <a:gd name="T14" fmla="*/ 148 w 747"/>
                <a:gd name="T15" fmla="*/ 298 h 559"/>
                <a:gd name="T16" fmla="*/ 360 w 747"/>
                <a:gd name="T17" fmla="*/ 119 h 559"/>
                <a:gd name="T18" fmla="*/ 726 w 747"/>
                <a:gd name="T19" fmla="*/ 1 h 559"/>
                <a:gd name="T20" fmla="*/ 739 w 747"/>
                <a:gd name="T21" fmla="*/ 15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7" h="559">
                  <a:moveTo>
                    <a:pt x="739" y="15"/>
                  </a:moveTo>
                  <a:cubicBezTo>
                    <a:pt x="690" y="61"/>
                    <a:pt x="640" y="107"/>
                    <a:pt x="592" y="154"/>
                  </a:cubicBezTo>
                  <a:cubicBezTo>
                    <a:pt x="539" y="206"/>
                    <a:pt x="489" y="259"/>
                    <a:pt x="437" y="310"/>
                  </a:cubicBezTo>
                  <a:cubicBezTo>
                    <a:pt x="383" y="364"/>
                    <a:pt x="325" y="416"/>
                    <a:pt x="269" y="469"/>
                  </a:cubicBezTo>
                  <a:cubicBezTo>
                    <a:pt x="240" y="498"/>
                    <a:pt x="213" y="528"/>
                    <a:pt x="184" y="557"/>
                  </a:cubicBezTo>
                  <a:cubicBezTo>
                    <a:pt x="176" y="556"/>
                    <a:pt x="163" y="559"/>
                    <a:pt x="157" y="555"/>
                  </a:cubicBezTo>
                  <a:cubicBezTo>
                    <a:pt x="106" y="512"/>
                    <a:pt x="54" y="468"/>
                    <a:pt x="0" y="422"/>
                  </a:cubicBezTo>
                  <a:cubicBezTo>
                    <a:pt x="51" y="380"/>
                    <a:pt x="99" y="339"/>
                    <a:pt x="148" y="298"/>
                  </a:cubicBezTo>
                  <a:cubicBezTo>
                    <a:pt x="218" y="239"/>
                    <a:pt x="290" y="179"/>
                    <a:pt x="360" y="119"/>
                  </a:cubicBezTo>
                  <a:cubicBezTo>
                    <a:pt x="463" y="30"/>
                    <a:pt x="588" y="0"/>
                    <a:pt x="726" y="1"/>
                  </a:cubicBezTo>
                  <a:cubicBezTo>
                    <a:pt x="736" y="1"/>
                    <a:pt x="747" y="0"/>
                    <a:pt x="73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54" name="Freeform 9">
              <a:extLst>
                <a:ext uri="{FF2B5EF4-FFF2-40B4-BE49-F238E27FC236}">
                  <a16:creationId xmlns:a16="http://schemas.microsoft.com/office/drawing/2014/main" id="{56FB4C3E-2E0C-6932-3868-9C02C7C28517}"/>
                </a:ext>
              </a:extLst>
            </p:cNvPr>
            <p:cNvSpPr>
              <a:spLocks/>
            </p:cNvSpPr>
            <p:nvPr/>
          </p:nvSpPr>
          <p:spPr bwMode="auto">
            <a:xfrm>
              <a:off x="685801" y="2930525"/>
              <a:ext cx="227013" cy="127000"/>
            </a:xfrm>
            <a:custGeom>
              <a:avLst/>
              <a:gdLst>
                <a:gd name="T0" fmla="*/ 712 w 712"/>
                <a:gd name="T1" fmla="*/ 227 h 400"/>
                <a:gd name="T2" fmla="*/ 437 w 712"/>
                <a:gd name="T3" fmla="*/ 392 h 400"/>
                <a:gd name="T4" fmla="*/ 92 w 712"/>
                <a:gd name="T5" fmla="*/ 319 h 400"/>
                <a:gd name="T6" fmla="*/ 0 w 712"/>
                <a:gd name="T7" fmla="*/ 311 h 400"/>
                <a:gd name="T8" fmla="*/ 456 w 712"/>
                <a:gd name="T9" fmla="*/ 7 h 400"/>
                <a:gd name="T10" fmla="*/ 712 w 712"/>
                <a:gd name="T11" fmla="*/ 227 h 400"/>
              </a:gdLst>
              <a:ahLst/>
              <a:cxnLst>
                <a:cxn ang="0">
                  <a:pos x="T0" y="T1"/>
                </a:cxn>
                <a:cxn ang="0">
                  <a:pos x="T2" y="T3"/>
                </a:cxn>
                <a:cxn ang="0">
                  <a:pos x="T4" y="T5"/>
                </a:cxn>
                <a:cxn ang="0">
                  <a:pos x="T6" y="T7"/>
                </a:cxn>
                <a:cxn ang="0">
                  <a:pos x="T8" y="T9"/>
                </a:cxn>
                <a:cxn ang="0">
                  <a:pos x="T10" y="T11"/>
                </a:cxn>
              </a:cxnLst>
              <a:rect l="0" t="0" r="r" b="b"/>
              <a:pathLst>
                <a:path w="712" h="400">
                  <a:moveTo>
                    <a:pt x="712" y="227"/>
                  </a:moveTo>
                  <a:cubicBezTo>
                    <a:pt x="641" y="276"/>
                    <a:pt x="461" y="400"/>
                    <a:pt x="437" y="392"/>
                  </a:cubicBezTo>
                  <a:cubicBezTo>
                    <a:pt x="324" y="357"/>
                    <a:pt x="209" y="331"/>
                    <a:pt x="92" y="319"/>
                  </a:cubicBezTo>
                  <a:cubicBezTo>
                    <a:pt x="64" y="316"/>
                    <a:pt x="36" y="314"/>
                    <a:pt x="0" y="311"/>
                  </a:cubicBezTo>
                  <a:cubicBezTo>
                    <a:pt x="87" y="250"/>
                    <a:pt x="457" y="0"/>
                    <a:pt x="456" y="7"/>
                  </a:cubicBezTo>
                  <a:cubicBezTo>
                    <a:pt x="456" y="39"/>
                    <a:pt x="680" y="202"/>
                    <a:pt x="712" y="2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55" name="Freeform 10">
              <a:extLst>
                <a:ext uri="{FF2B5EF4-FFF2-40B4-BE49-F238E27FC236}">
                  <a16:creationId xmlns:a16="http://schemas.microsoft.com/office/drawing/2014/main" id="{BABD4681-4AEC-948C-2FFC-36B6E6516625}"/>
                </a:ext>
              </a:extLst>
            </p:cNvPr>
            <p:cNvSpPr>
              <a:spLocks/>
            </p:cNvSpPr>
            <p:nvPr/>
          </p:nvSpPr>
          <p:spPr bwMode="auto">
            <a:xfrm>
              <a:off x="803276" y="2717800"/>
              <a:ext cx="117475" cy="238125"/>
            </a:xfrm>
            <a:custGeom>
              <a:avLst/>
              <a:gdLst>
                <a:gd name="T0" fmla="*/ 70 w 370"/>
                <a:gd name="T1" fmla="*/ 723 h 746"/>
                <a:gd name="T2" fmla="*/ 29 w 370"/>
                <a:gd name="T3" fmla="*/ 742 h 746"/>
                <a:gd name="T4" fmla="*/ 28 w 370"/>
                <a:gd name="T5" fmla="*/ 721 h 746"/>
                <a:gd name="T6" fmla="*/ 13 w 370"/>
                <a:gd name="T7" fmla="*/ 450 h 746"/>
                <a:gd name="T8" fmla="*/ 251 w 370"/>
                <a:gd name="T9" fmla="*/ 44 h 746"/>
                <a:gd name="T10" fmla="*/ 355 w 370"/>
                <a:gd name="T11" fmla="*/ 0 h 746"/>
                <a:gd name="T12" fmla="*/ 367 w 370"/>
                <a:gd name="T13" fmla="*/ 77 h 746"/>
                <a:gd name="T14" fmla="*/ 362 w 370"/>
                <a:gd name="T15" fmla="*/ 251 h 746"/>
                <a:gd name="T16" fmla="*/ 180 w 370"/>
                <a:gd name="T17" fmla="*/ 500 h 746"/>
                <a:gd name="T18" fmla="*/ 143 w 370"/>
                <a:gd name="T19" fmla="*/ 521 h 746"/>
                <a:gd name="T20" fmla="*/ 98 w 370"/>
                <a:gd name="T21" fmla="*/ 597 h 746"/>
                <a:gd name="T22" fmla="*/ 70 w 370"/>
                <a:gd name="T23" fmla="*/ 723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0" h="746">
                  <a:moveTo>
                    <a:pt x="70" y="723"/>
                  </a:moveTo>
                  <a:cubicBezTo>
                    <a:pt x="61" y="732"/>
                    <a:pt x="30" y="746"/>
                    <a:pt x="29" y="742"/>
                  </a:cubicBezTo>
                  <a:cubicBezTo>
                    <a:pt x="26" y="736"/>
                    <a:pt x="28" y="728"/>
                    <a:pt x="28" y="721"/>
                  </a:cubicBezTo>
                  <a:cubicBezTo>
                    <a:pt x="23" y="631"/>
                    <a:pt x="19" y="540"/>
                    <a:pt x="13" y="450"/>
                  </a:cubicBezTo>
                  <a:cubicBezTo>
                    <a:pt x="0" y="260"/>
                    <a:pt x="82" y="126"/>
                    <a:pt x="251" y="44"/>
                  </a:cubicBezTo>
                  <a:cubicBezTo>
                    <a:pt x="284" y="29"/>
                    <a:pt x="317" y="16"/>
                    <a:pt x="355" y="0"/>
                  </a:cubicBezTo>
                  <a:cubicBezTo>
                    <a:pt x="360" y="28"/>
                    <a:pt x="367" y="53"/>
                    <a:pt x="367" y="77"/>
                  </a:cubicBezTo>
                  <a:cubicBezTo>
                    <a:pt x="367" y="135"/>
                    <a:pt x="370" y="194"/>
                    <a:pt x="362" y="251"/>
                  </a:cubicBezTo>
                  <a:cubicBezTo>
                    <a:pt x="345" y="364"/>
                    <a:pt x="275" y="442"/>
                    <a:pt x="180" y="500"/>
                  </a:cubicBezTo>
                  <a:cubicBezTo>
                    <a:pt x="168" y="507"/>
                    <a:pt x="156" y="517"/>
                    <a:pt x="143" y="521"/>
                  </a:cubicBezTo>
                  <a:cubicBezTo>
                    <a:pt x="101" y="532"/>
                    <a:pt x="91" y="559"/>
                    <a:pt x="98" y="597"/>
                  </a:cubicBezTo>
                  <a:cubicBezTo>
                    <a:pt x="98" y="600"/>
                    <a:pt x="106" y="690"/>
                    <a:pt x="70" y="7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56" name="Freeform 11">
              <a:extLst>
                <a:ext uri="{FF2B5EF4-FFF2-40B4-BE49-F238E27FC236}">
                  <a16:creationId xmlns:a16="http://schemas.microsoft.com/office/drawing/2014/main" id="{703710CD-7AE5-E881-9721-25A57892826B}"/>
                </a:ext>
              </a:extLst>
            </p:cNvPr>
            <p:cNvSpPr>
              <a:spLocks/>
            </p:cNvSpPr>
            <p:nvPr/>
          </p:nvSpPr>
          <p:spPr bwMode="auto">
            <a:xfrm>
              <a:off x="715963" y="2760663"/>
              <a:ext cx="93663" cy="109538"/>
            </a:xfrm>
            <a:custGeom>
              <a:avLst/>
              <a:gdLst>
                <a:gd name="T0" fmla="*/ 25 w 292"/>
                <a:gd name="T1" fmla="*/ 0 h 342"/>
                <a:gd name="T2" fmla="*/ 281 w 292"/>
                <a:gd name="T3" fmla="*/ 84 h 342"/>
                <a:gd name="T4" fmla="*/ 290 w 292"/>
                <a:gd name="T5" fmla="*/ 106 h 342"/>
                <a:gd name="T6" fmla="*/ 267 w 292"/>
                <a:gd name="T7" fmla="*/ 337 h 342"/>
                <a:gd name="T8" fmla="*/ 25 w 292"/>
                <a:gd name="T9" fmla="*/ 0 h 342"/>
              </a:gdLst>
              <a:ahLst/>
              <a:cxnLst>
                <a:cxn ang="0">
                  <a:pos x="T0" y="T1"/>
                </a:cxn>
                <a:cxn ang="0">
                  <a:pos x="T2" y="T3"/>
                </a:cxn>
                <a:cxn ang="0">
                  <a:pos x="T4" y="T5"/>
                </a:cxn>
                <a:cxn ang="0">
                  <a:pos x="T6" y="T7"/>
                </a:cxn>
                <a:cxn ang="0">
                  <a:pos x="T8" y="T9"/>
                </a:cxn>
              </a:cxnLst>
              <a:rect l="0" t="0" r="r" b="b"/>
              <a:pathLst>
                <a:path w="292" h="342">
                  <a:moveTo>
                    <a:pt x="25" y="0"/>
                  </a:moveTo>
                  <a:cubicBezTo>
                    <a:pt x="119" y="2"/>
                    <a:pt x="208" y="18"/>
                    <a:pt x="281" y="84"/>
                  </a:cubicBezTo>
                  <a:cubicBezTo>
                    <a:pt x="286" y="89"/>
                    <a:pt x="292" y="101"/>
                    <a:pt x="290" y="106"/>
                  </a:cubicBezTo>
                  <a:cubicBezTo>
                    <a:pt x="265" y="182"/>
                    <a:pt x="262" y="259"/>
                    <a:pt x="267" y="337"/>
                  </a:cubicBezTo>
                  <a:cubicBezTo>
                    <a:pt x="130" y="342"/>
                    <a:pt x="0" y="159"/>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57" name="Freeform 12">
              <a:extLst>
                <a:ext uri="{FF2B5EF4-FFF2-40B4-BE49-F238E27FC236}">
                  <a16:creationId xmlns:a16="http://schemas.microsoft.com/office/drawing/2014/main" id="{D6D232EB-73CF-7CBF-CFB1-0B1D4E7F8C4C}"/>
                </a:ext>
              </a:extLst>
            </p:cNvPr>
            <p:cNvSpPr>
              <a:spLocks/>
            </p:cNvSpPr>
            <p:nvPr/>
          </p:nvSpPr>
          <p:spPr bwMode="auto">
            <a:xfrm>
              <a:off x="819151" y="2741613"/>
              <a:ext cx="85725" cy="131763"/>
            </a:xfrm>
            <a:custGeom>
              <a:avLst/>
              <a:gdLst>
                <a:gd name="T0" fmla="*/ 164 w 272"/>
                <a:gd name="T1" fmla="*/ 201 h 416"/>
                <a:gd name="T2" fmla="*/ 213 w 272"/>
                <a:gd name="T3" fmla="*/ 189 h 416"/>
                <a:gd name="T4" fmla="*/ 240 w 272"/>
                <a:gd name="T5" fmla="*/ 196 h 416"/>
                <a:gd name="T6" fmla="*/ 219 w 272"/>
                <a:gd name="T7" fmla="*/ 217 h 416"/>
                <a:gd name="T8" fmla="*/ 188 w 272"/>
                <a:gd name="T9" fmla="*/ 227 h 416"/>
                <a:gd name="T10" fmla="*/ 107 w 272"/>
                <a:gd name="T11" fmla="*/ 301 h 416"/>
                <a:gd name="T12" fmla="*/ 134 w 272"/>
                <a:gd name="T13" fmla="*/ 295 h 416"/>
                <a:gd name="T14" fmla="*/ 156 w 272"/>
                <a:gd name="T15" fmla="*/ 304 h 416"/>
                <a:gd name="T16" fmla="*/ 142 w 272"/>
                <a:gd name="T17" fmla="*/ 324 h 416"/>
                <a:gd name="T18" fmla="*/ 139 w 272"/>
                <a:gd name="T19" fmla="*/ 325 h 416"/>
                <a:gd name="T20" fmla="*/ 45 w 272"/>
                <a:gd name="T21" fmla="*/ 400 h 416"/>
                <a:gd name="T22" fmla="*/ 16 w 272"/>
                <a:gd name="T23" fmla="*/ 413 h 416"/>
                <a:gd name="T24" fmla="*/ 10 w 272"/>
                <a:gd name="T25" fmla="*/ 379 h 416"/>
                <a:gd name="T26" fmla="*/ 16 w 272"/>
                <a:gd name="T27" fmla="*/ 370 h 416"/>
                <a:gd name="T28" fmla="*/ 30 w 272"/>
                <a:gd name="T29" fmla="*/ 266 h 416"/>
                <a:gd name="T30" fmla="*/ 27 w 272"/>
                <a:gd name="T31" fmla="*/ 253 h 416"/>
                <a:gd name="T32" fmla="*/ 38 w 272"/>
                <a:gd name="T33" fmla="*/ 237 h 416"/>
                <a:gd name="T34" fmla="*/ 55 w 272"/>
                <a:gd name="T35" fmla="*/ 245 h 416"/>
                <a:gd name="T36" fmla="*/ 66 w 272"/>
                <a:gd name="T37" fmla="*/ 278 h 416"/>
                <a:gd name="T38" fmla="*/ 92 w 272"/>
                <a:gd name="T39" fmla="*/ 180 h 416"/>
                <a:gd name="T40" fmla="*/ 79 w 272"/>
                <a:gd name="T41" fmla="*/ 128 h 416"/>
                <a:gd name="T42" fmla="*/ 89 w 272"/>
                <a:gd name="T43" fmla="*/ 109 h 416"/>
                <a:gd name="T44" fmla="*/ 107 w 272"/>
                <a:gd name="T45" fmla="*/ 122 h 416"/>
                <a:gd name="T46" fmla="*/ 124 w 272"/>
                <a:gd name="T47" fmla="*/ 178 h 416"/>
                <a:gd name="T48" fmla="*/ 149 w 272"/>
                <a:gd name="T49" fmla="*/ 75 h 416"/>
                <a:gd name="T50" fmla="*/ 144 w 272"/>
                <a:gd name="T51" fmla="*/ 54 h 416"/>
                <a:gd name="T52" fmla="*/ 155 w 272"/>
                <a:gd name="T53" fmla="*/ 35 h 416"/>
                <a:gd name="T54" fmla="*/ 172 w 272"/>
                <a:gd name="T55" fmla="*/ 48 h 416"/>
                <a:gd name="T56" fmla="*/ 183 w 272"/>
                <a:gd name="T57" fmla="*/ 79 h 416"/>
                <a:gd name="T58" fmla="*/ 215 w 272"/>
                <a:gd name="T59" fmla="*/ 25 h 416"/>
                <a:gd name="T60" fmla="*/ 246 w 272"/>
                <a:gd name="T61" fmla="*/ 12 h 416"/>
                <a:gd name="T62" fmla="*/ 250 w 272"/>
                <a:gd name="T63" fmla="*/ 44 h 416"/>
                <a:gd name="T64" fmla="*/ 219 w 272"/>
                <a:gd name="T65" fmla="*/ 100 h 416"/>
                <a:gd name="T66" fmla="*/ 250 w 272"/>
                <a:gd name="T67" fmla="*/ 94 h 416"/>
                <a:gd name="T68" fmla="*/ 272 w 272"/>
                <a:gd name="T69" fmla="*/ 104 h 416"/>
                <a:gd name="T70" fmla="*/ 260 w 272"/>
                <a:gd name="T71" fmla="*/ 122 h 416"/>
                <a:gd name="T72" fmla="*/ 247 w 272"/>
                <a:gd name="T73" fmla="*/ 126 h 416"/>
                <a:gd name="T74" fmla="*/ 164 w 272"/>
                <a:gd name="T75" fmla="*/ 201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72" h="416">
                  <a:moveTo>
                    <a:pt x="164" y="201"/>
                  </a:moveTo>
                  <a:cubicBezTo>
                    <a:pt x="182" y="197"/>
                    <a:pt x="197" y="191"/>
                    <a:pt x="213" y="189"/>
                  </a:cubicBezTo>
                  <a:cubicBezTo>
                    <a:pt x="222" y="188"/>
                    <a:pt x="231" y="194"/>
                    <a:pt x="240" y="196"/>
                  </a:cubicBezTo>
                  <a:cubicBezTo>
                    <a:pt x="233" y="203"/>
                    <a:pt x="228" y="213"/>
                    <a:pt x="219" y="217"/>
                  </a:cubicBezTo>
                  <a:cubicBezTo>
                    <a:pt x="210" y="223"/>
                    <a:pt x="199" y="226"/>
                    <a:pt x="188" y="227"/>
                  </a:cubicBezTo>
                  <a:cubicBezTo>
                    <a:pt x="144" y="231"/>
                    <a:pt x="120" y="256"/>
                    <a:pt x="107" y="301"/>
                  </a:cubicBezTo>
                  <a:cubicBezTo>
                    <a:pt x="117" y="298"/>
                    <a:pt x="125" y="294"/>
                    <a:pt x="134" y="295"/>
                  </a:cubicBezTo>
                  <a:cubicBezTo>
                    <a:pt x="141" y="295"/>
                    <a:pt x="148" y="301"/>
                    <a:pt x="156" y="304"/>
                  </a:cubicBezTo>
                  <a:cubicBezTo>
                    <a:pt x="151" y="311"/>
                    <a:pt x="147" y="317"/>
                    <a:pt x="142" y="324"/>
                  </a:cubicBezTo>
                  <a:cubicBezTo>
                    <a:pt x="142" y="324"/>
                    <a:pt x="140" y="324"/>
                    <a:pt x="139" y="325"/>
                  </a:cubicBezTo>
                  <a:cubicBezTo>
                    <a:pt x="90" y="328"/>
                    <a:pt x="64" y="357"/>
                    <a:pt x="45" y="400"/>
                  </a:cubicBezTo>
                  <a:cubicBezTo>
                    <a:pt x="41" y="407"/>
                    <a:pt x="23" y="416"/>
                    <a:pt x="16" y="413"/>
                  </a:cubicBezTo>
                  <a:cubicBezTo>
                    <a:pt x="0" y="408"/>
                    <a:pt x="2" y="393"/>
                    <a:pt x="10" y="379"/>
                  </a:cubicBezTo>
                  <a:cubicBezTo>
                    <a:pt x="12" y="376"/>
                    <a:pt x="13" y="373"/>
                    <a:pt x="16" y="370"/>
                  </a:cubicBezTo>
                  <a:cubicBezTo>
                    <a:pt x="42" y="338"/>
                    <a:pt x="47" y="304"/>
                    <a:pt x="30" y="266"/>
                  </a:cubicBezTo>
                  <a:cubicBezTo>
                    <a:pt x="29" y="262"/>
                    <a:pt x="26" y="256"/>
                    <a:pt x="27" y="253"/>
                  </a:cubicBezTo>
                  <a:cubicBezTo>
                    <a:pt x="29" y="247"/>
                    <a:pt x="33" y="239"/>
                    <a:pt x="38" y="237"/>
                  </a:cubicBezTo>
                  <a:cubicBezTo>
                    <a:pt x="42" y="236"/>
                    <a:pt x="52" y="240"/>
                    <a:pt x="55" y="245"/>
                  </a:cubicBezTo>
                  <a:cubicBezTo>
                    <a:pt x="60" y="254"/>
                    <a:pt x="62" y="265"/>
                    <a:pt x="66" y="278"/>
                  </a:cubicBezTo>
                  <a:cubicBezTo>
                    <a:pt x="88" y="247"/>
                    <a:pt x="111" y="221"/>
                    <a:pt x="92" y="180"/>
                  </a:cubicBezTo>
                  <a:cubicBezTo>
                    <a:pt x="85" y="164"/>
                    <a:pt x="82" y="146"/>
                    <a:pt x="79" y="128"/>
                  </a:cubicBezTo>
                  <a:cubicBezTo>
                    <a:pt x="78" y="122"/>
                    <a:pt x="86" y="115"/>
                    <a:pt x="89" y="109"/>
                  </a:cubicBezTo>
                  <a:cubicBezTo>
                    <a:pt x="95" y="113"/>
                    <a:pt x="104" y="116"/>
                    <a:pt x="107" y="122"/>
                  </a:cubicBezTo>
                  <a:cubicBezTo>
                    <a:pt x="114" y="139"/>
                    <a:pt x="118" y="157"/>
                    <a:pt x="124" y="178"/>
                  </a:cubicBezTo>
                  <a:cubicBezTo>
                    <a:pt x="149" y="145"/>
                    <a:pt x="169" y="115"/>
                    <a:pt x="149" y="75"/>
                  </a:cubicBezTo>
                  <a:cubicBezTo>
                    <a:pt x="146" y="68"/>
                    <a:pt x="143" y="60"/>
                    <a:pt x="144" y="54"/>
                  </a:cubicBezTo>
                  <a:cubicBezTo>
                    <a:pt x="145" y="47"/>
                    <a:pt x="151" y="41"/>
                    <a:pt x="155" y="35"/>
                  </a:cubicBezTo>
                  <a:cubicBezTo>
                    <a:pt x="160" y="39"/>
                    <a:pt x="168" y="42"/>
                    <a:pt x="172" y="48"/>
                  </a:cubicBezTo>
                  <a:cubicBezTo>
                    <a:pt x="177" y="56"/>
                    <a:pt x="178" y="66"/>
                    <a:pt x="183" y="79"/>
                  </a:cubicBezTo>
                  <a:cubicBezTo>
                    <a:pt x="195" y="58"/>
                    <a:pt x="205" y="41"/>
                    <a:pt x="215" y="25"/>
                  </a:cubicBezTo>
                  <a:cubicBezTo>
                    <a:pt x="222" y="12"/>
                    <a:pt x="233" y="0"/>
                    <a:pt x="246" y="12"/>
                  </a:cubicBezTo>
                  <a:cubicBezTo>
                    <a:pt x="253" y="18"/>
                    <a:pt x="254" y="35"/>
                    <a:pt x="250" y="44"/>
                  </a:cubicBezTo>
                  <a:cubicBezTo>
                    <a:pt x="243" y="62"/>
                    <a:pt x="231" y="78"/>
                    <a:pt x="219" y="100"/>
                  </a:cubicBezTo>
                  <a:cubicBezTo>
                    <a:pt x="233" y="97"/>
                    <a:pt x="242" y="93"/>
                    <a:pt x="250" y="94"/>
                  </a:cubicBezTo>
                  <a:cubicBezTo>
                    <a:pt x="258" y="94"/>
                    <a:pt x="265" y="100"/>
                    <a:pt x="272" y="104"/>
                  </a:cubicBezTo>
                  <a:cubicBezTo>
                    <a:pt x="268" y="110"/>
                    <a:pt x="265" y="117"/>
                    <a:pt x="260" y="122"/>
                  </a:cubicBezTo>
                  <a:cubicBezTo>
                    <a:pt x="257" y="125"/>
                    <a:pt x="251" y="125"/>
                    <a:pt x="247" y="126"/>
                  </a:cubicBezTo>
                  <a:cubicBezTo>
                    <a:pt x="201" y="129"/>
                    <a:pt x="178" y="158"/>
                    <a:pt x="164"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solidFill>
                  <a:prstClr val="black"/>
                </a:solidFill>
              </a:endParaRPr>
            </a:p>
          </p:txBody>
        </p:sp>
      </p:grpSp>
      <p:sp>
        <p:nvSpPr>
          <p:cNvPr id="59" name="Freeform 54">
            <a:extLst>
              <a:ext uri="{FF2B5EF4-FFF2-40B4-BE49-F238E27FC236}">
                <a16:creationId xmlns:a16="http://schemas.microsoft.com/office/drawing/2014/main" id="{2A39960E-5C7F-B7AE-5366-00C44E64407E}"/>
              </a:ext>
            </a:extLst>
          </p:cNvPr>
          <p:cNvSpPr>
            <a:spLocks noEditPoints="1"/>
          </p:cNvSpPr>
          <p:nvPr/>
        </p:nvSpPr>
        <p:spPr bwMode="auto">
          <a:xfrm>
            <a:off x="815499" y="4605499"/>
            <a:ext cx="388309" cy="659223"/>
          </a:xfrm>
          <a:custGeom>
            <a:avLst/>
            <a:gdLst>
              <a:gd name="T0" fmla="*/ 73 w 122"/>
              <a:gd name="T1" fmla="*/ 207 h 207"/>
              <a:gd name="T2" fmla="*/ 51 w 122"/>
              <a:gd name="T3" fmla="*/ 207 h 207"/>
              <a:gd name="T4" fmla="*/ 49 w 122"/>
              <a:gd name="T5" fmla="*/ 193 h 207"/>
              <a:gd name="T6" fmla="*/ 35 w 122"/>
              <a:gd name="T7" fmla="*/ 153 h 207"/>
              <a:gd name="T8" fmla="*/ 11 w 122"/>
              <a:gd name="T9" fmla="*/ 104 h 207"/>
              <a:gd name="T10" fmla="*/ 4 w 122"/>
              <a:gd name="T11" fmla="*/ 80 h 207"/>
              <a:gd name="T12" fmla="*/ 29 w 122"/>
              <a:gd name="T13" fmla="*/ 24 h 207"/>
              <a:gd name="T14" fmla="*/ 120 w 122"/>
              <a:gd name="T15" fmla="*/ 62 h 207"/>
              <a:gd name="T16" fmla="*/ 116 w 122"/>
              <a:gd name="T17" fmla="*/ 94 h 207"/>
              <a:gd name="T18" fmla="*/ 92 w 122"/>
              <a:gd name="T19" fmla="*/ 145 h 207"/>
              <a:gd name="T20" fmla="*/ 76 w 122"/>
              <a:gd name="T21" fmla="*/ 189 h 207"/>
              <a:gd name="T22" fmla="*/ 73 w 122"/>
              <a:gd name="T23" fmla="*/ 207 h 207"/>
              <a:gd name="T24" fmla="*/ 62 w 122"/>
              <a:gd name="T25" fmla="*/ 47 h 207"/>
              <a:gd name="T26" fmla="*/ 36 w 122"/>
              <a:gd name="T27" fmla="*/ 73 h 207"/>
              <a:gd name="T28" fmla="*/ 62 w 122"/>
              <a:gd name="T29" fmla="*/ 99 h 207"/>
              <a:gd name="T30" fmla="*/ 88 w 122"/>
              <a:gd name="T31" fmla="*/ 73 h 207"/>
              <a:gd name="T32" fmla="*/ 62 w 122"/>
              <a:gd name="T33" fmla="*/ 4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2" h="207">
                <a:moveTo>
                  <a:pt x="73" y="207"/>
                </a:moveTo>
                <a:cubicBezTo>
                  <a:pt x="66" y="207"/>
                  <a:pt x="58" y="207"/>
                  <a:pt x="51" y="207"/>
                </a:cubicBezTo>
                <a:cubicBezTo>
                  <a:pt x="51" y="202"/>
                  <a:pt x="50" y="198"/>
                  <a:pt x="49" y="193"/>
                </a:cubicBezTo>
                <a:cubicBezTo>
                  <a:pt x="47" y="179"/>
                  <a:pt x="41" y="166"/>
                  <a:pt x="35" y="153"/>
                </a:cubicBezTo>
                <a:cubicBezTo>
                  <a:pt x="27" y="136"/>
                  <a:pt x="19" y="120"/>
                  <a:pt x="11" y="104"/>
                </a:cubicBezTo>
                <a:cubicBezTo>
                  <a:pt x="8" y="96"/>
                  <a:pt x="5" y="88"/>
                  <a:pt x="4" y="80"/>
                </a:cubicBezTo>
                <a:cubicBezTo>
                  <a:pt x="0" y="56"/>
                  <a:pt x="10" y="37"/>
                  <a:pt x="29" y="24"/>
                </a:cubicBezTo>
                <a:cubicBezTo>
                  <a:pt x="64" y="0"/>
                  <a:pt x="112" y="20"/>
                  <a:pt x="120" y="62"/>
                </a:cubicBezTo>
                <a:cubicBezTo>
                  <a:pt x="122" y="73"/>
                  <a:pt x="120" y="84"/>
                  <a:pt x="116" y="94"/>
                </a:cubicBezTo>
                <a:cubicBezTo>
                  <a:pt x="108" y="111"/>
                  <a:pt x="100" y="128"/>
                  <a:pt x="92" y="145"/>
                </a:cubicBezTo>
                <a:cubicBezTo>
                  <a:pt x="85" y="159"/>
                  <a:pt x="79" y="174"/>
                  <a:pt x="76" y="189"/>
                </a:cubicBezTo>
                <a:cubicBezTo>
                  <a:pt x="74" y="195"/>
                  <a:pt x="74" y="201"/>
                  <a:pt x="73" y="207"/>
                </a:cubicBezTo>
                <a:close/>
                <a:moveTo>
                  <a:pt x="62" y="47"/>
                </a:moveTo>
                <a:cubicBezTo>
                  <a:pt x="48" y="47"/>
                  <a:pt x="36" y="59"/>
                  <a:pt x="36" y="73"/>
                </a:cubicBezTo>
                <a:cubicBezTo>
                  <a:pt x="36" y="87"/>
                  <a:pt x="48" y="99"/>
                  <a:pt x="62" y="99"/>
                </a:cubicBezTo>
                <a:cubicBezTo>
                  <a:pt x="76" y="98"/>
                  <a:pt x="88" y="87"/>
                  <a:pt x="88" y="73"/>
                </a:cubicBezTo>
                <a:cubicBezTo>
                  <a:pt x="87" y="59"/>
                  <a:pt x="76" y="47"/>
                  <a:pt x="62" y="4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E" sz="1400">
              <a:solidFill>
                <a:prstClr val="black"/>
              </a:solidFill>
            </a:endParaRPr>
          </a:p>
        </p:txBody>
      </p:sp>
    </p:spTree>
    <p:extLst>
      <p:ext uri="{BB962C8B-B14F-4D97-AF65-F5344CB8AC3E}">
        <p14:creationId xmlns:p14="http://schemas.microsoft.com/office/powerpoint/2010/main" val="100670564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950" y="428726"/>
            <a:ext cx="8973849"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Plan Operacional</a:t>
            </a:r>
            <a:endParaRPr lang="en-US" sz="3500" spc="-30" dirty="0">
              <a:solidFill>
                <a:prstClr val="white"/>
              </a:solidFill>
              <a:latin typeface="Arial"/>
            </a:endParaRPr>
          </a:p>
        </p:txBody>
      </p:sp>
      <p:grpSp>
        <p:nvGrpSpPr>
          <p:cNvPr id="3" name="Group 2">
            <a:extLst>
              <a:ext uri="{FF2B5EF4-FFF2-40B4-BE49-F238E27FC236}">
                <a16:creationId xmlns:a16="http://schemas.microsoft.com/office/drawing/2014/main" id="{86C5BC49-6C6F-C698-0E16-9A55131233E1}"/>
              </a:ext>
            </a:extLst>
          </p:cNvPr>
          <p:cNvGrpSpPr/>
          <p:nvPr/>
        </p:nvGrpSpPr>
        <p:grpSpPr>
          <a:xfrm>
            <a:off x="718792" y="3062614"/>
            <a:ext cx="8865163" cy="3226426"/>
            <a:chOff x="718792" y="3062614"/>
            <a:chExt cx="8865163" cy="2694052"/>
          </a:xfrm>
        </p:grpSpPr>
        <p:sp>
          <p:nvSpPr>
            <p:cNvPr id="7" name="Freeform 4">
              <a:extLst>
                <a:ext uri="{FF2B5EF4-FFF2-40B4-BE49-F238E27FC236}">
                  <a16:creationId xmlns:a16="http://schemas.microsoft.com/office/drawing/2014/main" id="{28E31D80-3792-6398-C487-93C7A18DD022}"/>
                </a:ext>
              </a:extLst>
            </p:cNvPr>
            <p:cNvSpPr>
              <a:spLocks/>
            </p:cNvSpPr>
            <p:nvPr>
              <p:custDataLst>
                <p:tags r:id="rId1"/>
              </p:custDataLst>
            </p:nvPr>
          </p:nvSpPr>
          <p:spPr bwMode="auto">
            <a:xfrm>
              <a:off x="1146653" y="3075782"/>
              <a:ext cx="1524249" cy="2185987"/>
            </a:xfrm>
            <a:custGeom>
              <a:avLst/>
              <a:gdLst>
                <a:gd name="T0" fmla="*/ 0 w 1090"/>
                <a:gd name="T1" fmla="*/ 0 h 2448"/>
                <a:gd name="T2" fmla="*/ 960 w 1090"/>
                <a:gd name="T3" fmla="*/ 0 h 2448"/>
                <a:gd name="T4" fmla="*/ 960 w 1090"/>
                <a:gd name="T5" fmla="*/ 336 h 2448"/>
                <a:gd name="T6" fmla="*/ 1090 w 1090"/>
                <a:gd name="T7" fmla="*/ 568 h 2448"/>
                <a:gd name="T8" fmla="*/ 960 w 1090"/>
                <a:gd name="T9" fmla="*/ 816 h 2448"/>
                <a:gd name="T10" fmla="*/ 960 w 1090"/>
                <a:gd name="T11" fmla="*/ 2448 h 2448"/>
                <a:gd name="T12" fmla="*/ 0 w 1090"/>
                <a:gd name="T13" fmla="*/ 2448 h 2448"/>
                <a:gd name="T14" fmla="*/ 0 w 1090"/>
                <a:gd name="T15" fmla="*/ 816 h 2448"/>
                <a:gd name="T16" fmla="*/ 0 w 1090"/>
                <a:gd name="T17" fmla="*/ 558 h 2448"/>
                <a:gd name="T18" fmla="*/ 0 w 1090"/>
                <a:gd name="T19" fmla="*/ 336 h 2448"/>
                <a:gd name="T20" fmla="*/ 0 w 1090"/>
                <a:gd name="T21" fmla="*/ 0 h 24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0"/>
                <a:gd name="T34" fmla="*/ 0 h 2448"/>
                <a:gd name="T35" fmla="*/ 1090 w 1090"/>
                <a:gd name="T36" fmla="*/ 2448 h 24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0" h="2448">
                  <a:moveTo>
                    <a:pt x="0" y="0"/>
                  </a:moveTo>
                  <a:lnTo>
                    <a:pt x="960" y="0"/>
                  </a:lnTo>
                  <a:lnTo>
                    <a:pt x="960" y="336"/>
                  </a:lnTo>
                  <a:lnTo>
                    <a:pt x="1090" y="568"/>
                  </a:lnTo>
                  <a:lnTo>
                    <a:pt x="960" y="816"/>
                  </a:lnTo>
                  <a:lnTo>
                    <a:pt x="960" y="2448"/>
                  </a:lnTo>
                  <a:lnTo>
                    <a:pt x="0" y="2448"/>
                  </a:lnTo>
                  <a:lnTo>
                    <a:pt x="0" y="816"/>
                  </a:lnTo>
                  <a:lnTo>
                    <a:pt x="0" y="558"/>
                  </a:lnTo>
                  <a:lnTo>
                    <a:pt x="0" y="336"/>
                  </a:lnTo>
                  <a:lnTo>
                    <a:pt x="0" y="0"/>
                  </a:lnTo>
                  <a:close/>
                </a:path>
              </a:pathLst>
            </a:custGeom>
            <a:noFill/>
            <a:ln w="9525" cap="flat" cmpd="sng">
              <a:solidFill>
                <a:schemeClr val="bg1"/>
              </a:solidFill>
              <a:prstDash val="solid"/>
              <a:round/>
              <a:headEnd type="none" w="sm" len="sm"/>
              <a:tailEnd type="none" w="sm" len="sm"/>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rPr>
                <a:t>Marketing</a:t>
              </a:r>
            </a:p>
          </p:txBody>
        </p:sp>
        <p:sp>
          <p:nvSpPr>
            <p:cNvPr id="8" name="Freeform 5">
              <a:extLst>
                <a:ext uri="{FF2B5EF4-FFF2-40B4-BE49-F238E27FC236}">
                  <a16:creationId xmlns:a16="http://schemas.microsoft.com/office/drawing/2014/main" id="{211EB4EA-AA8D-9891-1DAC-BF9622FD33C4}"/>
                </a:ext>
              </a:extLst>
            </p:cNvPr>
            <p:cNvSpPr>
              <a:spLocks/>
            </p:cNvSpPr>
            <p:nvPr>
              <p:custDataLst>
                <p:tags r:id="rId2"/>
              </p:custDataLst>
            </p:nvPr>
          </p:nvSpPr>
          <p:spPr bwMode="auto">
            <a:xfrm>
              <a:off x="2595957" y="3075782"/>
              <a:ext cx="1525351" cy="2185987"/>
            </a:xfrm>
            <a:custGeom>
              <a:avLst/>
              <a:gdLst>
                <a:gd name="T0" fmla="*/ 0 w 1090"/>
                <a:gd name="T1" fmla="*/ 0 h 2448"/>
                <a:gd name="T2" fmla="*/ 960 w 1090"/>
                <a:gd name="T3" fmla="*/ 0 h 2448"/>
                <a:gd name="T4" fmla="*/ 960 w 1090"/>
                <a:gd name="T5" fmla="*/ 336 h 2448"/>
                <a:gd name="T6" fmla="*/ 1090 w 1090"/>
                <a:gd name="T7" fmla="*/ 568 h 2448"/>
                <a:gd name="T8" fmla="*/ 960 w 1090"/>
                <a:gd name="T9" fmla="*/ 816 h 2448"/>
                <a:gd name="T10" fmla="*/ 960 w 1090"/>
                <a:gd name="T11" fmla="*/ 2448 h 2448"/>
                <a:gd name="T12" fmla="*/ 0 w 1090"/>
                <a:gd name="T13" fmla="*/ 2448 h 2448"/>
                <a:gd name="T14" fmla="*/ 0 w 1090"/>
                <a:gd name="T15" fmla="*/ 816 h 2448"/>
                <a:gd name="T16" fmla="*/ 130 w 1090"/>
                <a:gd name="T17" fmla="*/ 568 h 2448"/>
                <a:gd name="T18" fmla="*/ 0 w 1090"/>
                <a:gd name="T19" fmla="*/ 336 h 2448"/>
                <a:gd name="T20" fmla="*/ 0 w 1090"/>
                <a:gd name="T21" fmla="*/ 0 h 24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0"/>
                <a:gd name="T34" fmla="*/ 0 h 2448"/>
                <a:gd name="T35" fmla="*/ 1090 w 1090"/>
                <a:gd name="T36" fmla="*/ 2448 h 24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0" h="2448">
                  <a:moveTo>
                    <a:pt x="0" y="0"/>
                  </a:moveTo>
                  <a:lnTo>
                    <a:pt x="960" y="0"/>
                  </a:lnTo>
                  <a:lnTo>
                    <a:pt x="960" y="336"/>
                  </a:lnTo>
                  <a:lnTo>
                    <a:pt x="1090" y="568"/>
                  </a:lnTo>
                  <a:lnTo>
                    <a:pt x="960" y="816"/>
                  </a:lnTo>
                  <a:lnTo>
                    <a:pt x="960" y="2448"/>
                  </a:lnTo>
                  <a:lnTo>
                    <a:pt x="0" y="2448"/>
                  </a:lnTo>
                  <a:lnTo>
                    <a:pt x="0" y="816"/>
                  </a:lnTo>
                  <a:lnTo>
                    <a:pt x="130" y="568"/>
                  </a:lnTo>
                  <a:lnTo>
                    <a:pt x="0" y="336"/>
                  </a:lnTo>
                  <a:lnTo>
                    <a:pt x="0" y="0"/>
                  </a:lnTo>
                  <a:close/>
                </a:path>
              </a:pathLst>
            </a:custGeom>
            <a:solidFill>
              <a:schemeClr val="tx2"/>
            </a:solidFill>
            <a:ln w="9525" cap="flat" cmpd="sng">
              <a:solidFill>
                <a:schemeClr val="bg1"/>
              </a:solidFill>
              <a:prstDash val="solid"/>
              <a:round/>
              <a:headEnd type="none" w="sm" len="sm"/>
              <a:tailEnd type="none" w="sm" len="sm"/>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rPr>
                <a:t>Ventas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1"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1"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1"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1" u="none" strike="noStrike" kern="0" cap="none" spc="0" normalizeH="0" baseline="0" noProof="0" dirty="0">
                  <a:ln>
                    <a:noFill/>
                  </a:ln>
                  <a:solidFill>
                    <a:schemeClr val="bg1"/>
                  </a:solidFill>
                  <a:effectLst/>
                  <a:uLnTx/>
                  <a:uFillTx/>
                </a:rPr>
                <a:t> </a:t>
              </a: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bg1"/>
                </a:solidFill>
                <a:effectLst/>
                <a:uLnTx/>
                <a:uFillTx/>
              </a:endParaRPr>
            </a:p>
          </p:txBody>
        </p:sp>
        <p:sp>
          <p:nvSpPr>
            <p:cNvPr id="10" name="Freeform 6">
              <a:extLst>
                <a:ext uri="{FF2B5EF4-FFF2-40B4-BE49-F238E27FC236}">
                  <a16:creationId xmlns:a16="http://schemas.microsoft.com/office/drawing/2014/main" id="{603DFF43-140B-9A26-8FFB-11DE9672F3E2}"/>
                </a:ext>
              </a:extLst>
            </p:cNvPr>
            <p:cNvSpPr>
              <a:spLocks/>
            </p:cNvSpPr>
            <p:nvPr>
              <p:custDataLst>
                <p:tags r:id="rId3"/>
              </p:custDataLst>
            </p:nvPr>
          </p:nvSpPr>
          <p:spPr bwMode="auto">
            <a:xfrm>
              <a:off x="8233843" y="3062614"/>
              <a:ext cx="1350112" cy="2185987"/>
            </a:xfrm>
            <a:custGeom>
              <a:avLst/>
              <a:gdLst>
                <a:gd name="T0" fmla="*/ 1038 w 1038"/>
                <a:gd name="T1" fmla="*/ 2450 h 2450"/>
                <a:gd name="T2" fmla="*/ 0 w 1038"/>
                <a:gd name="T3" fmla="*/ 2450 h 2450"/>
                <a:gd name="T4" fmla="*/ 0 w 1038"/>
                <a:gd name="T5" fmla="*/ 817 h 2450"/>
                <a:gd name="T6" fmla="*/ 141 w 1038"/>
                <a:gd name="T7" fmla="*/ 568 h 2450"/>
                <a:gd name="T8" fmla="*/ 0 w 1038"/>
                <a:gd name="T9" fmla="*/ 336 h 2450"/>
                <a:gd name="T10" fmla="*/ 0 w 1038"/>
                <a:gd name="T11" fmla="*/ 0 h 2450"/>
                <a:gd name="T12" fmla="*/ 1038 w 1038"/>
                <a:gd name="T13" fmla="*/ 0 h 2450"/>
                <a:gd name="T14" fmla="*/ 1038 w 1038"/>
                <a:gd name="T15" fmla="*/ 2450 h 2450"/>
                <a:gd name="T16" fmla="*/ 0 60000 65536"/>
                <a:gd name="T17" fmla="*/ 0 60000 65536"/>
                <a:gd name="T18" fmla="*/ 0 60000 65536"/>
                <a:gd name="T19" fmla="*/ 0 60000 65536"/>
                <a:gd name="T20" fmla="*/ 0 60000 65536"/>
                <a:gd name="T21" fmla="*/ 0 60000 65536"/>
                <a:gd name="T22" fmla="*/ 0 60000 65536"/>
                <a:gd name="T23" fmla="*/ 0 60000 65536"/>
                <a:gd name="T24" fmla="*/ 0 w 1038"/>
                <a:gd name="T25" fmla="*/ 0 h 2450"/>
                <a:gd name="T26" fmla="*/ 1038 w 1038"/>
                <a:gd name="T27" fmla="*/ 2450 h 2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8" h="2450">
                  <a:moveTo>
                    <a:pt x="1038" y="2450"/>
                  </a:moveTo>
                  <a:lnTo>
                    <a:pt x="0" y="2450"/>
                  </a:lnTo>
                  <a:lnTo>
                    <a:pt x="0" y="817"/>
                  </a:lnTo>
                  <a:lnTo>
                    <a:pt x="141" y="568"/>
                  </a:lnTo>
                  <a:lnTo>
                    <a:pt x="0" y="336"/>
                  </a:lnTo>
                  <a:lnTo>
                    <a:pt x="0" y="0"/>
                  </a:lnTo>
                  <a:lnTo>
                    <a:pt x="1038" y="0"/>
                  </a:lnTo>
                  <a:lnTo>
                    <a:pt x="1038" y="2450"/>
                  </a:lnTo>
                  <a:close/>
                </a:path>
              </a:pathLst>
            </a:custGeom>
            <a:solidFill>
              <a:schemeClr val="tx2"/>
            </a:solidFill>
            <a:ln w="9525" cap="flat" cmpd="sng">
              <a:solidFill>
                <a:schemeClr val="bg1"/>
              </a:solidFill>
              <a:prstDash val="solid"/>
              <a:round/>
              <a:headEnd type="none" w="sm" len="sm"/>
              <a:tailEnd type="none" w="sm" len="sm"/>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chemeClr val="bg1"/>
                  </a:solidFill>
                  <a:effectLst/>
                  <a:uLnTx/>
                  <a:uFillTx/>
                </a:rPr>
                <a:t>Gerenciamiento</a:t>
              </a:r>
              <a:r>
                <a:rPr kumimoji="0" lang="en-US" sz="1200" b="1" i="0" u="none" strike="noStrike" kern="0" cap="none" spc="0" normalizeH="0" baseline="0" noProof="0" dirty="0">
                  <a:ln>
                    <a:noFill/>
                  </a:ln>
                  <a:solidFill>
                    <a:schemeClr val="bg1"/>
                  </a:solidFill>
                  <a:effectLst/>
                  <a:uLnTx/>
                  <a:uFillTx/>
                </a:rPr>
                <a:t> de </a:t>
              </a:r>
              <a:r>
                <a:rPr kumimoji="0" lang="en-US" sz="1200" b="1" i="0" u="none" strike="noStrike" kern="0" cap="none" spc="0" normalizeH="0" baseline="0" noProof="0" dirty="0" err="1">
                  <a:ln>
                    <a:noFill/>
                  </a:ln>
                  <a:solidFill>
                    <a:schemeClr val="bg1"/>
                  </a:solidFill>
                  <a:effectLst/>
                  <a:uLnTx/>
                  <a:uFillTx/>
                </a:rPr>
                <a:t>Relación</a:t>
              </a: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rPr>
                <a:t>con </a:t>
              </a:r>
              <a:r>
                <a:rPr kumimoji="0" lang="en-US" sz="1200" b="1" i="0" u="none" strike="noStrike" kern="0" cap="none" spc="0" normalizeH="0" baseline="0" noProof="0" dirty="0" err="1">
                  <a:ln>
                    <a:noFill/>
                  </a:ln>
                  <a:solidFill>
                    <a:schemeClr val="bg1"/>
                  </a:solidFill>
                  <a:effectLst/>
                  <a:uLnTx/>
                  <a:uFillTx/>
                </a:rPr>
                <a:t>Clientes</a:t>
              </a:r>
              <a:endParaRPr kumimoji="0" lang="en-US" sz="1200" b="1" i="0" u="none" strike="noStrike" kern="0" cap="none" spc="0" normalizeH="0" baseline="0" noProof="0" dirty="0">
                <a:ln>
                  <a:noFill/>
                </a:ln>
                <a:solidFill>
                  <a:schemeClr val="bg1"/>
                </a:solidFill>
                <a:effectLst/>
                <a:uLnTx/>
                <a:uFillTx/>
              </a:endParaRPr>
            </a:p>
          </p:txBody>
        </p:sp>
        <p:sp>
          <p:nvSpPr>
            <p:cNvPr id="12" name="Freeform 13">
              <a:extLst>
                <a:ext uri="{FF2B5EF4-FFF2-40B4-BE49-F238E27FC236}">
                  <a16:creationId xmlns:a16="http://schemas.microsoft.com/office/drawing/2014/main" id="{84101C61-7610-0BE4-3E23-DD248820F06B}"/>
                </a:ext>
              </a:extLst>
            </p:cNvPr>
            <p:cNvSpPr>
              <a:spLocks/>
            </p:cNvSpPr>
            <p:nvPr>
              <p:custDataLst>
                <p:tags r:id="rId4"/>
              </p:custDataLst>
            </p:nvPr>
          </p:nvSpPr>
          <p:spPr bwMode="auto">
            <a:xfrm>
              <a:off x="4006514" y="3075782"/>
              <a:ext cx="1525351" cy="2185987"/>
            </a:xfrm>
            <a:custGeom>
              <a:avLst/>
              <a:gdLst>
                <a:gd name="T0" fmla="*/ 0 w 1090"/>
                <a:gd name="T1" fmla="*/ 0 h 2448"/>
                <a:gd name="T2" fmla="*/ 960 w 1090"/>
                <a:gd name="T3" fmla="*/ 0 h 2448"/>
                <a:gd name="T4" fmla="*/ 960 w 1090"/>
                <a:gd name="T5" fmla="*/ 336 h 2448"/>
                <a:gd name="T6" fmla="*/ 1090 w 1090"/>
                <a:gd name="T7" fmla="*/ 568 h 2448"/>
                <a:gd name="T8" fmla="*/ 960 w 1090"/>
                <a:gd name="T9" fmla="*/ 816 h 2448"/>
                <a:gd name="T10" fmla="*/ 960 w 1090"/>
                <a:gd name="T11" fmla="*/ 2448 h 2448"/>
                <a:gd name="T12" fmla="*/ 0 w 1090"/>
                <a:gd name="T13" fmla="*/ 2448 h 2448"/>
                <a:gd name="T14" fmla="*/ 0 w 1090"/>
                <a:gd name="T15" fmla="*/ 816 h 2448"/>
                <a:gd name="T16" fmla="*/ 130 w 1090"/>
                <a:gd name="T17" fmla="*/ 568 h 2448"/>
                <a:gd name="T18" fmla="*/ 0 w 1090"/>
                <a:gd name="T19" fmla="*/ 336 h 2448"/>
                <a:gd name="T20" fmla="*/ 0 w 1090"/>
                <a:gd name="T21" fmla="*/ 0 h 24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0"/>
                <a:gd name="T34" fmla="*/ 0 h 2448"/>
                <a:gd name="T35" fmla="*/ 1090 w 1090"/>
                <a:gd name="T36" fmla="*/ 2448 h 24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0" h="2448">
                  <a:moveTo>
                    <a:pt x="0" y="0"/>
                  </a:moveTo>
                  <a:lnTo>
                    <a:pt x="960" y="0"/>
                  </a:lnTo>
                  <a:lnTo>
                    <a:pt x="960" y="336"/>
                  </a:lnTo>
                  <a:lnTo>
                    <a:pt x="1090" y="568"/>
                  </a:lnTo>
                  <a:lnTo>
                    <a:pt x="960" y="816"/>
                  </a:lnTo>
                  <a:lnTo>
                    <a:pt x="960" y="2448"/>
                  </a:lnTo>
                  <a:lnTo>
                    <a:pt x="0" y="2448"/>
                  </a:lnTo>
                  <a:lnTo>
                    <a:pt x="0" y="816"/>
                  </a:lnTo>
                  <a:lnTo>
                    <a:pt x="130" y="568"/>
                  </a:lnTo>
                  <a:lnTo>
                    <a:pt x="0" y="336"/>
                  </a:lnTo>
                  <a:lnTo>
                    <a:pt x="0" y="0"/>
                  </a:lnTo>
                  <a:close/>
                </a:path>
              </a:pathLst>
            </a:custGeom>
            <a:noFill/>
            <a:ln w="9525" cap="flat" cmpd="sng">
              <a:solidFill>
                <a:schemeClr val="bg1"/>
              </a:solidFill>
              <a:prstDash val="solid"/>
              <a:round/>
              <a:headEnd type="none" w="sm" len="sm"/>
              <a:tailEnd type="none" w="sm" len="sm"/>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chemeClr val="bg1"/>
                  </a:solidFill>
                  <a:effectLst/>
                  <a:uLnTx/>
                  <a:uFillTx/>
                </a:rPr>
                <a:t>Diseño</a:t>
              </a: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rPr>
                <a:t>de Servicios y Proyectos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1"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1"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1" u="none" strike="noStrike" kern="0" cap="none" spc="0" normalizeH="0" baseline="0" noProof="0" dirty="0">
                  <a:ln>
                    <a:noFill/>
                  </a:ln>
                  <a:solidFill>
                    <a:schemeClr val="bg1"/>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1" u="none" strike="noStrike" kern="0" cap="none" spc="0" normalizeH="0" baseline="0" noProof="0" dirty="0">
                <a:ln>
                  <a:noFill/>
                </a:ln>
                <a:solidFill>
                  <a:schemeClr val="bg1"/>
                </a:solidFill>
                <a:effectLst/>
                <a:uLnTx/>
                <a:uFillTx/>
              </a:endParaRPr>
            </a:p>
          </p:txBody>
        </p:sp>
        <p:sp>
          <p:nvSpPr>
            <p:cNvPr id="21" name="Freeform 5">
              <a:extLst>
                <a:ext uri="{FF2B5EF4-FFF2-40B4-BE49-F238E27FC236}">
                  <a16:creationId xmlns:a16="http://schemas.microsoft.com/office/drawing/2014/main" id="{AA776292-1429-0E26-B819-546D126ED5E0}"/>
                </a:ext>
              </a:extLst>
            </p:cNvPr>
            <p:cNvSpPr>
              <a:spLocks/>
            </p:cNvSpPr>
            <p:nvPr>
              <p:custDataLst>
                <p:tags r:id="rId5"/>
              </p:custDataLst>
            </p:nvPr>
          </p:nvSpPr>
          <p:spPr bwMode="auto">
            <a:xfrm>
              <a:off x="5395748" y="3062614"/>
              <a:ext cx="1525351" cy="2185987"/>
            </a:xfrm>
            <a:custGeom>
              <a:avLst/>
              <a:gdLst>
                <a:gd name="T0" fmla="*/ 0 w 1090"/>
                <a:gd name="T1" fmla="*/ 0 h 2448"/>
                <a:gd name="T2" fmla="*/ 960 w 1090"/>
                <a:gd name="T3" fmla="*/ 0 h 2448"/>
                <a:gd name="T4" fmla="*/ 960 w 1090"/>
                <a:gd name="T5" fmla="*/ 336 h 2448"/>
                <a:gd name="T6" fmla="*/ 1090 w 1090"/>
                <a:gd name="T7" fmla="*/ 568 h 2448"/>
                <a:gd name="T8" fmla="*/ 960 w 1090"/>
                <a:gd name="T9" fmla="*/ 816 h 2448"/>
                <a:gd name="T10" fmla="*/ 960 w 1090"/>
                <a:gd name="T11" fmla="*/ 2448 h 2448"/>
                <a:gd name="T12" fmla="*/ 0 w 1090"/>
                <a:gd name="T13" fmla="*/ 2448 h 2448"/>
                <a:gd name="T14" fmla="*/ 0 w 1090"/>
                <a:gd name="T15" fmla="*/ 816 h 2448"/>
                <a:gd name="T16" fmla="*/ 130 w 1090"/>
                <a:gd name="T17" fmla="*/ 568 h 2448"/>
                <a:gd name="T18" fmla="*/ 0 w 1090"/>
                <a:gd name="T19" fmla="*/ 336 h 2448"/>
                <a:gd name="T20" fmla="*/ 0 w 1090"/>
                <a:gd name="T21" fmla="*/ 0 h 24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0"/>
                <a:gd name="T34" fmla="*/ 0 h 2448"/>
                <a:gd name="T35" fmla="*/ 1090 w 1090"/>
                <a:gd name="T36" fmla="*/ 2448 h 24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0" h="2448">
                  <a:moveTo>
                    <a:pt x="0" y="0"/>
                  </a:moveTo>
                  <a:lnTo>
                    <a:pt x="960" y="0"/>
                  </a:lnTo>
                  <a:lnTo>
                    <a:pt x="960" y="336"/>
                  </a:lnTo>
                  <a:lnTo>
                    <a:pt x="1090" y="568"/>
                  </a:lnTo>
                  <a:lnTo>
                    <a:pt x="960" y="816"/>
                  </a:lnTo>
                  <a:lnTo>
                    <a:pt x="960" y="2448"/>
                  </a:lnTo>
                  <a:lnTo>
                    <a:pt x="0" y="2448"/>
                  </a:lnTo>
                  <a:lnTo>
                    <a:pt x="0" y="816"/>
                  </a:lnTo>
                  <a:lnTo>
                    <a:pt x="130" y="568"/>
                  </a:lnTo>
                  <a:lnTo>
                    <a:pt x="0" y="336"/>
                  </a:lnTo>
                  <a:lnTo>
                    <a:pt x="0" y="0"/>
                  </a:lnTo>
                  <a:close/>
                </a:path>
              </a:pathLst>
            </a:custGeom>
            <a:solidFill>
              <a:schemeClr val="tx2"/>
            </a:solidFill>
            <a:ln w="9525" cap="flat" cmpd="sng">
              <a:solidFill>
                <a:schemeClr val="bg1"/>
              </a:solidFill>
              <a:prstDash val="solid"/>
              <a:round/>
              <a:headEnd type="none" w="sm" len="sm"/>
              <a:tailEnd type="none" w="sm" len="sm"/>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chemeClr val="bg1"/>
                  </a:solidFill>
                  <a:effectLst/>
                  <a:uLnTx/>
                  <a:uFillTx/>
                </a:rPr>
                <a:t>Generación</a:t>
              </a: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rPr>
                <a:t>de </a:t>
              </a:r>
              <a:r>
                <a:rPr kumimoji="0" lang="en-US" sz="1200" b="1" i="0" u="none" strike="noStrike" kern="0" cap="none" spc="0" normalizeH="0" baseline="0" noProof="0" dirty="0" err="1">
                  <a:ln>
                    <a:noFill/>
                  </a:ln>
                  <a:solidFill>
                    <a:schemeClr val="bg1"/>
                  </a:solidFill>
                  <a:effectLst/>
                  <a:uLnTx/>
                  <a:uFillTx/>
                </a:rPr>
                <a:t>Asesorías</a:t>
              </a: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rPr>
                <a:t> y </a:t>
              </a:r>
              <a:r>
                <a:rPr kumimoji="0" lang="en-US" sz="1200" b="1" i="0" u="none" strike="noStrike" kern="0" cap="none" spc="0" normalizeH="0" baseline="0" noProof="0" dirty="0" err="1">
                  <a:ln>
                    <a:noFill/>
                  </a:ln>
                  <a:solidFill>
                    <a:schemeClr val="bg1"/>
                  </a:solidFill>
                  <a:effectLst/>
                  <a:uLnTx/>
                  <a:uFillTx/>
                </a:rPr>
                <a:t>Propuestas</a:t>
              </a:r>
              <a:r>
                <a:rPr kumimoji="0" lang="en-US" sz="1200" b="1" i="0" u="none" strike="noStrike" kern="0" cap="none" spc="0" normalizeH="0" baseline="0" noProof="0" dirty="0">
                  <a:ln>
                    <a:noFill/>
                  </a:ln>
                  <a:solidFill>
                    <a:schemeClr val="bg1"/>
                  </a:solidFill>
                  <a:effectLst/>
                  <a:uLnTx/>
                  <a:uFillTx/>
                </a:rPr>
                <a:t> de Proyectos</a:t>
              </a:r>
            </a:p>
          </p:txBody>
        </p:sp>
        <p:sp>
          <p:nvSpPr>
            <p:cNvPr id="22" name="Freeform 13">
              <a:extLst>
                <a:ext uri="{FF2B5EF4-FFF2-40B4-BE49-F238E27FC236}">
                  <a16:creationId xmlns:a16="http://schemas.microsoft.com/office/drawing/2014/main" id="{607B15B9-1F2C-2BED-ACB0-AF0EA429C1BE}"/>
                </a:ext>
              </a:extLst>
            </p:cNvPr>
            <p:cNvSpPr>
              <a:spLocks/>
            </p:cNvSpPr>
            <p:nvPr>
              <p:custDataLst>
                <p:tags r:id="rId6"/>
              </p:custDataLst>
            </p:nvPr>
          </p:nvSpPr>
          <p:spPr bwMode="auto">
            <a:xfrm>
              <a:off x="6806305" y="3062614"/>
              <a:ext cx="1525351" cy="2185987"/>
            </a:xfrm>
            <a:custGeom>
              <a:avLst/>
              <a:gdLst>
                <a:gd name="T0" fmla="*/ 0 w 1090"/>
                <a:gd name="T1" fmla="*/ 0 h 2448"/>
                <a:gd name="T2" fmla="*/ 960 w 1090"/>
                <a:gd name="T3" fmla="*/ 0 h 2448"/>
                <a:gd name="T4" fmla="*/ 960 w 1090"/>
                <a:gd name="T5" fmla="*/ 336 h 2448"/>
                <a:gd name="T6" fmla="*/ 1090 w 1090"/>
                <a:gd name="T7" fmla="*/ 568 h 2448"/>
                <a:gd name="T8" fmla="*/ 960 w 1090"/>
                <a:gd name="T9" fmla="*/ 816 h 2448"/>
                <a:gd name="T10" fmla="*/ 960 w 1090"/>
                <a:gd name="T11" fmla="*/ 2448 h 2448"/>
                <a:gd name="T12" fmla="*/ 0 w 1090"/>
                <a:gd name="T13" fmla="*/ 2448 h 2448"/>
                <a:gd name="T14" fmla="*/ 0 w 1090"/>
                <a:gd name="T15" fmla="*/ 816 h 2448"/>
                <a:gd name="T16" fmla="*/ 130 w 1090"/>
                <a:gd name="T17" fmla="*/ 568 h 2448"/>
                <a:gd name="T18" fmla="*/ 0 w 1090"/>
                <a:gd name="T19" fmla="*/ 336 h 2448"/>
                <a:gd name="T20" fmla="*/ 0 w 1090"/>
                <a:gd name="T21" fmla="*/ 0 h 24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90"/>
                <a:gd name="T34" fmla="*/ 0 h 2448"/>
                <a:gd name="T35" fmla="*/ 1090 w 1090"/>
                <a:gd name="T36" fmla="*/ 2448 h 24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90" h="2448">
                  <a:moveTo>
                    <a:pt x="0" y="0"/>
                  </a:moveTo>
                  <a:lnTo>
                    <a:pt x="960" y="0"/>
                  </a:lnTo>
                  <a:lnTo>
                    <a:pt x="960" y="336"/>
                  </a:lnTo>
                  <a:lnTo>
                    <a:pt x="1090" y="568"/>
                  </a:lnTo>
                  <a:lnTo>
                    <a:pt x="960" y="816"/>
                  </a:lnTo>
                  <a:lnTo>
                    <a:pt x="960" y="2448"/>
                  </a:lnTo>
                  <a:lnTo>
                    <a:pt x="0" y="2448"/>
                  </a:lnTo>
                  <a:lnTo>
                    <a:pt x="0" y="816"/>
                  </a:lnTo>
                  <a:lnTo>
                    <a:pt x="130" y="568"/>
                  </a:lnTo>
                  <a:lnTo>
                    <a:pt x="0" y="336"/>
                  </a:lnTo>
                  <a:lnTo>
                    <a:pt x="0" y="0"/>
                  </a:lnTo>
                  <a:close/>
                </a:path>
              </a:pathLst>
            </a:custGeom>
            <a:noFill/>
            <a:ln w="9525" cap="flat" cmpd="sng">
              <a:solidFill>
                <a:schemeClr val="bg1"/>
              </a:solidFill>
              <a:prstDash val="solid"/>
              <a:round/>
              <a:headEnd type="none" w="sm" len="sm"/>
              <a:tailEnd type="none" w="sm" len="sm"/>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chemeClr val="bg1"/>
                  </a:solidFill>
                  <a:effectLst/>
                  <a:uLnTx/>
                  <a:uFillTx/>
                </a:rPr>
                <a:t>Implementación</a:t>
              </a:r>
              <a:r>
                <a:rPr kumimoji="0" lang="en-US" sz="1200" b="1" i="0" u="none" strike="noStrike" kern="0" cap="none" spc="0" normalizeH="0" baseline="0" noProof="0" dirty="0">
                  <a:ln>
                    <a:noFill/>
                  </a:ln>
                  <a:solidFill>
                    <a:schemeClr val="bg1"/>
                  </a:solidFill>
                  <a:effectLst/>
                  <a:uLnTx/>
                  <a:uFillTx/>
                </a:rPr>
                <a: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rPr>
                <a:t>y </a:t>
              </a:r>
              <a:r>
                <a:rPr kumimoji="0" lang="en-US" sz="1200" b="1" i="0" u="none" strike="noStrike" kern="0" cap="none" spc="0" normalizeH="0" baseline="0" noProof="0" dirty="0" err="1">
                  <a:ln>
                    <a:noFill/>
                  </a:ln>
                  <a:solidFill>
                    <a:schemeClr val="bg1"/>
                  </a:solidFill>
                  <a:effectLst/>
                  <a:uLnTx/>
                  <a:uFillTx/>
                </a:rPr>
                <a:t>Entrega</a:t>
              </a:r>
              <a:r>
                <a:rPr kumimoji="0" lang="en-US" sz="1200" b="1" i="0" u="none" strike="noStrike" kern="0" cap="none" spc="0" normalizeH="0" baseline="0" noProof="0" dirty="0">
                  <a:ln>
                    <a:noFill/>
                  </a:ln>
                  <a:solidFill>
                    <a:schemeClr val="bg1"/>
                  </a:solidFill>
                  <a:effectLst/>
                  <a:uLnTx/>
                  <a:uFillTx/>
                </a:rPr>
                <a:t> de Servicios y Proyectos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bg1"/>
                </a:solidFill>
                <a:effectLst/>
                <a:uLnTx/>
                <a:uFillTx/>
              </a:endParaRPr>
            </a:p>
          </p:txBody>
        </p:sp>
        <p:sp>
          <p:nvSpPr>
            <p:cNvPr id="25" name="TextBox 24">
              <a:extLst>
                <a:ext uri="{FF2B5EF4-FFF2-40B4-BE49-F238E27FC236}">
                  <a16:creationId xmlns:a16="http://schemas.microsoft.com/office/drawing/2014/main" id="{FD109437-7936-E1F1-E32A-6CA9BE384137}"/>
                </a:ext>
              </a:extLst>
            </p:cNvPr>
            <p:cNvSpPr txBox="1"/>
            <p:nvPr/>
          </p:nvSpPr>
          <p:spPr>
            <a:xfrm rot="16200000">
              <a:off x="-407529" y="4376430"/>
              <a:ext cx="2506557" cy="253916"/>
            </a:xfrm>
            <a:prstGeom prst="rect">
              <a:avLst/>
            </a:prstGeom>
            <a:noFill/>
          </p:spPr>
          <p:txBody>
            <a:bodyPr wrap="square">
              <a:spAutoFit/>
            </a:bodyPr>
            <a:lstStyle/>
            <a:p>
              <a:pPr algn="r" defTabSz="914367" fontAlgn="auto">
                <a:spcBef>
                  <a:spcPts val="0"/>
                </a:spcBef>
                <a:spcAft>
                  <a:spcPts val="0"/>
                </a:spcAft>
                <a:defRPr/>
              </a:pPr>
              <a:r>
                <a:rPr lang="en-US" sz="1050" cap="all" dirty="0" err="1">
                  <a:solidFill>
                    <a:schemeClr val="bg1"/>
                  </a:solidFill>
                  <a:latin typeface="Segoe UI Semibold"/>
                  <a:cs typeface="Segoe UI Semibold" panose="020B0702040204020203" pitchFamily="34" charset="0"/>
                </a:rPr>
                <a:t>Actididades</a:t>
              </a:r>
              <a:r>
                <a:rPr lang="en-US" sz="1050" cap="all" dirty="0">
                  <a:solidFill>
                    <a:schemeClr val="bg1"/>
                  </a:solidFill>
                  <a:latin typeface="Segoe UI Semibold"/>
                  <a:cs typeface="Segoe UI Semibold" panose="020B0702040204020203" pitchFamily="34" charset="0"/>
                </a:rPr>
                <a:t> </a:t>
              </a:r>
              <a:r>
                <a:rPr lang="en-US" sz="1050" cap="all" dirty="0" err="1">
                  <a:solidFill>
                    <a:schemeClr val="bg1"/>
                  </a:solidFill>
                  <a:latin typeface="Segoe UI Semibold"/>
                  <a:cs typeface="Segoe UI Semibold" panose="020B0702040204020203" pitchFamily="34" charset="0"/>
                </a:rPr>
                <a:t>primarias</a:t>
              </a:r>
              <a:endParaRPr lang="en-US" sz="1050" cap="all" dirty="0">
                <a:solidFill>
                  <a:schemeClr val="bg1"/>
                </a:solidFill>
                <a:latin typeface="Segoe UI Semibold"/>
                <a:cs typeface="Segoe UI Semibold" panose="020B0702040204020203" pitchFamily="34" charset="0"/>
              </a:endParaRPr>
            </a:p>
          </p:txBody>
        </p:sp>
        <p:sp>
          <p:nvSpPr>
            <p:cNvPr id="26" name="Chevron 19">
              <a:extLst>
                <a:ext uri="{FF2B5EF4-FFF2-40B4-BE49-F238E27FC236}">
                  <a16:creationId xmlns:a16="http://schemas.microsoft.com/office/drawing/2014/main" id="{0A50B30F-FDBC-AA4F-A098-AF8CE68DF5F2}"/>
                </a:ext>
              </a:extLst>
            </p:cNvPr>
            <p:cNvSpPr/>
            <p:nvPr/>
          </p:nvSpPr>
          <p:spPr bwMode="auto">
            <a:xfrm>
              <a:off x="2782218" y="4720209"/>
              <a:ext cx="6660014" cy="401630"/>
            </a:xfrm>
            <a:prstGeom prst="chevron">
              <a:avLst>
                <a:gd name="adj" fmla="val 20913"/>
              </a:avLst>
            </a:prstGeom>
            <a:solidFill>
              <a:schemeClr val="tx2"/>
            </a:solidFill>
            <a:ln>
              <a:solidFill>
                <a:schemeClr val="bg1"/>
              </a:solidFill>
            </a:ln>
          </p:spPr>
          <p:txBody>
            <a:bodyPr wrap="square" lIns="0" tIns="0" rIns="0" bIns="0" rtlCol="0" anchor="ctr">
              <a:noAutofit/>
            </a:bodyPr>
            <a:lstStyle/>
            <a:p>
              <a:pPr marL="0" marR="0" lvl="0" indent="0" algn="ctr" defTabSz="914225"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Arial"/>
                  <a:cs typeface="Segoe UI Semibold" panose="020B0702040204020203" pitchFamily="34" charset="0"/>
                </a:rPr>
                <a:t>Marco de </a:t>
              </a:r>
              <a:r>
                <a:rPr kumimoji="0" lang="en-US" sz="1200" b="0" i="0" u="none" strike="noStrike" kern="0" cap="none" spc="0" normalizeH="0" baseline="0" noProof="0" dirty="0" err="1">
                  <a:ln>
                    <a:noFill/>
                  </a:ln>
                  <a:solidFill>
                    <a:schemeClr val="bg1"/>
                  </a:solidFill>
                  <a:effectLst/>
                  <a:uLnTx/>
                  <a:uFillTx/>
                  <a:latin typeface="Arial"/>
                  <a:cs typeface="Segoe UI Semibold" panose="020B0702040204020203" pitchFamily="34" charset="0"/>
                </a:rPr>
                <a:t>Trabajo</a:t>
              </a:r>
              <a:r>
                <a:rPr kumimoji="0" lang="en-US" sz="1200" b="0" i="0" u="none" strike="noStrike" kern="0" cap="none" spc="0" normalizeH="0" baseline="0" noProof="0" dirty="0">
                  <a:ln>
                    <a:noFill/>
                  </a:ln>
                  <a:solidFill>
                    <a:schemeClr val="bg1"/>
                  </a:solidFill>
                  <a:effectLst/>
                  <a:uLnTx/>
                  <a:uFillTx/>
                  <a:latin typeface="Arial"/>
                  <a:cs typeface="Segoe UI Semibold" panose="020B0702040204020203" pitchFamily="34" charset="0"/>
                </a:rPr>
                <a:t> o Framework de </a:t>
              </a:r>
              <a:r>
                <a:rPr kumimoji="0" lang="en-US" sz="1200" b="0" i="0" u="none" strike="noStrike" kern="0" cap="none" spc="0" normalizeH="0" baseline="0" noProof="0" dirty="0" err="1">
                  <a:ln>
                    <a:noFill/>
                  </a:ln>
                  <a:solidFill>
                    <a:schemeClr val="bg1"/>
                  </a:solidFill>
                  <a:effectLst/>
                  <a:uLnTx/>
                  <a:uFillTx/>
                  <a:latin typeface="Arial"/>
                  <a:cs typeface="Segoe UI Semibold" panose="020B0702040204020203" pitchFamily="34" charset="0"/>
                </a:rPr>
                <a:t>Consultoría</a:t>
              </a:r>
              <a:r>
                <a:rPr kumimoji="0" lang="en-US" sz="1200" b="0" i="0" u="none" strike="noStrike" kern="0" cap="none" spc="0" normalizeH="0" baseline="0" noProof="0" dirty="0">
                  <a:ln>
                    <a:noFill/>
                  </a:ln>
                  <a:solidFill>
                    <a:schemeClr val="bg1"/>
                  </a:solidFill>
                  <a:effectLst/>
                  <a:uLnTx/>
                  <a:uFillTx/>
                  <a:latin typeface="Arial"/>
                  <a:cs typeface="Segoe UI Semibold" panose="020B0702040204020203" pitchFamily="34" charset="0"/>
                </a:rPr>
                <a:t> IT-Trail Services</a:t>
              </a:r>
            </a:p>
          </p:txBody>
        </p:sp>
      </p:grpSp>
      <p:sp>
        <p:nvSpPr>
          <p:cNvPr id="27" name="Arc 26">
            <a:extLst>
              <a:ext uri="{FF2B5EF4-FFF2-40B4-BE49-F238E27FC236}">
                <a16:creationId xmlns:a16="http://schemas.microsoft.com/office/drawing/2014/main" id="{67F1D3A0-9820-E68E-F53C-CADD5F254A82}"/>
              </a:ext>
            </a:extLst>
          </p:cNvPr>
          <p:cNvSpPr/>
          <p:nvPr/>
        </p:nvSpPr>
        <p:spPr>
          <a:xfrm rot="2975445">
            <a:off x="5845947" y="1565673"/>
            <a:ext cx="5255230" cy="4911383"/>
          </a:xfrm>
          <a:prstGeom prst="arc">
            <a:avLst>
              <a:gd name="adj1" fmla="val 16021104"/>
              <a:gd name="adj2" fmla="val 267375"/>
            </a:avLst>
          </a:prstGeom>
          <a:noFill/>
          <a:ln w="1016000" cap="flat" cmpd="sng" algn="ctr">
            <a:solidFill>
              <a:schemeClr val="tx1">
                <a:lumMod val="75000"/>
                <a:alpha val="40000"/>
              </a:schemeClr>
            </a:solidFill>
            <a:prstDash val="solid"/>
            <a:headEnd type="none"/>
            <a:tailEnd type="none"/>
          </a:ln>
          <a:effectLst/>
        </p:spPr>
        <p:txBody>
          <a:bodyPr rot="0" spcFirstLastPara="0" vertOverflow="overflow" horzOverflow="overflow" vert="horz" wrap="square" lIns="91403" tIns="45702" rIns="91403" bIns="45702" numCol="1" spcCol="0" rtlCol="0" fromWordArt="0" anchor="ctr" anchorCtr="0" forceAA="0" compatLnSpc="1">
            <a:prstTxWarp prst="textNoShape">
              <a:avLst/>
            </a:prstTxWarp>
            <a:noAutofit/>
          </a:bodyPr>
          <a:lstStyle/>
          <a:p>
            <a:pPr marL="0" marR="0" lvl="0" indent="0" algn="ctr" defTabSz="912294" rtl="0" eaLnBrk="1" fontAlgn="auto" latinLnBrk="0" hangingPunct="1">
              <a:lnSpc>
                <a:spcPct val="100000"/>
              </a:lnSpc>
              <a:spcBef>
                <a:spcPts val="0"/>
              </a:spcBef>
              <a:spcAft>
                <a:spcPts val="0"/>
              </a:spcAft>
              <a:buClrTx/>
              <a:buSzTx/>
              <a:buFontTx/>
              <a:buNone/>
              <a:tabLst/>
              <a:defRPr/>
            </a:pPr>
            <a:endParaRPr kumimoji="0" lang="es-CO" sz="1764" b="0" i="0" u="none" strike="noStrike" kern="0" cap="none" spc="0" normalizeH="0" baseline="0" noProof="0" dirty="0">
              <a:ln>
                <a:noFill/>
              </a:ln>
              <a:solidFill>
                <a:srgbClr val="0A193D"/>
              </a:solidFill>
              <a:effectLst/>
              <a:uLnTx/>
              <a:uFillTx/>
              <a:latin typeface="Segoe UI"/>
              <a:ea typeface="+mn-ea"/>
              <a:cs typeface="+mn-cs"/>
            </a:endParaRPr>
          </a:p>
        </p:txBody>
      </p:sp>
      <p:sp>
        <p:nvSpPr>
          <p:cNvPr id="28" name="Rectangle 27">
            <a:extLst>
              <a:ext uri="{FF2B5EF4-FFF2-40B4-BE49-F238E27FC236}">
                <a16:creationId xmlns:a16="http://schemas.microsoft.com/office/drawing/2014/main" id="{C6B79267-1C3A-2064-4FD3-DBA2C330E39C}"/>
              </a:ext>
            </a:extLst>
          </p:cNvPr>
          <p:cNvSpPr/>
          <p:nvPr/>
        </p:nvSpPr>
        <p:spPr>
          <a:xfrm rot="5592866">
            <a:off x="9116761" y="4029335"/>
            <a:ext cx="2722119" cy="735183"/>
          </a:xfrm>
          <a:prstGeom prst="rect">
            <a:avLst/>
          </a:prstGeom>
          <a:noFill/>
        </p:spPr>
        <p:txBody>
          <a:bodyPr wrap="none" lIns="91440" tIns="45720" rIns="91440" bIns="45720">
            <a:prstTxWarp prst="textArchUp">
              <a:avLst>
                <a:gd name="adj" fmla="val 11801916"/>
              </a:avLst>
            </a:prstTxWarp>
            <a:spAutoFit/>
          </a:bodyPr>
          <a:lstStyle/>
          <a:p>
            <a:pPr algn="ctr"/>
            <a:r>
              <a:rPr lang="en-US" sz="2800" kern="0" dirty="0" err="1">
                <a:solidFill>
                  <a:srgbClr val="50E6FF"/>
                </a:solidFill>
                <a:latin typeface="Segoe UI Semibold" panose="020B0702040204020203" pitchFamily="34" charset="0"/>
                <a:cs typeface="Segoe UI Semibold" panose="020B0702040204020203" pitchFamily="34" charset="0"/>
              </a:rPr>
              <a:t>Propuesta</a:t>
            </a:r>
            <a:r>
              <a:rPr lang="en-US" sz="2800" kern="0" dirty="0">
                <a:solidFill>
                  <a:srgbClr val="50E6FF"/>
                </a:solidFill>
                <a:latin typeface="Segoe UI Semibold" panose="020B0702040204020203" pitchFamily="34" charset="0"/>
                <a:cs typeface="Segoe UI Semibold" panose="020B0702040204020203" pitchFamily="34" charset="0"/>
              </a:rPr>
              <a:t> de Valor</a:t>
            </a:r>
          </a:p>
        </p:txBody>
      </p:sp>
      <p:sp>
        <p:nvSpPr>
          <p:cNvPr id="29" name="TextBox 28">
            <a:extLst>
              <a:ext uri="{FF2B5EF4-FFF2-40B4-BE49-F238E27FC236}">
                <a16:creationId xmlns:a16="http://schemas.microsoft.com/office/drawing/2014/main" id="{9B700C6E-ADB0-6835-B34D-749FBDCF141B}"/>
              </a:ext>
            </a:extLst>
          </p:cNvPr>
          <p:cNvSpPr txBox="1"/>
          <p:nvPr/>
        </p:nvSpPr>
        <p:spPr>
          <a:xfrm>
            <a:off x="439558" y="1398309"/>
            <a:ext cx="11169424" cy="1015663"/>
          </a:xfrm>
          <a:prstGeom prst="rect">
            <a:avLst/>
          </a:prstGeom>
          <a:noFill/>
        </p:spPr>
        <p:txBody>
          <a:bodyPr wrap="square" rtlCol="0">
            <a:spAutoFit/>
          </a:bodyPr>
          <a:lstStyle/>
          <a:p>
            <a:pPr algn="just"/>
            <a:r>
              <a:rPr lang="es-ES" sz="2000" spc="-50" dirty="0">
                <a:solidFill>
                  <a:prstClr val="white"/>
                </a:solidFill>
                <a:latin typeface="Arial"/>
              </a:rPr>
              <a:t>En su Plan Operacional e Internacionalización de Servicios han definido poner énfasis en los procesos de Venta Consultiva y Generación de Asesorías </a:t>
            </a:r>
            <a:r>
              <a:rPr lang="es-CL" sz="2000" spc="-50" dirty="0">
                <a:solidFill>
                  <a:prstClr val="white"/>
                </a:solidFill>
                <a:latin typeface="Arial"/>
              </a:rPr>
              <a:t>para la introducción de servicios en los clientes objetivos del estudio realizado en el Plan de Marketing</a:t>
            </a:r>
            <a:endParaRPr lang="es-ES" sz="2000" spc="-50" dirty="0">
              <a:solidFill>
                <a:prstClr val="white"/>
              </a:solidFill>
              <a:latin typeface="Arial"/>
            </a:endParaRPr>
          </a:p>
        </p:txBody>
      </p:sp>
    </p:spTree>
    <p:extLst>
      <p:ext uri="{BB962C8B-B14F-4D97-AF65-F5344CB8AC3E}">
        <p14:creationId xmlns:p14="http://schemas.microsoft.com/office/powerpoint/2010/main" val="382084403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47950" y="428726"/>
            <a:ext cx="8973849"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Introducción Operacional de Servicios </a:t>
            </a:r>
            <a:endParaRPr lang="en-US" sz="3500" spc="-30" dirty="0">
              <a:solidFill>
                <a:prstClr val="white"/>
              </a:solidFill>
              <a:latin typeface="Arial"/>
            </a:endParaRPr>
          </a:p>
        </p:txBody>
      </p:sp>
      <p:sp>
        <p:nvSpPr>
          <p:cNvPr id="108" name="Rectangle 107">
            <a:extLst>
              <a:ext uri="{FF2B5EF4-FFF2-40B4-BE49-F238E27FC236}">
                <a16:creationId xmlns:a16="http://schemas.microsoft.com/office/drawing/2014/main" id="{388F902F-AC1A-4CA2-2D4E-FAC30842E558}"/>
              </a:ext>
            </a:extLst>
          </p:cNvPr>
          <p:cNvSpPr/>
          <p:nvPr/>
        </p:nvSpPr>
        <p:spPr bwMode="auto">
          <a:xfrm>
            <a:off x="956036" y="1719220"/>
            <a:ext cx="6095963" cy="439283"/>
          </a:xfrm>
          <a:prstGeom prst="rect">
            <a:avLst/>
          </a:prstGeom>
          <a:solidFill>
            <a:srgbClr val="9C102E"/>
          </a:solidFill>
          <a:ln w="9525" cap="flat" cmpd="sng" algn="ctr">
            <a:no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eaLnBrk="1" fontAlgn="auto" latinLnBrk="0" hangingPunct="1">
              <a:lnSpc>
                <a:spcPct val="100000"/>
              </a:lnSpc>
              <a:spcBef>
                <a:spcPts val="0"/>
              </a:spcBef>
              <a:spcAft>
                <a:spcPts val="0"/>
              </a:spcAft>
              <a:buClrTx/>
              <a:buSzTx/>
              <a:buFontTx/>
              <a:buNone/>
              <a:tabLst/>
              <a:defRPr/>
            </a:pPr>
            <a:r>
              <a:rPr lang="en-US" sz="2000" dirty="0">
                <a:solidFill>
                  <a:schemeClr val="bg1"/>
                </a:solidFill>
                <a:latin typeface="Arial"/>
                <a:cs typeface="Arial"/>
              </a:rPr>
              <a:t>Personas</a:t>
            </a:r>
            <a:endParaRPr lang="en-US" dirty="0">
              <a:solidFill>
                <a:schemeClr val="bg1"/>
              </a:solidFill>
              <a:latin typeface="Arial"/>
              <a:cs typeface="Arial"/>
            </a:endParaRPr>
          </a:p>
        </p:txBody>
      </p:sp>
      <p:sp>
        <p:nvSpPr>
          <p:cNvPr id="109" name="Rectangle 108">
            <a:extLst>
              <a:ext uri="{FF2B5EF4-FFF2-40B4-BE49-F238E27FC236}">
                <a16:creationId xmlns:a16="http://schemas.microsoft.com/office/drawing/2014/main" id="{4752E35F-38B4-2DB2-B5B7-ACABF1CB98EF}"/>
              </a:ext>
            </a:extLst>
          </p:cNvPr>
          <p:cNvSpPr/>
          <p:nvPr/>
        </p:nvSpPr>
        <p:spPr bwMode="auto">
          <a:xfrm>
            <a:off x="406683" y="1719220"/>
            <a:ext cx="438912" cy="439283"/>
          </a:xfrm>
          <a:prstGeom prst="rect">
            <a:avLst/>
          </a:prstGeom>
          <a:solidFill>
            <a:schemeClr val="bg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10" name="Rectangle 109">
            <a:extLst>
              <a:ext uri="{FF2B5EF4-FFF2-40B4-BE49-F238E27FC236}">
                <a16:creationId xmlns:a16="http://schemas.microsoft.com/office/drawing/2014/main" id="{E9E05861-60B3-8C1F-4F6F-FC2EF8315D8C}"/>
              </a:ext>
            </a:extLst>
          </p:cNvPr>
          <p:cNvSpPr/>
          <p:nvPr/>
        </p:nvSpPr>
        <p:spPr bwMode="auto">
          <a:xfrm>
            <a:off x="938311" y="1719220"/>
            <a:ext cx="109728" cy="439283"/>
          </a:xfrm>
          <a:prstGeom prst="rect">
            <a:avLst/>
          </a:prstGeom>
          <a:solidFill>
            <a:schemeClr val="bg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13" name="Rectangle 112">
            <a:extLst>
              <a:ext uri="{FF2B5EF4-FFF2-40B4-BE49-F238E27FC236}">
                <a16:creationId xmlns:a16="http://schemas.microsoft.com/office/drawing/2014/main" id="{849807D8-BFDE-C6FE-DE9B-9F642A7044A7}"/>
              </a:ext>
            </a:extLst>
          </p:cNvPr>
          <p:cNvSpPr/>
          <p:nvPr/>
        </p:nvSpPr>
        <p:spPr bwMode="auto">
          <a:xfrm>
            <a:off x="1020674" y="3515761"/>
            <a:ext cx="6095963" cy="439283"/>
          </a:xfrm>
          <a:prstGeom prst="rect">
            <a:avLst/>
          </a:prstGeom>
          <a:solidFill>
            <a:srgbClr val="7F0D26"/>
          </a:solidFill>
          <a:ln w="9525" cap="flat" cmpd="sng" algn="ctr">
            <a:no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auto">
              <a:spcBef>
                <a:spcPts val="0"/>
              </a:spcBef>
              <a:spcAft>
                <a:spcPts val="0"/>
              </a:spcAft>
            </a:pPr>
            <a:r>
              <a:rPr lang="en-US" sz="2000" dirty="0">
                <a:solidFill>
                  <a:schemeClr val="bg1"/>
                </a:solidFill>
                <a:latin typeface="Arial"/>
                <a:cs typeface="Arial"/>
              </a:rPr>
              <a:t>Plataformas</a:t>
            </a:r>
          </a:p>
        </p:txBody>
      </p:sp>
      <p:sp>
        <p:nvSpPr>
          <p:cNvPr id="114" name="Rectangle 113">
            <a:extLst>
              <a:ext uri="{FF2B5EF4-FFF2-40B4-BE49-F238E27FC236}">
                <a16:creationId xmlns:a16="http://schemas.microsoft.com/office/drawing/2014/main" id="{1FE58D86-3C21-EC15-AF62-81C221CDBBCE}"/>
              </a:ext>
            </a:extLst>
          </p:cNvPr>
          <p:cNvSpPr/>
          <p:nvPr/>
        </p:nvSpPr>
        <p:spPr bwMode="auto">
          <a:xfrm>
            <a:off x="471321" y="3515761"/>
            <a:ext cx="438912" cy="439283"/>
          </a:xfrm>
          <a:prstGeom prst="rect">
            <a:avLst/>
          </a:prstGeom>
          <a:solidFill>
            <a:schemeClr val="bg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15" name="Rectangle 114">
            <a:extLst>
              <a:ext uri="{FF2B5EF4-FFF2-40B4-BE49-F238E27FC236}">
                <a16:creationId xmlns:a16="http://schemas.microsoft.com/office/drawing/2014/main" id="{6118396D-2AAD-EABE-B882-3630760D5131}"/>
              </a:ext>
            </a:extLst>
          </p:cNvPr>
          <p:cNvSpPr/>
          <p:nvPr/>
        </p:nvSpPr>
        <p:spPr bwMode="auto">
          <a:xfrm>
            <a:off x="1002949" y="3515761"/>
            <a:ext cx="109728" cy="439283"/>
          </a:xfrm>
          <a:prstGeom prst="rect">
            <a:avLst/>
          </a:prstGeom>
          <a:solidFill>
            <a:schemeClr val="bg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16" name="Rectangle 115">
            <a:extLst>
              <a:ext uri="{FF2B5EF4-FFF2-40B4-BE49-F238E27FC236}">
                <a16:creationId xmlns:a16="http://schemas.microsoft.com/office/drawing/2014/main" id="{7DFB2377-3D84-EBC9-7C45-AF2BC623FD0D}"/>
              </a:ext>
            </a:extLst>
          </p:cNvPr>
          <p:cNvSpPr/>
          <p:nvPr/>
        </p:nvSpPr>
        <p:spPr bwMode="auto">
          <a:xfrm>
            <a:off x="1020674" y="5199028"/>
            <a:ext cx="6102349" cy="439283"/>
          </a:xfrm>
          <a:prstGeom prst="rect">
            <a:avLst/>
          </a:prstGeom>
          <a:solidFill>
            <a:srgbClr val="640D26"/>
          </a:solidFill>
          <a:ln w="9525" cap="flat" cmpd="sng" algn="ctr">
            <a:noFill/>
            <a:prstDash val="solid"/>
            <a:headEnd type="none" w="med" len="med"/>
            <a:tailEnd type="none" w="med" len="med"/>
          </a:ln>
          <a:effectLst>
            <a:outerShdw blurRad="50800" dist="38100" dir="2700000" algn="tl" rotWithShape="0">
              <a:prstClr val="black">
                <a:alpha val="4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eaLnBrk="1" fontAlgn="auto" latinLnBrk="0" hangingPunct="1">
              <a:lnSpc>
                <a:spcPct val="100000"/>
              </a:lnSpc>
              <a:spcBef>
                <a:spcPts val="0"/>
              </a:spcBef>
              <a:spcAft>
                <a:spcPts val="0"/>
              </a:spcAft>
              <a:buClrTx/>
              <a:buSzTx/>
              <a:buFontTx/>
              <a:buNone/>
              <a:tabLst/>
              <a:defRPr/>
            </a:pPr>
            <a:r>
              <a:rPr lang="en-US" sz="2000" dirty="0" err="1">
                <a:solidFill>
                  <a:schemeClr val="bg1"/>
                </a:solidFill>
                <a:latin typeface="Arial"/>
                <a:cs typeface="Arial"/>
              </a:rPr>
              <a:t>Procesos</a:t>
            </a:r>
            <a:endParaRPr lang="en-US" sz="2000" dirty="0">
              <a:solidFill>
                <a:schemeClr val="bg1"/>
              </a:solidFill>
              <a:latin typeface="Arial"/>
              <a:cs typeface="Arial"/>
            </a:endParaRPr>
          </a:p>
        </p:txBody>
      </p:sp>
      <p:sp>
        <p:nvSpPr>
          <p:cNvPr id="117" name="Rectangle 116">
            <a:extLst>
              <a:ext uri="{FF2B5EF4-FFF2-40B4-BE49-F238E27FC236}">
                <a16:creationId xmlns:a16="http://schemas.microsoft.com/office/drawing/2014/main" id="{594C3EE2-2B0D-1180-08C6-E6C77BEC46C6}"/>
              </a:ext>
            </a:extLst>
          </p:cNvPr>
          <p:cNvSpPr/>
          <p:nvPr/>
        </p:nvSpPr>
        <p:spPr bwMode="auto">
          <a:xfrm>
            <a:off x="471321" y="5199028"/>
            <a:ext cx="438912" cy="439283"/>
          </a:xfrm>
          <a:prstGeom prst="rect">
            <a:avLst/>
          </a:prstGeom>
          <a:solidFill>
            <a:schemeClr val="bg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18" name="Rectangle 117">
            <a:extLst>
              <a:ext uri="{FF2B5EF4-FFF2-40B4-BE49-F238E27FC236}">
                <a16:creationId xmlns:a16="http://schemas.microsoft.com/office/drawing/2014/main" id="{8A519248-DA6C-2C18-E6E6-D4E8B4B192FA}"/>
              </a:ext>
            </a:extLst>
          </p:cNvPr>
          <p:cNvSpPr/>
          <p:nvPr/>
        </p:nvSpPr>
        <p:spPr bwMode="auto">
          <a:xfrm>
            <a:off x="1002949" y="5199028"/>
            <a:ext cx="109728" cy="439283"/>
          </a:xfrm>
          <a:prstGeom prst="rect">
            <a:avLst/>
          </a:prstGeom>
          <a:solidFill>
            <a:schemeClr val="bg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20" name="TextBox 119">
            <a:extLst>
              <a:ext uri="{FF2B5EF4-FFF2-40B4-BE49-F238E27FC236}">
                <a16:creationId xmlns:a16="http://schemas.microsoft.com/office/drawing/2014/main" id="{A4162ECE-305D-ECFF-C568-F2B213E15D08}"/>
              </a:ext>
            </a:extLst>
          </p:cNvPr>
          <p:cNvSpPr txBox="1"/>
          <p:nvPr/>
        </p:nvSpPr>
        <p:spPr bwMode="auto">
          <a:xfrm>
            <a:off x="384643" y="2194108"/>
            <a:ext cx="6726806" cy="923330"/>
          </a:xfrm>
          <a:prstGeom prst="rect">
            <a:avLst/>
          </a:prstGeom>
          <a:noFill/>
          <a:ln w="9525">
            <a:noFill/>
            <a:miter lim="800000"/>
            <a:headEnd/>
            <a:tailEnd/>
          </a:ln>
        </p:spPr>
        <p:txBody>
          <a:bodyPr wrap="square">
            <a:spAutoFit/>
          </a:bodyPr>
          <a:lstStyle/>
          <a:p>
            <a:r>
              <a:rPr lang="es-CL" sz="1800" dirty="0">
                <a:solidFill>
                  <a:schemeClr val="bg1"/>
                </a:solidFill>
                <a:effectLst/>
                <a:latin typeface="Arial"/>
                <a:ea typeface="Arial" panose="020B0604020202020204" pitchFamily="34" charset="0"/>
                <a:cs typeface="Arial"/>
              </a:rPr>
              <a:t>Los servicios serán entregados localmente por un nuevo equipo establecido en Colombia. En caso necesario apoyado remotamente (bajo demanda) desde la oficina de Chile</a:t>
            </a:r>
            <a:endParaRPr lang="en-US" dirty="0"/>
          </a:p>
        </p:txBody>
      </p:sp>
      <p:sp>
        <p:nvSpPr>
          <p:cNvPr id="122" name="TextBox 121">
            <a:extLst>
              <a:ext uri="{FF2B5EF4-FFF2-40B4-BE49-F238E27FC236}">
                <a16:creationId xmlns:a16="http://schemas.microsoft.com/office/drawing/2014/main" id="{6B6F2AEB-A9A1-1AE2-3AC7-8B45013B529F}"/>
              </a:ext>
            </a:extLst>
          </p:cNvPr>
          <p:cNvSpPr txBox="1"/>
          <p:nvPr/>
        </p:nvSpPr>
        <p:spPr bwMode="auto">
          <a:xfrm>
            <a:off x="471321" y="4063364"/>
            <a:ext cx="6728582" cy="646331"/>
          </a:xfrm>
          <a:prstGeom prst="rect">
            <a:avLst/>
          </a:prstGeom>
          <a:noFill/>
          <a:ln w="9525">
            <a:noFill/>
            <a:miter lim="800000"/>
            <a:headEnd/>
            <a:tailEnd/>
          </a:ln>
        </p:spPr>
        <p:txBody>
          <a:bodyPr wrap="square">
            <a:spAutoFit/>
          </a:bodyPr>
          <a:lstStyle/>
          <a:p>
            <a:r>
              <a:rPr lang="es-CL" sz="1800" dirty="0">
                <a:solidFill>
                  <a:schemeClr val="bg1"/>
                </a:solidFill>
                <a:effectLst/>
                <a:latin typeface="Arial"/>
                <a:ea typeface="Arial" panose="020B0604020202020204" pitchFamily="34" charset="0"/>
                <a:cs typeface="Arial"/>
              </a:rPr>
              <a:t>Aprovechando las capacidades actuales de tecnología para el trabajo remoto</a:t>
            </a:r>
            <a:endParaRPr lang="en-US" dirty="0"/>
          </a:p>
        </p:txBody>
      </p:sp>
      <p:sp>
        <p:nvSpPr>
          <p:cNvPr id="124" name="TextBox 123">
            <a:extLst>
              <a:ext uri="{FF2B5EF4-FFF2-40B4-BE49-F238E27FC236}">
                <a16:creationId xmlns:a16="http://schemas.microsoft.com/office/drawing/2014/main" id="{57B1B8C3-89FD-F670-38BB-FDAEA869AB35}"/>
              </a:ext>
            </a:extLst>
          </p:cNvPr>
          <p:cNvSpPr txBox="1"/>
          <p:nvPr/>
        </p:nvSpPr>
        <p:spPr bwMode="auto">
          <a:xfrm>
            <a:off x="406683" y="5705541"/>
            <a:ext cx="6921388" cy="646331"/>
          </a:xfrm>
          <a:prstGeom prst="rect">
            <a:avLst/>
          </a:prstGeom>
          <a:noFill/>
          <a:ln w="9525">
            <a:noFill/>
            <a:miter lim="800000"/>
            <a:headEnd/>
            <a:tailEnd/>
          </a:ln>
        </p:spPr>
        <p:txBody>
          <a:bodyPr wrap="square">
            <a:spAutoFit/>
          </a:bodyPr>
          <a:lstStyle/>
          <a:p>
            <a:r>
              <a:rPr lang="es-CL" sz="1800" dirty="0">
                <a:solidFill>
                  <a:schemeClr val="bg1"/>
                </a:solidFill>
                <a:effectLst/>
                <a:latin typeface="Arial"/>
                <a:ea typeface="Arial" panose="020B0604020202020204" pitchFamily="34" charset="0"/>
                <a:cs typeface="Arial"/>
              </a:rPr>
              <a:t>En la entrega </a:t>
            </a:r>
            <a:r>
              <a:rPr lang="es-ES_tradnl" sz="1800" dirty="0">
                <a:solidFill>
                  <a:schemeClr val="bg1"/>
                </a:solidFill>
                <a:effectLst/>
                <a:latin typeface="Arial"/>
                <a:ea typeface="Arial" panose="020B0604020202020204" pitchFamily="34" charset="0"/>
                <a:cs typeface="Arial"/>
              </a:rPr>
              <a:t>de servicios se utilizarán las capacidades existentes en la Cadena de Valor y Sub-Procesos de Consultoría relevantes</a:t>
            </a:r>
            <a:endParaRPr lang="en-US" dirty="0"/>
          </a:p>
        </p:txBody>
      </p:sp>
      <p:grpSp>
        <p:nvGrpSpPr>
          <p:cNvPr id="27" name="Group 6">
            <a:extLst>
              <a:ext uri="{FF2B5EF4-FFF2-40B4-BE49-F238E27FC236}">
                <a16:creationId xmlns:a16="http://schemas.microsoft.com/office/drawing/2014/main" id="{635879CA-E1E1-A541-3C49-197397A59EF1}"/>
              </a:ext>
            </a:extLst>
          </p:cNvPr>
          <p:cNvGrpSpPr/>
          <p:nvPr/>
        </p:nvGrpSpPr>
        <p:grpSpPr bwMode="auto">
          <a:xfrm>
            <a:off x="8699825" y="1513725"/>
            <a:ext cx="3246540" cy="4726881"/>
            <a:chOff x="2909636" y="1656420"/>
            <a:chExt cx="3246540" cy="4726881"/>
          </a:xfrm>
        </p:grpSpPr>
        <p:sp>
          <p:nvSpPr>
            <p:cNvPr id="28" name="Freeform 5">
              <a:extLst>
                <a:ext uri="{FF2B5EF4-FFF2-40B4-BE49-F238E27FC236}">
                  <a16:creationId xmlns:a16="http://schemas.microsoft.com/office/drawing/2014/main" id="{9ADE6A09-63E2-21D5-BCD5-97A8757706B7}"/>
                </a:ext>
              </a:extLst>
            </p:cNvPr>
            <p:cNvSpPr>
              <a:spLocks/>
            </p:cNvSpPr>
            <p:nvPr/>
          </p:nvSpPr>
          <p:spPr bwMode="auto">
            <a:xfrm>
              <a:off x="3066178" y="1656420"/>
              <a:ext cx="854174" cy="1146839"/>
            </a:xfrm>
            <a:custGeom>
              <a:avLst/>
              <a:gdLst/>
              <a:ahLst/>
              <a:cxnLst>
                <a:cxn ang="0">
                  <a:pos x="117" y="445"/>
                </a:cxn>
                <a:cxn ang="0">
                  <a:pos x="159" y="409"/>
                </a:cxn>
                <a:cxn ang="0">
                  <a:pos x="196" y="420"/>
                </a:cxn>
                <a:cxn ang="0">
                  <a:pos x="242" y="319"/>
                </a:cxn>
                <a:cxn ang="0">
                  <a:pos x="299" y="271"/>
                </a:cxn>
                <a:cxn ang="0">
                  <a:pos x="330" y="159"/>
                </a:cxn>
                <a:cxn ang="0">
                  <a:pos x="400" y="145"/>
                </a:cxn>
                <a:cxn ang="0">
                  <a:pos x="475" y="117"/>
                </a:cxn>
                <a:cxn ang="0">
                  <a:pos x="629" y="0"/>
                </a:cxn>
                <a:cxn ang="0">
                  <a:pos x="667" y="24"/>
                </a:cxn>
                <a:cxn ang="0">
                  <a:pos x="653" y="46"/>
                </a:cxn>
                <a:cxn ang="0">
                  <a:pos x="554" y="128"/>
                </a:cxn>
                <a:cxn ang="0">
                  <a:pos x="506" y="236"/>
                </a:cxn>
                <a:cxn ang="0">
                  <a:pos x="526" y="302"/>
                </a:cxn>
                <a:cxn ang="0">
                  <a:pos x="557" y="414"/>
                </a:cxn>
                <a:cxn ang="0">
                  <a:pos x="634" y="442"/>
                </a:cxn>
                <a:cxn ang="0">
                  <a:pos x="742" y="438"/>
                </a:cxn>
                <a:cxn ang="0">
                  <a:pos x="812" y="506"/>
                </a:cxn>
                <a:cxn ang="0">
                  <a:pos x="885" y="502"/>
                </a:cxn>
                <a:cxn ang="0">
                  <a:pos x="957" y="491"/>
                </a:cxn>
                <a:cxn ang="0">
                  <a:pos x="931" y="667"/>
                </a:cxn>
                <a:cxn ang="0">
                  <a:pos x="962" y="726"/>
                </a:cxn>
                <a:cxn ang="0">
                  <a:pos x="968" y="805"/>
                </a:cxn>
                <a:cxn ang="0">
                  <a:pos x="1003" y="887"/>
                </a:cxn>
                <a:cxn ang="0">
                  <a:pos x="973" y="852"/>
                </a:cxn>
                <a:cxn ang="0">
                  <a:pos x="904" y="845"/>
                </a:cxn>
                <a:cxn ang="0">
                  <a:pos x="768" y="867"/>
                </a:cxn>
                <a:cxn ang="0">
                  <a:pos x="757" y="916"/>
                </a:cxn>
                <a:cxn ang="0">
                  <a:pos x="814" y="953"/>
                </a:cxn>
                <a:cxn ang="0">
                  <a:pos x="761" y="960"/>
                </a:cxn>
                <a:cxn ang="0">
                  <a:pos x="744" y="1028"/>
                </a:cxn>
                <a:cxn ang="0">
                  <a:pos x="792" y="1118"/>
                </a:cxn>
                <a:cxn ang="0">
                  <a:pos x="704" y="1327"/>
                </a:cxn>
                <a:cxn ang="0">
                  <a:pos x="737" y="1252"/>
                </a:cxn>
                <a:cxn ang="0">
                  <a:pos x="673" y="1202"/>
                </a:cxn>
                <a:cxn ang="0">
                  <a:pos x="590" y="1208"/>
                </a:cxn>
                <a:cxn ang="0">
                  <a:pos x="544" y="1230"/>
                </a:cxn>
                <a:cxn ang="0">
                  <a:pos x="467" y="1180"/>
                </a:cxn>
                <a:cxn ang="0">
                  <a:pos x="442" y="1140"/>
                </a:cxn>
                <a:cxn ang="0">
                  <a:pos x="350" y="1063"/>
                </a:cxn>
                <a:cxn ang="0">
                  <a:pos x="257" y="1032"/>
                </a:cxn>
                <a:cxn ang="0">
                  <a:pos x="119" y="1017"/>
                </a:cxn>
                <a:cxn ang="0">
                  <a:pos x="15" y="977"/>
                </a:cxn>
                <a:cxn ang="0">
                  <a:pos x="35" y="935"/>
                </a:cxn>
                <a:cxn ang="0">
                  <a:pos x="57" y="856"/>
                </a:cxn>
                <a:cxn ang="0">
                  <a:pos x="126" y="801"/>
                </a:cxn>
                <a:cxn ang="0">
                  <a:pos x="126" y="740"/>
                </a:cxn>
                <a:cxn ang="0">
                  <a:pos x="130" y="563"/>
                </a:cxn>
                <a:cxn ang="0">
                  <a:pos x="99" y="476"/>
                </a:cxn>
              </a:cxnLst>
              <a:rect l="0" t="0" r="r" b="b"/>
              <a:pathLst>
                <a:path w="1003" h="1349">
                  <a:moveTo>
                    <a:pt x="99" y="476"/>
                  </a:moveTo>
                  <a:lnTo>
                    <a:pt x="117" y="445"/>
                  </a:lnTo>
                  <a:lnTo>
                    <a:pt x="139" y="434"/>
                  </a:lnTo>
                  <a:lnTo>
                    <a:pt x="159" y="409"/>
                  </a:lnTo>
                  <a:lnTo>
                    <a:pt x="147" y="361"/>
                  </a:lnTo>
                  <a:lnTo>
                    <a:pt x="196" y="420"/>
                  </a:lnTo>
                  <a:lnTo>
                    <a:pt x="200" y="357"/>
                  </a:lnTo>
                  <a:lnTo>
                    <a:pt x="242" y="319"/>
                  </a:lnTo>
                  <a:lnTo>
                    <a:pt x="264" y="282"/>
                  </a:lnTo>
                  <a:lnTo>
                    <a:pt x="299" y="271"/>
                  </a:lnTo>
                  <a:lnTo>
                    <a:pt x="308" y="189"/>
                  </a:lnTo>
                  <a:lnTo>
                    <a:pt x="330" y="159"/>
                  </a:lnTo>
                  <a:lnTo>
                    <a:pt x="365" y="143"/>
                  </a:lnTo>
                  <a:lnTo>
                    <a:pt x="400" y="145"/>
                  </a:lnTo>
                  <a:lnTo>
                    <a:pt x="420" y="115"/>
                  </a:lnTo>
                  <a:lnTo>
                    <a:pt x="475" y="117"/>
                  </a:lnTo>
                  <a:lnTo>
                    <a:pt x="579" y="53"/>
                  </a:lnTo>
                  <a:lnTo>
                    <a:pt x="629" y="0"/>
                  </a:lnTo>
                  <a:lnTo>
                    <a:pt x="656" y="5"/>
                  </a:lnTo>
                  <a:lnTo>
                    <a:pt x="667" y="24"/>
                  </a:lnTo>
                  <a:lnTo>
                    <a:pt x="653" y="47"/>
                  </a:lnTo>
                  <a:lnTo>
                    <a:pt x="653" y="46"/>
                  </a:lnTo>
                  <a:lnTo>
                    <a:pt x="614" y="57"/>
                  </a:lnTo>
                  <a:lnTo>
                    <a:pt x="554" y="128"/>
                  </a:lnTo>
                  <a:lnTo>
                    <a:pt x="528" y="163"/>
                  </a:lnTo>
                  <a:lnTo>
                    <a:pt x="506" y="236"/>
                  </a:lnTo>
                  <a:lnTo>
                    <a:pt x="491" y="258"/>
                  </a:lnTo>
                  <a:lnTo>
                    <a:pt x="526" y="302"/>
                  </a:lnTo>
                  <a:lnTo>
                    <a:pt x="557" y="363"/>
                  </a:lnTo>
                  <a:lnTo>
                    <a:pt x="557" y="414"/>
                  </a:lnTo>
                  <a:lnTo>
                    <a:pt x="603" y="440"/>
                  </a:lnTo>
                  <a:lnTo>
                    <a:pt x="634" y="442"/>
                  </a:lnTo>
                  <a:lnTo>
                    <a:pt x="691" y="427"/>
                  </a:lnTo>
                  <a:lnTo>
                    <a:pt x="742" y="438"/>
                  </a:lnTo>
                  <a:lnTo>
                    <a:pt x="790" y="498"/>
                  </a:lnTo>
                  <a:lnTo>
                    <a:pt x="812" y="506"/>
                  </a:lnTo>
                  <a:lnTo>
                    <a:pt x="834" y="495"/>
                  </a:lnTo>
                  <a:lnTo>
                    <a:pt x="885" y="502"/>
                  </a:lnTo>
                  <a:lnTo>
                    <a:pt x="933" y="484"/>
                  </a:lnTo>
                  <a:lnTo>
                    <a:pt x="957" y="491"/>
                  </a:lnTo>
                  <a:lnTo>
                    <a:pt x="920" y="619"/>
                  </a:lnTo>
                  <a:lnTo>
                    <a:pt x="931" y="667"/>
                  </a:lnTo>
                  <a:lnTo>
                    <a:pt x="962" y="702"/>
                  </a:lnTo>
                  <a:lnTo>
                    <a:pt x="962" y="726"/>
                  </a:lnTo>
                  <a:lnTo>
                    <a:pt x="927" y="762"/>
                  </a:lnTo>
                  <a:lnTo>
                    <a:pt x="968" y="805"/>
                  </a:lnTo>
                  <a:lnTo>
                    <a:pt x="1001" y="887"/>
                  </a:lnTo>
                  <a:lnTo>
                    <a:pt x="1003" y="887"/>
                  </a:lnTo>
                  <a:lnTo>
                    <a:pt x="979" y="876"/>
                  </a:lnTo>
                  <a:lnTo>
                    <a:pt x="973" y="852"/>
                  </a:lnTo>
                  <a:lnTo>
                    <a:pt x="955" y="832"/>
                  </a:lnTo>
                  <a:lnTo>
                    <a:pt x="904" y="845"/>
                  </a:lnTo>
                  <a:lnTo>
                    <a:pt x="882" y="858"/>
                  </a:lnTo>
                  <a:lnTo>
                    <a:pt x="768" y="867"/>
                  </a:lnTo>
                  <a:lnTo>
                    <a:pt x="757" y="891"/>
                  </a:lnTo>
                  <a:lnTo>
                    <a:pt x="757" y="916"/>
                  </a:lnTo>
                  <a:lnTo>
                    <a:pt x="806" y="931"/>
                  </a:lnTo>
                  <a:lnTo>
                    <a:pt x="814" y="953"/>
                  </a:lnTo>
                  <a:lnTo>
                    <a:pt x="784" y="951"/>
                  </a:lnTo>
                  <a:lnTo>
                    <a:pt x="761" y="960"/>
                  </a:lnTo>
                  <a:lnTo>
                    <a:pt x="739" y="979"/>
                  </a:lnTo>
                  <a:lnTo>
                    <a:pt x="744" y="1028"/>
                  </a:lnTo>
                  <a:lnTo>
                    <a:pt x="781" y="1069"/>
                  </a:lnTo>
                  <a:lnTo>
                    <a:pt x="792" y="1118"/>
                  </a:lnTo>
                  <a:lnTo>
                    <a:pt x="748" y="1349"/>
                  </a:lnTo>
                  <a:lnTo>
                    <a:pt x="704" y="1327"/>
                  </a:lnTo>
                  <a:lnTo>
                    <a:pt x="698" y="1301"/>
                  </a:lnTo>
                  <a:lnTo>
                    <a:pt x="737" y="1252"/>
                  </a:lnTo>
                  <a:lnTo>
                    <a:pt x="724" y="1226"/>
                  </a:lnTo>
                  <a:lnTo>
                    <a:pt x="673" y="1202"/>
                  </a:lnTo>
                  <a:lnTo>
                    <a:pt x="621" y="1213"/>
                  </a:lnTo>
                  <a:lnTo>
                    <a:pt x="590" y="1208"/>
                  </a:lnTo>
                  <a:lnTo>
                    <a:pt x="570" y="1224"/>
                  </a:lnTo>
                  <a:lnTo>
                    <a:pt x="544" y="1230"/>
                  </a:lnTo>
                  <a:lnTo>
                    <a:pt x="493" y="1228"/>
                  </a:lnTo>
                  <a:lnTo>
                    <a:pt x="467" y="1180"/>
                  </a:lnTo>
                  <a:lnTo>
                    <a:pt x="445" y="1166"/>
                  </a:lnTo>
                  <a:lnTo>
                    <a:pt x="442" y="1140"/>
                  </a:lnTo>
                  <a:lnTo>
                    <a:pt x="396" y="1116"/>
                  </a:lnTo>
                  <a:lnTo>
                    <a:pt x="350" y="1063"/>
                  </a:lnTo>
                  <a:lnTo>
                    <a:pt x="304" y="1054"/>
                  </a:lnTo>
                  <a:lnTo>
                    <a:pt x="257" y="1032"/>
                  </a:lnTo>
                  <a:lnTo>
                    <a:pt x="150" y="1048"/>
                  </a:lnTo>
                  <a:lnTo>
                    <a:pt x="119" y="1017"/>
                  </a:lnTo>
                  <a:lnTo>
                    <a:pt x="13" y="979"/>
                  </a:lnTo>
                  <a:lnTo>
                    <a:pt x="15" y="977"/>
                  </a:lnTo>
                  <a:lnTo>
                    <a:pt x="0" y="946"/>
                  </a:lnTo>
                  <a:lnTo>
                    <a:pt x="35" y="935"/>
                  </a:lnTo>
                  <a:lnTo>
                    <a:pt x="27" y="902"/>
                  </a:lnTo>
                  <a:lnTo>
                    <a:pt x="57" y="856"/>
                  </a:lnTo>
                  <a:lnTo>
                    <a:pt x="104" y="850"/>
                  </a:lnTo>
                  <a:lnTo>
                    <a:pt x="126" y="801"/>
                  </a:lnTo>
                  <a:lnTo>
                    <a:pt x="154" y="762"/>
                  </a:lnTo>
                  <a:lnTo>
                    <a:pt x="126" y="740"/>
                  </a:lnTo>
                  <a:lnTo>
                    <a:pt x="141" y="696"/>
                  </a:lnTo>
                  <a:lnTo>
                    <a:pt x="130" y="563"/>
                  </a:lnTo>
                  <a:lnTo>
                    <a:pt x="139" y="528"/>
                  </a:lnTo>
                  <a:lnTo>
                    <a:pt x="99" y="476"/>
                  </a:lnTo>
                  <a:close/>
                </a:path>
              </a:pathLst>
            </a:custGeom>
            <a:solidFill>
              <a:srgbClr val="FFFFFF"/>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29" name="Freeform 11">
              <a:extLst>
                <a:ext uri="{FF2B5EF4-FFF2-40B4-BE49-F238E27FC236}">
                  <a16:creationId xmlns:a16="http://schemas.microsoft.com/office/drawing/2014/main" id="{CF4D9D26-CE26-3FCB-C0BF-F3B687A0E6B9}"/>
                </a:ext>
              </a:extLst>
            </p:cNvPr>
            <p:cNvSpPr>
              <a:spLocks/>
            </p:cNvSpPr>
            <p:nvPr/>
          </p:nvSpPr>
          <p:spPr bwMode="auto">
            <a:xfrm>
              <a:off x="3484757" y="1663226"/>
              <a:ext cx="930743" cy="781008"/>
            </a:xfrm>
            <a:custGeom>
              <a:avLst/>
              <a:gdLst/>
              <a:ahLst/>
              <a:cxnLst>
                <a:cxn ang="0">
                  <a:pos x="1091" y="304"/>
                </a:cxn>
                <a:cxn ang="0">
                  <a:pos x="1010" y="357"/>
                </a:cxn>
                <a:cxn ang="0">
                  <a:pos x="1034" y="398"/>
                </a:cxn>
                <a:cxn ang="0">
                  <a:pos x="977" y="480"/>
                </a:cxn>
                <a:cxn ang="0">
                  <a:pos x="1027" y="566"/>
                </a:cxn>
                <a:cxn ang="0">
                  <a:pos x="957" y="607"/>
                </a:cxn>
                <a:cxn ang="0">
                  <a:pos x="856" y="640"/>
                </a:cxn>
                <a:cxn ang="0">
                  <a:pos x="796" y="654"/>
                </a:cxn>
                <a:cxn ang="0">
                  <a:pos x="711" y="627"/>
                </a:cxn>
                <a:cxn ang="0">
                  <a:pos x="730" y="680"/>
                </a:cxn>
                <a:cxn ang="0">
                  <a:pos x="732" y="757"/>
                </a:cxn>
                <a:cxn ang="0">
                  <a:pos x="774" y="781"/>
                </a:cxn>
                <a:cxn ang="0">
                  <a:pos x="739" y="827"/>
                </a:cxn>
                <a:cxn ang="0">
                  <a:pos x="605" y="915"/>
                </a:cxn>
                <a:cxn ang="0">
                  <a:pos x="512" y="878"/>
                </a:cxn>
                <a:cxn ang="0">
                  <a:pos x="477" y="796"/>
                </a:cxn>
                <a:cxn ang="0">
                  <a:pos x="471" y="717"/>
                </a:cxn>
                <a:cxn ang="0">
                  <a:pos x="440" y="658"/>
                </a:cxn>
                <a:cxn ang="0">
                  <a:pos x="466" y="482"/>
                </a:cxn>
                <a:cxn ang="0">
                  <a:pos x="394" y="493"/>
                </a:cxn>
                <a:cxn ang="0">
                  <a:pos x="321" y="497"/>
                </a:cxn>
                <a:cxn ang="0">
                  <a:pos x="251" y="429"/>
                </a:cxn>
                <a:cxn ang="0">
                  <a:pos x="143" y="433"/>
                </a:cxn>
                <a:cxn ang="0">
                  <a:pos x="66" y="405"/>
                </a:cxn>
                <a:cxn ang="0">
                  <a:pos x="35" y="293"/>
                </a:cxn>
                <a:cxn ang="0">
                  <a:pos x="15" y="227"/>
                </a:cxn>
                <a:cxn ang="0">
                  <a:pos x="63" y="119"/>
                </a:cxn>
                <a:cxn ang="0">
                  <a:pos x="162" y="37"/>
                </a:cxn>
                <a:cxn ang="0">
                  <a:pos x="154" y="51"/>
                </a:cxn>
                <a:cxn ang="0">
                  <a:pos x="145" y="141"/>
                </a:cxn>
                <a:cxn ang="0">
                  <a:pos x="121" y="238"/>
                </a:cxn>
                <a:cxn ang="0">
                  <a:pos x="176" y="253"/>
                </a:cxn>
                <a:cxn ang="0">
                  <a:pos x="151" y="159"/>
                </a:cxn>
                <a:cxn ang="0">
                  <a:pos x="255" y="55"/>
                </a:cxn>
                <a:cxn ang="0">
                  <a:pos x="279" y="0"/>
                </a:cxn>
                <a:cxn ang="0">
                  <a:pos x="363" y="55"/>
                </a:cxn>
                <a:cxn ang="0">
                  <a:pos x="414" y="134"/>
                </a:cxn>
                <a:cxn ang="0">
                  <a:pos x="590" y="130"/>
                </a:cxn>
                <a:cxn ang="0">
                  <a:pos x="713" y="132"/>
                </a:cxn>
                <a:cxn ang="0">
                  <a:pos x="902" y="93"/>
                </a:cxn>
                <a:cxn ang="0">
                  <a:pos x="889" y="169"/>
                </a:cxn>
                <a:cxn ang="0">
                  <a:pos x="997" y="189"/>
                </a:cxn>
                <a:cxn ang="0">
                  <a:pos x="996" y="277"/>
                </a:cxn>
                <a:cxn ang="0">
                  <a:pos x="1095" y="288"/>
                </a:cxn>
              </a:cxnLst>
              <a:rect l="0" t="0" r="r" b="b"/>
              <a:pathLst>
                <a:path w="1095" h="917">
                  <a:moveTo>
                    <a:pt x="1095" y="288"/>
                  </a:moveTo>
                  <a:lnTo>
                    <a:pt x="1091" y="304"/>
                  </a:lnTo>
                  <a:lnTo>
                    <a:pt x="1023" y="335"/>
                  </a:lnTo>
                  <a:lnTo>
                    <a:pt x="1010" y="357"/>
                  </a:lnTo>
                  <a:lnTo>
                    <a:pt x="1014" y="381"/>
                  </a:lnTo>
                  <a:lnTo>
                    <a:pt x="1034" y="398"/>
                  </a:lnTo>
                  <a:lnTo>
                    <a:pt x="990" y="425"/>
                  </a:lnTo>
                  <a:lnTo>
                    <a:pt x="977" y="480"/>
                  </a:lnTo>
                  <a:lnTo>
                    <a:pt x="1027" y="544"/>
                  </a:lnTo>
                  <a:lnTo>
                    <a:pt x="1027" y="566"/>
                  </a:lnTo>
                  <a:lnTo>
                    <a:pt x="1005" y="590"/>
                  </a:lnTo>
                  <a:lnTo>
                    <a:pt x="957" y="607"/>
                  </a:lnTo>
                  <a:lnTo>
                    <a:pt x="939" y="623"/>
                  </a:lnTo>
                  <a:lnTo>
                    <a:pt x="856" y="640"/>
                  </a:lnTo>
                  <a:lnTo>
                    <a:pt x="825" y="654"/>
                  </a:lnTo>
                  <a:lnTo>
                    <a:pt x="796" y="654"/>
                  </a:lnTo>
                  <a:lnTo>
                    <a:pt x="735" y="631"/>
                  </a:lnTo>
                  <a:lnTo>
                    <a:pt x="711" y="627"/>
                  </a:lnTo>
                  <a:lnTo>
                    <a:pt x="686" y="640"/>
                  </a:lnTo>
                  <a:lnTo>
                    <a:pt x="730" y="680"/>
                  </a:lnTo>
                  <a:lnTo>
                    <a:pt x="724" y="706"/>
                  </a:lnTo>
                  <a:lnTo>
                    <a:pt x="732" y="757"/>
                  </a:lnTo>
                  <a:lnTo>
                    <a:pt x="746" y="777"/>
                  </a:lnTo>
                  <a:lnTo>
                    <a:pt x="774" y="781"/>
                  </a:lnTo>
                  <a:lnTo>
                    <a:pt x="790" y="799"/>
                  </a:lnTo>
                  <a:lnTo>
                    <a:pt x="739" y="827"/>
                  </a:lnTo>
                  <a:lnTo>
                    <a:pt x="724" y="856"/>
                  </a:lnTo>
                  <a:lnTo>
                    <a:pt x="605" y="915"/>
                  </a:lnTo>
                  <a:lnTo>
                    <a:pt x="548" y="917"/>
                  </a:lnTo>
                  <a:lnTo>
                    <a:pt x="512" y="878"/>
                  </a:lnTo>
                  <a:lnTo>
                    <a:pt x="510" y="878"/>
                  </a:lnTo>
                  <a:lnTo>
                    <a:pt x="477" y="796"/>
                  </a:lnTo>
                  <a:lnTo>
                    <a:pt x="436" y="753"/>
                  </a:lnTo>
                  <a:lnTo>
                    <a:pt x="471" y="717"/>
                  </a:lnTo>
                  <a:lnTo>
                    <a:pt x="471" y="693"/>
                  </a:lnTo>
                  <a:lnTo>
                    <a:pt x="440" y="658"/>
                  </a:lnTo>
                  <a:lnTo>
                    <a:pt x="429" y="610"/>
                  </a:lnTo>
                  <a:lnTo>
                    <a:pt x="466" y="482"/>
                  </a:lnTo>
                  <a:lnTo>
                    <a:pt x="442" y="475"/>
                  </a:lnTo>
                  <a:lnTo>
                    <a:pt x="394" y="493"/>
                  </a:lnTo>
                  <a:lnTo>
                    <a:pt x="343" y="486"/>
                  </a:lnTo>
                  <a:lnTo>
                    <a:pt x="321" y="497"/>
                  </a:lnTo>
                  <a:lnTo>
                    <a:pt x="299" y="489"/>
                  </a:lnTo>
                  <a:lnTo>
                    <a:pt x="251" y="429"/>
                  </a:lnTo>
                  <a:lnTo>
                    <a:pt x="200" y="418"/>
                  </a:lnTo>
                  <a:lnTo>
                    <a:pt x="143" y="433"/>
                  </a:lnTo>
                  <a:lnTo>
                    <a:pt x="112" y="431"/>
                  </a:lnTo>
                  <a:lnTo>
                    <a:pt x="66" y="405"/>
                  </a:lnTo>
                  <a:lnTo>
                    <a:pt x="66" y="354"/>
                  </a:lnTo>
                  <a:lnTo>
                    <a:pt x="35" y="293"/>
                  </a:lnTo>
                  <a:lnTo>
                    <a:pt x="0" y="249"/>
                  </a:lnTo>
                  <a:lnTo>
                    <a:pt x="15" y="227"/>
                  </a:lnTo>
                  <a:lnTo>
                    <a:pt x="37" y="154"/>
                  </a:lnTo>
                  <a:lnTo>
                    <a:pt x="63" y="119"/>
                  </a:lnTo>
                  <a:lnTo>
                    <a:pt x="123" y="48"/>
                  </a:lnTo>
                  <a:lnTo>
                    <a:pt x="162" y="37"/>
                  </a:lnTo>
                  <a:lnTo>
                    <a:pt x="162" y="38"/>
                  </a:lnTo>
                  <a:lnTo>
                    <a:pt x="154" y="51"/>
                  </a:lnTo>
                  <a:lnTo>
                    <a:pt x="116" y="70"/>
                  </a:lnTo>
                  <a:lnTo>
                    <a:pt x="145" y="141"/>
                  </a:lnTo>
                  <a:lnTo>
                    <a:pt x="101" y="213"/>
                  </a:lnTo>
                  <a:lnTo>
                    <a:pt x="121" y="238"/>
                  </a:lnTo>
                  <a:lnTo>
                    <a:pt x="127" y="271"/>
                  </a:lnTo>
                  <a:lnTo>
                    <a:pt x="176" y="253"/>
                  </a:lnTo>
                  <a:lnTo>
                    <a:pt x="176" y="205"/>
                  </a:lnTo>
                  <a:lnTo>
                    <a:pt x="151" y="159"/>
                  </a:lnTo>
                  <a:lnTo>
                    <a:pt x="152" y="112"/>
                  </a:lnTo>
                  <a:lnTo>
                    <a:pt x="255" y="55"/>
                  </a:lnTo>
                  <a:lnTo>
                    <a:pt x="244" y="22"/>
                  </a:lnTo>
                  <a:lnTo>
                    <a:pt x="279" y="0"/>
                  </a:lnTo>
                  <a:lnTo>
                    <a:pt x="290" y="53"/>
                  </a:lnTo>
                  <a:lnTo>
                    <a:pt x="363" y="55"/>
                  </a:lnTo>
                  <a:lnTo>
                    <a:pt x="396" y="73"/>
                  </a:lnTo>
                  <a:lnTo>
                    <a:pt x="414" y="134"/>
                  </a:lnTo>
                  <a:lnTo>
                    <a:pt x="579" y="112"/>
                  </a:lnTo>
                  <a:lnTo>
                    <a:pt x="590" y="130"/>
                  </a:lnTo>
                  <a:lnTo>
                    <a:pt x="673" y="148"/>
                  </a:lnTo>
                  <a:lnTo>
                    <a:pt x="713" y="132"/>
                  </a:lnTo>
                  <a:lnTo>
                    <a:pt x="754" y="97"/>
                  </a:lnTo>
                  <a:lnTo>
                    <a:pt x="902" y="93"/>
                  </a:lnTo>
                  <a:lnTo>
                    <a:pt x="834" y="108"/>
                  </a:lnTo>
                  <a:lnTo>
                    <a:pt x="889" y="169"/>
                  </a:lnTo>
                  <a:lnTo>
                    <a:pt x="915" y="161"/>
                  </a:lnTo>
                  <a:lnTo>
                    <a:pt x="997" y="189"/>
                  </a:lnTo>
                  <a:lnTo>
                    <a:pt x="1008" y="229"/>
                  </a:lnTo>
                  <a:lnTo>
                    <a:pt x="996" y="277"/>
                  </a:lnTo>
                  <a:lnTo>
                    <a:pt x="1058" y="264"/>
                  </a:lnTo>
                  <a:lnTo>
                    <a:pt x="1095" y="288"/>
                  </a:lnTo>
                  <a:lnTo>
                    <a:pt x="1095" y="288"/>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0" name="Freeform 13">
              <a:extLst>
                <a:ext uri="{FF2B5EF4-FFF2-40B4-BE49-F238E27FC236}">
                  <a16:creationId xmlns:a16="http://schemas.microsoft.com/office/drawing/2014/main" id="{9B593610-29FD-FED2-FCB3-3DACB3C8DF74}"/>
                </a:ext>
              </a:extLst>
            </p:cNvPr>
            <p:cNvSpPr>
              <a:spLocks/>
            </p:cNvSpPr>
            <p:nvPr/>
          </p:nvSpPr>
          <p:spPr bwMode="auto">
            <a:xfrm>
              <a:off x="4316810" y="1908248"/>
              <a:ext cx="335204" cy="491746"/>
            </a:xfrm>
            <a:custGeom>
              <a:avLst/>
              <a:gdLst/>
              <a:ahLst/>
              <a:cxnLst>
                <a:cxn ang="0">
                  <a:pos x="50" y="256"/>
                </a:cxn>
                <a:cxn ang="0">
                  <a:pos x="0" y="192"/>
                </a:cxn>
                <a:cxn ang="0">
                  <a:pos x="13" y="137"/>
                </a:cxn>
                <a:cxn ang="0">
                  <a:pos x="57" y="110"/>
                </a:cxn>
                <a:cxn ang="0">
                  <a:pos x="37" y="93"/>
                </a:cxn>
                <a:cxn ang="0">
                  <a:pos x="33" y="69"/>
                </a:cxn>
                <a:cxn ang="0">
                  <a:pos x="46" y="47"/>
                </a:cxn>
                <a:cxn ang="0">
                  <a:pos x="114" y="16"/>
                </a:cxn>
                <a:cxn ang="0">
                  <a:pos x="118" y="0"/>
                </a:cxn>
                <a:cxn ang="0">
                  <a:pos x="118" y="0"/>
                </a:cxn>
                <a:cxn ang="0">
                  <a:pos x="209" y="58"/>
                </a:cxn>
                <a:cxn ang="0">
                  <a:pos x="222" y="93"/>
                </a:cxn>
                <a:cxn ang="0">
                  <a:pos x="217" y="126"/>
                </a:cxn>
                <a:cxn ang="0">
                  <a:pos x="250" y="121"/>
                </a:cxn>
                <a:cxn ang="0">
                  <a:pos x="319" y="168"/>
                </a:cxn>
                <a:cxn ang="0">
                  <a:pos x="343" y="209"/>
                </a:cxn>
                <a:cxn ang="0">
                  <a:pos x="345" y="209"/>
                </a:cxn>
                <a:cxn ang="0">
                  <a:pos x="314" y="271"/>
                </a:cxn>
                <a:cxn ang="0">
                  <a:pos x="271" y="288"/>
                </a:cxn>
                <a:cxn ang="0">
                  <a:pos x="259" y="335"/>
                </a:cxn>
                <a:cxn ang="0">
                  <a:pos x="266" y="359"/>
                </a:cxn>
                <a:cxn ang="0">
                  <a:pos x="301" y="407"/>
                </a:cxn>
                <a:cxn ang="0">
                  <a:pos x="326" y="418"/>
                </a:cxn>
                <a:cxn ang="0">
                  <a:pos x="361" y="489"/>
                </a:cxn>
                <a:cxn ang="0">
                  <a:pos x="394" y="524"/>
                </a:cxn>
                <a:cxn ang="0">
                  <a:pos x="365" y="528"/>
                </a:cxn>
                <a:cxn ang="0">
                  <a:pos x="341" y="519"/>
                </a:cxn>
                <a:cxn ang="0">
                  <a:pos x="204" y="577"/>
                </a:cxn>
                <a:cxn ang="0">
                  <a:pos x="158" y="559"/>
                </a:cxn>
                <a:cxn ang="0">
                  <a:pos x="140" y="541"/>
                </a:cxn>
                <a:cxn ang="0">
                  <a:pos x="112" y="464"/>
                </a:cxn>
                <a:cxn ang="0">
                  <a:pos x="125" y="383"/>
                </a:cxn>
                <a:cxn ang="0">
                  <a:pos x="140" y="363"/>
                </a:cxn>
                <a:cxn ang="0">
                  <a:pos x="132" y="339"/>
                </a:cxn>
                <a:cxn ang="0">
                  <a:pos x="119" y="313"/>
                </a:cxn>
                <a:cxn ang="0">
                  <a:pos x="99" y="299"/>
                </a:cxn>
                <a:cxn ang="0">
                  <a:pos x="105" y="266"/>
                </a:cxn>
                <a:cxn ang="0">
                  <a:pos x="81" y="255"/>
                </a:cxn>
                <a:cxn ang="0">
                  <a:pos x="50" y="256"/>
                </a:cxn>
              </a:cxnLst>
              <a:rect l="0" t="0" r="r" b="b"/>
              <a:pathLst>
                <a:path w="394" h="577">
                  <a:moveTo>
                    <a:pt x="50" y="256"/>
                  </a:moveTo>
                  <a:lnTo>
                    <a:pt x="0" y="192"/>
                  </a:lnTo>
                  <a:lnTo>
                    <a:pt x="13" y="137"/>
                  </a:lnTo>
                  <a:lnTo>
                    <a:pt x="57" y="110"/>
                  </a:lnTo>
                  <a:lnTo>
                    <a:pt x="37" y="93"/>
                  </a:lnTo>
                  <a:lnTo>
                    <a:pt x="33" y="69"/>
                  </a:lnTo>
                  <a:lnTo>
                    <a:pt x="46" y="47"/>
                  </a:lnTo>
                  <a:lnTo>
                    <a:pt x="114" y="16"/>
                  </a:lnTo>
                  <a:lnTo>
                    <a:pt x="118" y="0"/>
                  </a:lnTo>
                  <a:lnTo>
                    <a:pt x="118" y="0"/>
                  </a:lnTo>
                  <a:lnTo>
                    <a:pt x="209" y="58"/>
                  </a:lnTo>
                  <a:lnTo>
                    <a:pt x="222" y="93"/>
                  </a:lnTo>
                  <a:lnTo>
                    <a:pt x="217" y="126"/>
                  </a:lnTo>
                  <a:lnTo>
                    <a:pt x="250" y="121"/>
                  </a:lnTo>
                  <a:lnTo>
                    <a:pt x="319" y="168"/>
                  </a:lnTo>
                  <a:lnTo>
                    <a:pt x="343" y="209"/>
                  </a:lnTo>
                  <a:lnTo>
                    <a:pt x="345" y="209"/>
                  </a:lnTo>
                  <a:lnTo>
                    <a:pt x="314" y="271"/>
                  </a:lnTo>
                  <a:lnTo>
                    <a:pt x="271" y="288"/>
                  </a:lnTo>
                  <a:lnTo>
                    <a:pt x="259" y="335"/>
                  </a:lnTo>
                  <a:lnTo>
                    <a:pt x="266" y="359"/>
                  </a:lnTo>
                  <a:lnTo>
                    <a:pt x="301" y="407"/>
                  </a:lnTo>
                  <a:lnTo>
                    <a:pt x="326" y="418"/>
                  </a:lnTo>
                  <a:lnTo>
                    <a:pt x="361" y="489"/>
                  </a:lnTo>
                  <a:lnTo>
                    <a:pt x="394" y="524"/>
                  </a:lnTo>
                  <a:lnTo>
                    <a:pt x="365" y="528"/>
                  </a:lnTo>
                  <a:lnTo>
                    <a:pt x="341" y="519"/>
                  </a:lnTo>
                  <a:lnTo>
                    <a:pt x="204" y="577"/>
                  </a:lnTo>
                  <a:lnTo>
                    <a:pt x="158" y="559"/>
                  </a:lnTo>
                  <a:lnTo>
                    <a:pt x="140" y="541"/>
                  </a:lnTo>
                  <a:lnTo>
                    <a:pt x="112" y="464"/>
                  </a:lnTo>
                  <a:lnTo>
                    <a:pt x="125" y="383"/>
                  </a:lnTo>
                  <a:lnTo>
                    <a:pt x="140" y="363"/>
                  </a:lnTo>
                  <a:lnTo>
                    <a:pt x="132" y="339"/>
                  </a:lnTo>
                  <a:lnTo>
                    <a:pt x="119" y="313"/>
                  </a:lnTo>
                  <a:lnTo>
                    <a:pt x="99" y="299"/>
                  </a:lnTo>
                  <a:lnTo>
                    <a:pt x="105" y="266"/>
                  </a:lnTo>
                  <a:lnTo>
                    <a:pt x="81" y="255"/>
                  </a:lnTo>
                  <a:lnTo>
                    <a:pt x="50" y="256"/>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1" name="Freeform 15">
              <a:extLst>
                <a:ext uri="{FF2B5EF4-FFF2-40B4-BE49-F238E27FC236}">
                  <a16:creationId xmlns:a16="http://schemas.microsoft.com/office/drawing/2014/main" id="{83F234C8-BAE4-8CA9-E340-A4BF556E356D}"/>
                </a:ext>
              </a:extLst>
            </p:cNvPr>
            <p:cNvSpPr>
              <a:spLocks/>
            </p:cNvSpPr>
            <p:nvPr/>
          </p:nvSpPr>
          <p:spPr bwMode="auto">
            <a:xfrm>
              <a:off x="4536309" y="2083506"/>
              <a:ext cx="287561" cy="279053"/>
            </a:xfrm>
            <a:custGeom>
              <a:avLst/>
              <a:gdLst/>
              <a:ahLst/>
              <a:cxnLst>
                <a:cxn ang="0">
                  <a:pos x="304" y="297"/>
                </a:cxn>
                <a:cxn ang="0">
                  <a:pos x="322" y="279"/>
                </a:cxn>
                <a:cxn ang="0">
                  <a:pos x="339" y="191"/>
                </a:cxn>
                <a:cxn ang="0">
                  <a:pos x="311" y="141"/>
                </a:cxn>
                <a:cxn ang="0">
                  <a:pos x="308" y="83"/>
                </a:cxn>
                <a:cxn ang="0">
                  <a:pos x="313" y="59"/>
                </a:cxn>
                <a:cxn ang="0">
                  <a:pos x="335" y="35"/>
                </a:cxn>
                <a:cxn ang="0">
                  <a:pos x="335" y="33"/>
                </a:cxn>
                <a:cxn ang="0">
                  <a:pos x="251" y="0"/>
                </a:cxn>
                <a:cxn ang="0">
                  <a:pos x="128" y="0"/>
                </a:cxn>
                <a:cxn ang="0">
                  <a:pos x="84" y="4"/>
                </a:cxn>
                <a:cxn ang="0">
                  <a:pos x="86" y="4"/>
                </a:cxn>
                <a:cxn ang="0">
                  <a:pos x="55" y="66"/>
                </a:cxn>
                <a:cxn ang="0">
                  <a:pos x="12" y="83"/>
                </a:cxn>
                <a:cxn ang="0">
                  <a:pos x="0" y="130"/>
                </a:cxn>
                <a:cxn ang="0">
                  <a:pos x="7" y="154"/>
                </a:cxn>
                <a:cxn ang="0">
                  <a:pos x="42" y="202"/>
                </a:cxn>
                <a:cxn ang="0">
                  <a:pos x="67" y="213"/>
                </a:cxn>
                <a:cxn ang="0">
                  <a:pos x="102" y="284"/>
                </a:cxn>
                <a:cxn ang="0">
                  <a:pos x="135" y="319"/>
                </a:cxn>
                <a:cxn ang="0">
                  <a:pos x="170" y="328"/>
                </a:cxn>
                <a:cxn ang="0">
                  <a:pos x="192" y="282"/>
                </a:cxn>
                <a:cxn ang="0">
                  <a:pos x="218" y="288"/>
                </a:cxn>
                <a:cxn ang="0">
                  <a:pos x="247" y="281"/>
                </a:cxn>
                <a:cxn ang="0">
                  <a:pos x="304" y="297"/>
                </a:cxn>
              </a:cxnLst>
              <a:rect l="0" t="0" r="r" b="b"/>
              <a:pathLst>
                <a:path w="339" h="328">
                  <a:moveTo>
                    <a:pt x="304" y="297"/>
                  </a:moveTo>
                  <a:lnTo>
                    <a:pt x="322" y="279"/>
                  </a:lnTo>
                  <a:lnTo>
                    <a:pt x="339" y="191"/>
                  </a:lnTo>
                  <a:lnTo>
                    <a:pt x="311" y="141"/>
                  </a:lnTo>
                  <a:lnTo>
                    <a:pt x="308" y="83"/>
                  </a:lnTo>
                  <a:lnTo>
                    <a:pt x="313" y="59"/>
                  </a:lnTo>
                  <a:lnTo>
                    <a:pt x="335" y="35"/>
                  </a:lnTo>
                  <a:lnTo>
                    <a:pt x="335" y="33"/>
                  </a:lnTo>
                  <a:lnTo>
                    <a:pt x="251" y="0"/>
                  </a:lnTo>
                  <a:lnTo>
                    <a:pt x="128" y="0"/>
                  </a:lnTo>
                  <a:lnTo>
                    <a:pt x="84" y="4"/>
                  </a:lnTo>
                  <a:lnTo>
                    <a:pt x="86" y="4"/>
                  </a:lnTo>
                  <a:lnTo>
                    <a:pt x="55" y="66"/>
                  </a:lnTo>
                  <a:lnTo>
                    <a:pt x="12" y="83"/>
                  </a:lnTo>
                  <a:lnTo>
                    <a:pt x="0" y="130"/>
                  </a:lnTo>
                  <a:lnTo>
                    <a:pt x="7" y="154"/>
                  </a:lnTo>
                  <a:lnTo>
                    <a:pt x="42" y="202"/>
                  </a:lnTo>
                  <a:lnTo>
                    <a:pt x="67" y="213"/>
                  </a:lnTo>
                  <a:lnTo>
                    <a:pt x="102" y="284"/>
                  </a:lnTo>
                  <a:lnTo>
                    <a:pt x="135" y="319"/>
                  </a:lnTo>
                  <a:lnTo>
                    <a:pt x="170" y="328"/>
                  </a:lnTo>
                  <a:lnTo>
                    <a:pt x="192" y="282"/>
                  </a:lnTo>
                  <a:lnTo>
                    <a:pt x="218" y="288"/>
                  </a:lnTo>
                  <a:lnTo>
                    <a:pt x="247" y="281"/>
                  </a:lnTo>
                  <a:lnTo>
                    <a:pt x="304" y="297"/>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2" name="Freeform 17">
              <a:extLst>
                <a:ext uri="{FF2B5EF4-FFF2-40B4-BE49-F238E27FC236}">
                  <a16:creationId xmlns:a16="http://schemas.microsoft.com/office/drawing/2014/main" id="{522EE69D-D107-5A1D-3FBD-2E70BA3C28F0}"/>
                </a:ext>
              </a:extLst>
            </p:cNvPr>
            <p:cNvSpPr>
              <a:spLocks/>
            </p:cNvSpPr>
            <p:nvPr/>
          </p:nvSpPr>
          <p:spPr bwMode="auto">
            <a:xfrm>
              <a:off x="4794943" y="2112433"/>
              <a:ext cx="195678" cy="246724"/>
            </a:xfrm>
            <a:custGeom>
              <a:avLst/>
              <a:gdLst/>
              <a:ahLst/>
              <a:cxnLst>
                <a:cxn ang="0">
                  <a:pos x="0" y="264"/>
                </a:cxn>
                <a:cxn ang="0">
                  <a:pos x="18" y="284"/>
                </a:cxn>
                <a:cxn ang="0">
                  <a:pos x="42" y="292"/>
                </a:cxn>
                <a:cxn ang="0">
                  <a:pos x="66" y="282"/>
                </a:cxn>
                <a:cxn ang="0">
                  <a:pos x="90" y="288"/>
                </a:cxn>
                <a:cxn ang="0">
                  <a:pos x="117" y="281"/>
                </a:cxn>
                <a:cxn ang="0">
                  <a:pos x="156" y="249"/>
                </a:cxn>
                <a:cxn ang="0">
                  <a:pos x="167" y="220"/>
                </a:cxn>
                <a:cxn ang="0">
                  <a:pos x="229" y="136"/>
                </a:cxn>
                <a:cxn ang="0">
                  <a:pos x="231" y="136"/>
                </a:cxn>
                <a:cxn ang="0">
                  <a:pos x="132" y="35"/>
                </a:cxn>
                <a:cxn ang="0">
                  <a:pos x="31" y="0"/>
                </a:cxn>
                <a:cxn ang="0">
                  <a:pos x="31" y="2"/>
                </a:cxn>
                <a:cxn ang="0">
                  <a:pos x="9" y="26"/>
                </a:cxn>
                <a:cxn ang="0">
                  <a:pos x="4" y="50"/>
                </a:cxn>
                <a:cxn ang="0">
                  <a:pos x="7" y="108"/>
                </a:cxn>
                <a:cxn ang="0">
                  <a:pos x="35" y="158"/>
                </a:cxn>
                <a:cxn ang="0">
                  <a:pos x="18" y="246"/>
                </a:cxn>
                <a:cxn ang="0">
                  <a:pos x="0" y="264"/>
                </a:cxn>
              </a:cxnLst>
              <a:rect l="0" t="0" r="r" b="b"/>
              <a:pathLst>
                <a:path w="231" h="292">
                  <a:moveTo>
                    <a:pt x="0" y="264"/>
                  </a:moveTo>
                  <a:lnTo>
                    <a:pt x="18" y="284"/>
                  </a:lnTo>
                  <a:lnTo>
                    <a:pt x="42" y="292"/>
                  </a:lnTo>
                  <a:lnTo>
                    <a:pt x="66" y="282"/>
                  </a:lnTo>
                  <a:lnTo>
                    <a:pt x="90" y="288"/>
                  </a:lnTo>
                  <a:lnTo>
                    <a:pt x="117" y="281"/>
                  </a:lnTo>
                  <a:lnTo>
                    <a:pt x="156" y="249"/>
                  </a:lnTo>
                  <a:lnTo>
                    <a:pt x="167" y="220"/>
                  </a:lnTo>
                  <a:lnTo>
                    <a:pt x="229" y="136"/>
                  </a:lnTo>
                  <a:lnTo>
                    <a:pt x="231" y="136"/>
                  </a:lnTo>
                  <a:lnTo>
                    <a:pt x="132" y="35"/>
                  </a:lnTo>
                  <a:lnTo>
                    <a:pt x="31" y="0"/>
                  </a:lnTo>
                  <a:lnTo>
                    <a:pt x="31" y="2"/>
                  </a:lnTo>
                  <a:lnTo>
                    <a:pt x="9" y="26"/>
                  </a:lnTo>
                  <a:lnTo>
                    <a:pt x="4" y="50"/>
                  </a:lnTo>
                  <a:lnTo>
                    <a:pt x="7" y="108"/>
                  </a:lnTo>
                  <a:lnTo>
                    <a:pt x="35" y="158"/>
                  </a:lnTo>
                  <a:lnTo>
                    <a:pt x="18" y="246"/>
                  </a:lnTo>
                  <a:lnTo>
                    <a:pt x="0" y="264"/>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3" name="Freeform 19">
              <a:extLst>
                <a:ext uri="{FF2B5EF4-FFF2-40B4-BE49-F238E27FC236}">
                  <a16:creationId xmlns:a16="http://schemas.microsoft.com/office/drawing/2014/main" id="{09E6F082-0ACF-4105-44D1-2311F3F3160F}"/>
                </a:ext>
              </a:extLst>
            </p:cNvPr>
            <p:cNvSpPr>
              <a:spLocks/>
            </p:cNvSpPr>
            <p:nvPr/>
          </p:nvSpPr>
          <p:spPr bwMode="auto">
            <a:xfrm>
              <a:off x="3445621" y="2126045"/>
              <a:ext cx="2710555" cy="2732675"/>
            </a:xfrm>
            <a:custGeom>
              <a:avLst/>
              <a:gdLst/>
              <a:ahLst/>
              <a:cxnLst>
                <a:cxn ang="0">
                  <a:pos x="1648" y="3110"/>
                </a:cxn>
                <a:cxn ang="0">
                  <a:pos x="1936" y="2799"/>
                </a:cxn>
                <a:cxn ang="0">
                  <a:pos x="2196" y="2421"/>
                </a:cxn>
                <a:cxn ang="0">
                  <a:pos x="2282" y="2373"/>
                </a:cxn>
                <a:cxn ang="0">
                  <a:pos x="2490" y="2355"/>
                </a:cxn>
                <a:cxn ang="0">
                  <a:pos x="2634" y="2207"/>
                </a:cxn>
                <a:cxn ang="0">
                  <a:pos x="2754" y="1988"/>
                </a:cxn>
                <a:cxn ang="0">
                  <a:pos x="2810" y="1638"/>
                </a:cxn>
                <a:cxn ang="0">
                  <a:pos x="3069" y="1400"/>
                </a:cxn>
                <a:cxn ang="0">
                  <a:pos x="3183" y="1173"/>
                </a:cxn>
                <a:cxn ang="0">
                  <a:pos x="3012" y="989"/>
                </a:cxn>
                <a:cxn ang="0">
                  <a:pos x="2770" y="771"/>
                </a:cxn>
                <a:cxn ang="0">
                  <a:pos x="2523" y="713"/>
                </a:cxn>
                <a:cxn ang="0">
                  <a:pos x="2372" y="615"/>
                </a:cxn>
                <a:cxn ang="0">
                  <a:pos x="2174" y="528"/>
                </a:cxn>
                <a:cxn ang="0">
                  <a:pos x="2050" y="579"/>
                </a:cxn>
                <a:cxn ang="0">
                  <a:pos x="1947" y="469"/>
                </a:cxn>
                <a:cxn ang="0">
                  <a:pos x="1877" y="533"/>
                </a:cxn>
                <a:cxn ang="0">
                  <a:pos x="1954" y="313"/>
                </a:cxn>
                <a:cxn ang="0">
                  <a:pos x="1855" y="148"/>
                </a:cxn>
                <a:cxn ang="0">
                  <a:pos x="1742" y="232"/>
                </a:cxn>
                <a:cxn ang="0">
                  <a:pos x="1628" y="275"/>
                </a:cxn>
                <a:cxn ang="0">
                  <a:pos x="1500" y="238"/>
                </a:cxn>
                <a:cxn ang="0">
                  <a:pos x="1388" y="273"/>
                </a:cxn>
                <a:cxn ang="0">
                  <a:pos x="1163" y="286"/>
                </a:cxn>
                <a:cxn ang="0">
                  <a:pos x="1155" y="84"/>
                </a:cxn>
                <a:cxn ang="0">
                  <a:pos x="1104" y="0"/>
                </a:cxn>
                <a:cxn ang="0">
                  <a:pos x="1003" y="64"/>
                </a:cxn>
                <a:cxn ang="0">
                  <a:pos x="842" y="111"/>
                </a:cxn>
                <a:cxn ang="0">
                  <a:pos x="776" y="137"/>
                </a:cxn>
                <a:cxn ang="0">
                  <a:pos x="820" y="238"/>
                </a:cxn>
                <a:cxn ang="0">
                  <a:pos x="651" y="372"/>
                </a:cxn>
                <a:cxn ang="0">
                  <a:pos x="528" y="300"/>
                </a:cxn>
                <a:cxn ang="0">
                  <a:pos x="323" y="315"/>
                </a:cxn>
                <a:cxn ang="0">
                  <a:pos x="369" y="401"/>
                </a:cxn>
                <a:cxn ang="0">
                  <a:pos x="299" y="476"/>
                </a:cxn>
                <a:cxn ang="0">
                  <a:pos x="165" y="843"/>
                </a:cxn>
                <a:cxn ang="0">
                  <a:pos x="24" y="1022"/>
                </a:cxn>
                <a:cxn ang="0">
                  <a:pos x="72" y="1209"/>
                </a:cxn>
                <a:cxn ang="0">
                  <a:pos x="158" y="1283"/>
                </a:cxn>
                <a:cxn ang="0">
                  <a:pos x="274" y="1352"/>
                </a:cxn>
                <a:cxn ang="0">
                  <a:pos x="453" y="1345"/>
                </a:cxn>
                <a:cxn ang="0">
                  <a:pos x="680" y="1231"/>
                </a:cxn>
                <a:cxn ang="0">
                  <a:pos x="701" y="1404"/>
                </a:cxn>
                <a:cxn ang="0">
                  <a:pos x="893" y="1492"/>
                </a:cxn>
                <a:cxn ang="0">
                  <a:pos x="1049" y="1543"/>
                </a:cxn>
                <a:cxn ang="0">
                  <a:pos x="1084" y="1682"/>
                </a:cxn>
                <a:cxn ang="0">
                  <a:pos x="1245" y="1825"/>
                </a:cxn>
                <a:cxn ang="0">
                  <a:pos x="1282" y="2043"/>
                </a:cxn>
                <a:cxn ang="0">
                  <a:pos x="1278" y="2227"/>
                </a:cxn>
                <a:cxn ang="0">
                  <a:pos x="1425" y="2262"/>
                </a:cxn>
                <a:cxn ang="0">
                  <a:pos x="1547" y="2428"/>
                </a:cxn>
                <a:cxn ang="0">
                  <a:pos x="1588" y="2592"/>
                </a:cxn>
                <a:cxn ang="0">
                  <a:pos x="1423" y="2771"/>
                </a:cxn>
                <a:cxn ang="0">
                  <a:pos x="1335" y="2901"/>
                </a:cxn>
                <a:cxn ang="0">
                  <a:pos x="1461" y="3002"/>
                </a:cxn>
                <a:cxn ang="0">
                  <a:pos x="1562" y="3094"/>
                </a:cxn>
                <a:cxn ang="0">
                  <a:pos x="1573" y="3211"/>
                </a:cxn>
              </a:cxnLst>
              <a:rect l="0" t="0" r="r" b="b"/>
              <a:pathLst>
                <a:path w="3186" h="3211">
                  <a:moveTo>
                    <a:pt x="1573" y="3211"/>
                  </a:moveTo>
                  <a:lnTo>
                    <a:pt x="1604" y="3191"/>
                  </a:lnTo>
                  <a:lnTo>
                    <a:pt x="1635" y="3151"/>
                  </a:lnTo>
                  <a:lnTo>
                    <a:pt x="1648" y="3110"/>
                  </a:lnTo>
                  <a:lnTo>
                    <a:pt x="1755" y="3033"/>
                  </a:lnTo>
                  <a:lnTo>
                    <a:pt x="1850" y="2874"/>
                  </a:lnTo>
                  <a:lnTo>
                    <a:pt x="1885" y="2837"/>
                  </a:lnTo>
                  <a:lnTo>
                    <a:pt x="1936" y="2799"/>
                  </a:lnTo>
                  <a:lnTo>
                    <a:pt x="1962" y="2718"/>
                  </a:lnTo>
                  <a:lnTo>
                    <a:pt x="1967" y="2581"/>
                  </a:lnTo>
                  <a:lnTo>
                    <a:pt x="2110" y="2454"/>
                  </a:lnTo>
                  <a:lnTo>
                    <a:pt x="2196" y="2421"/>
                  </a:lnTo>
                  <a:lnTo>
                    <a:pt x="2220" y="2438"/>
                  </a:lnTo>
                  <a:lnTo>
                    <a:pt x="2255" y="2399"/>
                  </a:lnTo>
                  <a:lnTo>
                    <a:pt x="2292" y="2403"/>
                  </a:lnTo>
                  <a:lnTo>
                    <a:pt x="2282" y="2373"/>
                  </a:lnTo>
                  <a:lnTo>
                    <a:pt x="2334" y="2373"/>
                  </a:lnTo>
                  <a:lnTo>
                    <a:pt x="2370" y="2383"/>
                  </a:lnTo>
                  <a:lnTo>
                    <a:pt x="2484" y="2390"/>
                  </a:lnTo>
                  <a:lnTo>
                    <a:pt x="2490" y="2355"/>
                  </a:lnTo>
                  <a:lnTo>
                    <a:pt x="2568" y="2324"/>
                  </a:lnTo>
                  <a:lnTo>
                    <a:pt x="2576" y="2282"/>
                  </a:lnTo>
                  <a:lnTo>
                    <a:pt x="2592" y="2243"/>
                  </a:lnTo>
                  <a:lnTo>
                    <a:pt x="2634" y="2207"/>
                  </a:lnTo>
                  <a:lnTo>
                    <a:pt x="2653" y="2168"/>
                  </a:lnTo>
                  <a:lnTo>
                    <a:pt x="2697" y="2131"/>
                  </a:lnTo>
                  <a:lnTo>
                    <a:pt x="2724" y="2012"/>
                  </a:lnTo>
                  <a:lnTo>
                    <a:pt x="2754" y="1988"/>
                  </a:lnTo>
                  <a:lnTo>
                    <a:pt x="2770" y="1900"/>
                  </a:lnTo>
                  <a:lnTo>
                    <a:pt x="2788" y="1855"/>
                  </a:lnTo>
                  <a:lnTo>
                    <a:pt x="2788" y="1732"/>
                  </a:lnTo>
                  <a:lnTo>
                    <a:pt x="2810" y="1638"/>
                  </a:lnTo>
                  <a:lnTo>
                    <a:pt x="2889" y="1587"/>
                  </a:lnTo>
                  <a:lnTo>
                    <a:pt x="2981" y="1470"/>
                  </a:lnTo>
                  <a:lnTo>
                    <a:pt x="3045" y="1431"/>
                  </a:lnTo>
                  <a:lnTo>
                    <a:pt x="3069" y="1400"/>
                  </a:lnTo>
                  <a:lnTo>
                    <a:pt x="3106" y="1373"/>
                  </a:lnTo>
                  <a:lnTo>
                    <a:pt x="3175" y="1268"/>
                  </a:lnTo>
                  <a:lnTo>
                    <a:pt x="3186" y="1215"/>
                  </a:lnTo>
                  <a:lnTo>
                    <a:pt x="3183" y="1173"/>
                  </a:lnTo>
                  <a:lnTo>
                    <a:pt x="3142" y="1022"/>
                  </a:lnTo>
                  <a:lnTo>
                    <a:pt x="3095" y="1002"/>
                  </a:lnTo>
                  <a:lnTo>
                    <a:pt x="3052" y="1002"/>
                  </a:lnTo>
                  <a:lnTo>
                    <a:pt x="3012" y="989"/>
                  </a:lnTo>
                  <a:lnTo>
                    <a:pt x="2986" y="958"/>
                  </a:lnTo>
                  <a:lnTo>
                    <a:pt x="2946" y="933"/>
                  </a:lnTo>
                  <a:lnTo>
                    <a:pt x="2893" y="868"/>
                  </a:lnTo>
                  <a:lnTo>
                    <a:pt x="2770" y="771"/>
                  </a:lnTo>
                  <a:lnTo>
                    <a:pt x="2645" y="768"/>
                  </a:lnTo>
                  <a:lnTo>
                    <a:pt x="2605" y="742"/>
                  </a:lnTo>
                  <a:lnTo>
                    <a:pt x="2563" y="738"/>
                  </a:lnTo>
                  <a:lnTo>
                    <a:pt x="2523" y="713"/>
                  </a:lnTo>
                  <a:lnTo>
                    <a:pt x="2482" y="702"/>
                  </a:lnTo>
                  <a:lnTo>
                    <a:pt x="2392" y="725"/>
                  </a:lnTo>
                  <a:lnTo>
                    <a:pt x="2407" y="685"/>
                  </a:lnTo>
                  <a:lnTo>
                    <a:pt x="2372" y="615"/>
                  </a:lnTo>
                  <a:lnTo>
                    <a:pt x="2332" y="625"/>
                  </a:lnTo>
                  <a:lnTo>
                    <a:pt x="2317" y="595"/>
                  </a:lnTo>
                  <a:lnTo>
                    <a:pt x="2222" y="559"/>
                  </a:lnTo>
                  <a:lnTo>
                    <a:pt x="2174" y="528"/>
                  </a:lnTo>
                  <a:lnTo>
                    <a:pt x="2127" y="524"/>
                  </a:lnTo>
                  <a:lnTo>
                    <a:pt x="2097" y="535"/>
                  </a:lnTo>
                  <a:lnTo>
                    <a:pt x="2070" y="593"/>
                  </a:lnTo>
                  <a:lnTo>
                    <a:pt x="2050" y="579"/>
                  </a:lnTo>
                  <a:lnTo>
                    <a:pt x="2079" y="491"/>
                  </a:lnTo>
                  <a:lnTo>
                    <a:pt x="2030" y="474"/>
                  </a:lnTo>
                  <a:lnTo>
                    <a:pt x="1989" y="478"/>
                  </a:lnTo>
                  <a:lnTo>
                    <a:pt x="1947" y="469"/>
                  </a:lnTo>
                  <a:lnTo>
                    <a:pt x="1912" y="487"/>
                  </a:lnTo>
                  <a:lnTo>
                    <a:pt x="1912" y="535"/>
                  </a:lnTo>
                  <a:lnTo>
                    <a:pt x="1899" y="588"/>
                  </a:lnTo>
                  <a:lnTo>
                    <a:pt x="1877" y="533"/>
                  </a:lnTo>
                  <a:lnTo>
                    <a:pt x="1830" y="550"/>
                  </a:lnTo>
                  <a:lnTo>
                    <a:pt x="1850" y="462"/>
                  </a:lnTo>
                  <a:lnTo>
                    <a:pt x="1947" y="372"/>
                  </a:lnTo>
                  <a:lnTo>
                    <a:pt x="1954" y="313"/>
                  </a:lnTo>
                  <a:lnTo>
                    <a:pt x="1907" y="300"/>
                  </a:lnTo>
                  <a:lnTo>
                    <a:pt x="1892" y="245"/>
                  </a:lnTo>
                  <a:lnTo>
                    <a:pt x="1865" y="188"/>
                  </a:lnTo>
                  <a:lnTo>
                    <a:pt x="1855" y="148"/>
                  </a:lnTo>
                  <a:lnTo>
                    <a:pt x="1817" y="119"/>
                  </a:lnTo>
                  <a:lnTo>
                    <a:pt x="1815" y="119"/>
                  </a:lnTo>
                  <a:lnTo>
                    <a:pt x="1753" y="203"/>
                  </a:lnTo>
                  <a:lnTo>
                    <a:pt x="1742" y="232"/>
                  </a:lnTo>
                  <a:lnTo>
                    <a:pt x="1703" y="264"/>
                  </a:lnTo>
                  <a:lnTo>
                    <a:pt x="1676" y="271"/>
                  </a:lnTo>
                  <a:lnTo>
                    <a:pt x="1652" y="265"/>
                  </a:lnTo>
                  <a:lnTo>
                    <a:pt x="1628" y="275"/>
                  </a:lnTo>
                  <a:lnTo>
                    <a:pt x="1604" y="267"/>
                  </a:lnTo>
                  <a:lnTo>
                    <a:pt x="1586" y="247"/>
                  </a:lnTo>
                  <a:lnTo>
                    <a:pt x="1529" y="231"/>
                  </a:lnTo>
                  <a:lnTo>
                    <a:pt x="1500" y="238"/>
                  </a:lnTo>
                  <a:lnTo>
                    <a:pt x="1474" y="232"/>
                  </a:lnTo>
                  <a:lnTo>
                    <a:pt x="1452" y="278"/>
                  </a:lnTo>
                  <a:lnTo>
                    <a:pt x="1417" y="269"/>
                  </a:lnTo>
                  <a:lnTo>
                    <a:pt x="1388" y="273"/>
                  </a:lnTo>
                  <a:lnTo>
                    <a:pt x="1364" y="264"/>
                  </a:lnTo>
                  <a:lnTo>
                    <a:pt x="1227" y="322"/>
                  </a:lnTo>
                  <a:lnTo>
                    <a:pt x="1181" y="304"/>
                  </a:lnTo>
                  <a:lnTo>
                    <a:pt x="1163" y="286"/>
                  </a:lnTo>
                  <a:lnTo>
                    <a:pt x="1135" y="209"/>
                  </a:lnTo>
                  <a:lnTo>
                    <a:pt x="1148" y="128"/>
                  </a:lnTo>
                  <a:lnTo>
                    <a:pt x="1163" y="108"/>
                  </a:lnTo>
                  <a:lnTo>
                    <a:pt x="1155" y="84"/>
                  </a:lnTo>
                  <a:lnTo>
                    <a:pt x="1142" y="58"/>
                  </a:lnTo>
                  <a:lnTo>
                    <a:pt x="1122" y="44"/>
                  </a:lnTo>
                  <a:lnTo>
                    <a:pt x="1128" y="11"/>
                  </a:lnTo>
                  <a:lnTo>
                    <a:pt x="1104" y="0"/>
                  </a:lnTo>
                  <a:lnTo>
                    <a:pt x="1073" y="1"/>
                  </a:lnTo>
                  <a:lnTo>
                    <a:pt x="1073" y="23"/>
                  </a:lnTo>
                  <a:lnTo>
                    <a:pt x="1051" y="47"/>
                  </a:lnTo>
                  <a:lnTo>
                    <a:pt x="1003" y="64"/>
                  </a:lnTo>
                  <a:lnTo>
                    <a:pt x="985" y="80"/>
                  </a:lnTo>
                  <a:lnTo>
                    <a:pt x="902" y="97"/>
                  </a:lnTo>
                  <a:lnTo>
                    <a:pt x="871" y="111"/>
                  </a:lnTo>
                  <a:lnTo>
                    <a:pt x="842" y="111"/>
                  </a:lnTo>
                  <a:lnTo>
                    <a:pt x="781" y="88"/>
                  </a:lnTo>
                  <a:lnTo>
                    <a:pt x="757" y="84"/>
                  </a:lnTo>
                  <a:lnTo>
                    <a:pt x="732" y="97"/>
                  </a:lnTo>
                  <a:lnTo>
                    <a:pt x="776" y="137"/>
                  </a:lnTo>
                  <a:lnTo>
                    <a:pt x="770" y="163"/>
                  </a:lnTo>
                  <a:lnTo>
                    <a:pt x="778" y="214"/>
                  </a:lnTo>
                  <a:lnTo>
                    <a:pt x="792" y="234"/>
                  </a:lnTo>
                  <a:lnTo>
                    <a:pt x="820" y="238"/>
                  </a:lnTo>
                  <a:lnTo>
                    <a:pt x="836" y="256"/>
                  </a:lnTo>
                  <a:lnTo>
                    <a:pt x="785" y="284"/>
                  </a:lnTo>
                  <a:lnTo>
                    <a:pt x="770" y="313"/>
                  </a:lnTo>
                  <a:lnTo>
                    <a:pt x="651" y="372"/>
                  </a:lnTo>
                  <a:lnTo>
                    <a:pt x="594" y="374"/>
                  </a:lnTo>
                  <a:lnTo>
                    <a:pt x="558" y="335"/>
                  </a:lnTo>
                  <a:lnTo>
                    <a:pt x="534" y="324"/>
                  </a:lnTo>
                  <a:lnTo>
                    <a:pt x="528" y="300"/>
                  </a:lnTo>
                  <a:lnTo>
                    <a:pt x="510" y="280"/>
                  </a:lnTo>
                  <a:lnTo>
                    <a:pt x="459" y="293"/>
                  </a:lnTo>
                  <a:lnTo>
                    <a:pt x="437" y="306"/>
                  </a:lnTo>
                  <a:lnTo>
                    <a:pt x="323" y="315"/>
                  </a:lnTo>
                  <a:lnTo>
                    <a:pt x="312" y="339"/>
                  </a:lnTo>
                  <a:lnTo>
                    <a:pt x="312" y="364"/>
                  </a:lnTo>
                  <a:lnTo>
                    <a:pt x="361" y="379"/>
                  </a:lnTo>
                  <a:lnTo>
                    <a:pt x="369" y="401"/>
                  </a:lnTo>
                  <a:lnTo>
                    <a:pt x="339" y="399"/>
                  </a:lnTo>
                  <a:lnTo>
                    <a:pt x="316" y="408"/>
                  </a:lnTo>
                  <a:lnTo>
                    <a:pt x="294" y="427"/>
                  </a:lnTo>
                  <a:lnTo>
                    <a:pt x="299" y="476"/>
                  </a:lnTo>
                  <a:lnTo>
                    <a:pt x="336" y="517"/>
                  </a:lnTo>
                  <a:lnTo>
                    <a:pt x="347" y="566"/>
                  </a:lnTo>
                  <a:lnTo>
                    <a:pt x="303" y="797"/>
                  </a:lnTo>
                  <a:lnTo>
                    <a:pt x="165" y="843"/>
                  </a:lnTo>
                  <a:lnTo>
                    <a:pt x="114" y="876"/>
                  </a:lnTo>
                  <a:lnTo>
                    <a:pt x="57" y="953"/>
                  </a:lnTo>
                  <a:lnTo>
                    <a:pt x="54" y="1013"/>
                  </a:lnTo>
                  <a:lnTo>
                    <a:pt x="24" y="1022"/>
                  </a:lnTo>
                  <a:lnTo>
                    <a:pt x="0" y="1083"/>
                  </a:lnTo>
                  <a:lnTo>
                    <a:pt x="0" y="1109"/>
                  </a:lnTo>
                  <a:lnTo>
                    <a:pt x="28" y="1167"/>
                  </a:lnTo>
                  <a:lnTo>
                    <a:pt x="72" y="1209"/>
                  </a:lnTo>
                  <a:lnTo>
                    <a:pt x="66" y="1237"/>
                  </a:lnTo>
                  <a:lnTo>
                    <a:pt x="118" y="1246"/>
                  </a:lnTo>
                  <a:lnTo>
                    <a:pt x="132" y="1270"/>
                  </a:lnTo>
                  <a:lnTo>
                    <a:pt x="158" y="1283"/>
                  </a:lnTo>
                  <a:lnTo>
                    <a:pt x="193" y="1279"/>
                  </a:lnTo>
                  <a:lnTo>
                    <a:pt x="257" y="1228"/>
                  </a:lnTo>
                  <a:lnTo>
                    <a:pt x="270" y="1250"/>
                  </a:lnTo>
                  <a:lnTo>
                    <a:pt x="274" y="1352"/>
                  </a:lnTo>
                  <a:lnTo>
                    <a:pt x="301" y="1360"/>
                  </a:lnTo>
                  <a:lnTo>
                    <a:pt x="341" y="1347"/>
                  </a:lnTo>
                  <a:lnTo>
                    <a:pt x="393" y="1352"/>
                  </a:lnTo>
                  <a:lnTo>
                    <a:pt x="453" y="1345"/>
                  </a:lnTo>
                  <a:lnTo>
                    <a:pt x="510" y="1316"/>
                  </a:lnTo>
                  <a:lnTo>
                    <a:pt x="580" y="1242"/>
                  </a:lnTo>
                  <a:lnTo>
                    <a:pt x="655" y="1228"/>
                  </a:lnTo>
                  <a:lnTo>
                    <a:pt x="680" y="1231"/>
                  </a:lnTo>
                  <a:lnTo>
                    <a:pt x="693" y="1253"/>
                  </a:lnTo>
                  <a:lnTo>
                    <a:pt x="697" y="1286"/>
                  </a:lnTo>
                  <a:lnTo>
                    <a:pt x="684" y="1358"/>
                  </a:lnTo>
                  <a:lnTo>
                    <a:pt x="701" y="1404"/>
                  </a:lnTo>
                  <a:lnTo>
                    <a:pt x="719" y="1420"/>
                  </a:lnTo>
                  <a:lnTo>
                    <a:pt x="759" y="1448"/>
                  </a:lnTo>
                  <a:lnTo>
                    <a:pt x="853" y="1459"/>
                  </a:lnTo>
                  <a:lnTo>
                    <a:pt x="893" y="1492"/>
                  </a:lnTo>
                  <a:lnTo>
                    <a:pt x="946" y="1506"/>
                  </a:lnTo>
                  <a:lnTo>
                    <a:pt x="968" y="1527"/>
                  </a:lnTo>
                  <a:lnTo>
                    <a:pt x="1029" y="1530"/>
                  </a:lnTo>
                  <a:lnTo>
                    <a:pt x="1049" y="1543"/>
                  </a:lnTo>
                  <a:lnTo>
                    <a:pt x="1071" y="1560"/>
                  </a:lnTo>
                  <a:lnTo>
                    <a:pt x="1097" y="1635"/>
                  </a:lnTo>
                  <a:lnTo>
                    <a:pt x="1095" y="1660"/>
                  </a:lnTo>
                  <a:lnTo>
                    <a:pt x="1084" y="1682"/>
                  </a:lnTo>
                  <a:lnTo>
                    <a:pt x="1109" y="1756"/>
                  </a:lnTo>
                  <a:lnTo>
                    <a:pt x="1229" y="1767"/>
                  </a:lnTo>
                  <a:lnTo>
                    <a:pt x="1249" y="1776"/>
                  </a:lnTo>
                  <a:lnTo>
                    <a:pt x="1245" y="1825"/>
                  </a:lnTo>
                  <a:lnTo>
                    <a:pt x="1282" y="1866"/>
                  </a:lnTo>
                  <a:lnTo>
                    <a:pt x="1304" y="1922"/>
                  </a:lnTo>
                  <a:lnTo>
                    <a:pt x="1298" y="1999"/>
                  </a:lnTo>
                  <a:lnTo>
                    <a:pt x="1282" y="2043"/>
                  </a:lnTo>
                  <a:lnTo>
                    <a:pt x="1285" y="2073"/>
                  </a:lnTo>
                  <a:lnTo>
                    <a:pt x="1271" y="2080"/>
                  </a:lnTo>
                  <a:lnTo>
                    <a:pt x="1282" y="2131"/>
                  </a:lnTo>
                  <a:lnTo>
                    <a:pt x="1278" y="2227"/>
                  </a:lnTo>
                  <a:lnTo>
                    <a:pt x="1309" y="2247"/>
                  </a:lnTo>
                  <a:lnTo>
                    <a:pt x="1342" y="2256"/>
                  </a:lnTo>
                  <a:lnTo>
                    <a:pt x="1388" y="2254"/>
                  </a:lnTo>
                  <a:lnTo>
                    <a:pt x="1425" y="2262"/>
                  </a:lnTo>
                  <a:lnTo>
                    <a:pt x="1448" y="2278"/>
                  </a:lnTo>
                  <a:lnTo>
                    <a:pt x="1465" y="2388"/>
                  </a:lnTo>
                  <a:lnTo>
                    <a:pt x="1544" y="2405"/>
                  </a:lnTo>
                  <a:lnTo>
                    <a:pt x="1547" y="2428"/>
                  </a:lnTo>
                  <a:lnTo>
                    <a:pt x="1529" y="2535"/>
                  </a:lnTo>
                  <a:lnTo>
                    <a:pt x="1555" y="2535"/>
                  </a:lnTo>
                  <a:lnTo>
                    <a:pt x="1573" y="2542"/>
                  </a:lnTo>
                  <a:lnTo>
                    <a:pt x="1588" y="2592"/>
                  </a:lnTo>
                  <a:lnTo>
                    <a:pt x="1584" y="2656"/>
                  </a:lnTo>
                  <a:lnTo>
                    <a:pt x="1535" y="2691"/>
                  </a:lnTo>
                  <a:lnTo>
                    <a:pt x="1507" y="2696"/>
                  </a:lnTo>
                  <a:lnTo>
                    <a:pt x="1423" y="2771"/>
                  </a:lnTo>
                  <a:lnTo>
                    <a:pt x="1375" y="2835"/>
                  </a:lnTo>
                  <a:lnTo>
                    <a:pt x="1291" y="2914"/>
                  </a:lnTo>
                  <a:lnTo>
                    <a:pt x="1313" y="2916"/>
                  </a:lnTo>
                  <a:lnTo>
                    <a:pt x="1335" y="2901"/>
                  </a:lnTo>
                  <a:lnTo>
                    <a:pt x="1357" y="2912"/>
                  </a:lnTo>
                  <a:lnTo>
                    <a:pt x="1414" y="2980"/>
                  </a:lnTo>
                  <a:lnTo>
                    <a:pt x="1436" y="2965"/>
                  </a:lnTo>
                  <a:lnTo>
                    <a:pt x="1461" y="3002"/>
                  </a:lnTo>
                  <a:lnTo>
                    <a:pt x="1502" y="3019"/>
                  </a:lnTo>
                  <a:lnTo>
                    <a:pt x="1513" y="3039"/>
                  </a:lnTo>
                  <a:lnTo>
                    <a:pt x="1555" y="3063"/>
                  </a:lnTo>
                  <a:lnTo>
                    <a:pt x="1562" y="3094"/>
                  </a:lnTo>
                  <a:lnTo>
                    <a:pt x="1597" y="3130"/>
                  </a:lnTo>
                  <a:lnTo>
                    <a:pt x="1571" y="3169"/>
                  </a:lnTo>
                  <a:lnTo>
                    <a:pt x="1571" y="3211"/>
                  </a:lnTo>
                  <a:lnTo>
                    <a:pt x="1573" y="3211"/>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4" name="Freeform 22">
              <a:extLst>
                <a:ext uri="{FF2B5EF4-FFF2-40B4-BE49-F238E27FC236}">
                  <a16:creationId xmlns:a16="http://schemas.microsoft.com/office/drawing/2014/main" id="{D83E506B-B243-83E6-339A-A0B69B4DB6DA}"/>
                </a:ext>
              </a:extLst>
            </p:cNvPr>
            <p:cNvSpPr>
              <a:spLocks/>
            </p:cNvSpPr>
            <p:nvPr/>
          </p:nvSpPr>
          <p:spPr bwMode="auto">
            <a:xfrm>
              <a:off x="4498875" y="4594981"/>
              <a:ext cx="304576" cy="333502"/>
            </a:xfrm>
            <a:custGeom>
              <a:avLst/>
              <a:gdLst/>
              <a:ahLst/>
              <a:cxnLst>
                <a:cxn ang="0">
                  <a:pos x="0" y="321"/>
                </a:cxn>
                <a:cxn ang="0">
                  <a:pos x="3" y="288"/>
                </a:cxn>
                <a:cxn ang="0">
                  <a:pos x="14" y="231"/>
                </a:cxn>
                <a:cxn ang="0">
                  <a:pos x="36" y="30"/>
                </a:cxn>
                <a:cxn ang="0">
                  <a:pos x="53" y="13"/>
                </a:cxn>
                <a:cxn ang="0">
                  <a:pos x="75" y="15"/>
                </a:cxn>
                <a:cxn ang="0">
                  <a:pos x="97" y="0"/>
                </a:cxn>
                <a:cxn ang="0">
                  <a:pos x="119" y="11"/>
                </a:cxn>
                <a:cxn ang="0">
                  <a:pos x="176" y="79"/>
                </a:cxn>
                <a:cxn ang="0">
                  <a:pos x="198" y="64"/>
                </a:cxn>
                <a:cxn ang="0">
                  <a:pos x="223" y="101"/>
                </a:cxn>
                <a:cxn ang="0">
                  <a:pos x="264" y="118"/>
                </a:cxn>
                <a:cxn ang="0">
                  <a:pos x="275" y="138"/>
                </a:cxn>
                <a:cxn ang="0">
                  <a:pos x="317" y="162"/>
                </a:cxn>
                <a:cxn ang="0">
                  <a:pos x="324" y="193"/>
                </a:cxn>
                <a:cxn ang="0">
                  <a:pos x="359" y="229"/>
                </a:cxn>
                <a:cxn ang="0">
                  <a:pos x="333" y="268"/>
                </a:cxn>
                <a:cxn ang="0">
                  <a:pos x="333" y="310"/>
                </a:cxn>
                <a:cxn ang="0">
                  <a:pos x="335" y="310"/>
                </a:cxn>
                <a:cxn ang="0">
                  <a:pos x="322" y="343"/>
                </a:cxn>
                <a:cxn ang="0">
                  <a:pos x="258" y="389"/>
                </a:cxn>
                <a:cxn ang="0">
                  <a:pos x="139" y="393"/>
                </a:cxn>
                <a:cxn ang="0">
                  <a:pos x="100" y="378"/>
                </a:cxn>
                <a:cxn ang="0">
                  <a:pos x="78" y="356"/>
                </a:cxn>
                <a:cxn ang="0">
                  <a:pos x="33" y="354"/>
                </a:cxn>
                <a:cxn ang="0">
                  <a:pos x="0" y="321"/>
                </a:cxn>
                <a:cxn ang="0">
                  <a:pos x="0" y="321"/>
                </a:cxn>
              </a:cxnLst>
              <a:rect l="0" t="0" r="r" b="b"/>
              <a:pathLst>
                <a:path w="359" h="393">
                  <a:moveTo>
                    <a:pt x="0" y="321"/>
                  </a:moveTo>
                  <a:lnTo>
                    <a:pt x="3" y="288"/>
                  </a:lnTo>
                  <a:lnTo>
                    <a:pt x="14" y="231"/>
                  </a:lnTo>
                  <a:lnTo>
                    <a:pt x="36" y="30"/>
                  </a:lnTo>
                  <a:lnTo>
                    <a:pt x="53" y="13"/>
                  </a:lnTo>
                  <a:lnTo>
                    <a:pt x="75" y="15"/>
                  </a:lnTo>
                  <a:lnTo>
                    <a:pt x="97" y="0"/>
                  </a:lnTo>
                  <a:lnTo>
                    <a:pt x="119" y="11"/>
                  </a:lnTo>
                  <a:lnTo>
                    <a:pt x="176" y="79"/>
                  </a:lnTo>
                  <a:lnTo>
                    <a:pt x="198" y="64"/>
                  </a:lnTo>
                  <a:lnTo>
                    <a:pt x="223" y="101"/>
                  </a:lnTo>
                  <a:lnTo>
                    <a:pt x="264" y="118"/>
                  </a:lnTo>
                  <a:lnTo>
                    <a:pt x="275" y="138"/>
                  </a:lnTo>
                  <a:lnTo>
                    <a:pt x="317" y="162"/>
                  </a:lnTo>
                  <a:lnTo>
                    <a:pt x="324" y="193"/>
                  </a:lnTo>
                  <a:lnTo>
                    <a:pt x="359" y="229"/>
                  </a:lnTo>
                  <a:lnTo>
                    <a:pt x="333" y="268"/>
                  </a:lnTo>
                  <a:lnTo>
                    <a:pt x="333" y="310"/>
                  </a:lnTo>
                  <a:lnTo>
                    <a:pt x="335" y="310"/>
                  </a:lnTo>
                  <a:lnTo>
                    <a:pt x="322" y="343"/>
                  </a:lnTo>
                  <a:lnTo>
                    <a:pt x="258" y="389"/>
                  </a:lnTo>
                  <a:lnTo>
                    <a:pt x="139" y="393"/>
                  </a:lnTo>
                  <a:lnTo>
                    <a:pt x="100" y="378"/>
                  </a:lnTo>
                  <a:lnTo>
                    <a:pt x="78" y="356"/>
                  </a:lnTo>
                  <a:lnTo>
                    <a:pt x="33" y="354"/>
                  </a:lnTo>
                  <a:lnTo>
                    <a:pt x="0" y="321"/>
                  </a:lnTo>
                  <a:lnTo>
                    <a:pt x="0" y="321"/>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5" name="Freeform 24">
              <a:extLst>
                <a:ext uri="{FF2B5EF4-FFF2-40B4-BE49-F238E27FC236}">
                  <a16:creationId xmlns:a16="http://schemas.microsoft.com/office/drawing/2014/main" id="{67549FDB-2C23-FA40-5286-02A71D45F52F}"/>
                </a:ext>
              </a:extLst>
            </p:cNvPr>
            <p:cNvSpPr>
              <a:spLocks/>
            </p:cNvSpPr>
            <p:nvPr/>
          </p:nvSpPr>
          <p:spPr bwMode="auto">
            <a:xfrm>
              <a:off x="4224927" y="3834393"/>
              <a:ext cx="537687" cy="578524"/>
            </a:xfrm>
            <a:custGeom>
              <a:avLst/>
              <a:gdLst/>
              <a:ahLst/>
              <a:cxnLst>
                <a:cxn ang="0">
                  <a:pos x="612" y="526"/>
                </a:cxn>
                <a:cxn ang="0">
                  <a:pos x="630" y="419"/>
                </a:cxn>
                <a:cxn ang="0">
                  <a:pos x="627" y="396"/>
                </a:cxn>
                <a:cxn ang="0">
                  <a:pos x="548" y="379"/>
                </a:cxn>
                <a:cxn ang="0">
                  <a:pos x="531" y="269"/>
                </a:cxn>
                <a:cxn ang="0">
                  <a:pos x="508" y="253"/>
                </a:cxn>
                <a:cxn ang="0">
                  <a:pos x="471" y="245"/>
                </a:cxn>
                <a:cxn ang="0">
                  <a:pos x="425" y="247"/>
                </a:cxn>
                <a:cxn ang="0">
                  <a:pos x="392" y="238"/>
                </a:cxn>
                <a:cxn ang="0">
                  <a:pos x="361" y="218"/>
                </a:cxn>
                <a:cxn ang="0">
                  <a:pos x="365" y="122"/>
                </a:cxn>
                <a:cxn ang="0">
                  <a:pos x="354" y="71"/>
                </a:cxn>
                <a:cxn ang="0">
                  <a:pos x="323" y="27"/>
                </a:cxn>
                <a:cxn ang="0">
                  <a:pos x="301" y="7"/>
                </a:cxn>
                <a:cxn ang="0">
                  <a:pos x="277" y="0"/>
                </a:cxn>
                <a:cxn ang="0">
                  <a:pos x="205" y="0"/>
                </a:cxn>
                <a:cxn ang="0">
                  <a:pos x="66" y="40"/>
                </a:cxn>
                <a:cxn ang="0">
                  <a:pos x="31" y="106"/>
                </a:cxn>
                <a:cxn ang="0">
                  <a:pos x="22" y="135"/>
                </a:cxn>
                <a:cxn ang="0">
                  <a:pos x="20" y="190"/>
                </a:cxn>
                <a:cxn ang="0">
                  <a:pos x="0" y="253"/>
                </a:cxn>
                <a:cxn ang="0">
                  <a:pos x="0" y="253"/>
                </a:cxn>
                <a:cxn ang="0">
                  <a:pos x="29" y="267"/>
                </a:cxn>
                <a:cxn ang="0">
                  <a:pos x="44" y="295"/>
                </a:cxn>
                <a:cxn ang="0">
                  <a:pos x="126" y="361"/>
                </a:cxn>
                <a:cxn ang="0">
                  <a:pos x="141" y="386"/>
                </a:cxn>
                <a:cxn ang="0">
                  <a:pos x="238" y="410"/>
                </a:cxn>
                <a:cxn ang="0">
                  <a:pos x="357" y="485"/>
                </a:cxn>
                <a:cxn ang="0">
                  <a:pos x="372" y="506"/>
                </a:cxn>
                <a:cxn ang="0">
                  <a:pos x="370" y="537"/>
                </a:cxn>
                <a:cxn ang="0">
                  <a:pos x="341" y="579"/>
                </a:cxn>
                <a:cxn ang="0">
                  <a:pos x="319" y="645"/>
                </a:cxn>
                <a:cxn ang="0">
                  <a:pos x="403" y="660"/>
                </a:cxn>
                <a:cxn ang="0">
                  <a:pos x="425" y="674"/>
                </a:cxn>
                <a:cxn ang="0">
                  <a:pos x="458" y="680"/>
                </a:cxn>
                <a:cxn ang="0">
                  <a:pos x="511" y="669"/>
                </a:cxn>
                <a:cxn ang="0">
                  <a:pos x="588" y="612"/>
                </a:cxn>
                <a:cxn ang="0">
                  <a:pos x="603" y="583"/>
                </a:cxn>
                <a:cxn ang="0">
                  <a:pos x="612" y="526"/>
                </a:cxn>
              </a:cxnLst>
              <a:rect l="0" t="0" r="r" b="b"/>
              <a:pathLst>
                <a:path w="630" h="680">
                  <a:moveTo>
                    <a:pt x="612" y="526"/>
                  </a:moveTo>
                  <a:lnTo>
                    <a:pt x="630" y="419"/>
                  </a:lnTo>
                  <a:lnTo>
                    <a:pt x="627" y="396"/>
                  </a:lnTo>
                  <a:lnTo>
                    <a:pt x="548" y="379"/>
                  </a:lnTo>
                  <a:lnTo>
                    <a:pt x="531" y="269"/>
                  </a:lnTo>
                  <a:lnTo>
                    <a:pt x="508" y="253"/>
                  </a:lnTo>
                  <a:lnTo>
                    <a:pt x="471" y="245"/>
                  </a:lnTo>
                  <a:lnTo>
                    <a:pt x="425" y="247"/>
                  </a:lnTo>
                  <a:lnTo>
                    <a:pt x="392" y="238"/>
                  </a:lnTo>
                  <a:lnTo>
                    <a:pt x="361" y="218"/>
                  </a:lnTo>
                  <a:lnTo>
                    <a:pt x="365" y="122"/>
                  </a:lnTo>
                  <a:lnTo>
                    <a:pt x="354" y="71"/>
                  </a:lnTo>
                  <a:lnTo>
                    <a:pt x="323" y="27"/>
                  </a:lnTo>
                  <a:lnTo>
                    <a:pt x="301" y="7"/>
                  </a:lnTo>
                  <a:lnTo>
                    <a:pt x="277" y="0"/>
                  </a:lnTo>
                  <a:lnTo>
                    <a:pt x="205" y="0"/>
                  </a:lnTo>
                  <a:lnTo>
                    <a:pt x="66" y="40"/>
                  </a:lnTo>
                  <a:lnTo>
                    <a:pt x="31" y="106"/>
                  </a:lnTo>
                  <a:lnTo>
                    <a:pt x="22" y="135"/>
                  </a:lnTo>
                  <a:lnTo>
                    <a:pt x="20" y="190"/>
                  </a:lnTo>
                  <a:lnTo>
                    <a:pt x="0" y="253"/>
                  </a:lnTo>
                  <a:lnTo>
                    <a:pt x="0" y="253"/>
                  </a:lnTo>
                  <a:lnTo>
                    <a:pt x="29" y="267"/>
                  </a:lnTo>
                  <a:lnTo>
                    <a:pt x="44" y="295"/>
                  </a:lnTo>
                  <a:lnTo>
                    <a:pt x="126" y="361"/>
                  </a:lnTo>
                  <a:lnTo>
                    <a:pt x="141" y="386"/>
                  </a:lnTo>
                  <a:lnTo>
                    <a:pt x="238" y="410"/>
                  </a:lnTo>
                  <a:lnTo>
                    <a:pt x="357" y="485"/>
                  </a:lnTo>
                  <a:lnTo>
                    <a:pt x="372" y="506"/>
                  </a:lnTo>
                  <a:lnTo>
                    <a:pt x="370" y="537"/>
                  </a:lnTo>
                  <a:lnTo>
                    <a:pt x="341" y="579"/>
                  </a:lnTo>
                  <a:lnTo>
                    <a:pt x="319" y="645"/>
                  </a:lnTo>
                  <a:lnTo>
                    <a:pt x="403" y="660"/>
                  </a:lnTo>
                  <a:lnTo>
                    <a:pt x="425" y="674"/>
                  </a:lnTo>
                  <a:lnTo>
                    <a:pt x="458" y="680"/>
                  </a:lnTo>
                  <a:lnTo>
                    <a:pt x="511" y="669"/>
                  </a:lnTo>
                  <a:lnTo>
                    <a:pt x="588" y="612"/>
                  </a:lnTo>
                  <a:lnTo>
                    <a:pt x="603" y="583"/>
                  </a:lnTo>
                  <a:lnTo>
                    <a:pt x="612" y="526"/>
                  </a:lnTo>
                  <a:close/>
                </a:path>
              </a:pathLst>
            </a:custGeom>
            <a:solidFill>
              <a:srgbClr val="778888">
                <a:lumMod val="20000"/>
                <a:lumOff val="8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6" name="Freeform 25">
              <a:extLst>
                <a:ext uri="{FF2B5EF4-FFF2-40B4-BE49-F238E27FC236}">
                  <a16:creationId xmlns:a16="http://schemas.microsoft.com/office/drawing/2014/main" id="{DCE78D37-5CA4-F5D0-AE13-FCD25FF9563A}"/>
                </a:ext>
              </a:extLst>
            </p:cNvPr>
            <p:cNvSpPr>
              <a:spLocks/>
            </p:cNvSpPr>
            <p:nvPr/>
          </p:nvSpPr>
          <p:spPr bwMode="auto">
            <a:xfrm>
              <a:off x="4224927" y="3834393"/>
              <a:ext cx="537687" cy="578524"/>
            </a:xfrm>
            <a:custGeom>
              <a:avLst/>
              <a:gdLst/>
              <a:ahLst/>
              <a:cxnLst>
                <a:cxn ang="0">
                  <a:pos x="612" y="526"/>
                </a:cxn>
                <a:cxn ang="0">
                  <a:pos x="630" y="419"/>
                </a:cxn>
                <a:cxn ang="0">
                  <a:pos x="627" y="396"/>
                </a:cxn>
                <a:cxn ang="0">
                  <a:pos x="548" y="379"/>
                </a:cxn>
                <a:cxn ang="0">
                  <a:pos x="531" y="269"/>
                </a:cxn>
                <a:cxn ang="0">
                  <a:pos x="508" y="253"/>
                </a:cxn>
                <a:cxn ang="0">
                  <a:pos x="471" y="245"/>
                </a:cxn>
                <a:cxn ang="0">
                  <a:pos x="425" y="247"/>
                </a:cxn>
                <a:cxn ang="0">
                  <a:pos x="392" y="238"/>
                </a:cxn>
                <a:cxn ang="0">
                  <a:pos x="361" y="218"/>
                </a:cxn>
                <a:cxn ang="0">
                  <a:pos x="365" y="122"/>
                </a:cxn>
                <a:cxn ang="0">
                  <a:pos x="354" y="71"/>
                </a:cxn>
                <a:cxn ang="0">
                  <a:pos x="323" y="27"/>
                </a:cxn>
                <a:cxn ang="0">
                  <a:pos x="301" y="7"/>
                </a:cxn>
                <a:cxn ang="0">
                  <a:pos x="277" y="0"/>
                </a:cxn>
                <a:cxn ang="0">
                  <a:pos x="205" y="0"/>
                </a:cxn>
                <a:cxn ang="0">
                  <a:pos x="66" y="40"/>
                </a:cxn>
                <a:cxn ang="0">
                  <a:pos x="31" y="106"/>
                </a:cxn>
                <a:cxn ang="0">
                  <a:pos x="22" y="135"/>
                </a:cxn>
                <a:cxn ang="0">
                  <a:pos x="20" y="190"/>
                </a:cxn>
                <a:cxn ang="0">
                  <a:pos x="0" y="253"/>
                </a:cxn>
                <a:cxn ang="0">
                  <a:pos x="0" y="253"/>
                </a:cxn>
                <a:cxn ang="0">
                  <a:pos x="29" y="267"/>
                </a:cxn>
                <a:cxn ang="0">
                  <a:pos x="44" y="295"/>
                </a:cxn>
                <a:cxn ang="0">
                  <a:pos x="126" y="361"/>
                </a:cxn>
                <a:cxn ang="0">
                  <a:pos x="141" y="386"/>
                </a:cxn>
                <a:cxn ang="0">
                  <a:pos x="238" y="410"/>
                </a:cxn>
                <a:cxn ang="0">
                  <a:pos x="357" y="485"/>
                </a:cxn>
                <a:cxn ang="0">
                  <a:pos x="372" y="506"/>
                </a:cxn>
                <a:cxn ang="0">
                  <a:pos x="370" y="537"/>
                </a:cxn>
                <a:cxn ang="0">
                  <a:pos x="341" y="579"/>
                </a:cxn>
                <a:cxn ang="0">
                  <a:pos x="319" y="645"/>
                </a:cxn>
                <a:cxn ang="0">
                  <a:pos x="403" y="660"/>
                </a:cxn>
                <a:cxn ang="0">
                  <a:pos x="425" y="674"/>
                </a:cxn>
                <a:cxn ang="0">
                  <a:pos x="458" y="680"/>
                </a:cxn>
                <a:cxn ang="0">
                  <a:pos x="511" y="669"/>
                </a:cxn>
                <a:cxn ang="0">
                  <a:pos x="588" y="612"/>
                </a:cxn>
                <a:cxn ang="0">
                  <a:pos x="603" y="583"/>
                </a:cxn>
                <a:cxn ang="0">
                  <a:pos x="612" y="526"/>
                </a:cxn>
              </a:cxnLst>
              <a:rect l="0" t="0" r="r" b="b"/>
              <a:pathLst>
                <a:path w="630" h="680">
                  <a:moveTo>
                    <a:pt x="612" y="526"/>
                  </a:moveTo>
                  <a:lnTo>
                    <a:pt x="630" y="419"/>
                  </a:lnTo>
                  <a:lnTo>
                    <a:pt x="627" y="396"/>
                  </a:lnTo>
                  <a:lnTo>
                    <a:pt x="548" y="379"/>
                  </a:lnTo>
                  <a:lnTo>
                    <a:pt x="531" y="269"/>
                  </a:lnTo>
                  <a:lnTo>
                    <a:pt x="508" y="253"/>
                  </a:lnTo>
                  <a:lnTo>
                    <a:pt x="471" y="245"/>
                  </a:lnTo>
                  <a:lnTo>
                    <a:pt x="425" y="247"/>
                  </a:lnTo>
                  <a:lnTo>
                    <a:pt x="392" y="238"/>
                  </a:lnTo>
                  <a:lnTo>
                    <a:pt x="361" y="218"/>
                  </a:lnTo>
                  <a:lnTo>
                    <a:pt x="365" y="122"/>
                  </a:lnTo>
                  <a:lnTo>
                    <a:pt x="354" y="71"/>
                  </a:lnTo>
                  <a:lnTo>
                    <a:pt x="323" y="27"/>
                  </a:lnTo>
                  <a:lnTo>
                    <a:pt x="301" y="7"/>
                  </a:lnTo>
                  <a:lnTo>
                    <a:pt x="277" y="0"/>
                  </a:lnTo>
                  <a:lnTo>
                    <a:pt x="205" y="0"/>
                  </a:lnTo>
                  <a:lnTo>
                    <a:pt x="66" y="40"/>
                  </a:lnTo>
                  <a:lnTo>
                    <a:pt x="31" y="106"/>
                  </a:lnTo>
                  <a:lnTo>
                    <a:pt x="22" y="135"/>
                  </a:lnTo>
                  <a:lnTo>
                    <a:pt x="20" y="190"/>
                  </a:lnTo>
                  <a:lnTo>
                    <a:pt x="0" y="253"/>
                  </a:lnTo>
                  <a:lnTo>
                    <a:pt x="0" y="253"/>
                  </a:lnTo>
                  <a:lnTo>
                    <a:pt x="29" y="267"/>
                  </a:lnTo>
                  <a:lnTo>
                    <a:pt x="44" y="295"/>
                  </a:lnTo>
                  <a:lnTo>
                    <a:pt x="126" y="361"/>
                  </a:lnTo>
                  <a:lnTo>
                    <a:pt x="141" y="386"/>
                  </a:lnTo>
                  <a:lnTo>
                    <a:pt x="238" y="410"/>
                  </a:lnTo>
                  <a:lnTo>
                    <a:pt x="357" y="485"/>
                  </a:lnTo>
                  <a:lnTo>
                    <a:pt x="372" y="506"/>
                  </a:lnTo>
                  <a:lnTo>
                    <a:pt x="370" y="537"/>
                  </a:lnTo>
                  <a:lnTo>
                    <a:pt x="341" y="579"/>
                  </a:lnTo>
                  <a:lnTo>
                    <a:pt x="319" y="645"/>
                  </a:lnTo>
                  <a:lnTo>
                    <a:pt x="403" y="660"/>
                  </a:lnTo>
                  <a:lnTo>
                    <a:pt x="425" y="674"/>
                  </a:lnTo>
                  <a:lnTo>
                    <a:pt x="458" y="680"/>
                  </a:lnTo>
                  <a:lnTo>
                    <a:pt x="511" y="669"/>
                  </a:lnTo>
                  <a:lnTo>
                    <a:pt x="588" y="612"/>
                  </a:lnTo>
                  <a:lnTo>
                    <a:pt x="603" y="583"/>
                  </a:lnTo>
                  <a:lnTo>
                    <a:pt x="612" y="526"/>
                  </a:lnTo>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7" name="Freeform 26">
              <a:extLst>
                <a:ext uri="{FF2B5EF4-FFF2-40B4-BE49-F238E27FC236}">
                  <a16:creationId xmlns:a16="http://schemas.microsoft.com/office/drawing/2014/main" id="{5B48649F-1E04-4957-C877-11834822DE23}"/>
                </a:ext>
              </a:extLst>
            </p:cNvPr>
            <p:cNvSpPr>
              <a:spLocks/>
            </p:cNvSpPr>
            <p:nvPr/>
          </p:nvSpPr>
          <p:spPr bwMode="auto">
            <a:xfrm>
              <a:off x="3736585" y="3170792"/>
              <a:ext cx="818442" cy="932445"/>
            </a:xfrm>
            <a:custGeom>
              <a:avLst/>
              <a:gdLst/>
              <a:ahLst/>
              <a:cxnLst>
                <a:cxn ang="0">
                  <a:pos x="52" y="124"/>
                </a:cxn>
                <a:cxn ang="0">
                  <a:pos x="169" y="88"/>
                </a:cxn>
                <a:cxn ang="0">
                  <a:pos x="314" y="0"/>
                </a:cxn>
                <a:cxn ang="0">
                  <a:pos x="352" y="25"/>
                </a:cxn>
                <a:cxn ang="0">
                  <a:pos x="343" y="130"/>
                </a:cxn>
                <a:cxn ang="0">
                  <a:pos x="378" y="192"/>
                </a:cxn>
                <a:cxn ang="0">
                  <a:pos x="512" y="231"/>
                </a:cxn>
                <a:cxn ang="0">
                  <a:pos x="605" y="278"/>
                </a:cxn>
                <a:cxn ang="0">
                  <a:pos x="688" y="302"/>
                </a:cxn>
                <a:cxn ang="0">
                  <a:pos x="730" y="332"/>
                </a:cxn>
                <a:cxn ang="0">
                  <a:pos x="754" y="432"/>
                </a:cxn>
                <a:cxn ang="0">
                  <a:pos x="768" y="528"/>
                </a:cxn>
                <a:cxn ang="0">
                  <a:pos x="908" y="548"/>
                </a:cxn>
                <a:cxn ang="0">
                  <a:pos x="941" y="638"/>
                </a:cxn>
                <a:cxn ang="0">
                  <a:pos x="957" y="771"/>
                </a:cxn>
                <a:cxn ang="0">
                  <a:pos x="944" y="845"/>
                </a:cxn>
                <a:cxn ang="0">
                  <a:pos x="899" y="808"/>
                </a:cxn>
                <a:cxn ang="0">
                  <a:pos x="853" y="781"/>
                </a:cxn>
                <a:cxn ang="0">
                  <a:pos x="642" y="821"/>
                </a:cxn>
                <a:cxn ang="0">
                  <a:pos x="598" y="916"/>
                </a:cxn>
                <a:cxn ang="0">
                  <a:pos x="576" y="1034"/>
                </a:cxn>
                <a:cxn ang="0">
                  <a:pos x="534" y="1013"/>
                </a:cxn>
                <a:cxn ang="0">
                  <a:pos x="464" y="1028"/>
                </a:cxn>
                <a:cxn ang="0">
                  <a:pos x="433" y="1046"/>
                </a:cxn>
                <a:cxn ang="0">
                  <a:pos x="350" y="1023"/>
                </a:cxn>
                <a:cxn ang="0">
                  <a:pos x="235" y="1090"/>
                </a:cxn>
                <a:cxn ang="0">
                  <a:pos x="178" y="1090"/>
                </a:cxn>
                <a:cxn ang="0">
                  <a:pos x="119" y="918"/>
                </a:cxn>
                <a:cxn ang="0">
                  <a:pos x="101" y="870"/>
                </a:cxn>
                <a:cxn ang="0">
                  <a:pos x="110" y="797"/>
                </a:cxn>
                <a:cxn ang="0">
                  <a:pos x="64" y="702"/>
                </a:cxn>
                <a:cxn ang="0">
                  <a:pos x="22" y="643"/>
                </a:cxn>
                <a:cxn ang="0">
                  <a:pos x="61" y="551"/>
                </a:cxn>
                <a:cxn ang="0">
                  <a:pos x="37" y="511"/>
                </a:cxn>
                <a:cxn ang="0">
                  <a:pos x="44" y="443"/>
                </a:cxn>
                <a:cxn ang="0">
                  <a:pos x="61" y="399"/>
                </a:cxn>
                <a:cxn ang="0">
                  <a:pos x="61" y="258"/>
                </a:cxn>
                <a:cxn ang="0">
                  <a:pos x="0" y="119"/>
                </a:cxn>
              </a:cxnLst>
              <a:rect l="0" t="0" r="r" b="b"/>
              <a:pathLst>
                <a:path w="963" h="1096">
                  <a:moveTo>
                    <a:pt x="0" y="119"/>
                  </a:moveTo>
                  <a:lnTo>
                    <a:pt x="52" y="124"/>
                  </a:lnTo>
                  <a:lnTo>
                    <a:pt x="112" y="117"/>
                  </a:lnTo>
                  <a:lnTo>
                    <a:pt x="169" y="88"/>
                  </a:lnTo>
                  <a:lnTo>
                    <a:pt x="239" y="14"/>
                  </a:lnTo>
                  <a:lnTo>
                    <a:pt x="314" y="0"/>
                  </a:lnTo>
                  <a:lnTo>
                    <a:pt x="339" y="3"/>
                  </a:lnTo>
                  <a:lnTo>
                    <a:pt x="352" y="25"/>
                  </a:lnTo>
                  <a:lnTo>
                    <a:pt x="356" y="58"/>
                  </a:lnTo>
                  <a:lnTo>
                    <a:pt x="343" y="130"/>
                  </a:lnTo>
                  <a:lnTo>
                    <a:pt x="360" y="176"/>
                  </a:lnTo>
                  <a:lnTo>
                    <a:pt x="378" y="192"/>
                  </a:lnTo>
                  <a:lnTo>
                    <a:pt x="418" y="220"/>
                  </a:lnTo>
                  <a:lnTo>
                    <a:pt x="512" y="231"/>
                  </a:lnTo>
                  <a:lnTo>
                    <a:pt x="552" y="264"/>
                  </a:lnTo>
                  <a:lnTo>
                    <a:pt x="605" y="278"/>
                  </a:lnTo>
                  <a:lnTo>
                    <a:pt x="627" y="299"/>
                  </a:lnTo>
                  <a:lnTo>
                    <a:pt x="688" y="302"/>
                  </a:lnTo>
                  <a:lnTo>
                    <a:pt x="708" y="315"/>
                  </a:lnTo>
                  <a:lnTo>
                    <a:pt x="730" y="332"/>
                  </a:lnTo>
                  <a:lnTo>
                    <a:pt x="756" y="407"/>
                  </a:lnTo>
                  <a:lnTo>
                    <a:pt x="754" y="432"/>
                  </a:lnTo>
                  <a:lnTo>
                    <a:pt x="743" y="454"/>
                  </a:lnTo>
                  <a:lnTo>
                    <a:pt x="768" y="528"/>
                  </a:lnTo>
                  <a:lnTo>
                    <a:pt x="888" y="539"/>
                  </a:lnTo>
                  <a:lnTo>
                    <a:pt x="908" y="548"/>
                  </a:lnTo>
                  <a:lnTo>
                    <a:pt x="904" y="597"/>
                  </a:lnTo>
                  <a:lnTo>
                    <a:pt x="941" y="638"/>
                  </a:lnTo>
                  <a:lnTo>
                    <a:pt x="963" y="694"/>
                  </a:lnTo>
                  <a:lnTo>
                    <a:pt x="957" y="771"/>
                  </a:lnTo>
                  <a:lnTo>
                    <a:pt x="941" y="815"/>
                  </a:lnTo>
                  <a:lnTo>
                    <a:pt x="944" y="845"/>
                  </a:lnTo>
                  <a:lnTo>
                    <a:pt x="930" y="852"/>
                  </a:lnTo>
                  <a:lnTo>
                    <a:pt x="899" y="808"/>
                  </a:lnTo>
                  <a:lnTo>
                    <a:pt x="877" y="788"/>
                  </a:lnTo>
                  <a:lnTo>
                    <a:pt x="853" y="781"/>
                  </a:lnTo>
                  <a:lnTo>
                    <a:pt x="781" y="781"/>
                  </a:lnTo>
                  <a:lnTo>
                    <a:pt x="642" y="821"/>
                  </a:lnTo>
                  <a:lnTo>
                    <a:pt x="607" y="887"/>
                  </a:lnTo>
                  <a:lnTo>
                    <a:pt x="598" y="916"/>
                  </a:lnTo>
                  <a:lnTo>
                    <a:pt x="596" y="971"/>
                  </a:lnTo>
                  <a:lnTo>
                    <a:pt x="576" y="1034"/>
                  </a:lnTo>
                  <a:lnTo>
                    <a:pt x="576" y="1034"/>
                  </a:lnTo>
                  <a:lnTo>
                    <a:pt x="534" y="1013"/>
                  </a:lnTo>
                  <a:lnTo>
                    <a:pt x="482" y="1012"/>
                  </a:lnTo>
                  <a:lnTo>
                    <a:pt x="464" y="1028"/>
                  </a:lnTo>
                  <a:lnTo>
                    <a:pt x="459" y="1050"/>
                  </a:lnTo>
                  <a:lnTo>
                    <a:pt x="433" y="1046"/>
                  </a:lnTo>
                  <a:lnTo>
                    <a:pt x="415" y="1030"/>
                  </a:lnTo>
                  <a:lnTo>
                    <a:pt x="350" y="1023"/>
                  </a:lnTo>
                  <a:lnTo>
                    <a:pt x="310" y="999"/>
                  </a:lnTo>
                  <a:lnTo>
                    <a:pt x="235" y="1090"/>
                  </a:lnTo>
                  <a:lnTo>
                    <a:pt x="202" y="1096"/>
                  </a:lnTo>
                  <a:lnTo>
                    <a:pt x="178" y="1090"/>
                  </a:lnTo>
                  <a:lnTo>
                    <a:pt x="138" y="931"/>
                  </a:lnTo>
                  <a:lnTo>
                    <a:pt x="119" y="918"/>
                  </a:lnTo>
                  <a:lnTo>
                    <a:pt x="116" y="892"/>
                  </a:lnTo>
                  <a:lnTo>
                    <a:pt x="101" y="870"/>
                  </a:lnTo>
                  <a:lnTo>
                    <a:pt x="116" y="847"/>
                  </a:lnTo>
                  <a:lnTo>
                    <a:pt x="110" y="797"/>
                  </a:lnTo>
                  <a:lnTo>
                    <a:pt x="74" y="760"/>
                  </a:lnTo>
                  <a:lnTo>
                    <a:pt x="64" y="702"/>
                  </a:lnTo>
                  <a:lnTo>
                    <a:pt x="28" y="663"/>
                  </a:lnTo>
                  <a:lnTo>
                    <a:pt x="22" y="643"/>
                  </a:lnTo>
                  <a:lnTo>
                    <a:pt x="68" y="575"/>
                  </a:lnTo>
                  <a:lnTo>
                    <a:pt x="61" y="551"/>
                  </a:lnTo>
                  <a:lnTo>
                    <a:pt x="41" y="537"/>
                  </a:lnTo>
                  <a:lnTo>
                    <a:pt x="37" y="511"/>
                  </a:lnTo>
                  <a:lnTo>
                    <a:pt x="53" y="467"/>
                  </a:lnTo>
                  <a:lnTo>
                    <a:pt x="44" y="443"/>
                  </a:lnTo>
                  <a:lnTo>
                    <a:pt x="46" y="418"/>
                  </a:lnTo>
                  <a:lnTo>
                    <a:pt x="61" y="399"/>
                  </a:lnTo>
                  <a:lnTo>
                    <a:pt x="55" y="297"/>
                  </a:lnTo>
                  <a:lnTo>
                    <a:pt x="61" y="258"/>
                  </a:lnTo>
                  <a:lnTo>
                    <a:pt x="74" y="236"/>
                  </a:lnTo>
                  <a:lnTo>
                    <a:pt x="0" y="119"/>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8" name="Freeform 28">
              <a:extLst>
                <a:ext uri="{FF2B5EF4-FFF2-40B4-BE49-F238E27FC236}">
                  <a16:creationId xmlns:a16="http://schemas.microsoft.com/office/drawing/2014/main" id="{DAF65BC8-8E1A-12F7-F7DD-E3A462E53A62}"/>
                </a:ext>
              </a:extLst>
            </p:cNvPr>
            <p:cNvSpPr>
              <a:spLocks/>
            </p:cNvSpPr>
            <p:nvPr/>
          </p:nvSpPr>
          <p:spPr bwMode="auto">
            <a:xfrm>
              <a:off x="2909636" y="2553132"/>
              <a:ext cx="888204" cy="1233618"/>
            </a:xfrm>
            <a:custGeom>
              <a:avLst/>
              <a:gdLst/>
              <a:ahLst/>
              <a:cxnLst>
                <a:cxn ang="0">
                  <a:pos x="469" y="16"/>
                </a:cxn>
                <a:cxn ang="0">
                  <a:pos x="456" y="137"/>
                </a:cxn>
                <a:cxn ang="0">
                  <a:pos x="278" y="269"/>
                </a:cxn>
                <a:cxn ang="0">
                  <a:pos x="214" y="396"/>
                </a:cxn>
                <a:cxn ang="0">
                  <a:pos x="150" y="431"/>
                </a:cxn>
                <a:cxn ang="0">
                  <a:pos x="113" y="412"/>
                </a:cxn>
                <a:cxn ang="0">
                  <a:pos x="60" y="379"/>
                </a:cxn>
                <a:cxn ang="0">
                  <a:pos x="77" y="326"/>
                </a:cxn>
                <a:cxn ang="0">
                  <a:pos x="0" y="399"/>
                </a:cxn>
                <a:cxn ang="0">
                  <a:pos x="14" y="471"/>
                </a:cxn>
                <a:cxn ang="0">
                  <a:pos x="18" y="539"/>
                </a:cxn>
                <a:cxn ang="0">
                  <a:pos x="117" y="594"/>
                </a:cxn>
                <a:cxn ang="0">
                  <a:pos x="163" y="671"/>
                </a:cxn>
                <a:cxn ang="0">
                  <a:pos x="234" y="729"/>
                </a:cxn>
                <a:cxn ang="0">
                  <a:pos x="324" y="896"/>
                </a:cxn>
                <a:cxn ang="0">
                  <a:pos x="387" y="1001"/>
                </a:cxn>
                <a:cxn ang="0">
                  <a:pos x="462" y="1116"/>
                </a:cxn>
                <a:cxn ang="0">
                  <a:pos x="493" y="1195"/>
                </a:cxn>
                <a:cxn ang="0">
                  <a:pos x="605" y="1274"/>
                </a:cxn>
                <a:cxn ang="0">
                  <a:pos x="687" y="1307"/>
                </a:cxn>
                <a:cxn ang="0">
                  <a:pos x="850" y="1375"/>
                </a:cxn>
                <a:cxn ang="0">
                  <a:pos x="926" y="1450"/>
                </a:cxn>
                <a:cxn ang="0">
                  <a:pos x="942" y="1435"/>
                </a:cxn>
                <a:cxn ang="0">
                  <a:pos x="999" y="1389"/>
                </a:cxn>
                <a:cxn ang="0">
                  <a:pos x="1039" y="1301"/>
                </a:cxn>
                <a:cxn ang="0">
                  <a:pos x="1012" y="1263"/>
                </a:cxn>
                <a:cxn ang="0">
                  <a:pos x="1024" y="1193"/>
                </a:cxn>
                <a:cxn ang="0">
                  <a:pos x="1017" y="1144"/>
                </a:cxn>
                <a:cxn ang="0">
                  <a:pos x="1026" y="1023"/>
                </a:cxn>
                <a:cxn ang="0">
                  <a:pos x="1045" y="962"/>
                </a:cxn>
                <a:cxn ang="0">
                  <a:pos x="931" y="858"/>
                </a:cxn>
                <a:cxn ang="0">
                  <a:pos x="900" y="748"/>
                </a:cxn>
                <a:cxn ang="0">
                  <a:pos x="823" y="777"/>
                </a:cxn>
                <a:cxn ang="0">
                  <a:pos x="762" y="768"/>
                </a:cxn>
                <a:cxn ang="0">
                  <a:pos x="696" y="735"/>
                </a:cxn>
                <a:cxn ang="0">
                  <a:pos x="658" y="665"/>
                </a:cxn>
                <a:cxn ang="0">
                  <a:pos x="630" y="581"/>
                </a:cxn>
                <a:cxn ang="0">
                  <a:pos x="684" y="511"/>
                </a:cxn>
                <a:cxn ang="0">
                  <a:pos x="744" y="374"/>
                </a:cxn>
                <a:cxn ang="0">
                  <a:pos x="933" y="295"/>
                </a:cxn>
                <a:cxn ang="0">
                  <a:pos x="883" y="247"/>
                </a:cxn>
                <a:cxn ang="0">
                  <a:pos x="909" y="172"/>
                </a:cxn>
                <a:cxn ang="0">
                  <a:pos x="806" y="159"/>
                </a:cxn>
                <a:cxn ang="0">
                  <a:pos x="755" y="170"/>
                </a:cxn>
                <a:cxn ang="0">
                  <a:pos x="678" y="174"/>
                </a:cxn>
                <a:cxn ang="0">
                  <a:pos x="630" y="112"/>
                </a:cxn>
                <a:cxn ang="0">
                  <a:pos x="581" y="62"/>
                </a:cxn>
                <a:cxn ang="0">
                  <a:pos x="489" y="0"/>
                </a:cxn>
              </a:cxnLst>
              <a:rect l="0" t="0" r="r" b="b"/>
              <a:pathLst>
                <a:path w="1045" h="1450">
                  <a:moveTo>
                    <a:pt x="489" y="0"/>
                  </a:moveTo>
                  <a:lnTo>
                    <a:pt x="469" y="16"/>
                  </a:lnTo>
                  <a:lnTo>
                    <a:pt x="497" y="64"/>
                  </a:lnTo>
                  <a:lnTo>
                    <a:pt x="456" y="137"/>
                  </a:lnTo>
                  <a:lnTo>
                    <a:pt x="396" y="207"/>
                  </a:lnTo>
                  <a:lnTo>
                    <a:pt x="278" y="269"/>
                  </a:lnTo>
                  <a:lnTo>
                    <a:pt x="220" y="341"/>
                  </a:lnTo>
                  <a:lnTo>
                    <a:pt x="214" y="396"/>
                  </a:lnTo>
                  <a:lnTo>
                    <a:pt x="174" y="438"/>
                  </a:lnTo>
                  <a:lnTo>
                    <a:pt x="150" y="431"/>
                  </a:lnTo>
                  <a:lnTo>
                    <a:pt x="137" y="409"/>
                  </a:lnTo>
                  <a:lnTo>
                    <a:pt x="113" y="412"/>
                  </a:lnTo>
                  <a:lnTo>
                    <a:pt x="66" y="403"/>
                  </a:lnTo>
                  <a:lnTo>
                    <a:pt x="60" y="379"/>
                  </a:lnTo>
                  <a:lnTo>
                    <a:pt x="84" y="363"/>
                  </a:lnTo>
                  <a:lnTo>
                    <a:pt x="77" y="326"/>
                  </a:lnTo>
                  <a:lnTo>
                    <a:pt x="75" y="326"/>
                  </a:lnTo>
                  <a:lnTo>
                    <a:pt x="0" y="399"/>
                  </a:lnTo>
                  <a:lnTo>
                    <a:pt x="0" y="434"/>
                  </a:lnTo>
                  <a:lnTo>
                    <a:pt x="14" y="471"/>
                  </a:lnTo>
                  <a:lnTo>
                    <a:pt x="46" y="509"/>
                  </a:lnTo>
                  <a:lnTo>
                    <a:pt x="18" y="539"/>
                  </a:lnTo>
                  <a:lnTo>
                    <a:pt x="90" y="572"/>
                  </a:lnTo>
                  <a:lnTo>
                    <a:pt x="117" y="594"/>
                  </a:lnTo>
                  <a:lnTo>
                    <a:pt x="146" y="625"/>
                  </a:lnTo>
                  <a:lnTo>
                    <a:pt x="163" y="671"/>
                  </a:lnTo>
                  <a:lnTo>
                    <a:pt x="205" y="693"/>
                  </a:lnTo>
                  <a:lnTo>
                    <a:pt x="234" y="729"/>
                  </a:lnTo>
                  <a:lnTo>
                    <a:pt x="282" y="849"/>
                  </a:lnTo>
                  <a:lnTo>
                    <a:pt x="324" y="896"/>
                  </a:lnTo>
                  <a:lnTo>
                    <a:pt x="341" y="937"/>
                  </a:lnTo>
                  <a:lnTo>
                    <a:pt x="387" y="1001"/>
                  </a:lnTo>
                  <a:lnTo>
                    <a:pt x="414" y="1025"/>
                  </a:lnTo>
                  <a:lnTo>
                    <a:pt x="462" y="1116"/>
                  </a:lnTo>
                  <a:lnTo>
                    <a:pt x="458" y="1158"/>
                  </a:lnTo>
                  <a:lnTo>
                    <a:pt x="493" y="1195"/>
                  </a:lnTo>
                  <a:lnTo>
                    <a:pt x="550" y="1244"/>
                  </a:lnTo>
                  <a:lnTo>
                    <a:pt x="605" y="1274"/>
                  </a:lnTo>
                  <a:lnTo>
                    <a:pt x="647" y="1276"/>
                  </a:lnTo>
                  <a:lnTo>
                    <a:pt x="687" y="1307"/>
                  </a:lnTo>
                  <a:lnTo>
                    <a:pt x="770" y="1334"/>
                  </a:lnTo>
                  <a:lnTo>
                    <a:pt x="850" y="1375"/>
                  </a:lnTo>
                  <a:lnTo>
                    <a:pt x="878" y="1408"/>
                  </a:lnTo>
                  <a:lnTo>
                    <a:pt x="926" y="1450"/>
                  </a:lnTo>
                  <a:lnTo>
                    <a:pt x="926" y="1448"/>
                  </a:lnTo>
                  <a:lnTo>
                    <a:pt x="942" y="1435"/>
                  </a:lnTo>
                  <a:lnTo>
                    <a:pt x="966" y="1433"/>
                  </a:lnTo>
                  <a:lnTo>
                    <a:pt x="999" y="1389"/>
                  </a:lnTo>
                  <a:lnTo>
                    <a:pt x="993" y="1369"/>
                  </a:lnTo>
                  <a:lnTo>
                    <a:pt x="1039" y="1301"/>
                  </a:lnTo>
                  <a:lnTo>
                    <a:pt x="1032" y="1277"/>
                  </a:lnTo>
                  <a:lnTo>
                    <a:pt x="1012" y="1263"/>
                  </a:lnTo>
                  <a:lnTo>
                    <a:pt x="1008" y="1237"/>
                  </a:lnTo>
                  <a:lnTo>
                    <a:pt x="1024" y="1193"/>
                  </a:lnTo>
                  <a:lnTo>
                    <a:pt x="1015" y="1169"/>
                  </a:lnTo>
                  <a:lnTo>
                    <a:pt x="1017" y="1144"/>
                  </a:lnTo>
                  <a:lnTo>
                    <a:pt x="1032" y="1125"/>
                  </a:lnTo>
                  <a:lnTo>
                    <a:pt x="1026" y="1023"/>
                  </a:lnTo>
                  <a:lnTo>
                    <a:pt x="1032" y="984"/>
                  </a:lnTo>
                  <a:lnTo>
                    <a:pt x="1045" y="962"/>
                  </a:lnTo>
                  <a:lnTo>
                    <a:pt x="971" y="845"/>
                  </a:lnTo>
                  <a:lnTo>
                    <a:pt x="931" y="858"/>
                  </a:lnTo>
                  <a:lnTo>
                    <a:pt x="904" y="850"/>
                  </a:lnTo>
                  <a:lnTo>
                    <a:pt x="900" y="748"/>
                  </a:lnTo>
                  <a:lnTo>
                    <a:pt x="887" y="726"/>
                  </a:lnTo>
                  <a:lnTo>
                    <a:pt x="823" y="777"/>
                  </a:lnTo>
                  <a:lnTo>
                    <a:pt x="788" y="781"/>
                  </a:lnTo>
                  <a:lnTo>
                    <a:pt x="762" y="768"/>
                  </a:lnTo>
                  <a:lnTo>
                    <a:pt x="748" y="744"/>
                  </a:lnTo>
                  <a:lnTo>
                    <a:pt x="696" y="735"/>
                  </a:lnTo>
                  <a:lnTo>
                    <a:pt x="702" y="707"/>
                  </a:lnTo>
                  <a:lnTo>
                    <a:pt x="658" y="665"/>
                  </a:lnTo>
                  <a:lnTo>
                    <a:pt x="630" y="607"/>
                  </a:lnTo>
                  <a:lnTo>
                    <a:pt x="630" y="581"/>
                  </a:lnTo>
                  <a:lnTo>
                    <a:pt x="654" y="520"/>
                  </a:lnTo>
                  <a:lnTo>
                    <a:pt x="684" y="511"/>
                  </a:lnTo>
                  <a:lnTo>
                    <a:pt x="687" y="451"/>
                  </a:lnTo>
                  <a:lnTo>
                    <a:pt x="744" y="374"/>
                  </a:lnTo>
                  <a:lnTo>
                    <a:pt x="795" y="341"/>
                  </a:lnTo>
                  <a:lnTo>
                    <a:pt x="933" y="295"/>
                  </a:lnTo>
                  <a:lnTo>
                    <a:pt x="889" y="273"/>
                  </a:lnTo>
                  <a:lnTo>
                    <a:pt x="883" y="247"/>
                  </a:lnTo>
                  <a:lnTo>
                    <a:pt x="922" y="198"/>
                  </a:lnTo>
                  <a:lnTo>
                    <a:pt x="909" y="172"/>
                  </a:lnTo>
                  <a:lnTo>
                    <a:pt x="858" y="148"/>
                  </a:lnTo>
                  <a:lnTo>
                    <a:pt x="806" y="159"/>
                  </a:lnTo>
                  <a:lnTo>
                    <a:pt x="775" y="154"/>
                  </a:lnTo>
                  <a:lnTo>
                    <a:pt x="755" y="170"/>
                  </a:lnTo>
                  <a:lnTo>
                    <a:pt x="729" y="176"/>
                  </a:lnTo>
                  <a:lnTo>
                    <a:pt x="678" y="174"/>
                  </a:lnTo>
                  <a:lnTo>
                    <a:pt x="652" y="126"/>
                  </a:lnTo>
                  <a:lnTo>
                    <a:pt x="630" y="112"/>
                  </a:lnTo>
                  <a:lnTo>
                    <a:pt x="627" y="86"/>
                  </a:lnTo>
                  <a:lnTo>
                    <a:pt x="581" y="62"/>
                  </a:lnTo>
                  <a:lnTo>
                    <a:pt x="535" y="9"/>
                  </a:lnTo>
                  <a:lnTo>
                    <a:pt x="489" y="0"/>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9" name="Freeform 30">
              <a:extLst>
                <a:ext uri="{FF2B5EF4-FFF2-40B4-BE49-F238E27FC236}">
                  <a16:creationId xmlns:a16="http://schemas.microsoft.com/office/drawing/2014/main" id="{A3986506-E593-0B05-3F68-01A80B08B0A7}"/>
                </a:ext>
              </a:extLst>
            </p:cNvPr>
            <p:cNvSpPr>
              <a:spLocks/>
            </p:cNvSpPr>
            <p:nvPr/>
          </p:nvSpPr>
          <p:spPr bwMode="auto">
            <a:xfrm>
              <a:off x="2933458" y="2486772"/>
              <a:ext cx="398161" cy="438998"/>
            </a:xfrm>
            <a:custGeom>
              <a:avLst/>
              <a:gdLst/>
              <a:ahLst/>
              <a:cxnLst>
                <a:cxn ang="0">
                  <a:pos x="50" y="403"/>
                </a:cxn>
                <a:cxn ang="0">
                  <a:pos x="57" y="440"/>
                </a:cxn>
                <a:cxn ang="0">
                  <a:pos x="33" y="456"/>
                </a:cxn>
                <a:cxn ang="0">
                  <a:pos x="39" y="480"/>
                </a:cxn>
                <a:cxn ang="0">
                  <a:pos x="86" y="489"/>
                </a:cxn>
                <a:cxn ang="0">
                  <a:pos x="110" y="486"/>
                </a:cxn>
                <a:cxn ang="0">
                  <a:pos x="123" y="508"/>
                </a:cxn>
                <a:cxn ang="0">
                  <a:pos x="147" y="515"/>
                </a:cxn>
                <a:cxn ang="0">
                  <a:pos x="187" y="473"/>
                </a:cxn>
                <a:cxn ang="0">
                  <a:pos x="193" y="418"/>
                </a:cxn>
                <a:cxn ang="0">
                  <a:pos x="251" y="346"/>
                </a:cxn>
                <a:cxn ang="0">
                  <a:pos x="369" y="284"/>
                </a:cxn>
                <a:cxn ang="0">
                  <a:pos x="429" y="214"/>
                </a:cxn>
                <a:cxn ang="0">
                  <a:pos x="470" y="141"/>
                </a:cxn>
                <a:cxn ang="0">
                  <a:pos x="442" y="93"/>
                </a:cxn>
                <a:cxn ang="0">
                  <a:pos x="462" y="77"/>
                </a:cxn>
                <a:cxn ang="0">
                  <a:pos x="415" y="55"/>
                </a:cxn>
                <a:cxn ang="0">
                  <a:pos x="308" y="71"/>
                </a:cxn>
                <a:cxn ang="0">
                  <a:pos x="277" y="40"/>
                </a:cxn>
                <a:cxn ang="0">
                  <a:pos x="171" y="2"/>
                </a:cxn>
                <a:cxn ang="0">
                  <a:pos x="173" y="0"/>
                </a:cxn>
                <a:cxn ang="0">
                  <a:pos x="75" y="60"/>
                </a:cxn>
                <a:cxn ang="0">
                  <a:pos x="68" y="115"/>
                </a:cxn>
                <a:cxn ang="0">
                  <a:pos x="33" y="148"/>
                </a:cxn>
                <a:cxn ang="0">
                  <a:pos x="35" y="189"/>
                </a:cxn>
                <a:cxn ang="0">
                  <a:pos x="0" y="207"/>
                </a:cxn>
                <a:cxn ang="0">
                  <a:pos x="15" y="260"/>
                </a:cxn>
                <a:cxn ang="0">
                  <a:pos x="15" y="300"/>
                </a:cxn>
                <a:cxn ang="0">
                  <a:pos x="2" y="315"/>
                </a:cxn>
                <a:cxn ang="0">
                  <a:pos x="30" y="324"/>
                </a:cxn>
                <a:cxn ang="0">
                  <a:pos x="66" y="361"/>
                </a:cxn>
                <a:cxn ang="0">
                  <a:pos x="72" y="321"/>
                </a:cxn>
                <a:cxn ang="0">
                  <a:pos x="107" y="315"/>
                </a:cxn>
                <a:cxn ang="0">
                  <a:pos x="81" y="387"/>
                </a:cxn>
                <a:cxn ang="0">
                  <a:pos x="48" y="403"/>
                </a:cxn>
                <a:cxn ang="0">
                  <a:pos x="50" y="403"/>
                </a:cxn>
              </a:cxnLst>
              <a:rect l="0" t="0" r="r" b="b"/>
              <a:pathLst>
                <a:path w="470" h="515">
                  <a:moveTo>
                    <a:pt x="50" y="403"/>
                  </a:moveTo>
                  <a:lnTo>
                    <a:pt x="57" y="440"/>
                  </a:lnTo>
                  <a:lnTo>
                    <a:pt x="33" y="456"/>
                  </a:lnTo>
                  <a:lnTo>
                    <a:pt x="39" y="480"/>
                  </a:lnTo>
                  <a:lnTo>
                    <a:pt x="86" y="489"/>
                  </a:lnTo>
                  <a:lnTo>
                    <a:pt x="110" y="486"/>
                  </a:lnTo>
                  <a:lnTo>
                    <a:pt x="123" y="508"/>
                  </a:lnTo>
                  <a:lnTo>
                    <a:pt x="147" y="515"/>
                  </a:lnTo>
                  <a:lnTo>
                    <a:pt x="187" y="473"/>
                  </a:lnTo>
                  <a:lnTo>
                    <a:pt x="193" y="418"/>
                  </a:lnTo>
                  <a:lnTo>
                    <a:pt x="251" y="346"/>
                  </a:lnTo>
                  <a:lnTo>
                    <a:pt x="369" y="284"/>
                  </a:lnTo>
                  <a:lnTo>
                    <a:pt x="429" y="214"/>
                  </a:lnTo>
                  <a:lnTo>
                    <a:pt x="470" y="141"/>
                  </a:lnTo>
                  <a:lnTo>
                    <a:pt x="442" y="93"/>
                  </a:lnTo>
                  <a:lnTo>
                    <a:pt x="462" y="77"/>
                  </a:lnTo>
                  <a:lnTo>
                    <a:pt x="415" y="55"/>
                  </a:lnTo>
                  <a:lnTo>
                    <a:pt x="308" y="71"/>
                  </a:lnTo>
                  <a:lnTo>
                    <a:pt x="277" y="40"/>
                  </a:lnTo>
                  <a:lnTo>
                    <a:pt x="171" y="2"/>
                  </a:lnTo>
                  <a:lnTo>
                    <a:pt x="173" y="0"/>
                  </a:lnTo>
                  <a:lnTo>
                    <a:pt x="75" y="60"/>
                  </a:lnTo>
                  <a:lnTo>
                    <a:pt x="68" y="115"/>
                  </a:lnTo>
                  <a:lnTo>
                    <a:pt x="33" y="148"/>
                  </a:lnTo>
                  <a:lnTo>
                    <a:pt x="35" y="189"/>
                  </a:lnTo>
                  <a:lnTo>
                    <a:pt x="0" y="207"/>
                  </a:lnTo>
                  <a:lnTo>
                    <a:pt x="15" y="260"/>
                  </a:lnTo>
                  <a:lnTo>
                    <a:pt x="15" y="300"/>
                  </a:lnTo>
                  <a:lnTo>
                    <a:pt x="2" y="315"/>
                  </a:lnTo>
                  <a:lnTo>
                    <a:pt x="30" y="324"/>
                  </a:lnTo>
                  <a:lnTo>
                    <a:pt x="66" y="361"/>
                  </a:lnTo>
                  <a:lnTo>
                    <a:pt x="72" y="321"/>
                  </a:lnTo>
                  <a:lnTo>
                    <a:pt x="107" y="315"/>
                  </a:lnTo>
                  <a:lnTo>
                    <a:pt x="81" y="387"/>
                  </a:lnTo>
                  <a:lnTo>
                    <a:pt x="48" y="403"/>
                  </a:lnTo>
                  <a:lnTo>
                    <a:pt x="50" y="403"/>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40" name="Freeform 32">
              <a:extLst>
                <a:ext uri="{FF2B5EF4-FFF2-40B4-BE49-F238E27FC236}">
                  <a16:creationId xmlns:a16="http://schemas.microsoft.com/office/drawing/2014/main" id="{2273621E-2808-6F3D-0D94-F3258FB5579D}"/>
                </a:ext>
              </a:extLst>
            </p:cNvPr>
            <p:cNvSpPr>
              <a:spLocks/>
            </p:cNvSpPr>
            <p:nvPr/>
          </p:nvSpPr>
          <p:spPr bwMode="auto">
            <a:xfrm>
              <a:off x="3772317" y="4019860"/>
              <a:ext cx="1024328" cy="2138837"/>
            </a:xfrm>
            <a:custGeom>
              <a:avLst/>
              <a:gdLst/>
              <a:ahLst/>
              <a:cxnLst>
                <a:cxn ang="0">
                  <a:pos x="156" y="2504"/>
                </a:cxn>
                <a:cxn ang="0">
                  <a:pos x="48" y="2405"/>
                </a:cxn>
                <a:cxn ang="0">
                  <a:pos x="66" y="2201"/>
                </a:cxn>
                <a:cxn ang="0">
                  <a:pos x="74" y="1935"/>
                </a:cxn>
                <a:cxn ang="0">
                  <a:pos x="66" y="1880"/>
                </a:cxn>
                <a:cxn ang="0">
                  <a:pos x="10" y="1726"/>
                </a:cxn>
                <a:cxn ang="0">
                  <a:pos x="2" y="1510"/>
                </a:cxn>
                <a:cxn ang="0">
                  <a:pos x="13" y="1345"/>
                </a:cxn>
                <a:cxn ang="0">
                  <a:pos x="44" y="1189"/>
                </a:cxn>
                <a:cxn ang="0">
                  <a:pos x="66" y="1010"/>
                </a:cxn>
                <a:cxn ang="0">
                  <a:pos x="0" y="819"/>
                </a:cxn>
                <a:cxn ang="0">
                  <a:pos x="28" y="643"/>
                </a:cxn>
                <a:cxn ang="0">
                  <a:pos x="92" y="453"/>
                </a:cxn>
                <a:cxn ang="0">
                  <a:pos x="109" y="267"/>
                </a:cxn>
                <a:cxn ang="0">
                  <a:pos x="186" y="190"/>
                </a:cxn>
                <a:cxn ang="0">
                  <a:pos x="193" y="91"/>
                </a:cxn>
                <a:cxn ang="0">
                  <a:pos x="373" y="31"/>
                </a:cxn>
                <a:cxn ang="0">
                  <a:pos x="422" y="29"/>
                </a:cxn>
                <a:cxn ang="0">
                  <a:pos x="534" y="35"/>
                </a:cxn>
                <a:cxn ang="0">
                  <a:pos x="660" y="143"/>
                </a:cxn>
                <a:cxn ang="0">
                  <a:pos x="891" y="267"/>
                </a:cxn>
                <a:cxn ang="0">
                  <a:pos x="875" y="361"/>
                </a:cxn>
                <a:cxn ang="0">
                  <a:pos x="959" y="456"/>
                </a:cxn>
                <a:cxn ang="0">
                  <a:pos x="1122" y="394"/>
                </a:cxn>
                <a:cxn ang="0">
                  <a:pos x="1172" y="308"/>
                </a:cxn>
                <a:cxn ang="0">
                  <a:pos x="1201" y="429"/>
                </a:cxn>
                <a:cxn ang="0">
                  <a:pos x="1040" y="544"/>
                </a:cxn>
                <a:cxn ang="0">
                  <a:pos x="891" y="704"/>
                </a:cxn>
                <a:cxn ang="0">
                  <a:pos x="855" y="995"/>
                </a:cxn>
                <a:cxn ang="0">
                  <a:pos x="853" y="1048"/>
                </a:cxn>
                <a:cxn ang="0">
                  <a:pos x="913" y="1145"/>
                </a:cxn>
                <a:cxn ang="0">
                  <a:pos x="959" y="1230"/>
                </a:cxn>
                <a:cxn ang="0">
                  <a:pos x="825" y="1371"/>
                </a:cxn>
                <a:cxn ang="0">
                  <a:pos x="596" y="1386"/>
                </a:cxn>
                <a:cxn ang="0">
                  <a:pos x="589" y="1516"/>
                </a:cxn>
                <a:cxn ang="0">
                  <a:pos x="554" y="1585"/>
                </a:cxn>
                <a:cxn ang="0">
                  <a:pos x="420" y="1574"/>
                </a:cxn>
                <a:cxn ang="0">
                  <a:pos x="466" y="1683"/>
                </a:cxn>
                <a:cxn ang="0">
                  <a:pos x="519" y="1723"/>
                </a:cxn>
                <a:cxn ang="0">
                  <a:pos x="439" y="1725"/>
                </a:cxn>
                <a:cxn ang="0">
                  <a:pos x="429" y="1794"/>
                </a:cxn>
                <a:cxn ang="0">
                  <a:pos x="417" y="1904"/>
                </a:cxn>
                <a:cxn ang="0">
                  <a:pos x="329" y="1950"/>
                </a:cxn>
                <a:cxn ang="0">
                  <a:pos x="376" y="2084"/>
                </a:cxn>
                <a:cxn ang="0">
                  <a:pos x="420" y="2152"/>
                </a:cxn>
                <a:cxn ang="0">
                  <a:pos x="294" y="2337"/>
                </a:cxn>
                <a:cxn ang="0">
                  <a:pos x="292" y="2474"/>
                </a:cxn>
              </a:cxnLst>
              <a:rect l="0" t="0" r="r" b="b"/>
              <a:pathLst>
                <a:path w="1205" h="2513">
                  <a:moveTo>
                    <a:pt x="316" y="2513"/>
                  </a:moveTo>
                  <a:lnTo>
                    <a:pt x="246" y="2496"/>
                  </a:lnTo>
                  <a:lnTo>
                    <a:pt x="156" y="2504"/>
                  </a:lnTo>
                  <a:lnTo>
                    <a:pt x="125" y="2496"/>
                  </a:lnTo>
                  <a:lnTo>
                    <a:pt x="96" y="2394"/>
                  </a:lnTo>
                  <a:lnTo>
                    <a:pt x="48" y="2405"/>
                  </a:lnTo>
                  <a:lnTo>
                    <a:pt x="37" y="2324"/>
                  </a:lnTo>
                  <a:lnTo>
                    <a:pt x="65" y="2234"/>
                  </a:lnTo>
                  <a:lnTo>
                    <a:pt x="66" y="2201"/>
                  </a:lnTo>
                  <a:lnTo>
                    <a:pt x="55" y="2152"/>
                  </a:lnTo>
                  <a:lnTo>
                    <a:pt x="81" y="2066"/>
                  </a:lnTo>
                  <a:lnTo>
                    <a:pt x="74" y="1935"/>
                  </a:lnTo>
                  <a:lnTo>
                    <a:pt x="54" y="1910"/>
                  </a:lnTo>
                  <a:lnTo>
                    <a:pt x="77" y="1908"/>
                  </a:lnTo>
                  <a:lnTo>
                    <a:pt x="66" y="1880"/>
                  </a:lnTo>
                  <a:lnTo>
                    <a:pt x="44" y="1879"/>
                  </a:lnTo>
                  <a:lnTo>
                    <a:pt x="41" y="1831"/>
                  </a:lnTo>
                  <a:lnTo>
                    <a:pt x="10" y="1726"/>
                  </a:lnTo>
                  <a:lnTo>
                    <a:pt x="24" y="1677"/>
                  </a:lnTo>
                  <a:lnTo>
                    <a:pt x="4" y="1631"/>
                  </a:lnTo>
                  <a:lnTo>
                    <a:pt x="2" y="1510"/>
                  </a:lnTo>
                  <a:lnTo>
                    <a:pt x="11" y="1452"/>
                  </a:lnTo>
                  <a:lnTo>
                    <a:pt x="30" y="1398"/>
                  </a:lnTo>
                  <a:lnTo>
                    <a:pt x="13" y="1345"/>
                  </a:lnTo>
                  <a:lnTo>
                    <a:pt x="6" y="1254"/>
                  </a:lnTo>
                  <a:lnTo>
                    <a:pt x="10" y="1230"/>
                  </a:lnTo>
                  <a:lnTo>
                    <a:pt x="44" y="1189"/>
                  </a:lnTo>
                  <a:lnTo>
                    <a:pt x="33" y="1123"/>
                  </a:lnTo>
                  <a:lnTo>
                    <a:pt x="44" y="1100"/>
                  </a:lnTo>
                  <a:lnTo>
                    <a:pt x="66" y="1010"/>
                  </a:lnTo>
                  <a:lnTo>
                    <a:pt x="19" y="870"/>
                  </a:lnTo>
                  <a:lnTo>
                    <a:pt x="15" y="843"/>
                  </a:lnTo>
                  <a:lnTo>
                    <a:pt x="0" y="819"/>
                  </a:lnTo>
                  <a:lnTo>
                    <a:pt x="0" y="795"/>
                  </a:lnTo>
                  <a:lnTo>
                    <a:pt x="32" y="696"/>
                  </a:lnTo>
                  <a:lnTo>
                    <a:pt x="28" y="643"/>
                  </a:lnTo>
                  <a:lnTo>
                    <a:pt x="44" y="548"/>
                  </a:lnTo>
                  <a:lnTo>
                    <a:pt x="74" y="500"/>
                  </a:lnTo>
                  <a:lnTo>
                    <a:pt x="92" y="453"/>
                  </a:lnTo>
                  <a:lnTo>
                    <a:pt x="125" y="410"/>
                  </a:lnTo>
                  <a:lnTo>
                    <a:pt x="101" y="291"/>
                  </a:lnTo>
                  <a:lnTo>
                    <a:pt x="109" y="267"/>
                  </a:lnTo>
                  <a:lnTo>
                    <a:pt x="103" y="240"/>
                  </a:lnTo>
                  <a:lnTo>
                    <a:pt x="123" y="222"/>
                  </a:lnTo>
                  <a:lnTo>
                    <a:pt x="186" y="190"/>
                  </a:lnTo>
                  <a:lnTo>
                    <a:pt x="197" y="168"/>
                  </a:lnTo>
                  <a:lnTo>
                    <a:pt x="202" y="113"/>
                  </a:lnTo>
                  <a:lnTo>
                    <a:pt x="193" y="91"/>
                  </a:lnTo>
                  <a:lnTo>
                    <a:pt x="268" y="0"/>
                  </a:lnTo>
                  <a:lnTo>
                    <a:pt x="308" y="24"/>
                  </a:lnTo>
                  <a:lnTo>
                    <a:pt x="373" y="31"/>
                  </a:lnTo>
                  <a:lnTo>
                    <a:pt x="391" y="47"/>
                  </a:lnTo>
                  <a:lnTo>
                    <a:pt x="417" y="51"/>
                  </a:lnTo>
                  <a:lnTo>
                    <a:pt x="422" y="29"/>
                  </a:lnTo>
                  <a:lnTo>
                    <a:pt x="440" y="13"/>
                  </a:lnTo>
                  <a:lnTo>
                    <a:pt x="492" y="14"/>
                  </a:lnTo>
                  <a:lnTo>
                    <a:pt x="534" y="35"/>
                  </a:lnTo>
                  <a:lnTo>
                    <a:pt x="563" y="49"/>
                  </a:lnTo>
                  <a:lnTo>
                    <a:pt x="578" y="77"/>
                  </a:lnTo>
                  <a:lnTo>
                    <a:pt x="660" y="143"/>
                  </a:lnTo>
                  <a:lnTo>
                    <a:pt x="675" y="168"/>
                  </a:lnTo>
                  <a:lnTo>
                    <a:pt x="772" y="192"/>
                  </a:lnTo>
                  <a:lnTo>
                    <a:pt x="891" y="267"/>
                  </a:lnTo>
                  <a:lnTo>
                    <a:pt x="906" y="288"/>
                  </a:lnTo>
                  <a:lnTo>
                    <a:pt x="904" y="319"/>
                  </a:lnTo>
                  <a:lnTo>
                    <a:pt x="875" y="361"/>
                  </a:lnTo>
                  <a:lnTo>
                    <a:pt x="853" y="427"/>
                  </a:lnTo>
                  <a:lnTo>
                    <a:pt x="937" y="442"/>
                  </a:lnTo>
                  <a:lnTo>
                    <a:pt x="959" y="456"/>
                  </a:lnTo>
                  <a:lnTo>
                    <a:pt x="992" y="462"/>
                  </a:lnTo>
                  <a:lnTo>
                    <a:pt x="1045" y="451"/>
                  </a:lnTo>
                  <a:lnTo>
                    <a:pt x="1122" y="394"/>
                  </a:lnTo>
                  <a:lnTo>
                    <a:pt x="1137" y="365"/>
                  </a:lnTo>
                  <a:lnTo>
                    <a:pt x="1146" y="308"/>
                  </a:lnTo>
                  <a:lnTo>
                    <a:pt x="1172" y="308"/>
                  </a:lnTo>
                  <a:lnTo>
                    <a:pt x="1190" y="315"/>
                  </a:lnTo>
                  <a:lnTo>
                    <a:pt x="1205" y="365"/>
                  </a:lnTo>
                  <a:lnTo>
                    <a:pt x="1201" y="429"/>
                  </a:lnTo>
                  <a:lnTo>
                    <a:pt x="1152" y="464"/>
                  </a:lnTo>
                  <a:lnTo>
                    <a:pt x="1124" y="469"/>
                  </a:lnTo>
                  <a:lnTo>
                    <a:pt x="1040" y="544"/>
                  </a:lnTo>
                  <a:lnTo>
                    <a:pt x="992" y="608"/>
                  </a:lnTo>
                  <a:lnTo>
                    <a:pt x="908" y="687"/>
                  </a:lnTo>
                  <a:lnTo>
                    <a:pt x="891" y="704"/>
                  </a:lnTo>
                  <a:lnTo>
                    <a:pt x="869" y="905"/>
                  </a:lnTo>
                  <a:lnTo>
                    <a:pt x="858" y="962"/>
                  </a:lnTo>
                  <a:lnTo>
                    <a:pt x="855" y="995"/>
                  </a:lnTo>
                  <a:lnTo>
                    <a:pt x="855" y="995"/>
                  </a:lnTo>
                  <a:lnTo>
                    <a:pt x="842" y="1021"/>
                  </a:lnTo>
                  <a:lnTo>
                    <a:pt x="853" y="1048"/>
                  </a:lnTo>
                  <a:lnTo>
                    <a:pt x="910" y="1078"/>
                  </a:lnTo>
                  <a:lnTo>
                    <a:pt x="930" y="1105"/>
                  </a:lnTo>
                  <a:lnTo>
                    <a:pt x="913" y="1145"/>
                  </a:lnTo>
                  <a:lnTo>
                    <a:pt x="928" y="1180"/>
                  </a:lnTo>
                  <a:lnTo>
                    <a:pt x="955" y="1188"/>
                  </a:lnTo>
                  <a:lnTo>
                    <a:pt x="959" y="1230"/>
                  </a:lnTo>
                  <a:lnTo>
                    <a:pt x="908" y="1303"/>
                  </a:lnTo>
                  <a:lnTo>
                    <a:pt x="897" y="1338"/>
                  </a:lnTo>
                  <a:lnTo>
                    <a:pt x="825" y="1371"/>
                  </a:lnTo>
                  <a:lnTo>
                    <a:pt x="710" y="1398"/>
                  </a:lnTo>
                  <a:lnTo>
                    <a:pt x="613" y="1406"/>
                  </a:lnTo>
                  <a:lnTo>
                    <a:pt x="596" y="1386"/>
                  </a:lnTo>
                  <a:lnTo>
                    <a:pt x="591" y="1420"/>
                  </a:lnTo>
                  <a:lnTo>
                    <a:pt x="613" y="1448"/>
                  </a:lnTo>
                  <a:lnTo>
                    <a:pt x="589" y="1516"/>
                  </a:lnTo>
                  <a:lnTo>
                    <a:pt x="600" y="1536"/>
                  </a:lnTo>
                  <a:lnTo>
                    <a:pt x="596" y="1563"/>
                  </a:lnTo>
                  <a:lnTo>
                    <a:pt x="554" y="1585"/>
                  </a:lnTo>
                  <a:lnTo>
                    <a:pt x="503" y="1585"/>
                  </a:lnTo>
                  <a:lnTo>
                    <a:pt x="440" y="1554"/>
                  </a:lnTo>
                  <a:lnTo>
                    <a:pt x="420" y="1574"/>
                  </a:lnTo>
                  <a:lnTo>
                    <a:pt x="433" y="1615"/>
                  </a:lnTo>
                  <a:lnTo>
                    <a:pt x="435" y="1664"/>
                  </a:lnTo>
                  <a:lnTo>
                    <a:pt x="466" y="1683"/>
                  </a:lnTo>
                  <a:lnTo>
                    <a:pt x="512" y="1661"/>
                  </a:lnTo>
                  <a:lnTo>
                    <a:pt x="523" y="1701"/>
                  </a:lnTo>
                  <a:lnTo>
                    <a:pt x="519" y="1723"/>
                  </a:lnTo>
                  <a:lnTo>
                    <a:pt x="488" y="1723"/>
                  </a:lnTo>
                  <a:lnTo>
                    <a:pt x="468" y="1697"/>
                  </a:lnTo>
                  <a:lnTo>
                    <a:pt x="439" y="1725"/>
                  </a:lnTo>
                  <a:lnTo>
                    <a:pt x="481" y="1737"/>
                  </a:lnTo>
                  <a:lnTo>
                    <a:pt x="440" y="1765"/>
                  </a:lnTo>
                  <a:lnTo>
                    <a:pt x="429" y="1794"/>
                  </a:lnTo>
                  <a:lnTo>
                    <a:pt x="437" y="1862"/>
                  </a:lnTo>
                  <a:lnTo>
                    <a:pt x="415" y="1877"/>
                  </a:lnTo>
                  <a:lnTo>
                    <a:pt x="417" y="1904"/>
                  </a:lnTo>
                  <a:lnTo>
                    <a:pt x="382" y="1906"/>
                  </a:lnTo>
                  <a:lnTo>
                    <a:pt x="345" y="1928"/>
                  </a:lnTo>
                  <a:lnTo>
                    <a:pt x="329" y="1950"/>
                  </a:lnTo>
                  <a:lnTo>
                    <a:pt x="312" y="1992"/>
                  </a:lnTo>
                  <a:lnTo>
                    <a:pt x="321" y="2033"/>
                  </a:lnTo>
                  <a:lnTo>
                    <a:pt x="376" y="2084"/>
                  </a:lnTo>
                  <a:lnTo>
                    <a:pt x="418" y="2082"/>
                  </a:lnTo>
                  <a:lnTo>
                    <a:pt x="426" y="2110"/>
                  </a:lnTo>
                  <a:lnTo>
                    <a:pt x="420" y="2152"/>
                  </a:lnTo>
                  <a:lnTo>
                    <a:pt x="336" y="2238"/>
                  </a:lnTo>
                  <a:lnTo>
                    <a:pt x="327" y="2320"/>
                  </a:lnTo>
                  <a:lnTo>
                    <a:pt x="294" y="2337"/>
                  </a:lnTo>
                  <a:lnTo>
                    <a:pt x="270" y="2366"/>
                  </a:lnTo>
                  <a:lnTo>
                    <a:pt x="266" y="2407"/>
                  </a:lnTo>
                  <a:lnTo>
                    <a:pt x="292" y="2474"/>
                  </a:lnTo>
                  <a:lnTo>
                    <a:pt x="316" y="2513"/>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nvGrpSpPr>
            <p:cNvPr id="41" name="Gruppieren 5">
              <a:extLst>
                <a:ext uri="{FF2B5EF4-FFF2-40B4-BE49-F238E27FC236}">
                  <a16:creationId xmlns:a16="http://schemas.microsoft.com/office/drawing/2014/main" id="{52EBD65A-C0E8-0D04-71CC-2A09FB0E813D}"/>
                </a:ext>
              </a:extLst>
            </p:cNvPr>
            <p:cNvGrpSpPr/>
            <p:nvPr/>
          </p:nvGrpSpPr>
          <p:grpSpPr bwMode="auto">
            <a:xfrm>
              <a:off x="3646403" y="3735703"/>
              <a:ext cx="411773" cy="2647598"/>
              <a:chOff x="3983038" y="3878263"/>
              <a:chExt cx="384175" cy="2470150"/>
            </a:xfrm>
            <a:solidFill>
              <a:srgbClr val="778888">
                <a:lumMod val="20000"/>
                <a:lumOff val="80000"/>
              </a:srgbClr>
            </a:solidFill>
          </p:grpSpPr>
          <p:sp>
            <p:nvSpPr>
              <p:cNvPr id="70" name="Freeform 37">
                <a:extLst>
                  <a:ext uri="{FF2B5EF4-FFF2-40B4-BE49-F238E27FC236}">
                    <a16:creationId xmlns:a16="http://schemas.microsoft.com/office/drawing/2014/main" id="{24C258D8-F997-4036-311F-070ED8292404}"/>
                  </a:ext>
                </a:extLst>
              </p:cNvPr>
              <p:cNvSpPr>
                <a:spLocks/>
              </p:cNvSpPr>
              <p:nvPr/>
            </p:nvSpPr>
            <p:spPr bwMode="auto">
              <a:xfrm>
                <a:off x="4008438" y="5476875"/>
                <a:ext cx="38100" cy="101600"/>
              </a:xfrm>
              <a:custGeom>
                <a:avLst/>
                <a:gdLst/>
                <a:ahLst/>
                <a:cxnLst>
                  <a:cxn ang="0">
                    <a:pos x="0" y="0"/>
                  </a:cxn>
                  <a:cxn ang="0">
                    <a:pos x="2" y="124"/>
                  </a:cxn>
                  <a:cxn ang="0">
                    <a:pos x="37" y="128"/>
                  </a:cxn>
                  <a:cxn ang="0">
                    <a:pos x="46" y="93"/>
                  </a:cxn>
                  <a:cxn ang="0">
                    <a:pos x="31" y="68"/>
                  </a:cxn>
                  <a:cxn ang="0">
                    <a:pos x="48" y="36"/>
                  </a:cxn>
                  <a:cxn ang="0">
                    <a:pos x="39" y="11"/>
                  </a:cxn>
                  <a:cxn ang="0">
                    <a:pos x="0" y="0"/>
                  </a:cxn>
                </a:cxnLst>
                <a:rect l="0" t="0" r="r" b="b"/>
                <a:pathLst>
                  <a:path w="48" h="128">
                    <a:moveTo>
                      <a:pt x="0" y="0"/>
                    </a:moveTo>
                    <a:lnTo>
                      <a:pt x="2" y="124"/>
                    </a:lnTo>
                    <a:lnTo>
                      <a:pt x="37" y="128"/>
                    </a:lnTo>
                    <a:lnTo>
                      <a:pt x="46" y="93"/>
                    </a:lnTo>
                    <a:lnTo>
                      <a:pt x="31" y="68"/>
                    </a:lnTo>
                    <a:lnTo>
                      <a:pt x="48" y="36"/>
                    </a:lnTo>
                    <a:lnTo>
                      <a:pt x="39" y="11"/>
                    </a:lnTo>
                    <a:lnTo>
                      <a:pt x="0" y="0"/>
                    </a:lnTo>
                  </a:path>
                </a:pathLst>
              </a:custGeom>
              <a:grp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nvGrpSpPr>
              <p:cNvPr id="71" name="Gruppieren 4">
                <a:extLst>
                  <a:ext uri="{FF2B5EF4-FFF2-40B4-BE49-F238E27FC236}">
                    <a16:creationId xmlns:a16="http://schemas.microsoft.com/office/drawing/2014/main" id="{562591CE-A3BC-2AC3-DE51-26A6FE8FF7CB}"/>
                  </a:ext>
                </a:extLst>
              </p:cNvPr>
              <p:cNvGrpSpPr/>
              <p:nvPr/>
            </p:nvGrpSpPr>
            <p:grpSpPr bwMode="auto">
              <a:xfrm>
                <a:off x="3983038" y="3878263"/>
                <a:ext cx="384175" cy="2470150"/>
                <a:chOff x="3983038" y="3878263"/>
                <a:chExt cx="384175" cy="2470150"/>
              </a:xfrm>
              <a:grpFill/>
            </p:grpSpPr>
            <p:sp>
              <p:nvSpPr>
                <p:cNvPr id="72" name="Freeform 38">
                  <a:extLst>
                    <a:ext uri="{FF2B5EF4-FFF2-40B4-BE49-F238E27FC236}">
                      <a16:creationId xmlns:a16="http://schemas.microsoft.com/office/drawing/2014/main" id="{26CDE369-30DD-F5E7-B81F-597A0531A83F}"/>
                    </a:ext>
                  </a:extLst>
                </p:cNvPr>
                <p:cNvSpPr>
                  <a:spLocks/>
                </p:cNvSpPr>
                <p:nvPr/>
              </p:nvSpPr>
              <p:spPr bwMode="auto">
                <a:xfrm>
                  <a:off x="3983038" y="3878263"/>
                  <a:ext cx="366713" cy="2366963"/>
                </a:xfrm>
                <a:custGeom>
                  <a:avLst/>
                  <a:gdLst/>
                  <a:ahLst/>
                  <a:cxnLst>
                    <a:cxn ang="0">
                      <a:pos x="115" y="2389"/>
                    </a:cxn>
                    <a:cxn ang="0">
                      <a:pos x="90" y="2394"/>
                    </a:cxn>
                    <a:cxn ang="0">
                      <a:pos x="59" y="2345"/>
                    </a:cxn>
                    <a:cxn ang="0">
                      <a:pos x="15" y="2413"/>
                    </a:cxn>
                    <a:cxn ang="0">
                      <a:pos x="75" y="2427"/>
                    </a:cxn>
                    <a:cxn ang="0">
                      <a:pos x="97" y="2548"/>
                    </a:cxn>
                    <a:cxn ang="0">
                      <a:pos x="44" y="2541"/>
                    </a:cxn>
                    <a:cxn ang="0">
                      <a:pos x="68" y="2678"/>
                    </a:cxn>
                    <a:cxn ang="0">
                      <a:pos x="93" y="2724"/>
                    </a:cxn>
                    <a:cxn ang="0">
                      <a:pos x="135" y="2746"/>
                    </a:cxn>
                    <a:cxn ang="0">
                      <a:pos x="145" y="2796"/>
                    </a:cxn>
                    <a:cxn ang="0">
                      <a:pos x="161" y="2834"/>
                    </a:cxn>
                    <a:cxn ang="0">
                      <a:pos x="163" y="2854"/>
                    </a:cxn>
                    <a:cxn ang="0">
                      <a:pos x="216" y="2898"/>
                    </a:cxn>
                    <a:cxn ang="0">
                      <a:pos x="315" y="2897"/>
                    </a:cxn>
                    <a:cxn ang="0">
                      <a:pos x="288" y="2953"/>
                    </a:cxn>
                    <a:cxn ang="0">
                      <a:pos x="357" y="2975"/>
                    </a:cxn>
                    <a:cxn ang="0">
                      <a:pos x="407" y="2867"/>
                    </a:cxn>
                    <a:cxn ang="0">
                      <a:pos x="392" y="2832"/>
                    </a:cxn>
                    <a:cxn ang="0">
                      <a:pos x="242" y="2730"/>
                    </a:cxn>
                    <a:cxn ang="0">
                      <a:pos x="211" y="2570"/>
                    </a:cxn>
                    <a:cxn ang="0">
                      <a:pos x="227" y="2402"/>
                    </a:cxn>
                    <a:cxn ang="0">
                      <a:pos x="223" y="2244"/>
                    </a:cxn>
                    <a:cxn ang="0">
                      <a:pos x="187" y="2167"/>
                    </a:cxn>
                    <a:cxn ang="0">
                      <a:pos x="150" y="1967"/>
                    </a:cxn>
                    <a:cxn ang="0">
                      <a:pos x="176" y="1734"/>
                    </a:cxn>
                    <a:cxn ang="0">
                      <a:pos x="156" y="1566"/>
                    </a:cxn>
                    <a:cxn ang="0">
                      <a:pos x="190" y="1436"/>
                    </a:cxn>
                    <a:cxn ang="0">
                      <a:pos x="161" y="1179"/>
                    </a:cxn>
                    <a:cxn ang="0">
                      <a:pos x="178" y="1032"/>
                    </a:cxn>
                    <a:cxn ang="0">
                      <a:pos x="220" y="836"/>
                    </a:cxn>
                    <a:cxn ang="0">
                      <a:pos x="247" y="627"/>
                    </a:cxn>
                    <a:cxn ang="0">
                      <a:pos x="269" y="558"/>
                    </a:cxn>
                    <a:cxn ang="0">
                      <a:pos x="348" y="449"/>
                    </a:cxn>
                    <a:cxn ang="0">
                      <a:pos x="282" y="427"/>
                    </a:cxn>
                    <a:cxn ang="0">
                      <a:pos x="220" y="229"/>
                    </a:cxn>
                    <a:cxn ang="0">
                      <a:pos x="214" y="134"/>
                    </a:cxn>
                    <a:cxn ang="0">
                      <a:pos x="132" y="0"/>
                    </a:cxn>
                    <a:cxn ang="0">
                      <a:pos x="59" y="59"/>
                    </a:cxn>
                    <a:cxn ang="0">
                      <a:pos x="108" y="204"/>
                    </a:cxn>
                    <a:cxn ang="0">
                      <a:pos x="108" y="411"/>
                    </a:cxn>
                    <a:cxn ang="0">
                      <a:pos x="108" y="651"/>
                    </a:cxn>
                    <a:cxn ang="0">
                      <a:pos x="86" y="783"/>
                    </a:cxn>
                    <a:cxn ang="0">
                      <a:pos x="75" y="975"/>
                    </a:cxn>
                    <a:cxn ang="0">
                      <a:pos x="64" y="1095"/>
                    </a:cxn>
                    <a:cxn ang="0">
                      <a:pos x="84" y="1293"/>
                    </a:cxn>
                    <a:cxn ang="0">
                      <a:pos x="81" y="1403"/>
                    </a:cxn>
                    <a:cxn ang="0">
                      <a:pos x="26" y="1588"/>
                    </a:cxn>
                    <a:cxn ang="0">
                      <a:pos x="0" y="1678"/>
                    </a:cxn>
                    <a:cxn ang="0">
                      <a:pos x="27" y="1863"/>
                    </a:cxn>
                    <a:cxn ang="0">
                      <a:pos x="40" y="1980"/>
                    </a:cxn>
                    <a:cxn ang="0">
                      <a:pos x="88" y="1982"/>
                    </a:cxn>
                    <a:cxn ang="0">
                      <a:pos x="126" y="2033"/>
                    </a:cxn>
                    <a:cxn ang="0">
                      <a:pos x="112" y="2139"/>
                    </a:cxn>
                    <a:cxn ang="0">
                      <a:pos x="124" y="2220"/>
                    </a:cxn>
                    <a:cxn ang="0">
                      <a:pos x="115" y="2295"/>
                    </a:cxn>
                  </a:cxnLst>
                  <a:rect l="0" t="0" r="r" b="b"/>
                  <a:pathLst>
                    <a:path w="462" h="2983">
                      <a:moveTo>
                        <a:pt x="112" y="2325"/>
                      </a:moveTo>
                      <a:lnTo>
                        <a:pt x="119" y="2370"/>
                      </a:lnTo>
                      <a:lnTo>
                        <a:pt x="115" y="2389"/>
                      </a:lnTo>
                      <a:lnTo>
                        <a:pt x="106" y="2378"/>
                      </a:lnTo>
                      <a:lnTo>
                        <a:pt x="97" y="2394"/>
                      </a:lnTo>
                      <a:lnTo>
                        <a:pt x="90" y="2394"/>
                      </a:lnTo>
                      <a:lnTo>
                        <a:pt x="90" y="2372"/>
                      </a:lnTo>
                      <a:lnTo>
                        <a:pt x="82" y="2358"/>
                      </a:lnTo>
                      <a:lnTo>
                        <a:pt x="59" y="2345"/>
                      </a:lnTo>
                      <a:lnTo>
                        <a:pt x="31" y="2354"/>
                      </a:lnTo>
                      <a:lnTo>
                        <a:pt x="49" y="2374"/>
                      </a:lnTo>
                      <a:lnTo>
                        <a:pt x="15" y="2413"/>
                      </a:lnTo>
                      <a:lnTo>
                        <a:pt x="20" y="2440"/>
                      </a:lnTo>
                      <a:lnTo>
                        <a:pt x="44" y="2416"/>
                      </a:lnTo>
                      <a:lnTo>
                        <a:pt x="75" y="2427"/>
                      </a:lnTo>
                      <a:lnTo>
                        <a:pt x="101" y="2424"/>
                      </a:lnTo>
                      <a:lnTo>
                        <a:pt x="88" y="2475"/>
                      </a:lnTo>
                      <a:lnTo>
                        <a:pt x="97" y="2548"/>
                      </a:lnTo>
                      <a:lnTo>
                        <a:pt x="66" y="2504"/>
                      </a:lnTo>
                      <a:lnTo>
                        <a:pt x="44" y="2513"/>
                      </a:lnTo>
                      <a:lnTo>
                        <a:pt x="44" y="2541"/>
                      </a:lnTo>
                      <a:lnTo>
                        <a:pt x="75" y="2612"/>
                      </a:lnTo>
                      <a:lnTo>
                        <a:pt x="66" y="2644"/>
                      </a:lnTo>
                      <a:lnTo>
                        <a:pt x="68" y="2678"/>
                      </a:lnTo>
                      <a:lnTo>
                        <a:pt x="97" y="2682"/>
                      </a:lnTo>
                      <a:lnTo>
                        <a:pt x="82" y="2704"/>
                      </a:lnTo>
                      <a:lnTo>
                        <a:pt x="93" y="2724"/>
                      </a:lnTo>
                      <a:lnTo>
                        <a:pt x="123" y="2700"/>
                      </a:lnTo>
                      <a:lnTo>
                        <a:pt x="121" y="2721"/>
                      </a:lnTo>
                      <a:lnTo>
                        <a:pt x="135" y="2746"/>
                      </a:lnTo>
                      <a:lnTo>
                        <a:pt x="117" y="2743"/>
                      </a:lnTo>
                      <a:lnTo>
                        <a:pt x="121" y="2807"/>
                      </a:lnTo>
                      <a:lnTo>
                        <a:pt x="145" y="2796"/>
                      </a:lnTo>
                      <a:lnTo>
                        <a:pt x="148" y="2766"/>
                      </a:lnTo>
                      <a:lnTo>
                        <a:pt x="165" y="2807"/>
                      </a:lnTo>
                      <a:lnTo>
                        <a:pt x="161" y="2834"/>
                      </a:lnTo>
                      <a:lnTo>
                        <a:pt x="126" y="2832"/>
                      </a:lnTo>
                      <a:lnTo>
                        <a:pt x="134" y="2873"/>
                      </a:lnTo>
                      <a:lnTo>
                        <a:pt x="163" y="2854"/>
                      </a:lnTo>
                      <a:lnTo>
                        <a:pt x="203" y="2847"/>
                      </a:lnTo>
                      <a:lnTo>
                        <a:pt x="190" y="2895"/>
                      </a:lnTo>
                      <a:lnTo>
                        <a:pt x="216" y="2898"/>
                      </a:lnTo>
                      <a:lnTo>
                        <a:pt x="220" y="2919"/>
                      </a:lnTo>
                      <a:lnTo>
                        <a:pt x="277" y="2955"/>
                      </a:lnTo>
                      <a:lnTo>
                        <a:pt x="315" y="2897"/>
                      </a:lnTo>
                      <a:lnTo>
                        <a:pt x="337" y="2900"/>
                      </a:lnTo>
                      <a:lnTo>
                        <a:pt x="328" y="2930"/>
                      </a:lnTo>
                      <a:lnTo>
                        <a:pt x="288" y="2953"/>
                      </a:lnTo>
                      <a:lnTo>
                        <a:pt x="304" y="2974"/>
                      </a:lnTo>
                      <a:lnTo>
                        <a:pt x="343" y="2983"/>
                      </a:lnTo>
                      <a:lnTo>
                        <a:pt x="357" y="2975"/>
                      </a:lnTo>
                      <a:lnTo>
                        <a:pt x="352" y="2893"/>
                      </a:lnTo>
                      <a:lnTo>
                        <a:pt x="387" y="2869"/>
                      </a:lnTo>
                      <a:lnTo>
                        <a:pt x="407" y="2867"/>
                      </a:lnTo>
                      <a:lnTo>
                        <a:pt x="409" y="2847"/>
                      </a:lnTo>
                      <a:lnTo>
                        <a:pt x="462" y="2849"/>
                      </a:lnTo>
                      <a:lnTo>
                        <a:pt x="392" y="2832"/>
                      </a:lnTo>
                      <a:lnTo>
                        <a:pt x="302" y="2840"/>
                      </a:lnTo>
                      <a:lnTo>
                        <a:pt x="271" y="2832"/>
                      </a:lnTo>
                      <a:lnTo>
                        <a:pt x="242" y="2730"/>
                      </a:lnTo>
                      <a:lnTo>
                        <a:pt x="194" y="2741"/>
                      </a:lnTo>
                      <a:lnTo>
                        <a:pt x="183" y="2660"/>
                      </a:lnTo>
                      <a:lnTo>
                        <a:pt x="211" y="2570"/>
                      </a:lnTo>
                      <a:lnTo>
                        <a:pt x="212" y="2537"/>
                      </a:lnTo>
                      <a:lnTo>
                        <a:pt x="201" y="2488"/>
                      </a:lnTo>
                      <a:lnTo>
                        <a:pt x="227" y="2402"/>
                      </a:lnTo>
                      <a:lnTo>
                        <a:pt x="220" y="2271"/>
                      </a:lnTo>
                      <a:lnTo>
                        <a:pt x="200" y="2246"/>
                      </a:lnTo>
                      <a:lnTo>
                        <a:pt x="223" y="2244"/>
                      </a:lnTo>
                      <a:lnTo>
                        <a:pt x="212" y="2216"/>
                      </a:lnTo>
                      <a:lnTo>
                        <a:pt x="190" y="2215"/>
                      </a:lnTo>
                      <a:lnTo>
                        <a:pt x="187" y="2167"/>
                      </a:lnTo>
                      <a:lnTo>
                        <a:pt x="156" y="2062"/>
                      </a:lnTo>
                      <a:lnTo>
                        <a:pt x="170" y="2013"/>
                      </a:lnTo>
                      <a:lnTo>
                        <a:pt x="150" y="1967"/>
                      </a:lnTo>
                      <a:lnTo>
                        <a:pt x="148" y="1846"/>
                      </a:lnTo>
                      <a:lnTo>
                        <a:pt x="157" y="1788"/>
                      </a:lnTo>
                      <a:lnTo>
                        <a:pt x="176" y="1734"/>
                      </a:lnTo>
                      <a:lnTo>
                        <a:pt x="159" y="1681"/>
                      </a:lnTo>
                      <a:lnTo>
                        <a:pt x="152" y="1590"/>
                      </a:lnTo>
                      <a:lnTo>
                        <a:pt x="156" y="1566"/>
                      </a:lnTo>
                      <a:lnTo>
                        <a:pt x="190" y="1525"/>
                      </a:lnTo>
                      <a:lnTo>
                        <a:pt x="179" y="1459"/>
                      </a:lnTo>
                      <a:lnTo>
                        <a:pt x="190" y="1436"/>
                      </a:lnTo>
                      <a:lnTo>
                        <a:pt x="212" y="1346"/>
                      </a:lnTo>
                      <a:lnTo>
                        <a:pt x="165" y="1206"/>
                      </a:lnTo>
                      <a:lnTo>
                        <a:pt x="161" y="1179"/>
                      </a:lnTo>
                      <a:lnTo>
                        <a:pt x="146" y="1155"/>
                      </a:lnTo>
                      <a:lnTo>
                        <a:pt x="146" y="1131"/>
                      </a:lnTo>
                      <a:lnTo>
                        <a:pt x="178" y="1032"/>
                      </a:lnTo>
                      <a:lnTo>
                        <a:pt x="174" y="979"/>
                      </a:lnTo>
                      <a:lnTo>
                        <a:pt x="190" y="884"/>
                      </a:lnTo>
                      <a:lnTo>
                        <a:pt x="220" y="836"/>
                      </a:lnTo>
                      <a:lnTo>
                        <a:pt x="238" y="789"/>
                      </a:lnTo>
                      <a:lnTo>
                        <a:pt x="271" y="746"/>
                      </a:lnTo>
                      <a:lnTo>
                        <a:pt x="247" y="627"/>
                      </a:lnTo>
                      <a:lnTo>
                        <a:pt x="255" y="603"/>
                      </a:lnTo>
                      <a:lnTo>
                        <a:pt x="249" y="576"/>
                      </a:lnTo>
                      <a:lnTo>
                        <a:pt x="269" y="558"/>
                      </a:lnTo>
                      <a:lnTo>
                        <a:pt x="332" y="526"/>
                      </a:lnTo>
                      <a:lnTo>
                        <a:pt x="343" y="504"/>
                      </a:lnTo>
                      <a:lnTo>
                        <a:pt x="348" y="449"/>
                      </a:lnTo>
                      <a:lnTo>
                        <a:pt x="339" y="427"/>
                      </a:lnTo>
                      <a:lnTo>
                        <a:pt x="306" y="433"/>
                      </a:lnTo>
                      <a:lnTo>
                        <a:pt x="282" y="427"/>
                      </a:lnTo>
                      <a:lnTo>
                        <a:pt x="242" y="268"/>
                      </a:lnTo>
                      <a:lnTo>
                        <a:pt x="223" y="255"/>
                      </a:lnTo>
                      <a:lnTo>
                        <a:pt x="220" y="229"/>
                      </a:lnTo>
                      <a:lnTo>
                        <a:pt x="205" y="207"/>
                      </a:lnTo>
                      <a:lnTo>
                        <a:pt x="220" y="184"/>
                      </a:lnTo>
                      <a:lnTo>
                        <a:pt x="214" y="134"/>
                      </a:lnTo>
                      <a:lnTo>
                        <a:pt x="178" y="97"/>
                      </a:lnTo>
                      <a:lnTo>
                        <a:pt x="168" y="39"/>
                      </a:lnTo>
                      <a:lnTo>
                        <a:pt x="132" y="0"/>
                      </a:lnTo>
                      <a:lnTo>
                        <a:pt x="99" y="44"/>
                      </a:lnTo>
                      <a:lnTo>
                        <a:pt x="75" y="46"/>
                      </a:lnTo>
                      <a:lnTo>
                        <a:pt x="59" y="59"/>
                      </a:lnTo>
                      <a:lnTo>
                        <a:pt x="59" y="61"/>
                      </a:lnTo>
                      <a:lnTo>
                        <a:pt x="82" y="103"/>
                      </a:lnTo>
                      <a:lnTo>
                        <a:pt x="108" y="204"/>
                      </a:lnTo>
                      <a:lnTo>
                        <a:pt x="104" y="246"/>
                      </a:lnTo>
                      <a:lnTo>
                        <a:pt x="115" y="327"/>
                      </a:lnTo>
                      <a:lnTo>
                        <a:pt x="108" y="411"/>
                      </a:lnTo>
                      <a:lnTo>
                        <a:pt x="91" y="453"/>
                      </a:lnTo>
                      <a:lnTo>
                        <a:pt x="95" y="576"/>
                      </a:lnTo>
                      <a:lnTo>
                        <a:pt x="108" y="651"/>
                      </a:lnTo>
                      <a:lnTo>
                        <a:pt x="90" y="680"/>
                      </a:lnTo>
                      <a:lnTo>
                        <a:pt x="106" y="726"/>
                      </a:lnTo>
                      <a:lnTo>
                        <a:pt x="86" y="783"/>
                      </a:lnTo>
                      <a:lnTo>
                        <a:pt x="90" y="823"/>
                      </a:lnTo>
                      <a:lnTo>
                        <a:pt x="59" y="950"/>
                      </a:lnTo>
                      <a:lnTo>
                        <a:pt x="75" y="975"/>
                      </a:lnTo>
                      <a:lnTo>
                        <a:pt x="86" y="1030"/>
                      </a:lnTo>
                      <a:lnTo>
                        <a:pt x="64" y="1052"/>
                      </a:lnTo>
                      <a:lnTo>
                        <a:pt x="64" y="1095"/>
                      </a:lnTo>
                      <a:lnTo>
                        <a:pt x="86" y="1210"/>
                      </a:lnTo>
                      <a:lnTo>
                        <a:pt x="101" y="1236"/>
                      </a:lnTo>
                      <a:lnTo>
                        <a:pt x="84" y="1293"/>
                      </a:lnTo>
                      <a:lnTo>
                        <a:pt x="95" y="1333"/>
                      </a:lnTo>
                      <a:lnTo>
                        <a:pt x="81" y="1360"/>
                      </a:lnTo>
                      <a:lnTo>
                        <a:pt x="81" y="1403"/>
                      </a:lnTo>
                      <a:lnTo>
                        <a:pt x="51" y="1489"/>
                      </a:lnTo>
                      <a:lnTo>
                        <a:pt x="40" y="1571"/>
                      </a:lnTo>
                      <a:lnTo>
                        <a:pt x="26" y="1588"/>
                      </a:lnTo>
                      <a:lnTo>
                        <a:pt x="31" y="1628"/>
                      </a:lnTo>
                      <a:lnTo>
                        <a:pt x="4" y="1630"/>
                      </a:lnTo>
                      <a:lnTo>
                        <a:pt x="0" y="1678"/>
                      </a:lnTo>
                      <a:lnTo>
                        <a:pt x="22" y="1712"/>
                      </a:lnTo>
                      <a:lnTo>
                        <a:pt x="48" y="1821"/>
                      </a:lnTo>
                      <a:lnTo>
                        <a:pt x="27" y="1863"/>
                      </a:lnTo>
                      <a:lnTo>
                        <a:pt x="35" y="1910"/>
                      </a:lnTo>
                      <a:lnTo>
                        <a:pt x="29" y="1945"/>
                      </a:lnTo>
                      <a:lnTo>
                        <a:pt x="40" y="1980"/>
                      </a:lnTo>
                      <a:lnTo>
                        <a:pt x="55" y="2006"/>
                      </a:lnTo>
                      <a:lnTo>
                        <a:pt x="82" y="2011"/>
                      </a:lnTo>
                      <a:lnTo>
                        <a:pt x="88" y="1982"/>
                      </a:lnTo>
                      <a:lnTo>
                        <a:pt x="119" y="1993"/>
                      </a:lnTo>
                      <a:lnTo>
                        <a:pt x="108" y="2022"/>
                      </a:lnTo>
                      <a:lnTo>
                        <a:pt x="126" y="2033"/>
                      </a:lnTo>
                      <a:lnTo>
                        <a:pt x="113" y="2048"/>
                      </a:lnTo>
                      <a:lnTo>
                        <a:pt x="121" y="2105"/>
                      </a:lnTo>
                      <a:lnTo>
                        <a:pt x="112" y="2139"/>
                      </a:lnTo>
                      <a:lnTo>
                        <a:pt x="126" y="2165"/>
                      </a:lnTo>
                      <a:lnTo>
                        <a:pt x="112" y="2202"/>
                      </a:lnTo>
                      <a:lnTo>
                        <a:pt x="124" y="2220"/>
                      </a:lnTo>
                      <a:lnTo>
                        <a:pt x="104" y="2244"/>
                      </a:lnTo>
                      <a:lnTo>
                        <a:pt x="113" y="2270"/>
                      </a:lnTo>
                      <a:lnTo>
                        <a:pt x="115" y="2295"/>
                      </a:lnTo>
                      <a:lnTo>
                        <a:pt x="112" y="2325"/>
                      </a:lnTo>
                      <a:close/>
                    </a:path>
                  </a:pathLst>
                </a:custGeom>
                <a:solidFill>
                  <a:srgbClr val="FFFFFF"/>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73" name="Freeform 40">
                  <a:extLst>
                    <a:ext uri="{FF2B5EF4-FFF2-40B4-BE49-F238E27FC236}">
                      <a16:creationId xmlns:a16="http://schemas.microsoft.com/office/drawing/2014/main" id="{62796CCF-31C8-358E-6CA7-47D1012F7DAF}"/>
                    </a:ext>
                  </a:extLst>
                </p:cNvPr>
                <p:cNvSpPr>
                  <a:spLocks/>
                </p:cNvSpPr>
                <p:nvPr/>
              </p:nvSpPr>
              <p:spPr bwMode="auto">
                <a:xfrm>
                  <a:off x="4110038" y="6156325"/>
                  <a:ext cx="257175" cy="192088"/>
                </a:xfrm>
                <a:custGeom>
                  <a:avLst/>
                  <a:gdLst/>
                  <a:ahLst/>
                  <a:cxnLst>
                    <a:cxn ang="0">
                      <a:pos x="295" y="7"/>
                    </a:cxn>
                    <a:cxn ang="0">
                      <a:pos x="325" y="233"/>
                    </a:cxn>
                    <a:cxn ang="0">
                      <a:pos x="323" y="233"/>
                    </a:cxn>
                    <a:cxn ang="0">
                      <a:pos x="294" y="242"/>
                    </a:cxn>
                    <a:cxn ang="0">
                      <a:pos x="268" y="231"/>
                    </a:cxn>
                    <a:cxn ang="0">
                      <a:pos x="257" y="203"/>
                    </a:cxn>
                    <a:cxn ang="0">
                      <a:pos x="250" y="233"/>
                    </a:cxn>
                    <a:cxn ang="0">
                      <a:pos x="217" y="222"/>
                    </a:cxn>
                    <a:cxn ang="0">
                      <a:pos x="187" y="183"/>
                    </a:cxn>
                    <a:cxn ang="0">
                      <a:pos x="184" y="163"/>
                    </a:cxn>
                    <a:cxn ang="0">
                      <a:pos x="145" y="152"/>
                    </a:cxn>
                    <a:cxn ang="0">
                      <a:pos x="118" y="139"/>
                    </a:cxn>
                    <a:cxn ang="0">
                      <a:pos x="86" y="143"/>
                    </a:cxn>
                    <a:cxn ang="0">
                      <a:pos x="83" y="123"/>
                    </a:cxn>
                    <a:cxn ang="0">
                      <a:pos x="55" y="104"/>
                    </a:cxn>
                    <a:cxn ang="0">
                      <a:pos x="68" y="82"/>
                    </a:cxn>
                    <a:cxn ang="0">
                      <a:pos x="42" y="77"/>
                    </a:cxn>
                    <a:cxn ang="0">
                      <a:pos x="13" y="60"/>
                    </a:cxn>
                    <a:cxn ang="0">
                      <a:pos x="0" y="40"/>
                    </a:cxn>
                    <a:cxn ang="0">
                      <a:pos x="198" y="139"/>
                    </a:cxn>
                    <a:cxn ang="0">
                      <a:pos x="217" y="97"/>
                    </a:cxn>
                    <a:cxn ang="0">
                      <a:pos x="231" y="136"/>
                    </a:cxn>
                    <a:cxn ang="0">
                      <a:pos x="248" y="141"/>
                    </a:cxn>
                    <a:cxn ang="0">
                      <a:pos x="239" y="101"/>
                    </a:cxn>
                    <a:cxn ang="0">
                      <a:pos x="272" y="77"/>
                    </a:cxn>
                    <a:cxn ang="0">
                      <a:pos x="266" y="64"/>
                    </a:cxn>
                    <a:cxn ang="0">
                      <a:pos x="231" y="81"/>
                    </a:cxn>
                    <a:cxn ang="0">
                      <a:pos x="217" y="68"/>
                    </a:cxn>
                    <a:cxn ang="0">
                      <a:pos x="218" y="26"/>
                    </a:cxn>
                    <a:cxn ang="0">
                      <a:pos x="244" y="26"/>
                    </a:cxn>
                    <a:cxn ang="0">
                      <a:pos x="253" y="4"/>
                    </a:cxn>
                    <a:cxn ang="0">
                      <a:pos x="270" y="9"/>
                    </a:cxn>
                    <a:cxn ang="0">
                      <a:pos x="290" y="0"/>
                    </a:cxn>
                    <a:cxn ang="0">
                      <a:pos x="295" y="7"/>
                    </a:cxn>
                  </a:cxnLst>
                  <a:rect l="0" t="0" r="r" b="b"/>
                  <a:pathLst>
                    <a:path w="325" h="242">
                      <a:moveTo>
                        <a:pt x="295" y="7"/>
                      </a:moveTo>
                      <a:lnTo>
                        <a:pt x="325" y="233"/>
                      </a:lnTo>
                      <a:lnTo>
                        <a:pt x="323" y="233"/>
                      </a:lnTo>
                      <a:lnTo>
                        <a:pt x="294" y="242"/>
                      </a:lnTo>
                      <a:lnTo>
                        <a:pt x="268" y="231"/>
                      </a:lnTo>
                      <a:lnTo>
                        <a:pt x="257" y="203"/>
                      </a:lnTo>
                      <a:lnTo>
                        <a:pt x="250" y="233"/>
                      </a:lnTo>
                      <a:lnTo>
                        <a:pt x="217" y="222"/>
                      </a:lnTo>
                      <a:lnTo>
                        <a:pt x="187" y="183"/>
                      </a:lnTo>
                      <a:lnTo>
                        <a:pt x="184" y="163"/>
                      </a:lnTo>
                      <a:lnTo>
                        <a:pt x="145" y="152"/>
                      </a:lnTo>
                      <a:lnTo>
                        <a:pt x="118" y="139"/>
                      </a:lnTo>
                      <a:lnTo>
                        <a:pt x="86" y="143"/>
                      </a:lnTo>
                      <a:lnTo>
                        <a:pt x="83" y="123"/>
                      </a:lnTo>
                      <a:lnTo>
                        <a:pt x="55" y="104"/>
                      </a:lnTo>
                      <a:lnTo>
                        <a:pt x="68" y="82"/>
                      </a:lnTo>
                      <a:lnTo>
                        <a:pt x="42" y="77"/>
                      </a:lnTo>
                      <a:lnTo>
                        <a:pt x="13" y="60"/>
                      </a:lnTo>
                      <a:lnTo>
                        <a:pt x="0" y="40"/>
                      </a:lnTo>
                      <a:lnTo>
                        <a:pt x="198" y="139"/>
                      </a:lnTo>
                      <a:lnTo>
                        <a:pt x="217" y="97"/>
                      </a:lnTo>
                      <a:lnTo>
                        <a:pt x="231" y="136"/>
                      </a:lnTo>
                      <a:lnTo>
                        <a:pt x="248" y="141"/>
                      </a:lnTo>
                      <a:lnTo>
                        <a:pt x="239" y="101"/>
                      </a:lnTo>
                      <a:lnTo>
                        <a:pt x="272" y="77"/>
                      </a:lnTo>
                      <a:lnTo>
                        <a:pt x="266" y="64"/>
                      </a:lnTo>
                      <a:lnTo>
                        <a:pt x="231" y="81"/>
                      </a:lnTo>
                      <a:lnTo>
                        <a:pt x="217" y="68"/>
                      </a:lnTo>
                      <a:lnTo>
                        <a:pt x="218" y="26"/>
                      </a:lnTo>
                      <a:lnTo>
                        <a:pt x="244" y="26"/>
                      </a:lnTo>
                      <a:lnTo>
                        <a:pt x="253" y="4"/>
                      </a:lnTo>
                      <a:lnTo>
                        <a:pt x="270" y="9"/>
                      </a:lnTo>
                      <a:lnTo>
                        <a:pt x="290" y="0"/>
                      </a:lnTo>
                      <a:lnTo>
                        <a:pt x="295" y="7"/>
                      </a:lnTo>
                      <a:close/>
                    </a:path>
                  </a:pathLst>
                </a:custGeom>
                <a:solidFill>
                  <a:srgbClr val="AA1133">
                    <a:lumMod val="50000"/>
                  </a:srgbClr>
                </a:solidFill>
                <a:ln w="6350" cap="rnd" cmpd="sng">
                  <a:solidFill>
                    <a:sysClr val="window" lastClr="FFFFFF"/>
                  </a:solidFill>
                  <a:prstDash val="solid"/>
                  <a:round/>
                  <a:headEnd type="none" w="sm" len="sm"/>
                  <a:tailEnd type="none" w="sm" len="sm"/>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grpSp>
      </p:grpSp>
      <p:pic>
        <p:nvPicPr>
          <p:cNvPr id="74" name="Picture 31">
            <a:extLst>
              <a:ext uri="{FF2B5EF4-FFF2-40B4-BE49-F238E27FC236}">
                <a16:creationId xmlns:a16="http://schemas.microsoft.com/office/drawing/2014/main" id="{2752B8BB-9146-9F3D-8ADF-6DA2869302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26756" y="1968703"/>
            <a:ext cx="260525" cy="269740"/>
          </a:xfrm>
          <a:prstGeom prst="rect">
            <a:avLst/>
          </a:prstGeom>
          <a:ln>
            <a:noFill/>
          </a:ln>
        </p:spPr>
      </p:pic>
      <p:pic>
        <p:nvPicPr>
          <p:cNvPr id="75" name="Picture 30">
            <a:extLst>
              <a:ext uri="{FF2B5EF4-FFF2-40B4-BE49-F238E27FC236}">
                <a16:creationId xmlns:a16="http://schemas.microsoft.com/office/drawing/2014/main" id="{2417A039-A17D-8C0B-1A06-7D89040EAD7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72443" y="5115473"/>
            <a:ext cx="289640" cy="299885"/>
          </a:xfrm>
          <a:prstGeom prst="ellipse">
            <a:avLst/>
          </a:prstGeom>
          <a:ln>
            <a:noFill/>
          </a:ln>
          <a:effectLst/>
        </p:spPr>
      </p:pic>
      <p:pic>
        <p:nvPicPr>
          <p:cNvPr id="76" name="Imagen 3">
            <a:extLst>
              <a:ext uri="{FF2B5EF4-FFF2-40B4-BE49-F238E27FC236}">
                <a16:creationId xmlns:a16="http://schemas.microsoft.com/office/drawing/2014/main" id="{7B145828-1D1E-6FD7-86A0-16141BB76395}"/>
              </a:ext>
            </a:extLst>
          </p:cNvPr>
          <p:cNvPicPr>
            <a:picLocks noChangeAspect="1"/>
          </p:cNvPicPr>
          <p:nvPr/>
        </p:nvPicPr>
        <p:blipFill>
          <a:blip r:embed="rId5">
            <a:duotone>
              <a:srgbClr val="AA1133">
                <a:shade val="45000"/>
                <a:satMod val="135000"/>
              </a:srgbClr>
              <a:prstClr val="white"/>
            </a:duotone>
            <a:extLst>
              <a:ext uri="{BEBA8EAE-BF5A-486C-A8C5-ECC9F3942E4B}">
                <a14:imgProps xmlns:a14="http://schemas.microsoft.com/office/drawing/2010/main">
                  <a14:imgLayer r:embed="rId6">
                    <a14:imgEffect>
                      <a14:saturation sat="0"/>
                    </a14:imgEffect>
                    <a14:imgEffect>
                      <a14:brightnessContrast bright="40000"/>
                    </a14:imgEffect>
                  </a14:imgLayer>
                </a14:imgProps>
              </a:ext>
            </a:extLst>
          </a:blip>
          <a:stretch>
            <a:fillRect/>
          </a:stretch>
        </p:blipFill>
        <p:spPr>
          <a:xfrm>
            <a:off x="7382919" y="3002790"/>
            <a:ext cx="1422400" cy="1079500"/>
          </a:xfrm>
          <a:prstGeom prst="rect">
            <a:avLst/>
          </a:prstGeom>
        </p:spPr>
      </p:pic>
      <p:cxnSp>
        <p:nvCxnSpPr>
          <p:cNvPr id="77" name="Connector: Curved 34">
            <a:extLst>
              <a:ext uri="{FF2B5EF4-FFF2-40B4-BE49-F238E27FC236}">
                <a16:creationId xmlns:a16="http://schemas.microsoft.com/office/drawing/2014/main" id="{B6F81193-94E2-2914-FC12-9DF71506EFD4}"/>
              </a:ext>
            </a:extLst>
          </p:cNvPr>
          <p:cNvCxnSpPr>
            <a:cxnSpLocks/>
          </p:cNvCxnSpPr>
          <p:nvPr/>
        </p:nvCxnSpPr>
        <p:spPr>
          <a:xfrm rot="16200000" flipH="1">
            <a:off x="7991029" y="4184002"/>
            <a:ext cx="1191242" cy="971586"/>
          </a:xfrm>
          <a:prstGeom prst="curvedConnector2">
            <a:avLst/>
          </a:prstGeom>
          <a:noFill/>
          <a:ln w="9525" cap="flat" cmpd="sng" algn="ctr">
            <a:solidFill>
              <a:srgbClr val="FFFFFF"/>
            </a:solidFill>
            <a:prstDash val="dash"/>
          </a:ln>
          <a:effectLst/>
        </p:spPr>
      </p:cxnSp>
      <p:cxnSp>
        <p:nvCxnSpPr>
          <p:cNvPr id="78" name="Connector: Curved 33">
            <a:extLst>
              <a:ext uri="{FF2B5EF4-FFF2-40B4-BE49-F238E27FC236}">
                <a16:creationId xmlns:a16="http://schemas.microsoft.com/office/drawing/2014/main" id="{EBCE584A-0E1F-AEC5-529B-F8A4B88C70DA}"/>
              </a:ext>
            </a:extLst>
          </p:cNvPr>
          <p:cNvCxnSpPr>
            <a:cxnSpLocks/>
            <a:endCxn id="76" idx="0"/>
          </p:cNvCxnSpPr>
          <p:nvPr/>
        </p:nvCxnSpPr>
        <p:spPr>
          <a:xfrm rot="10800000" flipV="1">
            <a:off x="8094120" y="2081592"/>
            <a:ext cx="933325" cy="921198"/>
          </a:xfrm>
          <a:prstGeom prst="curvedConnector2">
            <a:avLst/>
          </a:prstGeom>
          <a:noFill/>
          <a:ln w="9525" cap="flat" cmpd="sng" algn="ctr">
            <a:solidFill>
              <a:srgbClr val="FFFFFF"/>
            </a:solidFill>
            <a:prstDash val="dash"/>
          </a:ln>
          <a:effectLst/>
        </p:spPr>
      </p:cxnSp>
    </p:spTree>
    <p:extLst>
      <p:ext uri="{BB962C8B-B14F-4D97-AF65-F5344CB8AC3E}">
        <p14:creationId xmlns:p14="http://schemas.microsoft.com/office/powerpoint/2010/main" val="272628887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950" y="428726"/>
            <a:ext cx="8973849"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Framework de IT-Trail Services</a:t>
            </a:r>
            <a:endParaRPr lang="en-US" sz="3500" spc="-30" dirty="0">
              <a:solidFill>
                <a:prstClr val="white"/>
              </a:solidFill>
              <a:latin typeface="Arial"/>
            </a:endParaRPr>
          </a:p>
        </p:txBody>
      </p:sp>
      <p:sp>
        <p:nvSpPr>
          <p:cNvPr id="91" name="Rectangle 90">
            <a:extLst>
              <a:ext uri="{FF2B5EF4-FFF2-40B4-BE49-F238E27FC236}">
                <a16:creationId xmlns:a16="http://schemas.microsoft.com/office/drawing/2014/main" id="{C4C75EBE-5B90-398B-232D-D63BCD25AEBC}"/>
              </a:ext>
            </a:extLst>
          </p:cNvPr>
          <p:cNvSpPr/>
          <p:nvPr/>
        </p:nvSpPr>
        <p:spPr>
          <a:xfrm>
            <a:off x="5938267" y="2418989"/>
            <a:ext cx="2360801" cy="1271887"/>
          </a:xfrm>
          <a:prstGeom prst="rect">
            <a:avLst/>
          </a:prstGeom>
        </p:spPr>
        <p:txBody>
          <a:bodyPr wrap="square" lIns="0" tIns="0" rIns="0" bIns="0">
            <a:spAutoFit/>
          </a:bodyPr>
          <a:lstStyle/>
          <a:p>
            <a:pPr defTabSz="896386">
              <a:defRPr/>
            </a:pPr>
            <a:r>
              <a:rPr lang="es-CL" b="1" spc="-50" dirty="0">
                <a:solidFill>
                  <a:srgbClr val="AADDEE"/>
                </a:solidFill>
              </a:rPr>
              <a:t>Evaluar</a:t>
            </a:r>
            <a:r>
              <a:rPr lang="es-CL" sz="1765" dirty="0">
                <a:solidFill>
                  <a:schemeClr val="bg1"/>
                </a:solidFill>
                <a:latin typeface="Arial" panose="020B0604020202020204" pitchFamily="34" charset="0"/>
                <a:cs typeface="Arial" panose="020B0604020202020204" pitchFamily="34" charset="0"/>
              </a:rPr>
              <a:t> (</a:t>
            </a:r>
            <a:r>
              <a:rPr lang="es-CL" sz="1765" dirty="0" err="1">
                <a:solidFill>
                  <a:schemeClr val="bg1"/>
                </a:solidFill>
                <a:latin typeface="Arial" panose="020B0604020202020204" pitchFamily="34" charset="0"/>
                <a:cs typeface="Arial" panose="020B0604020202020204" pitchFamily="34" charset="0"/>
              </a:rPr>
              <a:t>Assessments</a:t>
            </a:r>
            <a:r>
              <a:rPr lang="es-CL" sz="1765" dirty="0">
                <a:solidFill>
                  <a:schemeClr val="bg1"/>
                </a:solidFill>
                <a:latin typeface="Arial" panose="020B0604020202020204" pitchFamily="34" charset="0"/>
                <a:cs typeface="Arial" panose="020B0604020202020204" pitchFamily="34" charset="0"/>
              </a:rPr>
              <a:t>) </a:t>
            </a:r>
            <a:endParaRPr lang="en-US" sz="1765" dirty="0">
              <a:solidFill>
                <a:schemeClr val="bg1"/>
              </a:solidFill>
              <a:latin typeface="Arial" panose="020B0604020202020204" pitchFamily="34" charset="0"/>
              <a:cs typeface="Arial" panose="020B0604020202020204" pitchFamily="34" charset="0"/>
            </a:endParaRPr>
          </a:p>
          <a:p>
            <a:pPr marL="116706" indent="-116706" defTabSz="896386">
              <a:buFont typeface="Arial" panose="020B0604020202020204" pitchFamily="34" charset="0"/>
              <a:buChar char="•"/>
              <a:defRPr/>
            </a:pPr>
            <a:r>
              <a:rPr lang="es-ES" sz="1100" dirty="0">
                <a:solidFill>
                  <a:schemeClr val="bg1"/>
                </a:solidFill>
                <a:latin typeface="Arial" panose="020B0604020202020204" pitchFamily="34" charset="0"/>
                <a:cs typeface="Times New Roman" panose="02020603050405020304" pitchFamily="18" charset="0"/>
              </a:rPr>
              <a:t>Evaluación de las Plataforma Digital de los Clientes y presentación de Hoja de Ruta de Oportunidades de Ciberseguridad a Corto, Mediano y Largo Plazo</a:t>
            </a:r>
          </a:p>
          <a:p>
            <a:pPr defTabSz="896386">
              <a:defRPr/>
            </a:pPr>
            <a:endParaRPr lang="es-ES" sz="1000" dirty="0">
              <a:solidFill>
                <a:schemeClr val="bg1"/>
              </a:solidFill>
              <a:latin typeface="Arial" panose="020B0604020202020204" pitchFamily="34" charset="0"/>
              <a:cs typeface="Times New Roman" panose="02020603050405020304" pitchFamily="18" charset="0"/>
            </a:endParaRPr>
          </a:p>
        </p:txBody>
      </p:sp>
      <p:cxnSp>
        <p:nvCxnSpPr>
          <p:cNvPr id="67" name="Straight Connector 66">
            <a:extLst>
              <a:ext uri="{FF2B5EF4-FFF2-40B4-BE49-F238E27FC236}">
                <a16:creationId xmlns:a16="http://schemas.microsoft.com/office/drawing/2014/main" id="{DF829B01-8BE4-58ED-EAEE-A40E2F08D7B6}"/>
              </a:ext>
            </a:extLst>
          </p:cNvPr>
          <p:cNvCxnSpPr>
            <a:cxnSpLocks/>
            <a:endCxn id="141" idx="0"/>
          </p:cNvCxnSpPr>
          <p:nvPr/>
        </p:nvCxnSpPr>
        <p:spPr>
          <a:xfrm>
            <a:off x="7035324" y="4168143"/>
            <a:ext cx="0" cy="309750"/>
          </a:xfrm>
          <a:prstGeom prst="line">
            <a:avLst/>
          </a:prstGeom>
          <a:noFill/>
          <a:ln w="38100" cap="rnd" cmpd="sng" algn="ctr">
            <a:solidFill>
              <a:srgbClr val="00BBEE">
                <a:lumMod val="60000"/>
                <a:lumOff val="40000"/>
              </a:srgbClr>
            </a:solidFill>
            <a:prstDash val="sysDot"/>
          </a:ln>
          <a:effectLst/>
        </p:spPr>
      </p:cxnSp>
      <p:cxnSp>
        <p:nvCxnSpPr>
          <p:cNvPr id="68" name="Straight Connector 67">
            <a:extLst>
              <a:ext uri="{FF2B5EF4-FFF2-40B4-BE49-F238E27FC236}">
                <a16:creationId xmlns:a16="http://schemas.microsoft.com/office/drawing/2014/main" id="{CD6A8EF3-E66F-65E9-F88A-A25362B2D5A5}"/>
              </a:ext>
            </a:extLst>
          </p:cNvPr>
          <p:cNvCxnSpPr>
            <a:cxnSpLocks/>
          </p:cNvCxnSpPr>
          <p:nvPr/>
        </p:nvCxnSpPr>
        <p:spPr>
          <a:xfrm>
            <a:off x="1343100" y="3711231"/>
            <a:ext cx="0" cy="421818"/>
          </a:xfrm>
          <a:prstGeom prst="line">
            <a:avLst/>
          </a:prstGeom>
          <a:noFill/>
          <a:ln w="38100" cap="rnd" cmpd="sng" algn="ctr">
            <a:solidFill>
              <a:srgbClr val="00BBEE">
                <a:lumMod val="60000"/>
                <a:lumOff val="40000"/>
              </a:srgbClr>
            </a:solidFill>
            <a:prstDash val="sysDot"/>
          </a:ln>
          <a:effectLst/>
        </p:spPr>
      </p:cxnSp>
      <p:sp>
        <p:nvSpPr>
          <p:cNvPr id="70" name="Donut 50">
            <a:extLst>
              <a:ext uri="{FF2B5EF4-FFF2-40B4-BE49-F238E27FC236}">
                <a16:creationId xmlns:a16="http://schemas.microsoft.com/office/drawing/2014/main" id="{0747693E-F97D-1BAF-9A4D-9E05DB8E9371}"/>
              </a:ext>
            </a:extLst>
          </p:cNvPr>
          <p:cNvSpPr/>
          <p:nvPr/>
        </p:nvSpPr>
        <p:spPr>
          <a:xfrm>
            <a:off x="1165647" y="4500675"/>
            <a:ext cx="1164544" cy="1164544"/>
          </a:xfrm>
          <a:prstGeom prst="donut">
            <a:avLst>
              <a:gd name="adj" fmla="val 3492"/>
            </a:avLst>
          </a:prstGeom>
          <a:solidFill>
            <a:schemeClr val="bg2"/>
          </a:solidFill>
          <a:ln w="25400" cap="flat" cmpd="sng" algn="ctr">
            <a:noFill/>
            <a:prstDash val="solid"/>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srgbClr val="000000"/>
              </a:solidFill>
              <a:effectLst/>
              <a:uLnTx/>
              <a:uFillTx/>
              <a:latin typeface="Arial"/>
            </a:endParaRPr>
          </a:p>
        </p:txBody>
      </p:sp>
      <p:grpSp>
        <p:nvGrpSpPr>
          <p:cNvPr id="72" name="Group 71">
            <a:extLst>
              <a:ext uri="{FF2B5EF4-FFF2-40B4-BE49-F238E27FC236}">
                <a16:creationId xmlns:a16="http://schemas.microsoft.com/office/drawing/2014/main" id="{390D0941-2934-7224-AF4B-2F68FEB3B02A}"/>
              </a:ext>
            </a:extLst>
          </p:cNvPr>
          <p:cNvGrpSpPr/>
          <p:nvPr/>
        </p:nvGrpSpPr>
        <p:grpSpPr>
          <a:xfrm>
            <a:off x="548460" y="4084218"/>
            <a:ext cx="11441155" cy="148109"/>
            <a:chOff x="618970" y="3902590"/>
            <a:chExt cx="11108961" cy="151932"/>
          </a:xfrm>
          <a:solidFill>
            <a:schemeClr val="tx2"/>
          </a:solidFill>
        </p:grpSpPr>
        <p:cxnSp>
          <p:nvCxnSpPr>
            <p:cNvPr id="73" name="Straight Connector 72">
              <a:extLst>
                <a:ext uri="{FF2B5EF4-FFF2-40B4-BE49-F238E27FC236}">
                  <a16:creationId xmlns:a16="http://schemas.microsoft.com/office/drawing/2014/main" id="{99F33DBD-ECAB-4A0C-9913-40C9F4A64197}"/>
                </a:ext>
              </a:extLst>
            </p:cNvPr>
            <p:cNvCxnSpPr/>
            <p:nvPr/>
          </p:nvCxnSpPr>
          <p:spPr>
            <a:xfrm rot="5400000">
              <a:off x="6171798" y="-1439444"/>
              <a:ext cx="0" cy="10836000"/>
            </a:xfrm>
            <a:prstGeom prst="line">
              <a:avLst/>
            </a:prstGeom>
            <a:grpFill/>
            <a:ln w="57150" cap="flat" cmpd="sng" algn="ctr">
              <a:solidFill>
                <a:schemeClr val="bg2"/>
              </a:solidFill>
              <a:prstDash val="solid"/>
            </a:ln>
            <a:effectLst/>
          </p:spPr>
        </p:cxnSp>
        <p:sp>
          <p:nvSpPr>
            <p:cNvPr id="74" name="Oval 73">
              <a:extLst>
                <a:ext uri="{FF2B5EF4-FFF2-40B4-BE49-F238E27FC236}">
                  <a16:creationId xmlns:a16="http://schemas.microsoft.com/office/drawing/2014/main" id="{CAB9F52B-46C0-5D8B-EF7B-84B4F66B7094}"/>
                </a:ext>
              </a:extLst>
            </p:cNvPr>
            <p:cNvSpPr/>
            <p:nvPr/>
          </p:nvSpPr>
          <p:spPr>
            <a:xfrm rot="5400000">
              <a:off x="618970" y="3902590"/>
              <a:ext cx="151932" cy="151932"/>
            </a:xfrm>
            <a:prstGeom prst="ellipse">
              <a:avLst/>
            </a:prstGeom>
            <a:grpFill/>
            <a:ln w="38100" cap="flat" cmpd="sng" algn="ctr">
              <a:solidFill>
                <a:schemeClr val="bg2"/>
              </a:solidFill>
              <a:prstDash val="solid"/>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AU" sz="1765" b="0" i="0" u="none" strike="noStrike" kern="0" cap="none" spc="0" normalizeH="0" baseline="0" noProof="0">
                <a:ln>
                  <a:noFill/>
                </a:ln>
                <a:solidFill>
                  <a:srgbClr val="000000"/>
                </a:solidFill>
                <a:effectLst/>
                <a:uLnTx/>
                <a:uFillTx/>
                <a:latin typeface="Arial"/>
              </a:endParaRPr>
            </a:p>
          </p:txBody>
        </p:sp>
        <p:sp>
          <p:nvSpPr>
            <p:cNvPr id="75" name="Oval 74">
              <a:extLst>
                <a:ext uri="{FF2B5EF4-FFF2-40B4-BE49-F238E27FC236}">
                  <a16:creationId xmlns:a16="http://schemas.microsoft.com/office/drawing/2014/main" id="{B231EFC9-71A8-0CC2-7E71-39796C27C50B}"/>
                </a:ext>
              </a:extLst>
            </p:cNvPr>
            <p:cNvSpPr/>
            <p:nvPr/>
          </p:nvSpPr>
          <p:spPr>
            <a:xfrm rot="5400000">
              <a:off x="11575999" y="3902590"/>
              <a:ext cx="151932" cy="151932"/>
            </a:xfrm>
            <a:prstGeom prst="ellipse">
              <a:avLst/>
            </a:prstGeom>
            <a:grpFill/>
            <a:ln w="38100" cap="flat" cmpd="sng" algn="ctr">
              <a:solidFill>
                <a:schemeClr val="bg2"/>
              </a:solidFill>
              <a:prstDash val="solid"/>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AU" sz="1765" b="0" i="0" u="none" strike="noStrike" kern="0" cap="none" spc="0" normalizeH="0" baseline="0" noProof="0">
                <a:ln>
                  <a:noFill/>
                </a:ln>
                <a:solidFill>
                  <a:srgbClr val="000000"/>
                </a:solidFill>
                <a:effectLst/>
                <a:uLnTx/>
                <a:uFillTx/>
                <a:latin typeface="Arial"/>
              </a:endParaRPr>
            </a:p>
          </p:txBody>
        </p:sp>
      </p:grpSp>
      <p:cxnSp>
        <p:nvCxnSpPr>
          <p:cNvPr id="79" name="Straight Connector 78">
            <a:extLst>
              <a:ext uri="{FF2B5EF4-FFF2-40B4-BE49-F238E27FC236}">
                <a16:creationId xmlns:a16="http://schemas.microsoft.com/office/drawing/2014/main" id="{2C21D509-FC68-E73F-8FF5-0BEAF379FD90}"/>
              </a:ext>
            </a:extLst>
          </p:cNvPr>
          <p:cNvCxnSpPr>
            <a:cxnSpLocks/>
            <a:endCxn id="70" idx="0"/>
          </p:cNvCxnSpPr>
          <p:nvPr/>
        </p:nvCxnSpPr>
        <p:spPr>
          <a:xfrm flipH="1">
            <a:off x="1747919" y="4148404"/>
            <a:ext cx="5455" cy="352271"/>
          </a:xfrm>
          <a:prstGeom prst="line">
            <a:avLst/>
          </a:prstGeom>
          <a:noFill/>
          <a:ln w="38100" cap="rnd" cmpd="sng" algn="ctr">
            <a:solidFill>
              <a:srgbClr val="00BBEE">
                <a:lumMod val="60000"/>
                <a:lumOff val="40000"/>
              </a:srgbClr>
            </a:solidFill>
            <a:prstDash val="sysDot"/>
          </a:ln>
          <a:effectLst/>
        </p:spPr>
      </p:cxnSp>
      <p:cxnSp>
        <p:nvCxnSpPr>
          <p:cNvPr id="83" name="Straight Connector 82">
            <a:extLst>
              <a:ext uri="{FF2B5EF4-FFF2-40B4-BE49-F238E27FC236}">
                <a16:creationId xmlns:a16="http://schemas.microsoft.com/office/drawing/2014/main" id="{0631237C-75B4-4C07-1BBA-4468FAC5F34A}"/>
              </a:ext>
            </a:extLst>
          </p:cNvPr>
          <p:cNvCxnSpPr/>
          <p:nvPr/>
        </p:nvCxnSpPr>
        <p:spPr>
          <a:xfrm>
            <a:off x="5286728" y="3817876"/>
            <a:ext cx="0" cy="317590"/>
          </a:xfrm>
          <a:prstGeom prst="line">
            <a:avLst/>
          </a:prstGeom>
          <a:noFill/>
          <a:ln w="38100" cap="rnd" cmpd="sng" algn="ctr">
            <a:solidFill>
              <a:schemeClr val="bg2"/>
            </a:solidFill>
            <a:prstDash val="sysDot"/>
          </a:ln>
          <a:effectLst/>
        </p:spPr>
      </p:cxnSp>
      <p:cxnSp>
        <p:nvCxnSpPr>
          <p:cNvPr id="87" name="Straight Connector 86">
            <a:extLst>
              <a:ext uri="{FF2B5EF4-FFF2-40B4-BE49-F238E27FC236}">
                <a16:creationId xmlns:a16="http://schemas.microsoft.com/office/drawing/2014/main" id="{80C248C2-D946-E3F9-0FB0-DFBD273E29EB}"/>
              </a:ext>
            </a:extLst>
          </p:cNvPr>
          <p:cNvCxnSpPr>
            <a:cxnSpLocks/>
          </p:cNvCxnSpPr>
          <p:nvPr/>
        </p:nvCxnSpPr>
        <p:spPr>
          <a:xfrm>
            <a:off x="9042359" y="3750499"/>
            <a:ext cx="0" cy="333719"/>
          </a:xfrm>
          <a:prstGeom prst="line">
            <a:avLst/>
          </a:prstGeom>
          <a:noFill/>
          <a:ln w="38100" cap="rnd" cmpd="sng" algn="ctr">
            <a:solidFill>
              <a:srgbClr val="00BBEE">
                <a:lumMod val="60000"/>
                <a:lumOff val="40000"/>
              </a:srgbClr>
            </a:solidFill>
            <a:prstDash val="sysDot"/>
          </a:ln>
          <a:effectLst/>
        </p:spPr>
      </p:cxnSp>
      <p:sp>
        <p:nvSpPr>
          <p:cNvPr id="92" name="Rectangle 91">
            <a:extLst>
              <a:ext uri="{FF2B5EF4-FFF2-40B4-BE49-F238E27FC236}">
                <a16:creationId xmlns:a16="http://schemas.microsoft.com/office/drawing/2014/main" id="{81781362-9C5F-1D89-D111-DC49E21ED8AB}"/>
              </a:ext>
            </a:extLst>
          </p:cNvPr>
          <p:cNvSpPr/>
          <p:nvPr/>
        </p:nvSpPr>
        <p:spPr>
          <a:xfrm>
            <a:off x="2371166" y="4418046"/>
            <a:ext cx="2844566" cy="1117998"/>
          </a:xfrm>
          <a:prstGeom prst="rect">
            <a:avLst/>
          </a:prstGeom>
        </p:spPr>
        <p:txBody>
          <a:bodyPr wrap="square" lIns="0" tIns="0" rIns="0" bIns="0">
            <a:spAutoFit/>
          </a:bodyPr>
          <a:lstStyle/>
          <a:p>
            <a:pPr defTabSz="896386">
              <a:defRPr/>
            </a:pPr>
            <a:r>
              <a:rPr lang="en-US" b="1" spc="-50" dirty="0" err="1">
                <a:solidFill>
                  <a:srgbClr val="AADDEE"/>
                </a:solidFill>
              </a:rPr>
              <a:t>Enseñar</a:t>
            </a:r>
            <a:endParaRPr lang="en-US" b="1" spc="-50" dirty="0">
              <a:solidFill>
                <a:srgbClr val="AADDEE"/>
              </a:solidFill>
            </a:endParaRPr>
          </a:p>
          <a:p>
            <a:pPr marL="171450" indent="-171450" defTabSz="896386">
              <a:buFont typeface="Arial" panose="020B0604020202020204" pitchFamily="34" charset="0"/>
              <a:buChar char="•"/>
              <a:defRPr/>
            </a:pPr>
            <a:r>
              <a:rPr lang="es-ES_tradnl" sz="1100" dirty="0">
                <a:solidFill>
                  <a:schemeClr val="bg1"/>
                </a:solidFill>
                <a:latin typeface="Arial" panose="020B0604020202020204" pitchFamily="34" charset="0"/>
                <a:cs typeface="Times New Roman" panose="02020603050405020304" pitchFamily="18" charset="0"/>
              </a:rPr>
              <a:t>Elaboración del Plan de éxito en la Transformación digital con servicios en los Clientes identificadas como “objetivos” de a través de Workshops y Sesiones de Capacidades e ideación</a:t>
            </a:r>
            <a:endParaRPr lang="en-US" sz="1100" dirty="0">
              <a:solidFill>
                <a:schemeClr val="bg1"/>
              </a:solidFill>
              <a:latin typeface="Arial" panose="020B0604020202020204" pitchFamily="34" charset="0"/>
              <a:cs typeface="Times New Roman" panose="02020603050405020304" pitchFamily="18" charset="0"/>
            </a:endParaRPr>
          </a:p>
        </p:txBody>
      </p:sp>
      <p:sp>
        <p:nvSpPr>
          <p:cNvPr id="93" name="Rectangle 92">
            <a:extLst>
              <a:ext uri="{FF2B5EF4-FFF2-40B4-BE49-F238E27FC236}">
                <a16:creationId xmlns:a16="http://schemas.microsoft.com/office/drawing/2014/main" id="{C1139596-63F5-3BBC-A0E3-87E5B7D69F12}"/>
              </a:ext>
            </a:extLst>
          </p:cNvPr>
          <p:cNvSpPr/>
          <p:nvPr/>
        </p:nvSpPr>
        <p:spPr>
          <a:xfrm>
            <a:off x="1809237" y="2160069"/>
            <a:ext cx="2394245" cy="1948995"/>
          </a:xfrm>
          <a:prstGeom prst="rect">
            <a:avLst/>
          </a:prstGeom>
        </p:spPr>
        <p:txBody>
          <a:bodyPr wrap="square" lIns="0" tIns="0" rIns="0" bIns="0">
            <a:spAutoFit/>
          </a:bodyPr>
          <a:lstStyle/>
          <a:p>
            <a:pPr defTabSz="896386">
              <a:defRPr/>
            </a:pPr>
            <a:r>
              <a:rPr lang="en-US" b="1" spc="-50" dirty="0" err="1">
                <a:solidFill>
                  <a:srgbClr val="AADDEE"/>
                </a:solidFill>
              </a:rPr>
              <a:t>Conectar</a:t>
            </a:r>
            <a:r>
              <a:rPr lang="en-US" sz="1765" dirty="0">
                <a:solidFill>
                  <a:schemeClr val="bg1"/>
                </a:solidFill>
                <a:latin typeface="Arial" panose="020B0604020202020204" pitchFamily="34" charset="0"/>
                <a:cs typeface="Arial" panose="020B0604020202020204" pitchFamily="34" charset="0"/>
              </a:rPr>
              <a:t> </a:t>
            </a:r>
          </a:p>
          <a:p>
            <a:pPr marL="171450" indent="-171450">
              <a:buFont typeface="Arial" panose="020B0604020202020204" pitchFamily="34" charset="0"/>
              <a:buChar char="•"/>
            </a:pPr>
            <a:r>
              <a:rPr lang="es-ES" sz="1100" dirty="0">
                <a:solidFill>
                  <a:schemeClr val="bg1"/>
                </a:solidFill>
                <a:latin typeface="Arial" panose="020B0604020202020204" pitchFamily="34" charset="0"/>
                <a:ea typeface="MS Mincho" panose="02020609040205080304" pitchFamily="49" charset="-128"/>
                <a:cs typeface="Times New Roman" panose="02020603050405020304" pitchFamily="18" charset="0"/>
              </a:rPr>
              <a:t>Estrategia de Relacionamiento IT-Trail Services</a:t>
            </a:r>
            <a:endParaRPr lang="es-CL" sz="1100" dirty="0">
              <a:solidFill>
                <a:schemeClr val="bg1"/>
              </a:solidFill>
              <a:latin typeface="Cambria" panose="02040503050406030204" pitchFamily="18" charset="0"/>
              <a:ea typeface="MS Mincho" panose="02020609040205080304" pitchFamily="49" charset="-128"/>
              <a:cs typeface="Times New Roman" panose="02020603050405020304" pitchFamily="18" charset="0"/>
            </a:endParaRPr>
          </a:p>
          <a:p>
            <a:pPr marL="171450" indent="-171450">
              <a:buFont typeface="Arial" panose="020B0604020202020204" pitchFamily="34" charset="0"/>
              <a:buChar char="•"/>
              <a:defRPr/>
            </a:pPr>
            <a:endParaRPr lang="es-ES" sz="1100" dirty="0">
              <a:solidFill>
                <a:schemeClr val="bg1"/>
              </a:solidFill>
              <a:latin typeface="Arial" panose="020B0604020202020204" pitchFamily="34" charset="0"/>
              <a:ea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defRPr/>
            </a:pPr>
            <a:r>
              <a:rPr lang="es-ES" sz="1100" dirty="0">
                <a:solidFill>
                  <a:schemeClr val="bg1"/>
                </a:solidFill>
                <a:latin typeface="Arial" panose="020B0604020202020204" pitchFamily="34" charset="0"/>
                <a:ea typeface="Times New Roman" panose="02020603050405020304" pitchFamily="18" charset="0"/>
                <a:cs typeface="Times New Roman" panose="02020603050405020304" pitchFamily="18" charset="0"/>
              </a:rPr>
              <a:t>Desarrollo de una relación de confianza con las Empresas y conectando sus prioridades a través de las capacidades de IT-Trail Services.</a:t>
            </a:r>
          </a:p>
          <a:p>
            <a:pPr marL="171450" indent="-171450">
              <a:buFont typeface="Arial" panose="020B0604020202020204" pitchFamily="34" charset="0"/>
              <a:buChar char="•"/>
              <a:defRPr/>
            </a:pPr>
            <a:endParaRPr lang="es-ES" sz="1100" dirty="0">
              <a:solidFill>
                <a:srgbClr val="000000"/>
              </a:solidFill>
              <a:latin typeface="Arial" panose="020B0604020202020204" pitchFamily="34" charset="0"/>
              <a:ea typeface="MS Mincho" panose="02020609040205080304" pitchFamily="49" charset="-128"/>
              <a:cs typeface="Times New Roman" panose="02020603050405020304" pitchFamily="18" charset="0"/>
            </a:endParaRPr>
          </a:p>
          <a:p>
            <a:pPr algn="just">
              <a:defRPr/>
            </a:pPr>
            <a:endParaRPr lang="es-CL" sz="1000" dirty="0">
              <a:solidFill>
                <a:srgbClr val="000000"/>
              </a:solidFill>
              <a:latin typeface="Cambria" panose="02040503050406030204" pitchFamily="18" charset="0"/>
              <a:ea typeface="MS Mincho" panose="02020609040205080304" pitchFamily="49" charset="-128"/>
              <a:cs typeface="Times New Roman" panose="02020603050405020304" pitchFamily="18" charset="0"/>
            </a:endParaRPr>
          </a:p>
        </p:txBody>
      </p:sp>
      <p:sp>
        <p:nvSpPr>
          <p:cNvPr id="94" name="Rectangle 93">
            <a:extLst>
              <a:ext uri="{FF2B5EF4-FFF2-40B4-BE49-F238E27FC236}">
                <a16:creationId xmlns:a16="http://schemas.microsoft.com/office/drawing/2014/main" id="{B8AA00D5-63A3-9AB7-6633-C9C41B29CA1B}"/>
              </a:ext>
            </a:extLst>
          </p:cNvPr>
          <p:cNvSpPr/>
          <p:nvPr/>
        </p:nvSpPr>
        <p:spPr>
          <a:xfrm>
            <a:off x="9889237" y="2348203"/>
            <a:ext cx="1731019" cy="784830"/>
          </a:xfrm>
          <a:prstGeom prst="rect">
            <a:avLst/>
          </a:prstGeom>
        </p:spPr>
        <p:txBody>
          <a:bodyPr wrap="square" lIns="0" tIns="0" rIns="0" bIns="0" anchor="t">
            <a:spAutoFit/>
          </a:bodyPr>
          <a:lstStyle/>
          <a:p>
            <a:pPr defTabSz="896386">
              <a:defRPr/>
            </a:pPr>
            <a:r>
              <a:rPr lang="en-US" b="1" spc="-50" dirty="0" err="1">
                <a:solidFill>
                  <a:srgbClr val="AADDEE"/>
                </a:solidFill>
              </a:rPr>
              <a:t>Transfomar</a:t>
            </a:r>
            <a:endParaRPr lang="en-US" b="1" spc="-50" dirty="0">
              <a:solidFill>
                <a:srgbClr val="AADDEE"/>
              </a:solidFill>
            </a:endParaRPr>
          </a:p>
          <a:p>
            <a:pPr marL="116205" indent="-116205" defTabSz="896386">
              <a:buFont typeface="Arial" panose="020B0604020202020204" pitchFamily="34" charset="0"/>
              <a:buChar char="•"/>
              <a:defRPr/>
            </a:pPr>
            <a:r>
              <a:rPr lang="es-ES" sz="1100" dirty="0">
                <a:solidFill>
                  <a:schemeClr val="bg1"/>
                </a:solidFill>
                <a:latin typeface="Arial" panose="020B0604020202020204" pitchFamily="34" charset="0"/>
                <a:cs typeface="Times New Roman" panose="02020603050405020304" pitchFamily="18" charset="0"/>
              </a:rPr>
              <a:t>Soporte en la Transformación a largo plazo y mejora continua</a:t>
            </a:r>
            <a:endParaRPr lang="en-US" sz="1100" dirty="0">
              <a:solidFill>
                <a:schemeClr val="bg1"/>
              </a:solidFill>
              <a:latin typeface="Arial" panose="020B0604020202020204" pitchFamily="34" charset="0"/>
              <a:cs typeface="Times New Roman" panose="02020603050405020304" pitchFamily="18" charset="0"/>
            </a:endParaRPr>
          </a:p>
        </p:txBody>
      </p:sp>
      <p:sp>
        <p:nvSpPr>
          <p:cNvPr id="95" name="Rectangle 94">
            <a:extLst>
              <a:ext uri="{FF2B5EF4-FFF2-40B4-BE49-F238E27FC236}">
                <a16:creationId xmlns:a16="http://schemas.microsoft.com/office/drawing/2014/main" id="{21377A1B-8AC6-5F9E-41EB-661816ECC6A6}"/>
              </a:ext>
            </a:extLst>
          </p:cNvPr>
          <p:cNvSpPr/>
          <p:nvPr/>
        </p:nvSpPr>
        <p:spPr>
          <a:xfrm>
            <a:off x="7706367" y="4444804"/>
            <a:ext cx="3133355" cy="964110"/>
          </a:xfrm>
          <a:prstGeom prst="rect">
            <a:avLst/>
          </a:prstGeom>
        </p:spPr>
        <p:txBody>
          <a:bodyPr wrap="square" lIns="0" tIns="0" rIns="0" bIns="0">
            <a:spAutoFit/>
          </a:bodyPr>
          <a:lstStyle/>
          <a:p>
            <a:pPr marL="0" marR="0" lvl="0" indent="0" defTabSz="896386" eaLnBrk="1" fontAlgn="auto" latinLnBrk="0" hangingPunct="1">
              <a:lnSpc>
                <a:spcPct val="100000"/>
              </a:lnSpc>
              <a:spcBef>
                <a:spcPts val="0"/>
              </a:spcBef>
              <a:spcAft>
                <a:spcPts val="0"/>
              </a:spcAft>
              <a:buClrTx/>
              <a:buSzTx/>
              <a:buFontTx/>
              <a:buNone/>
              <a:tabLst/>
              <a:defRPr/>
            </a:pPr>
            <a:r>
              <a:rPr lang="en-US" b="1" spc="-50" dirty="0" err="1">
                <a:solidFill>
                  <a:srgbClr val="AADDEE"/>
                </a:solidFill>
              </a:rPr>
              <a:t>Asistir</a:t>
            </a:r>
            <a:endParaRPr lang="en-US" b="1" spc="-50" dirty="0">
              <a:solidFill>
                <a:srgbClr val="AADDEE"/>
              </a:solidFill>
            </a:endParaRPr>
          </a:p>
          <a:p>
            <a:pPr marL="116706" marR="0" lvl="0" indent="-116706" defTabSz="896386"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100" b="0" i="0" u="none" strike="noStrike" kern="0" cap="none" spc="0" normalizeH="0" baseline="0" noProof="0" dirty="0">
                <a:ln>
                  <a:noFill/>
                </a:ln>
                <a:solidFill>
                  <a:schemeClr val="bg1"/>
                </a:solidFill>
                <a:effectLst/>
                <a:uLnTx/>
                <a:uFillTx/>
                <a:latin typeface="Arial" panose="020B0604020202020204" pitchFamily="34" charset="0"/>
                <a:cs typeface="Times New Roman" panose="02020603050405020304" pitchFamily="18" charset="0"/>
              </a:rPr>
              <a:t>Entrega de Servicios de Ciberseguridad, Asistencia y Soporte en la adopción de capacidades y mejora continua</a:t>
            </a:r>
            <a:endParaRPr kumimoji="0" lang="en-US" sz="1100" b="0" i="0" u="none" strike="noStrike" kern="0" cap="none" spc="0" normalizeH="0" baseline="0" noProof="0" dirty="0">
              <a:ln>
                <a:noFill/>
              </a:ln>
              <a:solidFill>
                <a:schemeClr val="bg1"/>
              </a:solidFill>
              <a:effectLst/>
              <a:uLnTx/>
              <a:uFillTx/>
              <a:latin typeface="Arial" panose="020B0604020202020204" pitchFamily="34" charset="0"/>
              <a:cs typeface="Times New Roman" panose="02020603050405020304" pitchFamily="18" charset="0"/>
            </a:endParaRPr>
          </a:p>
          <a:p>
            <a:pPr marL="116706" marR="0" lvl="0" indent="-116706" defTabSz="896386"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dirty="0">
              <a:ln>
                <a:noFill/>
              </a:ln>
              <a:solidFill>
                <a:schemeClr val="bg1"/>
              </a:solidFill>
              <a:effectLst/>
              <a:uLnTx/>
              <a:uFillTx/>
            </a:endParaRPr>
          </a:p>
        </p:txBody>
      </p:sp>
      <p:grpSp>
        <p:nvGrpSpPr>
          <p:cNvPr id="96" name="Group 95">
            <a:extLst>
              <a:ext uri="{FF2B5EF4-FFF2-40B4-BE49-F238E27FC236}">
                <a16:creationId xmlns:a16="http://schemas.microsoft.com/office/drawing/2014/main" id="{2BB3DDA5-A5FF-D714-67AA-FFC99043B7BF}"/>
              </a:ext>
            </a:extLst>
          </p:cNvPr>
          <p:cNvGrpSpPr/>
          <p:nvPr/>
        </p:nvGrpSpPr>
        <p:grpSpPr>
          <a:xfrm>
            <a:off x="978142" y="2920895"/>
            <a:ext cx="523350" cy="476510"/>
            <a:chOff x="2748863" y="1726395"/>
            <a:chExt cx="830010" cy="755724"/>
          </a:xfrm>
        </p:grpSpPr>
        <p:sp>
          <p:nvSpPr>
            <p:cNvPr id="97" name="heart" title="Icon of a heart">
              <a:extLst>
                <a:ext uri="{FF2B5EF4-FFF2-40B4-BE49-F238E27FC236}">
                  <a16:creationId xmlns:a16="http://schemas.microsoft.com/office/drawing/2014/main" id="{F3EC4468-D987-5B1D-CBA6-94F73BD53D70}"/>
                </a:ext>
              </a:extLst>
            </p:cNvPr>
            <p:cNvSpPr>
              <a:spLocks noChangeAspect="1"/>
            </p:cNvSpPr>
            <p:nvPr/>
          </p:nvSpPr>
          <p:spPr bwMode="auto">
            <a:xfrm>
              <a:off x="2748863" y="1726395"/>
              <a:ext cx="830010" cy="755724"/>
            </a:xfrm>
            <a:custGeom>
              <a:avLst/>
              <a:gdLst>
                <a:gd name="T0" fmla="*/ 164 w 328"/>
                <a:gd name="T1" fmla="*/ 298 h 298"/>
                <a:gd name="T2" fmla="*/ 131 w 328"/>
                <a:gd name="T3" fmla="*/ 265 h 298"/>
                <a:gd name="T4" fmla="*/ 25 w 328"/>
                <a:gd name="T5" fmla="*/ 156 h 298"/>
                <a:gd name="T6" fmla="*/ 26 w 328"/>
                <a:gd name="T7" fmla="*/ 156 h 298"/>
                <a:gd name="T8" fmla="*/ 0 w 328"/>
                <a:gd name="T9" fmla="*/ 92 h 298"/>
                <a:gd name="T10" fmla="*/ 92 w 328"/>
                <a:gd name="T11" fmla="*/ 0 h 298"/>
                <a:gd name="T12" fmla="*/ 164 w 328"/>
                <a:gd name="T13" fmla="*/ 35 h 298"/>
                <a:gd name="T14" fmla="*/ 236 w 328"/>
                <a:gd name="T15" fmla="*/ 0 h 298"/>
                <a:gd name="T16" fmla="*/ 328 w 328"/>
                <a:gd name="T17" fmla="*/ 92 h 298"/>
                <a:gd name="T18" fmla="*/ 302 w 328"/>
                <a:gd name="T19" fmla="*/ 156 h 298"/>
                <a:gd name="T20" fmla="*/ 303 w 328"/>
                <a:gd name="T21" fmla="*/ 156 h 298"/>
                <a:gd name="T22" fmla="*/ 197 w 328"/>
                <a:gd name="T23" fmla="*/ 265 h 298"/>
                <a:gd name="T24" fmla="*/ 164 w 328"/>
                <a:gd name="T25" fmla="*/ 298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298">
                  <a:moveTo>
                    <a:pt x="164" y="298"/>
                  </a:moveTo>
                  <a:cubicBezTo>
                    <a:pt x="131" y="265"/>
                    <a:pt x="131" y="265"/>
                    <a:pt x="131" y="265"/>
                  </a:cubicBezTo>
                  <a:cubicBezTo>
                    <a:pt x="25" y="156"/>
                    <a:pt x="25" y="156"/>
                    <a:pt x="25" y="156"/>
                  </a:cubicBezTo>
                  <a:cubicBezTo>
                    <a:pt x="26" y="156"/>
                    <a:pt x="26" y="156"/>
                    <a:pt x="26" y="156"/>
                  </a:cubicBezTo>
                  <a:cubicBezTo>
                    <a:pt x="10" y="140"/>
                    <a:pt x="0" y="117"/>
                    <a:pt x="0" y="92"/>
                  </a:cubicBezTo>
                  <a:cubicBezTo>
                    <a:pt x="0" y="42"/>
                    <a:pt x="41" y="0"/>
                    <a:pt x="92" y="0"/>
                  </a:cubicBezTo>
                  <a:cubicBezTo>
                    <a:pt x="121" y="0"/>
                    <a:pt x="147" y="14"/>
                    <a:pt x="164" y="35"/>
                  </a:cubicBezTo>
                  <a:cubicBezTo>
                    <a:pt x="181" y="14"/>
                    <a:pt x="207" y="0"/>
                    <a:pt x="236" y="0"/>
                  </a:cubicBezTo>
                  <a:cubicBezTo>
                    <a:pt x="287" y="0"/>
                    <a:pt x="328" y="42"/>
                    <a:pt x="328" y="92"/>
                  </a:cubicBezTo>
                  <a:cubicBezTo>
                    <a:pt x="328" y="117"/>
                    <a:pt x="318" y="140"/>
                    <a:pt x="302" y="156"/>
                  </a:cubicBezTo>
                  <a:cubicBezTo>
                    <a:pt x="303" y="156"/>
                    <a:pt x="303" y="156"/>
                    <a:pt x="303" y="156"/>
                  </a:cubicBezTo>
                  <a:cubicBezTo>
                    <a:pt x="197" y="265"/>
                    <a:pt x="197" y="265"/>
                    <a:pt x="197" y="265"/>
                  </a:cubicBezTo>
                  <a:lnTo>
                    <a:pt x="164" y="298"/>
                  </a:lnTo>
                  <a:close/>
                </a:path>
              </a:pathLst>
            </a:custGeom>
            <a:noFill/>
            <a:ln w="285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ndParaRPr>
            </a:p>
          </p:txBody>
        </p:sp>
        <p:sp>
          <p:nvSpPr>
            <p:cNvPr id="98" name="boy" title="Icon of a man">
              <a:extLst>
                <a:ext uri="{FF2B5EF4-FFF2-40B4-BE49-F238E27FC236}">
                  <a16:creationId xmlns:a16="http://schemas.microsoft.com/office/drawing/2014/main" id="{66E0BDCB-B86E-3394-849A-24D1C068DA66}"/>
                </a:ext>
              </a:extLst>
            </p:cNvPr>
            <p:cNvSpPr>
              <a:spLocks noChangeAspect="1" noEditPoints="1"/>
            </p:cNvSpPr>
            <p:nvPr/>
          </p:nvSpPr>
          <p:spPr bwMode="auto">
            <a:xfrm>
              <a:off x="3018459" y="1871117"/>
              <a:ext cx="290818" cy="378526"/>
            </a:xfrm>
            <a:custGeom>
              <a:avLst/>
              <a:gdLst>
                <a:gd name="T0" fmla="*/ 27 w 261"/>
                <a:gd name="T1" fmla="*/ 104 h 339"/>
                <a:gd name="T2" fmla="*/ 131 w 261"/>
                <a:gd name="T3" fmla="*/ 0 h 339"/>
                <a:gd name="T4" fmla="*/ 235 w 261"/>
                <a:gd name="T5" fmla="*/ 104 h 339"/>
                <a:gd name="T6" fmla="*/ 131 w 261"/>
                <a:gd name="T7" fmla="*/ 208 h 339"/>
                <a:gd name="T8" fmla="*/ 27 w 261"/>
                <a:gd name="T9" fmla="*/ 104 h 339"/>
                <a:gd name="T10" fmla="*/ 261 w 261"/>
                <a:gd name="T11" fmla="*/ 339 h 339"/>
                <a:gd name="T12" fmla="*/ 131 w 261"/>
                <a:gd name="T13" fmla="*/ 208 h 339"/>
                <a:gd name="T14" fmla="*/ 0 w 261"/>
                <a:gd name="T15" fmla="*/ 339 h 339"/>
                <a:gd name="T16" fmla="*/ 74 w 261"/>
                <a:gd name="T17" fmla="*/ 221 h 339"/>
                <a:gd name="T18" fmla="*/ 131 w 261"/>
                <a:gd name="T19" fmla="*/ 274 h 339"/>
                <a:gd name="T20" fmla="*/ 187 w 261"/>
                <a:gd name="T21" fmla="*/ 221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1" h="339">
                  <a:moveTo>
                    <a:pt x="27" y="104"/>
                  </a:moveTo>
                  <a:cubicBezTo>
                    <a:pt x="27" y="47"/>
                    <a:pt x="73" y="0"/>
                    <a:pt x="131" y="0"/>
                  </a:cubicBezTo>
                  <a:cubicBezTo>
                    <a:pt x="188" y="0"/>
                    <a:pt x="235" y="47"/>
                    <a:pt x="235" y="104"/>
                  </a:cubicBezTo>
                  <a:cubicBezTo>
                    <a:pt x="235" y="162"/>
                    <a:pt x="188" y="208"/>
                    <a:pt x="131" y="208"/>
                  </a:cubicBezTo>
                  <a:cubicBezTo>
                    <a:pt x="73" y="208"/>
                    <a:pt x="27" y="162"/>
                    <a:pt x="27" y="104"/>
                  </a:cubicBezTo>
                  <a:close/>
                  <a:moveTo>
                    <a:pt x="261" y="339"/>
                  </a:moveTo>
                  <a:cubicBezTo>
                    <a:pt x="261" y="267"/>
                    <a:pt x="203" y="208"/>
                    <a:pt x="131" y="208"/>
                  </a:cubicBezTo>
                  <a:cubicBezTo>
                    <a:pt x="59" y="208"/>
                    <a:pt x="0" y="267"/>
                    <a:pt x="0" y="339"/>
                  </a:cubicBezTo>
                  <a:moveTo>
                    <a:pt x="74" y="221"/>
                  </a:moveTo>
                  <a:cubicBezTo>
                    <a:pt x="131" y="274"/>
                    <a:pt x="131" y="274"/>
                    <a:pt x="131" y="274"/>
                  </a:cubicBezTo>
                  <a:cubicBezTo>
                    <a:pt x="187" y="221"/>
                    <a:pt x="187" y="221"/>
                    <a:pt x="187" y="221"/>
                  </a:cubicBezTo>
                </a:path>
              </a:pathLst>
            </a:custGeom>
            <a:noFill/>
            <a:ln w="28575"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defTabSz="914367"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Segoe UI"/>
              </a:endParaRPr>
            </a:p>
          </p:txBody>
        </p:sp>
      </p:grpSp>
      <p:pic>
        <p:nvPicPr>
          <p:cNvPr id="99" name="Graphic 98" descr="Classroom">
            <a:extLst>
              <a:ext uri="{FF2B5EF4-FFF2-40B4-BE49-F238E27FC236}">
                <a16:creationId xmlns:a16="http://schemas.microsoft.com/office/drawing/2014/main" id="{02D979A9-BC2C-8EFE-A2CA-25FD2BF1DF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59639" y="4788855"/>
            <a:ext cx="576561" cy="576561"/>
          </a:xfrm>
          <a:prstGeom prst="rect">
            <a:avLst/>
          </a:prstGeom>
        </p:spPr>
      </p:pic>
      <p:grpSp>
        <p:nvGrpSpPr>
          <p:cNvPr id="109" name="Group 108">
            <a:extLst>
              <a:ext uri="{FF2B5EF4-FFF2-40B4-BE49-F238E27FC236}">
                <a16:creationId xmlns:a16="http://schemas.microsoft.com/office/drawing/2014/main" id="{C3EB8A18-BE9E-5E66-8C9B-7F5CF7CAD06B}"/>
              </a:ext>
            </a:extLst>
          </p:cNvPr>
          <p:cNvGrpSpPr/>
          <p:nvPr/>
        </p:nvGrpSpPr>
        <p:grpSpPr>
          <a:xfrm>
            <a:off x="4954391" y="2891409"/>
            <a:ext cx="618493" cy="468631"/>
            <a:chOff x="269129" y="336872"/>
            <a:chExt cx="776287" cy="538163"/>
          </a:xfrm>
          <a:solidFill>
            <a:schemeClr val="bg1"/>
          </a:solidFill>
        </p:grpSpPr>
        <p:sp>
          <p:nvSpPr>
            <p:cNvPr id="110" name="Freeform 26">
              <a:extLst>
                <a:ext uri="{FF2B5EF4-FFF2-40B4-BE49-F238E27FC236}">
                  <a16:creationId xmlns:a16="http://schemas.microsoft.com/office/drawing/2014/main" id="{31A86A9F-7861-1E63-628A-B4914B2B846C}"/>
                </a:ext>
              </a:extLst>
            </p:cNvPr>
            <p:cNvSpPr>
              <a:spLocks/>
            </p:cNvSpPr>
            <p:nvPr/>
          </p:nvSpPr>
          <p:spPr bwMode="auto">
            <a:xfrm>
              <a:off x="337391" y="598809"/>
              <a:ext cx="117475" cy="114300"/>
            </a:xfrm>
            <a:custGeom>
              <a:avLst/>
              <a:gdLst>
                <a:gd name="T0" fmla="*/ 40 w 45"/>
                <a:gd name="T1" fmla="*/ 0 h 44"/>
                <a:gd name="T2" fmla="*/ 0 w 45"/>
                <a:gd name="T3" fmla="*/ 40 h 44"/>
                <a:gd name="T4" fmla="*/ 5 w 45"/>
                <a:gd name="T5" fmla="*/ 44 h 44"/>
                <a:gd name="T6" fmla="*/ 10 w 45"/>
                <a:gd name="T7" fmla="*/ 40 h 44"/>
                <a:gd name="T8" fmla="*/ 40 w 45"/>
                <a:gd name="T9" fmla="*/ 9 h 44"/>
                <a:gd name="T10" fmla="*/ 45 w 45"/>
                <a:gd name="T11" fmla="*/ 4 h 44"/>
                <a:gd name="T12" fmla="*/ 40 w 45"/>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5" h="44">
                  <a:moveTo>
                    <a:pt x="40" y="0"/>
                  </a:moveTo>
                  <a:cubicBezTo>
                    <a:pt x="18" y="0"/>
                    <a:pt x="0" y="18"/>
                    <a:pt x="0" y="40"/>
                  </a:cubicBezTo>
                  <a:cubicBezTo>
                    <a:pt x="0" y="42"/>
                    <a:pt x="2" y="44"/>
                    <a:pt x="5" y="44"/>
                  </a:cubicBezTo>
                  <a:cubicBezTo>
                    <a:pt x="8" y="44"/>
                    <a:pt x="10" y="42"/>
                    <a:pt x="10" y="40"/>
                  </a:cubicBezTo>
                  <a:cubicBezTo>
                    <a:pt x="10" y="23"/>
                    <a:pt x="23" y="9"/>
                    <a:pt x="40" y="9"/>
                  </a:cubicBezTo>
                  <a:cubicBezTo>
                    <a:pt x="43" y="9"/>
                    <a:pt x="45" y="7"/>
                    <a:pt x="45" y="4"/>
                  </a:cubicBezTo>
                  <a:cubicBezTo>
                    <a:pt x="45" y="2"/>
                    <a:pt x="43" y="0"/>
                    <a:pt x="40"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srgbClr val="000000"/>
                </a:solidFill>
                <a:effectLst/>
                <a:uLnTx/>
                <a:uFillTx/>
              </a:endParaRPr>
            </a:p>
          </p:txBody>
        </p:sp>
        <p:sp>
          <p:nvSpPr>
            <p:cNvPr id="111" name="Freeform 27">
              <a:extLst>
                <a:ext uri="{FF2B5EF4-FFF2-40B4-BE49-F238E27FC236}">
                  <a16:creationId xmlns:a16="http://schemas.microsoft.com/office/drawing/2014/main" id="{1EC163BF-7C08-D9E2-09EF-B66CF00FF63A}"/>
                </a:ext>
              </a:extLst>
            </p:cNvPr>
            <p:cNvSpPr>
              <a:spLocks/>
            </p:cNvSpPr>
            <p:nvPr/>
          </p:nvSpPr>
          <p:spPr bwMode="auto">
            <a:xfrm>
              <a:off x="767604" y="598809"/>
              <a:ext cx="115887" cy="114300"/>
            </a:xfrm>
            <a:custGeom>
              <a:avLst/>
              <a:gdLst>
                <a:gd name="T0" fmla="*/ 40 w 44"/>
                <a:gd name="T1" fmla="*/ 0 h 44"/>
                <a:gd name="T2" fmla="*/ 0 w 44"/>
                <a:gd name="T3" fmla="*/ 40 h 44"/>
                <a:gd name="T4" fmla="*/ 5 w 44"/>
                <a:gd name="T5" fmla="*/ 44 h 44"/>
                <a:gd name="T6" fmla="*/ 9 w 44"/>
                <a:gd name="T7" fmla="*/ 40 h 44"/>
                <a:gd name="T8" fmla="*/ 40 w 44"/>
                <a:gd name="T9" fmla="*/ 9 h 44"/>
                <a:gd name="T10" fmla="*/ 44 w 44"/>
                <a:gd name="T11" fmla="*/ 4 h 44"/>
                <a:gd name="T12" fmla="*/ 40 w 44"/>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4" h="44">
                  <a:moveTo>
                    <a:pt x="40" y="0"/>
                  </a:moveTo>
                  <a:cubicBezTo>
                    <a:pt x="18" y="0"/>
                    <a:pt x="0" y="18"/>
                    <a:pt x="0" y="40"/>
                  </a:cubicBezTo>
                  <a:cubicBezTo>
                    <a:pt x="0" y="42"/>
                    <a:pt x="2" y="44"/>
                    <a:pt x="5" y="44"/>
                  </a:cubicBezTo>
                  <a:cubicBezTo>
                    <a:pt x="7" y="44"/>
                    <a:pt x="9" y="42"/>
                    <a:pt x="9" y="40"/>
                  </a:cubicBezTo>
                  <a:cubicBezTo>
                    <a:pt x="9" y="23"/>
                    <a:pt x="23" y="9"/>
                    <a:pt x="40" y="9"/>
                  </a:cubicBezTo>
                  <a:cubicBezTo>
                    <a:pt x="42" y="9"/>
                    <a:pt x="44" y="7"/>
                    <a:pt x="44" y="4"/>
                  </a:cubicBezTo>
                  <a:cubicBezTo>
                    <a:pt x="44" y="2"/>
                    <a:pt x="42" y="0"/>
                    <a:pt x="40"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srgbClr val="000000"/>
                </a:solidFill>
                <a:effectLst/>
                <a:uLnTx/>
                <a:uFillTx/>
              </a:endParaRPr>
            </a:p>
          </p:txBody>
        </p:sp>
        <p:sp>
          <p:nvSpPr>
            <p:cNvPr id="112" name="Freeform 28">
              <a:extLst>
                <a:ext uri="{FF2B5EF4-FFF2-40B4-BE49-F238E27FC236}">
                  <a16:creationId xmlns:a16="http://schemas.microsoft.com/office/drawing/2014/main" id="{C94C14B0-27E0-1463-AB63-1F894604F979}"/>
                </a:ext>
              </a:extLst>
            </p:cNvPr>
            <p:cNvSpPr>
              <a:spLocks/>
            </p:cNvSpPr>
            <p:nvPr/>
          </p:nvSpPr>
          <p:spPr bwMode="auto">
            <a:xfrm>
              <a:off x="383429" y="336872"/>
              <a:ext cx="544512" cy="201613"/>
            </a:xfrm>
            <a:custGeom>
              <a:avLst/>
              <a:gdLst>
                <a:gd name="T0" fmla="*/ 81 w 208"/>
                <a:gd name="T1" fmla="*/ 77 h 77"/>
                <a:gd name="T2" fmla="*/ 128 w 208"/>
                <a:gd name="T3" fmla="*/ 77 h 77"/>
                <a:gd name="T4" fmla="*/ 184 w 208"/>
                <a:gd name="T5" fmla="*/ 52 h 77"/>
                <a:gd name="T6" fmla="*/ 208 w 208"/>
                <a:gd name="T7" fmla="*/ 56 h 77"/>
                <a:gd name="T8" fmla="*/ 181 w 208"/>
                <a:gd name="T9" fmla="*/ 18 h 77"/>
                <a:gd name="T10" fmla="*/ 177 w 208"/>
                <a:gd name="T11" fmla="*/ 11 h 77"/>
                <a:gd name="T12" fmla="*/ 177 w 208"/>
                <a:gd name="T13" fmla="*/ 11 h 77"/>
                <a:gd name="T14" fmla="*/ 177 w 208"/>
                <a:gd name="T15" fmla="*/ 11 h 77"/>
                <a:gd name="T16" fmla="*/ 152 w 208"/>
                <a:gd name="T17" fmla="*/ 0 h 77"/>
                <a:gd name="T18" fmla="*/ 127 w 208"/>
                <a:gd name="T19" fmla="*/ 11 h 77"/>
                <a:gd name="T20" fmla="*/ 82 w 208"/>
                <a:gd name="T21" fmla="*/ 11 h 77"/>
                <a:gd name="T22" fmla="*/ 57 w 208"/>
                <a:gd name="T23" fmla="*/ 0 h 77"/>
                <a:gd name="T24" fmla="*/ 32 w 208"/>
                <a:gd name="T25" fmla="*/ 11 h 77"/>
                <a:gd name="T26" fmla="*/ 32 w 208"/>
                <a:gd name="T27" fmla="*/ 11 h 77"/>
                <a:gd name="T28" fmla="*/ 0 w 208"/>
                <a:gd name="T29" fmla="*/ 56 h 77"/>
                <a:gd name="T30" fmla="*/ 25 w 208"/>
                <a:gd name="T31" fmla="*/ 52 h 77"/>
                <a:gd name="T32" fmla="*/ 81 w 208"/>
                <a:gd name="T3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8" h="77">
                  <a:moveTo>
                    <a:pt x="81" y="77"/>
                  </a:moveTo>
                  <a:cubicBezTo>
                    <a:pt x="128" y="77"/>
                    <a:pt x="128" y="77"/>
                    <a:pt x="128" y="77"/>
                  </a:cubicBezTo>
                  <a:cubicBezTo>
                    <a:pt x="139" y="62"/>
                    <a:pt x="161" y="52"/>
                    <a:pt x="184" y="52"/>
                  </a:cubicBezTo>
                  <a:cubicBezTo>
                    <a:pt x="193" y="52"/>
                    <a:pt x="201" y="53"/>
                    <a:pt x="208" y="56"/>
                  </a:cubicBezTo>
                  <a:cubicBezTo>
                    <a:pt x="181" y="18"/>
                    <a:pt x="181" y="18"/>
                    <a:pt x="181" y="18"/>
                  </a:cubicBezTo>
                  <a:cubicBezTo>
                    <a:pt x="180" y="15"/>
                    <a:pt x="179" y="13"/>
                    <a:pt x="177" y="11"/>
                  </a:cubicBezTo>
                  <a:cubicBezTo>
                    <a:pt x="177" y="11"/>
                    <a:pt x="177" y="11"/>
                    <a:pt x="177" y="11"/>
                  </a:cubicBezTo>
                  <a:cubicBezTo>
                    <a:pt x="177" y="11"/>
                    <a:pt x="177" y="11"/>
                    <a:pt x="177" y="11"/>
                  </a:cubicBezTo>
                  <a:cubicBezTo>
                    <a:pt x="171" y="4"/>
                    <a:pt x="162" y="0"/>
                    <a:pt x="152" y="0"/>
                  </a:cubicBezTo>
                  <a:cubicBezTo>
                    <a:pt x="142" y="0"/>
                    <a:pt x="134" y="4"/>
                    <a:pt x="127" y="11"/>
                  </a:cubicBezTo>
                  <a:cubicBezTo>
                    <a:pt x="82" y="11"/>
                    <a:pt x="82" y="11"/>
                    <a:pt x="82" y="11"/>
                  </a:cubicBezTo>
                  <a:cubicBezTo>
                    <a:pt x="76" y="4"/>
                    <a:pt x="67" y="0"/>
                    <a:pt x="57" y="0"/>
                  </a:cubicBezTo>
                  <a:cubicBezTo>
                    <a:pt x="47" y="0"/>
                    <a:pt x="38" y="4"/>
                    <a:pt x="32" y="11"/>
                  </a:cubicBezTo>
                  <a:cubicBezTo>
                    <a:pt x="32" y="11"/>
                    <a:pt x="32" y="11"/>
                    <a:pt x="32" y="11"/>
                  </a:cubicBezTo>
                  <a:cubicBezTo>
                    <a:pt x="0" y="56"/>
                    <a:pt x="0" y="56"/>
                    <a:pt x="0" y="56"/>
                  </a:cubicBezTo>
                  <a:cubicBezTo>
                    <a:pt x="8" y="53"/>
                    <a:pt x="16" y="52"/>
                    <a:pt x="25" y="52"/>
                  </a:cubicBezTo>
                  <a:cubicBezTo>
                    <a:pt x="48" y="52"/>
                    <a:pt x="70" y="62"/>
                    <a:pt x="81" y="7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srgbClr val="000000"/>
                </a:solidFill>
                <a:effectLst/>
                <a:uLnTx/>
                <a:uFillTx/>
              </a:endParaRPr>
            </a:p>
          </p:txBody>
        </p:sp>
        <p:sp>
          <p:nvSpPr>
            <p:cNvPr id="113" name="Freeform 29">
              <a:extLst>
                <a:ext uri="{FF2B5EF4-FFF2-40B4-BE49-F238E27FC236}">
                  <a16:creationId xmlns:a16="http://schemas.microsoft.com/office/drawing/2014/main" id="{8144E616-F111-2907-D155-18BEBABECA75}"/>
                </a:ext>
              </a:extLst>
            </p:cNvPr>
            <p:cNvSpPr>
              <a:spLocks noEditPoints="1"/>
            </p:cNvSpPr>
            <p:nvPr/>
          </p:nvSpPr>
          <p:spPr bwMode="auto">
            <a:xfrm>
              <a:off x="269129" y="498797"/>
              <a:ext cx="776287" cy="376238"/>
            </a:xfrm>
            <a:custGeom>
              <a:avLst/>
              <a:gdLst>
                <a:gd name="T0" fmla="*/ 280 w 297"/>
                <a:gd name="T1" fmla="*/ 34 h 144"/>
                <a:gd name="T2" fmla="*/ 268 w 297"/>
                <a:gd name="T3" fmla="*/ 17 h 144"/>
                <a:gd name="T4" fmla="*/ 228 w 297"/>
                <a:gd name="T5" fmla="*/ 0 h 144"/>
                <a:gd name="T6" fmla="*/ 179 w 297"/>
                <a:gd name="T7" fmla="*/ 23 h 144"/>
                <a:gd name="T8" fmla="*/ 178 w 297"/>
                <a:gd name="T9" fmla="*/ 25 h 144"/>
                <a:gd name="T10" fmla="*/ 119 w 297"/>
                <a:gd name="T11" fmla="*/ 25 h 144"/>
                <a:gd name="T12" fmla="*/ 118 w 297"/>
                <a:gd name="T13" fmla="*/ 23 h 144"/>
                <a:gd name="T14" fmla="*/ 69 w 297"/>
                <a:gd name="T15" fmla="*/ 0 h 144"/>
                <a:gd name="T16" fmla="*/ 24 w 297"/>
                <a:gd name="T17" fmla="*/ 23 h 144"/>
                <a:gd name="T18" fmla="*/ 23 w 297"/>
                <a:gd name="T19" fmla="*/ 24 h 144"/>
                <a:gd name="T20" fmla="*/ 15 w 297"/>
                <a:gd name="T21" fmla="*/ 36 h 144"/>
                <a:gd name="T22" fmla="*/ 0 w 297"/>
                <a:gd name="T23" fmla="*/ 78 h 144"/>
                <a:gd name="T24" fmla="*/ 66 w 297"/>
                <a:gd name="T25" fmla="*/ 144 h 144"/>
                <a:gd name="T26" fmla="*/ 116 w 297"/>
                <a:gd name="T27" fmla="*/ 121 h 144"/>
                <a:gd name="T28" fmla="*/ 116 w 297"/>
                <a:gd name="T29" fmla="*/ 122 h 144"/>
                <a:gd name="T30" fmla="*/ 117 w 297"/>
                <a:gd name="T31" fmla="*/ 120 h 144"/>
                <a:gd name="T32" fmla="*/ 118 w 297"/>
                <a:gd name="T33" fmla="*/ 120 h 144"/>
                <a:gd name="T34" fmla="*/ 128 w 297"/>
                <a:gd name="T35" fmla="*/ 110 h 144"/>
                <a:gd name="T36" fmla="*/ 149 w 297"/>
                <a:gd name="T37" fmla="*/ 120 h 144"/>
                <a:gd name="T38" fmla="*/ 169 w 297"/>
                <a:gd name="T39" fmla="*/ 110 h 144"/>
                <a:gd name="T40" fmla="*/ 179 w 297"/>
                <a:gd name="T41" fmla="*/ 119 h 144"/>
                <a:gd name="T42" fmla="*/ 180 w 297"/>
                <a:gd name="T43" fmla="*/ 121 h 144"/>
                <a:gd name="T44" fmla="*/ 181 w 297"/>
                <a:gd name="T45" fmla="*/ 122 h 144"/>
                <a:gd name="T46" fmla="*/ 181 w 297"/>
                <a:gd name="T47" fmla="*/ 122 h 144"/>
                <a:gd name="T48" fmla="*/ 231 w 297"/>
                <a:gd name="T49" fmla="*/ 144 h 144"/>
                <a:gd name="T50" fmla="*/ 297 w 297"/>
                <a:gd name="T51" fmla="*/ 78 h 144"/>
                <a:gd name="T52" fmla="*/ 280 w 297"/>
                <a:gd name="T53" fmla="*/ 34 h 144"/>
                <a:gd name="T54" fmla="*/ 66 w 297"/>
                <a:gd name="T55" fmla="*/ 126 h 144"/>
                <a:gd name="T56" fmla="*/ 18 w 297"/>
                <a:gd name="T57" fmla="*/ 78 h 144"/>
                <a:gd name="T58" fmla="*/ 66 w 297"/>
                <a:gd name="T59" fmla="*/ 29 h 144"/>
                <a:gd name="T60" fmla="*/ 115 w 297"/>
                <a:gd name="T61" fmla="*/ 78 h 144"/>
                <a:gd name="T62" fmla="*/ 66 w 297"/>
                <a:gd name="T63" fmla="*/ 126 h 144"/>
                <a:gd name="T64" fmla="*/ 149 w 297"/>
                <a:gd name="T65" fmla="*/ 111 h 144"/>
                <a:gd name="T66" fmla="*/ 132 w 297"/>
                <a:gd name="T67" fmla="*/ 94 h 144"/>
                <a:gd name="T68" fmla="*/ 149 w 297"/>
                <a:gd name="T69" fmla="*/ 78 h 144"/>
                <a:gd name="T70" fmla="*/ 165 w 297"/>
                <a:gd name="T71" fmla="*/ 94 h 144"/>
                <a:gd name="T72" fmla="*/ 149 w 297"/>
                <a:gd name="T73" fmla="*/ 111 h 144"/>
                <a:gd name="T74" fmla="*/ 231 w 297"/>
                <a:gd name="T75" fmla="*/ 126 h 144"/>
                <a:gd name="T76" fmla="*/ 183 w 297"/>
                <a:gd name="T77" fmla="*/ 78 h 144"/>
                <a:gd name="T78" fmla="*/ 231 w 297"/>
                <a:gd name="T79" fmla="*/ 29 h 144"/>
                <a:gd name="T80" fmla="*/ 279 w 297"/>
                <a:gd name="T81" fmla="*/ 78 h 144"/>
                <a:gd name="T82" fmla="*/ 231 w 297"/>
                <a:gd name="T83" fmla="*/ 12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97" h="144">
                  <a:moveTo>
                    <a:pt x="280" y="34"/>
                  </a:moveTo>
                  <a:cubicBezTo>
                    <a:pt x="268" y="17"/>
                    <a:pt x="268" y="17"/>
                    <a:pt x="268" y="17"/>
                  </a:cubicBezTo>
                  <a:cubicBezTo>
                    <a:pt x="259" y="6"/>
                    <a:pt x="244" y="0"/>
                    <a:pt x="228" y="0"/>
                  </a:cubicBezTo>
                  <a:cubicBezTo>
                    <a:pt x="208" y="0"/>
                    <a:pt x="187" y="9"/>
                    <a:pt x="179" y="23"/>
                  </a:cubicBezTo>
                  <a:cubicBezTo>
                    <a:pt x="178" y="25"/>
                    <a:pt x="178" y="25"/>
                    <a:pt x="178" y="25"/>
                  </a:cubicBezTo>
                  <a:cubicBezTo>
                    <a:pt x="119" y="25"/>
                    <a:pt x="119" y="25"/>
                    <a:pt x="119" y="25"/>
                  </a:cubicBezTo>
                  <a:cubicBezTo>
                    <a:pt x="118" y="23"/>
                    <a:pt x="118" y="23"/>
                    <a:pt x="118" y="23"/>
                  </a:cubicBezTo>
                  <a:cubicBezTo>
                    <a:pt x="110" y="9"/>
                    <a:pt x="89" y="0"/>
                    <a:pt x="69" y="0"/>
                  </a:cubicBezTo>
                  <a:cubicBezTo>
                    <a:pt x="50" y="0"/>
                    <a:pt x="33" y="9"/>
                    <a:pt x="24" y="23"/>
                  </a:cubicBezTo>
                  <a:cubicBezTo>
                    <a:pt x="24" y="23"/>
                    <a:pt x="24" y="23"/>
                    <a:pt x="23" y="24"/>
                  </a:cubicBezTo>
                  <a:cubicBezTo>
                    <a:pt x="15" y="36"/>
                    <a:pt x="15" y="36"/>
                    <a:pt x="15" y="36"/>
                  </a:cubicBezTo>
                  <a:cubicBezTo>
                    <a:pt x="5" y="47"/>
                    <a:pt x="0" y="62"/>
                    <a:pt x="0" y="78"/>
                  </a:cubicBezTo>
                  <a:cubicBezTo>
                    <a:pt x="0" y="114"/>
                    <a:pt x="30" y="144"/>
                    <a:pt x="66" y="144"/>
                  </a:cubicBezTo>
                  <a:cubicBezTo>
                    <a:pt x="86" y="144"/>
                    <a:pt x="104" y="135"/>
                    <a:pt x="116" y="121"/>
                  </a:cubicBezTo>
                  <a:cubicBezTo>
                    <a:pt x="116" y="122"/>
                    <a:pt x="116" y="122"/>
                    <a:pt x="116" y="122"/>
                  </a:cubicBezTo>
                  <a:cubicBezTo>
                    <a:pt x="117" y="121"/>
                    <a:pt x="117" y="120"/>
                    <a:pt x="117" y="120"/>
                  </a:cubicBezTo>
                  <a:cubicBezTo>
                    <a:pt x="117" y="120"/>
                    <a:pt x="117" y="120"/>
                    <a:pt x="118" y="120"/>
                  </a:cubicBezTo>
                  <a:cubicBezTo>
                    <a:pt x="121" y="116"/>
                    <a:pt x="124" y="113"/>
                    <a:pt x="128" y="110"/>
                  </a:cubicBezTo>
                  <a:cubicBezTo>
                    <a:pt x="133" y="116"/>
                    <a:pt x="140" y="120"/>
                    <a:pt x="149" y="120"/>
                  </a:cubicBezTo>
                  <a:cubicBezTo>
                    <a:pt x="157" y="120"/>
                    <a:pt x="164" y="116"/>
                    <a:pt x="169" y="110"/>
                  </a:cubicBezTo>
                  <a:cubicBezTo>
                    <a:pt x="173" y="113"/>
                    <a:pt x="176" y="115"/>
                    <a:pt x="179" y="119"/>
                  </a:cubicBezTo>
                  <a:cubicBezTo>
                    <a:pt x="179" y="120"/>
                    <a:pt x="180" y="120"/>
                    <a:pt x="180" y="121"/>
                  </a:cubicBezTo>
                  <a:cubicBezTo>
                    <a:pt x="181" y="121"/>
                    <a:pt x="181" y="121"/>
                    <a:pt x="181" y="122"/>
                  </a:cubicBezTo>
                  <a:cubicBezTo>
                    <a:pt x="181" y="122"/>
                    <a:pt x="181" y="122"/>
                    <a:pt x="181" y="122"/>
                  </a:cubicBezTo>
                  <a:cubicBezTo>
                    <a:pt x="193" y="135"/>
                    <a:pt x="211" y="144"/>
                    <a:pt x="231" y="144"/>
                  </a:cubicBezTo>
                  <a:cubicBezTo>
                    <a:pt x="267" y="144"/>
                    <a:pt x="297" y="114"/>
                    <a:pt x="297" y="78"/>
                  </a:cubicBezTo>
                  <a:cubicBezTo>
                    <a:pt x="297" y="61"/>
                    <a:pt x="291" y="45"/>
                    <a:pt x="280" y="34"/>
                  </a:cubicBezTo>
                  <a:close/>
                  <a:moveTo>
                    <a:pt x="66" y="126"/>
                  </a:moveTo>
                  <a:cubicBezTo>
                    <a:pt x="40" y="126"/>
                    <a:pt x="18" y="104"/>
                    <a:pt x="18" y="78"/>
                  </a:cubicBezTo>
                  <a:cubicBezTo>
                    <a:pt x="18" y="51"/>
                    <a:pt x="40" y="29"/>
                    <a:pt x="66" y="29"/>
                  </a:cubicBezTo>
                  <a:cubicBezTo>
                    <a:pt x="93" y="29"/>
                    <a:pt x="115" y="51"/>
                    <a:pt x="115" y="78"/>
                  </a:cubicBezTo>
                  <a:cubicBezTo>
                    <a:pt x="115" y="104"/>
                    <a:pt x="93" y="126"/>
                    <a:pt x="66" y="126"/>
                  </a:cubicBezTo>
                  <a:close/>
                  <a:moveTo>
                    <a:pt x="149" y="111"/>
                  </a:moveTo>
                  <a:cubicBezTo>
                    <a:pt x="139" y="111"/>
                    <a:pt x="132" y="104"/>
                    <a:pt x="132" y="94"/>
                  </a:cubicBezTo>
                  <a:cubicBezTo>
                    <a:pt x="132" y="85"/>
                    <a:pt x="139" y="78"/>
                    <a:pt x="149" y="78"/>
                  </a:cubicBezTo>
                  <a:cubicBezTo>
                    <a:pt x="158" y="78"/>
                    <a:pt x="165" y="85"/>
                    <a:pt x="165" y="94"/>
                  </a:cubicBezTo>
                  <a:cubicBezTo>
                    <a:pt x="165" y="104"/>
                    <a:pt x="158" y="111"/>
                    <a:pt x="149" y="111"/>
                  </a:cubicBezTo>
                  <a:close/>
                  <a:moveTo>
                    <a:pt x="231" y="126"/>
                  </a:moveTo>
                  <a:cubicBezTo>
                    <a:pt x="204" y="126"/>
                    <a:pt x="183" y="104"/>
                    <a:pt x="183" y="78"/>
                  </a:cubicBezTo>
                  <a:cubicBezTo>
                    <a:pt x="183" y="51"/>
                    <a:pt x="204" y="29"/>
                    <a:pt x="231" y="29"/>
                  </a:cubicBezTo>
                  <a:cubicBezTo>
                    <a:pt x="257" y="29"/>
                    <a:pt x="279" y="51"/>
                    <a:pt x="279" y="78"/>
                  </a:cubicBezTo>
                  <a:cubicBezTo>
                    <a:pt x="279" y="104"/>
                    <a:pt x="257" y="126"/>
                    <a:pt x="231" y="126"/>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srgbClr val="000000"/>
                </a:solidFill>
                <a:effectLst/>
                <a:uLnTx/>
                <a:uFillTx/>
              </a:endParaRPr>
            </a:p>
          </p:txBody>
        </p:sp>
      </p:grpSp>
      <p:grpSp>
        <p:nvGrpSpPr>
          <p:cNvPr id="114" name="Group 113">
            <a:extLst>
              <a:ext uri="{FF2B5EF4-FFF2-40B4-BE49-F238E27FC236}">
                <a16:creationId xmlns:a16="http://schemas.microsoft.com/office/drawing/2014/main" id="{255FC995-D65D-62E1-8952-70572BDF1C6B}"/>
              </a:ext>
            </a:extLst>
          </p:cNvPr>
          <p:cNvGrpSpPr/>
          <p:nvPr/>
        </p:nvGrpSpPr>
        <p:grpSpPr>
          <a:xfrm>
            <a:off x="9042359" y="2953320"/>
            <a:ext cx="452893" cy="445282"/>
            <a:chOff x="377285" y="381098"/>
            <a:chExt cx="718631" cy="706554"/>
          </a:xfrm>
        </p:grpSpPr>
        <p:sp>
          <p:nvSpPr>
            <p:cNvPr id="115" name="arrow_12" title="Icon of a circle made of a curved arrow pointing clockwise">
              <a:extLst>
                <a:ext uri="{FF2B5EF4-FFF2-40B4-BE49-F238E27FC236}">
                  <a16:creationId xmlns:a16="http://schemas.microsoft.com/office/drawing/2014/main" id="{F18F1FC7-D153-586C-318F-F51177D51D65}"/>
                </a:ext>
              </a:extLst>
            </p:cNvPr>
            <p:cNvSpPr>
              <a:spLocks noChangeAspect="1" noEditPoints="1"/>
            </p:cNvSpPr>
            <p:nvPr/>
          </p:nvSpPr>
          <p:spPr bwMode="auto">
            <a:xfrm>
              <a:off x="377285" y="381098"/>
              <a:ext cx="718631" cy="706554"/>
            </a:xfrm>
            <a:custGeom>
              <a:avLst/>
              <a:gdLst>
                <a:gd name="T0" fmla="*/ 209 w 328"/>
                <a:gd name="T1" fmla="*/ 0 h 321"/>
                <a:gd name="T2" fmla="*/ 328 w 328"/>
                <a:gd name="T3" fmla="*/ 157 h 321"/>
                <a:gd name="T4" fmla="*/ 164 w 328"/>
                <a:gd name="T5" fmla="*/ 321 h 321"/>
                <a:gd name="T6" fmla="*/ 0 w 328"/>
                <a:gd name="T7" fmla="*/ 157 h 321"/>
                <a:gd name="T8" fmla="*/ 110 w 328"/>
                <a:gd name="T9" fmla="*/ 2 h 321"/>
                <a:gd name="T10" fmla="*/ 110 w 328"/>
                <a:gd name="T11" fmla="*/ 77 h 321"/>
                <a:gd name="T12" fmla="*/ 110 w 328"/>
                <a:gd name="T13" fmla="*/ 2 h 321"/>
                <a:gd name="T14" fmla="*/ 36 w 328"/>
                <a:gd name="T15" fmla="*/ 2 h 3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8" h="321">
                  <a:moveTo>
                    <a:pt x="209" y="0"/>
                  </a:moveTo>
                  <a:cubicBezTo>
                    <a:pt x="278" y="19"/>
                    <a:pt x="328" y="82"/>
                    <a:pt x="328" y="157"/>
                  </a:cubicBezTo>
                  <a:cubicBezTo>
                    <a:pt x="328" y="248"/>
                    <a:pt x="254" y="321"/>
                    <a:pt x="164" y="321"/>
                  </a:cubicBezTo>
                  <a:cubicBezTo>
                    <a:pt x="73" y="321"/>
                    <a:pt x="0" y="248"/>
                    <a:pt x="0" y="157"/>
                  </a:cubicBezTo>
                  <a:cubicBezTo>
                    <a:pt x="0" y="85"/>
                    <a:pt x="46" y="24"/>
                    <a:pt x="110" y="2"/>
                  </a:cubicBezTo>
                  <a:moveTo>
                    <a:pt x="110" y="77"/>
                  </a:moveTo>
                  <a:cubicBezTo>
                    <a:pt x="110" y="2"/>
                    <a:pt x="110" y="2"/>
                    <a:pt x="110" y="2"/>
                  </a:cubicBezTo>
                  <a:cubicBezTo>
                    <a:pt x="36" y="2"/>
                    <a:pt x="36" y="2"/>
                    <a:pt x="36" y="2"/>
                  </a:cubicBezTo>
                </a:path>
              </a:pathLst>
            </a:custGeom>
            <a:noFill/>
            <a:ln w="19050" cap="sq">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srgbClr val="000000"/>
                </a:solidFill>
                <a:effectLst/>
                <a:uLnTx/>
                <a:uFillTx/>
              </a:endParaRPr>
            </a:p>
          </p:txBody>
        </p:sp>
        <p:sp>
          <p:nvSpPr>
            <p:cNvPr id="116" name="Financial_E7BB" title="Icon of a chart made of vertical lines with a line tracing the top of each, turning into an arrow pointing up">
              <a:extLst>
                <a:ext uri="{FF2B5EF4-FFF2-40B4-BE49-F238E27FC236}">
                  <a16:creationId xmlns:a16="http://schemas.microsoft.com/office/drawing/2014/main" id="{D0347607-7790-2D08-2C71-A02805EC30CF}"/>
                </a:ext>
              </a:extLst>
            </p:cNvPr>
            <p:cNvSpPr>
              <a:spLocks noChangeAspect="1" noEditPoints="1"/>
            </p:cNvSpPr>
            <p:nvPr/>
          </p:nvSpPr>
          <p:spPr bwMode="auto">
            <a:xfrm>
              <a:off x="504009" y="569774"/>
              <a:ext cx="399035" cy="355952"/>
            </a:xfrm>
            <a:custGeom>
              <a:avLst/>
              <a:gdLst>
                <a:gd name="T0" fmla="*/ 47 w 4770"/>
                <a:gd name="T1" fmla="*/ 4255 h 4255"/>
                <a:gd name="T2" fmla="*/ 47 w 4770"/>
                <a:gd name="T3" fmla="*/ 3626 h 4255"/>
                <a:gd name="T4" fmla="*/ 676 w 4770"/>
                <a:gd name="T5" fmla="*/ 4255 h 4255"/>
                <a:gd name="T6" fmla="*/ 676 w 4770"/>
                <a:gd name="T7" fmla="*/ 2996 h 4255"/>
                <a:gd name="T8" fmla="*/ 1306 w 4770"/>
                <a:gd name="T9" fmla="*/ 4255 h 4255"/>
                <a:gd name="T10" fmla="*/ 1306 w 4770"/>
                <a:gd name="T11" fmla="*/ 2366 h 4255"/>
                <a:gd name="T12" fmla="*/ 1935 w 4770"/>
                <a:gd name="T13" fmla="*/ 4255 h 4255"/>
                <a:gd name="T14" fmla="*/ 1935 w 4770"/>
                <a:gd name="T15" fmla="*/ 1736 h 4255"/>
                <a:gd name="T16" fmla="*/ 2564 w 4770"/>
                <a:gd name="T17" fmla="*/ 4255 h 4255"/>
                <a:gd name="T18" fmla="*/ 2564 w 4770"/>
                <a:gd name="T19" fmla="*/ 1736 h 4255"/>
                <a:gd name="T20" fmla="*/ 3194 w 4770"/>
                <a:gd name="T21" fmla="*/ 4255 h 4255"/>
                <a:gd name="T22" fmla="*/ 3194 w 4770"/>
                <a:gd name="T23" fmla="*/ 2361 h 4255"/>
                <a:gd name="T24" fmla="*/ 3823 w 4770"/>
                <a:gd name="T25" fmla="*/ 4255 h 4255"/>
                <a:gd name="T26" fmla="*/ 3823 w 4770"/>
                <a:gd name="T27" fmla="*/ 1736 h 4255"/>
                <a:gd name="T28" fmla="*/ 4453 w 4770"/>
                <a:gd name="T29" fmla="*/ 4255 h 4255"/>
                <a:gd name="T30" fmla="*/ 4453 w 4770"/>
                <a:gd name="T31" fmla="*/ 1424 h 4255"/>
                <a:gd name="T32" fmla="*/ 4760 w 4770"/>
                <a:gd name="T33" fmla="*/ 5 h 4255"/>
                <a:gd name="T34" fmla="*/ 3191 w 4770"/>
                <a:gd name="T35" fmla="*/ 1575 h 4255"/>
                <a:gd name="T36" fmla="*/ 2247 w 4770"/>
                <a:gd name="T37" fmla="*/ 630 h 4255"/>
                <a:gd name="T38" fmla="*/ 0 w 4770"/>
                <a:gd name="T39" fmla="*/ 2879 h 4255"/>
                <a:gd name="T40" fmla="*/ 4770 w 4770"/>
                <a:gd name="T41" fmla="*/ 948 h 4255"/>
                <a:gd name="T42" fmla="*/ 4770 w 4770"/>
                <a:gd name="T43" fmla="*/ 0 h 4255"/>
                <a:gd name="T44" fmla="*/ 3818 w 4770"/>
                <a:gd name="T45" fmla="*/ 0 h 4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770" h="4255">
                  <a:moveTo>
                    <a:pt x="47" y="4255"/>
                  </a:moveTo>
                  <a:lnTo>
                    <a:pt x="47" y="3626"/>
                  </a:lnTo>
                  <a:moveTo>
                    <a:pt x="676" y="4255"/>
                  </a:moveTo>
                  <a:lnTo>
                    <a:pt x="676" y="2996"/>
                  </a:lnTo>
                  <a:moveTo>
                    <a:pt x="1306" y="4255"/>
                  </a:moveTo>
                  <a:lnTo>
                    <a:pt x="1306" y="2366"/>
                  </a:lnTo>
                  <a:moveTo>
                    <a:pt x="1935" y="4255"/>
                  </a:moveTo>
                  <a:lnTo>
                    <a:pt x="1935" y="1736"/>
                  </a:lnTo>
                  <a:moveTo>
                    <a:pt x="2564" y="4255"/>
                  </a:moveTo>
                  <a:lnTo>
                    <a:pt x="2564" y="1736"/>
                  </a:lnTo>
                  <a:moveTo>
                    <a:pt x="3194" y="4255"/>
                  </a:moveTo>
                  <a:lnTo>
                    <a:pt x="3194" y="2361"/>
                  </a:lnTo>
                  <a:moveTo>
                    <a:pt x="3823" y="4255"/>
                  </a:moveTo>
                  <a:lnTo>
                    <a:pt x="3823" y="1736"/>
                  </a:lnTo>
                  <a:moveTo>
                    <a:pt x="4453" y="4255"/>
                  </a:moveTo>
                  <a:lnTo>
                    <a:pt x="4453" y="1424"/>
                  </a:lnTo>
                  <a:moveTo>
                    <a:pt x="4760" y="5"/>
                  </a:moveTo>
                  <a:lnTo>
                    <a:pt x="3191" y="1575"/>
                  </a:lnTo>
                  <a:lnTo>
                    <a:pt x="2247" y="630"/>
                  </a:lnTo>
                  <a:lnTo>
                    <a:pt x="0" y="2879"/>
                  </a:lnTo>
                  <a:moveTo>
                    <a:pt x="4770" y="948"/>
                  </a:moveTo>
                  <a:lnTo>
                    <a:pt x="4770" y="0"/>
                  </a:lnTo>
                  <a:lnTo>
                    <a:pt x="3818" y="0"/>
                  </a:lnTo>
                </a:path>
              </a:pathLst>
            </a:custGeom>
            <a:noFill/>
            <a:ln w="19050" cap="flat">
              <a:solidFill>
                <a:schemeClr val="bg1"/>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srgbClr val="000000"/>
                </a:solidFill>
                <a:effectLst/>
                <a:uLnTx/>
                <a:uFillTx/>
              </a:endParaRPr>
            </a:p>
          </p:txBody>
        </p:sp>
      </p:grpSp>
      <p:sp>
        <p:nvSpPr>
          <p:cNvPr id="117" name="Chevron 9">
            <a:extLst>
              <a:ext uri="{FF2B5EF4-FFF2-40B4-BE49-F238E27FC236}">
                <a16:creationId xmlns:a16="http://schemas.microsoft.com/office/drawing/2014/main" id="{134FBE05-117D-8516-0AC2-C6A6FF19EF67}"/>
              </a:ext>
            </a:extLst>
          </p:cNvPr>
          <p:cNvSpPr/>
          <p:nvPr/>
        </p:nvSpPr>
        <p:spPr bwMode="auto">
          <a:xfrm>
            <a:off x="439558" y="5871872"/>
            <a:ext cx="4347552" cy="500391"/>
          </a:xfrm>
          <a:prstGeom prst="chevron">
            <a:avLst>
              <a:gd name="adj" fmla="val 16589"/>
            </a:avLst>
          </a:prstGeom>
          <a:solidFill>
            <a:schemeClr val="bg2"/>
          </a:solidFill>
          <a:ln>
            <a:noFill/>
          </a:ln>
        </p:spPr>
        <p:txBody>
          <a:bodyPr wrap="square" lIns="0" tIns="0" rIns="0" bIns="0" rtlCol="0" anchor="ctr">
            <a:noAutofit/>
          </a:bodyPr>
          <a:lstStyle/>
          <a:p>
            <a:pPr algn="ctr" defTabSz="914225" fontAlgn="auto">
              <a:spcBef>
                <a:spcPts val="0"/>
              </a:spcBef>
              <a:spcAft>
                <a:spcPts val="0"/>
              </a:spcAft>
            </a:pPr>
            <a:r>
              <a:rPr lang="en-US" sz="1400" kern="0" dirty="0" err="1">
                <a:solidFill>
                  <a:srgbClr val="FFFFFF"/>
                </a:solidFill>
                <a:latin typeface="Arial"/>
                <a:cs typeface="Segoe UI Semibold" panose="020B0702040204020203" pitchFamily="34" charset="0"/>
              </a:rPr>
              <a:t>Preventa</a:t>
            </a:r>
            <a:r>
              <a:rPr lang="en-US" sz="1400" kern="0" dirty="0">
                <a:solidFill>
                  <a:srgbClr val="FFFFFF"/>
                </a:solidFill>
                <a:latin typeface="Arial"/>
                <a:cs typeface="Segoe UI Semibold" panose="020B0702040204020203" pitchFamily="34" charset="0"/>
              </a:rPr>
              <a:t> Técnica e </a:t>
            </a:r>
            <a:r>
              <a:rPr lang="en-US" sz="1400" kern="0" dirty="0" err="1">
                <a:solidFill>
                  <a:srgbClr val="FFFFFF"/>
                </a:solidFill>
                <a:latin typeface="Arial"/>
                <a:cs typeface="Segoe UI Semibold" panose="020B0702040204020203" pitchFamily="34" charset="0"/>
              </a:rPr>
              <a:t>Ideación</a:t>
            </a:r>
            <a:r>
              <a:rPr lang="en-US" sz="1400" kern="0" dirty="0">
                <a:solidFill>
                  <a:srgbClr val="FFFFFF"/>
                </a:solidFill>
                <a:latin typeface="Arial"/>
                <a:cs typeface="Segoe UI Semibold" panose="020B0702040204020203" pitchFamily="34" charset="0"/>
              </a:rPr>
              <a:t> </a:t>
            </a:r>
            <a:endParaRPr lang="es-CL" sz="1400" kern="0" dirty="0">
              <a:solidFill>
                <a:srgbClr val="FFFFFF"/>
              </a:solidFill>
              <a:latin typeface="Arial"/>
              <a:cs typeface="Segoe UI Semibold" panose="020B0702040204020203" pitchFamily="34" charset="0"/>
            </a:endParaRPr>
          </a:p>
        </p:txBody>
      </p:sp>
      <p:sp>
        <p:nvSpPr>
          <p:cNvPr id="118" name="Chevron 9">
            <a:extLst>
              <a:ext uri="{FF2B5EF4-FFF2-40B4-BE49-F238E27FC236}">
                <a16:creationId xmlns:a16="http://schemas.microsoft.com/office/drawing/2014/main" id="{CAF2C994-50A6-B0DF-B800-8C2DF41F1A66}"/>
              </a:ext>
            </a:extLst>
          </p:cNvPr>
          <p:cNvSpPr/>
          <p:nvPr/>
        </p:nvSpPr>
        <p:spPr bwMode="auto">
          <a:xfrm>
            <a:off x="4787110" y="5875960"/>
            <a:ext cx="2977725" cy="500391"/>
          </a:xfrm>
          <a:prstGeom prst="chevron">
            <a:avLst>
              <a:gd name="adj" fmla="val 16589"/>
            </a:avLst>
          </a:prstGeom>
          <a:noFill/>
          <a:ln>
            <a:solidFill>
              <a:schemeClr val="bg1"/>
            </a:solidFill>
          </a:ln>
        </p:spPr>
        <p:txBody>
          <a:bodyPr wrap="square" lIns="0" tIns="0" rIns="0" bIns="0" rtlCol="0" anchor="ctr">
            <a:noAutofit/>
          </a:bodyPr>
          <a:lstStyle/>
          <a:p>
            <a:pPr algn="ctr" defTabSz="914225" fontAlgn="auto">
              <a:spcBef>
                <a:spcPts val="0"/>
              </a:spcBef>
              <a:spcAft>
                <a:spcPts val="0"/>
              </a:spcAft>
            </a:pPr>
            <a:r>
              <a:rPr lang="en-US" sz="1400" kern="0" dirty="0" err="1">
                <a:solidFill>
                  <a:srgbClr val="FFFFFF"/>
                </a:solidFill>
                <a:latin typeface="Arial"/>
                <a:cs typeface="Segoe UI Semibold" panose="020B0702040204020203" pitchFamily="34" charset="0"/>
              </a:rPr>
              <a:t>Evaluación</a:t>
            </a:r>
            <a:r>
              <a:rPr lang="en-US" sz="1400" kern="0" dirty="0">
                <a:solidFill>
                  <a:srgbClr val="FFFFFF"/>
                </a:solidFill>
                <a:latin typeface="Arial"/>
                <a:cs typeface="Segoe UI Semibold" panose="020B0702040204020203" pitchFamily="34" charset="0"/>
              </a:rPr>
              <a:t> y </a:t>
            </a:r>
            <a:r>
              <a:rPr lang="en-US" sz="1400" kern="0" dirty="0" err="1">
                <a:solidFill>
                  <a:srgbClr val="FFFFFF"/>
                </a:solidFill>
                <a:latin typeface="Arial"/>
                <a:cs typeface="Segoe UI Semibold" panose="020B0702040204020203" pitchFamily="34" charset="0"/>
              </a:rPr>
              <a:t>Propuestas</a:t>
            </a:r>
            <a:r>
              <a:rPr lang="en-US" sz="1400" kern="0" dirty="0">
                <a:solidFill>
                  <a:srgbClr val="FFFFFF"/>
                </a:solidFill>
                <a:latin typeface="Arial"/>
                <a:cs typeface="Segoe UI Semibold" panose="020B0702040204020203" pitchFamily="34" charset="0"/>
              </a:rPr>
              <a:t>  </a:t>
            </a:r>
            <a:endParaRPr lang="es-CL" sz="1400" kern="0" dirty="0">
              <a:solidFill>
                <a:srgbClr val="FFFFFF"/>
              </a:solidFill>
              <a:latin typeface="Arial"/>
              <a:cs typeface="Segoe UI Semibold" panose="020B0702040204020203" pitchFamily="34" charset="0"/>
            </a:endParaRPr>
          </a:p>
        </p:txBody>
      </p:sp>
      <p:sp>
        <p:nvSpPr>
          <p:cNvPr id="119" name="Chevron 9">
            <a:extLst>
              <a:ext uri="{FF2B5EF4-FFF2-40B4-BE49-F238E27FC236}">
                <a16:creationId xmlns:a16="http://schemas.microsoft.com/office/drawing/2014/main" id="{EFFE3031-6BFE-A0F2-1374-B2161334E564}"/>
              </a:ext>
            </a:extLst>
          </p:cNvPr>
          <p:cNvSpPr/>
          <p:nvPr/>
        </p:nvSpPr>
        <p:spPr bwMode="auto">
          <a:xfrm>
            <a:off x="7764835" y="5867784"/>
            <a:ext cx="3938716" cy="504479"/>
          </a:xfrm>
          <a:prstGeom prst="chevron">
            <a:avLst>
              <a:gd name="adj" fmla="val 16589"/>
            </a:avLst>
          </a:prstGeom>
          <a:solidFill>
            <a:schemeClr val="bg2"/>
          </a:solidFill>
          <a:ln>
            <a:noFill/>
          </a:ln>
        </p:spPr>
        <p:txBody>
          <a:bodyPr wrap="square" lIns="0" tIns="0" rIns="0" bIns="0" rtlCol="0" anchor="ctr">
            <a:noAutofit/>
          </a:bodyPr>
          <a:lstStyle/>
          <a:p>
            <a:pPr algn="ctr" defTabSz="914225" fontAlgn="auto">
              <a:spcBef>
                <a:spcPts val="0"/>
              </a:spcBef>
              <a:spcAft>
                <a:spcPts val="0"/>
              </a:spcAft>
            </a:pPr>
            <a:r>
              <a:rPr lang="en-US" sz="1400" kern="0" dirty="0" err="1">
                <a:solidFill>
                  <a:srgbClr val="FFFFFF"/>
                </a:solidFill>
                <a:latin typeface="Arial"/>
                <a:cs typeface="Segoe UI Semibold" panose="020B0702040204020203" pitchFamily="34" charset="0"/>
              </a:rPr>
              <a:t>Ejecución</a:t>
            </a:r>
            <a:r>
              <a:rPr lang="en-US" sz="1400" kern="0" dirty="0">
                <a:solidFill>
                  <a:srgbClr val="FFFFFF"/>
                </a:solidFill>
                <a:latin typeface="Arial"/>
                <a:cs typeface="Segoe UI Semibold" panose="020B0702040204020203" pitchFamily="34" charset="0"/>
              </a:rPr>
              <a:t> de Proyectos</a:t>
            </a:r>
            <a:endParaRPr lang="es-CL" sz="1400" kern="0" dirty="0">
              <a:solidFill>
                <a:srgbClr val="FFFFFF"/>
              </a:solidFill>
              <a:latin typeface="Arial"/>
              <a:cs typeface="Segoe UI Semibold" panose="020B0702040204020203" pitchFamily="34" charset="0"/>
            </a:endParaRPr>
          </a:p>
        </p:txBody>
      </p:sp>
      <p:grpSp>
        <p:nvGrpSpPr>
          <p:cNvPr id="124" name="Group 100">
            <a:extLst>
              <a:ext uri="{FF2B5EF4-FFF2-40B4-BE49-F238E27FC236}">
                <a16:creationId xmlns:a16="http://schemas.microsoft.com/office/drawing/2014/main" id="{A32120CD-48C2-385D-ABD0-BEF6387F3B35}"/>
              </a:ext>
            </a:extLst>
          </p:cNvPr>
          <p:cNvGrpSpPr>
            <a:grpSpLocks noChangeAspect="1"/>
          </p:cNvGrpSpPr>
          <p:nvPr/>
        </p:nvGrpSpPr>
        <p:grpSpPr bwMode="auto">
          <a:xfrm>
            <a:off x="6713062" y="4871553"/>
            <a:ext cx="644525" cy="411163"/>
            <a:chOff x="2335" y="2594"/>
            <a:chExt cx="406" cy="259"/>
          </a:xfrm>
        </p:grpSpPr>
        <p:sp>
          <p:nvSpPr>
            <p:cNvPr id="125" name="AutoShape 99">
              <a:extLst>
                <a:ext uri="{FF2B5EF4-FFF2-40B4-BE49-F238E27FC236}">
                  <a16:creationId xmlns:a16="http://schemas.microsoft.com/office/drawing/2014/main" id="{9E03F465-7639-7100-9E4B-37C5C9B88011}"/>
                </a:ext>
              </a:extLst>
            </p:cNvPr>
            <p:cNvSpPr>
              <a:spLocks noChangeAspect="1" noChangeArrowheads="1" noTextEdit="1"/>
            </p:cNvSpPr>
            <p:nvPr/>
          </p:nvSpPr>
          <p:spPr bwMode="auto">
            <a:xfrm>
              <a:off x="2335" y="2594"/>
              <a:ext cx="406"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26" name="Freeform 101">
              <a:extLst>
                <a:ext uri="{FF2B5EF4-FFF2-40B4-BE49-F238E27FC236}">
                  <a16:creationId xmlns:a16="http://schemas.microsoft.com/office/drawing/2014/main" id="{017EFA85-0E1A-66FB-E2A9-9E92AC89ECD7}"/>
                </a:ext>
              </a:extLst>
            </p:cNvPr>
            <p:cNvSpPr>
              <a:spLocks noEditPoints="1"/>
            </p:cNvSpPr>
            <p:nvPr/>
          </p:nvSpPr>
          <p:spPr bwMode="auto">
            <a:xfrm>
              <a:off x="2441" y="2594"/>
              <a:ext cx="299" cy="258"/>
            </a:xfrm>
            <a:custGeom>
              <a:avLst/>
              <a:gdLst>
                <a:gd name="T0" fmla="*/ 351 w 351"/>
                <a:gd name="T1" fmla="*/ 236 h 302"/>
                <a:gd name="T2" fmla="*/ 344 w 351"/>
                <a:gd name="T3" fmla="*/ 237 h 302"/>
                <a:gd name="T4" fmla="*/ 351 w 351"/>
                <a:gd name="T5" fmla="*/ 236 h 302"/>
                <a:gd name="T6" fmla="*/ 321 w 351"/>
                <a:gd name="T7" fmla="*/ 165 h 302"/>
                <a:gd name="T8" fmla="*/ 293 w 351"/>
                <a:gd name="T9" fmla="*/ 144 h 302"/>
                <a:gd name="T10" fmla="*/ 283 w 351"/>
                <a:gd name="T11" fmla="*/ 140 h 302"/>
                <a:gd name="T12" fmla="*/ 298 w 351"/>
                <a:gd name="T13" fmla="*/ 129 h 302"/>
                <a:gd name="T14" fmla="*/ 314 w 351"/>
                <a:gd name="T15" fmla="*/ 90 h 302"/>
                <a:gd name="T16" fmla="*/ 298 w 351"/>
                <a:gd name="T17" fmla="*/ 50 h 302"/>
                <a:gd name="T18" fmla="*/ 258 w 351"/>
                <a:gd name="T19" fmla="*/ 34 h 302"/>
                <a:gd name="T20" fmla="*/ 219 w 351"/>
                <a:gd name="T21" fmla="*/ 50 h 302"/>
                <a:gd name="T22" fmla="*/ 203 w 351"/>
                <a:gd name="T23" fmla="*/ 90 h 302"/>
                <a:gd name="T24" fmla="*/ 219 w 351"/>
                <a:gd name="T25" fmla="*/ 129 h 302"/>
                <a:gd name="T26" fmla="*/ 234 w 351"/>
                <a:gd name="T27" fmla="*/ 140 h 302"/>
                <a:gd name="T28" fmla="*/ 224 w 351"/>
                <a:gd name="T29" fmla="*/ 144 h 302"/>
                <a:gd name="T30" fmla="*/ 200 w 351"/>
                <a:gd name="T31" fmla="*/ 160 h 302"/>
                <a:gd name="T32" fmla="*/ 209 w 351"/>
                <a:gd name="T33" fmla="*/ 171 h 302"/>
                <a:gd name="T34" fmla="*/ 230 w 351"/>
                <a:gd name="T35" fmla="*/ 156 h 302"/>
                <a:gd name="T36" fmla="*/ 258 w 351"/>
                <a:gd name="T37" fmla="*/ 149 h 302"/>
                <a:gd name="T38" fmla="*/ 287 w 351"/>
                <a:gd name="T39" fmla="*/ 156 h 302"/>
                <a:gd name="T40" fmla="*/ 321 w 351"/>
                <a:gd name="T41" fmla="*/ 187 h 302"/>
                <a:gd name="T42" fmla="*/ 338 w 351"/>
                <a:gd name="T43" fmla="*/ 237 h 302"/>
                <a:gd name="T44" fmla="*/ 338 w 351"/>
                <a:gd name="T45" fmla="*/ 237 h 302"/>
                <a:gd name="T46" fmla="*/ 338 w 351"/>
                <a:gd name="T47" fmla="*/ 238 h 302"/>
                <a:gd name="T48" fmla="*/ 337 w 351"/>
                <a:gd name="T49" fmla="*/ 241 h 302"/>
                <a:gd name="T50" fmla="*/ 335 w 351"/>
                <a:gd name="T51" fmla="*/ 243 h 302"/>
                <a:gd name="T52" fmla="*/ 335 w 351"/>
                <a:gd name="T53" fmla="*/ 244 h 302"/>
                <a:gd name="T54" fmla="*/ 258 w 351"/>
                <a:gd name="T55" fmla="*/ 264 h 302"/>
                <a:gd name="T56" fmla="*/ 240 w 351"/>
                <a:gd name="T57" fmla="*/ 263 h 302"/>
                <a:gd name="T58" fmla="*/ 236 w 351"/>
                <a:gd name="T59" fmla="*/ 275 h 302"/>
                <a:gd name="T60" fmla="*/ 235 w 351"/>
                <a:gd name="T61" fmla="*/ 276 h 302"/>
                <a:gd name="T62" fmla="*/ 258 w 351"/>
                <a:gd name="T63" fmla="*/ 278 h 302"/>
                <a:gd name="T64" fmla="*/ 341 w 351"/>
                <a:gd name="T65" fmla="*/ 255 h 302"/>
                <a:gd name="T66" fmla="*/ 346 w 351"/>
                <a:gd name="T67" fmla="*/ 252 h 302"/>
                <a:gd name="T68" fmla="*/ 349 w 351"/>
                <a:gd name="T69" fmla="*/ 245 h 302"/>
                <a:gd name="T70" fmla="*/ 351 w 351"/>
                <a:gd name="T71" fmla="*/ 238 h 302"/>
                <a:gd name="T72" fmla="*/ 351 w 351"/>
                <a:gd name="T73" fmla="*/ 236 h 302"/>
                <a:gd name="T74" fmla="*/ 228 w 351"/>
                <a:gd name="T75" fmla="*/ 120 h 302"/>
                <a:gd name="T76" fmla="*/ 216 w 351"/>
                <a:gd name="T77" fmla="*/ 90 h 302"/>
                <a:gd name="T78" fmla="*/ 228 w 351"/>
                <a:gd name="T79" fmla="*/ 59 h 302"/>
                <a:gd name="T80" fmla="*/ 258 w 351"/>
                <a:gd name="T81" fmla="*/ 47 h 302"/>
                <a:gd name="T82" fmla="*/ 288 w 351"/>
                <a:gd name="T83" fmla="*/ 59 h 302"/>
                <a:gd name="T84" fmla="*/ 301 w 351"/>
                <a:gd name="T85" fmla="*/ 90 h 302"/>
                <a:gd name="T86" fmla="*/ 288 w 351"/>
                <a:gd name="T87" fmla="*/ 120 h 302"/>
                <a:gd name="T88" fmla="*/ 258 w 351"/>
                <a:gd name="T89" fmla="*/ 132 h 302"/>
                <a:gd name="T90" fmla="*/ 228 w 351"/>
                <a:gd name="T91" fmla="*/ 120 h 302"/>
                <a:gd name="T92" fmla="*/ 113 w 351"/>
                <a:gd name="T93" fmla="*/ 129 h 302"/>
                <a:gd name="T94" fmla="*/ 178 w 351"/>
                <a:gd name="T95" fmla="*/ 64 h 302"/>
                <a:gd name="T96" fmla="*/ 113 w 351"/>
                <a:gd name="T97" fmla="*/ 0 h 302"/>
                <a:gd name="T98" fmla="*/ 49 w 351"/>
                <a:gd name="T99" fmla="*/ 64 h 302"/>
                <a:gd name="T100" fmla="*/ 113 w 351"/>
                <a:gd name="T101" fmla="*/ 129 h 302"/>
                <a:gd name="T102" fmla="*/ 113 w 351"/>
                <a:gd name="T103" fmla="*/ 133 h 302"/>
                <a:gd name="T104" fmla="*/ 1 w 351"/>
                <a:gd name="T105" fmla="*/ 257 h 302"/>
                <a:gd name="T106" fmla="*/ 9 w 351"/>
                <a:gd name="T107" fmla="*/ 274 h 302"/>
                <a:gd name="T108" fmla="*/ 113 w 351"/>
                <a:gd name="T109" fmla="*/ 302 h 302"/>
                <a:gd name="T110" fmla="*/ 218 w 351"/>
                <a:gd name="T111" fmla="*/ 274 h 302"/>
                <a:gd name="T112" fmla="*/ 226 w 351"/>
                <a:gd name="T113" fmla="*/ 257 h 302"/>
                <a:gd name="T114" fmla="*/ 113 w 351"/>
                <a:gd name="T115" fmla="*/ 133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1" h="302">
                  <a:moveTo>
                    <a:pt x="351" y="236"/>
                  </a:moveTo>
                  <a:cubicBezTo>
                    <a:pt x="344" y="237"/>
                    <a:pt x="344" y="237"/>
                    <a:pt x="344" y="237"/>
                  </a:cubicBezTo>
                  <a:cubicBezTo>
                    <a:pt x="351" y="236"/>
                    <a:pt x="351" y="236"/>
                    <a:pt x="351" y="236"/>
                  </a:cubicBezTo>
                  <a:cubicBezTo>
                    <a:pt x="348" y="208"/>
                    <a:pt x="338" y="183"/>
                    <a:pt x="321" y="165"/>
                  </a:cubicBezTo>
                  <a:cubicBezTo>
                    <a:pt x="313" y="156"/>
                    <a:pt x="303" y="149"/>
                    <a:pt x="293" y="144"/>
                  </a:cubicBezTo>
                  <a:cubicBezTo>
                    <a:pt x="290" y="142"/>
                    <a:pt x="286" y="141"/>
                    <a:pt x="283" y="140"/>
                  </a:cubicBezTo>
                  <a:cubicBezTo>
                    <a:pt x="289" y="137"/>
                    <a:pt x="294" y="133"/>
                    <a:pt x="298" y="129"/>
                  </a:cubicBezTo>
                  <a:cubicBezTo>
                    <a:pt x="308" y="119"/>
                    <a:pt x="314" y="105"/>
                    <a:pt x="314" y="90"/>
                  </a:cubicBezTo>
                  <a:cubicBezTo>
                    <a:pt x="314" y="74"/>
                    <a:pt x="308" y="60"/>
                    <a:pt x="298" y="50"/>
                  </a:cubicBezTo>
                  <a:cubicBezTo>
                    <a:pt x="288" y="40"/>
                    <a:pt x="274" y="34"/>
                    <a:pt x="258" y="34"/>
                  </a:cubicBezTo>
                  <a:cubicBezTo>
                    <a:pt x="243" y="34"/>
                    <a:pt x="229" y="40"/>
                    <a:pt x="219" y="50"/>
                  </a:cubicBezTo>
                  <a:cubicBezTo>
                    <a:pt x="209" y="60"/>
                    <a:pt x="203" y="74"/>
                    <a:pt x="203" y="90"/>
                  </a:cubicBezTo>
                  <a:cubicBezTo>
                    <a:pt x="203" y="105"/>
                    <a:pt x="209" y="119"/>
                    <a:pt x="219" y="129"/>
                  </a:cubicBezTo>
                  <a:cubicBezTo>
                    <a:pt x="223" y="133"/>
                    <a:pt x="228" y="137"/>
                    <a:pt x="234" y="140"/>
                  </a:cubicBezTo>
                  <a:cubicBezTo>
                    <a:pt x="230" y="141"/>
                    <a:pt x="227" y="142"/>
                    <a:pt x="224" y="144"/>
                  </a:cubicBezTo>
                  <a:cubicBezTo>
                    <a:pt x="215" y="148"/>
                    <a:pt x="207" y="153"/>
                    <a:pt x="200" y="160"/>
                  </a:cubicBezTo>
                  <a:cubicBezTo>
                    <a:pt x="203" y="164"/>
                    <a:pt x="206" y="167"/>
                    <a:pt x="209" y="171"/>
                  </a:cubicBezTo>
                  <a:cubicBezTo>
                    <a:pt x="215" y="164"/>
                    <a:pt x="222" y="159"/>
                    <a:pt x="230" y="156"/>
                  </a:cubicBezTo>
                  <a:cubicBezTo>
                    <a:pt x="239" y="151"/>
                    <a:pt x="248" y="149"/>
                    <a:pt x="258" y="149"/>
                  </a:cubicBezTo>
                  <a:cubicBezTo>
                    <a:pt x="268" y="149"/>
                    <a:pt x="278" y="151"/>
                    <a:pt x="287" y="156"/>
                  </a:cubicBezTo>
                  <a:cubicBezTo>
                    <a:pt x="301" y="162"/>
                    <a:pt x="312" y="173"/>
                    <a:pt x="321" y="187"/>
                  </a:cubicBezTo>
                  <a:cubicBezTo>
                    <a:pt x="330" y="201"/>
                    <a:pt x="336" y="218"/>
                    <a:pt x="338" y="237"/>
                  </a:cubicBezTo>
                  <a:cubicBezTo>
                    <a:pt x="338" y="237"/>
                    <a:pt x="338" y="237"/>
                    <a:pt x="338" y="237"/>
                  </a:cubicBezTo>
                  <a:cubicBezTo>
                    <a:pt x="338" y="237"/>
                    <a:pt x="338" y="238"/>
                    <a:pt x="338" y="238"/>
                  </a:cubicBezTo>
                  <a:cubicBezTo>
                    <a:pt x="338" y="238"/>
                    <a:pt x="337" y="240"/>
                    <a:pt x="337" y="241"/>
                  </a:cubicBezTo>
                  <a:cubicBezTo>
                    <a:pt x="336" y="242"/>
                    <a:pt x="336" y="243"/>
                    <a:pt x="335" y="243"/>
                  </a:cubicBezTo>
                  <a:cubicBezTo>
                    <a:pt x="335" y="243"/>
                    <a:pt x="335" y="244"/>
                    <a:pt x="335" y="244"/>
                  </a:cubicBezTo>
                  <a:cubicBezTo>
                    <a:pt x="314" y="257"/>
                    <a:pt x="287" y="264"/>
                    <a:pt x="258" y="264"/>
                  </a:cubicBezTo>
                  <a:cubicBezTo>
                    <a:pt x="252" y="264"/>
                    <a:pt x="246" y="264"/>
                    <a:pt x="240" y="263"/>
                  </a:cubicBezTo>
                  <a:cubicBezTo>
                    <a:pt x="239" y="267"/>
                    <a:pt x="238" y="271"/>
                    <a:pt x="236" y="275"/>
                  </a:cubicBezTo>
                  <a:cubicBezTo>
                    <a:pt x="236" y="275"/>
                    <a:pt x="236" y="276"/>
                    <a:pt x="235" y="276"/>
                  </a:cubicBezTo>
                  <a:cubicBezTo>
                    <a:pt x="243" y="277"/>
                    <a:pt x="251" y="278"/>
                    <a:pt x="258" y="278"/>
                  </a:cubicBezTo>
                  <a:cubicBezTo>
                    <a:pt x="290" y="278"/>
                    <a:pt x="319" y="269"/>
                    <a:pt x="341" y="255"/>
                  </a:cubicBezTo>
                  <a:cubicBezTo>
                    <a:pt x="343" y="254"/>
                    <a:pt x="344" y="253"/>
                    <a:pt x="346" y="252"/>
                  </a:cubicBezTo>
                  <a:cubicBezTo>
                    <a:pt x="347" y="250"/>
                    <a:pt x="349" y="248"/>
                    <a:pt x="349" y="245"/>
                  </a:cubicBezTo>
                  <a:cubicBezTo>
                    <a:pt x="350" y="243"/>
                    <a:pt x="351" y="240"/>
                    <a:pt x="351" y="238"/>
                  </a:cubicBezTo>
                  <a:cubicBezTo>
                    <a:pt x="351" y="237"/>
                    <a:pt x="351" y="237"/>
                    <a:pt x="351" y="236"/>
                  </a:cubicBezTo>
                  <a:close/>
                  <a:moveTo>
                    <a:pt x="228" y="120"/>
                  </a:moveTo>
                  <a:cubicBezTo>
                    <a:pt x="221" y="112"/>
                    <a:pt x="216" y="101"/>
                    <a:pt x="216" y="90"/>
                  </a:cubicBezTo>
                  <a:cubicBezTo>
                    <a:pt x="216" y="78"/>
                    <a:pt x="221" y="67"/>
                    <a:pt x="228" y="59"/>
                  </a:cubicBezTo>
                  <a:cubicBezTo>
                    <a:pt x="236" y="52"/>
                    <a:pt x="247" y="47"/>
                    <a:pt x="258" y="47"/>
                  </a:cubicBezTo>
                  <a:cubicBezTo>
                    <a:pt x="270" y="47"/>
                    <a:pt x="281" y="52"/>
                    <a:pt x="288" y="59"/>
                  </a:cubicBezTo>
                  <a:cubicBezTo>
                    <a:pt x="296" y="67"/>
                    <a:pt x="301" y="78"/>
                    <a:pt x="301" y="90"/>
                  </a:cubicBezTo>
                  <a:cubicBezTo>
                    <a:pt x="301" y="101"/>
                    <a:pt x="296" y="112"/>
                    <a:pt x="288" y="120"/>
                  </a:cubicBezTo>
                  <a:cubicBezTo>
                    <a:pt x="281" y="127"/>
                    <a:pt x="270" y="132"/>
                    <a:pt x="258" y="132"/>
                  </a:cubicBezTo>
                  <a:cubicBezTo>
                    <a:pt x="247" y="132"/>
                    <a:pt x="236" y="127"/>
                    <a:pt x="228" y="120"/>
                  </a:cubicBezTo>
                  <a:close/>
                  <a:moveTo>
                    <a:pt x="113" y="129"/>
                  </a:moveTo>
                  <a:cubicBezTo>
                    <a:pt x="149" y="129"/>
                    <a:pt x="178" y="100"/>
                    <a:pt x="178" y="64"/>
                  </a:cubicBezTo>
                  <a:cubicBezTo>
                    <a:pt x="178" y="29"/>
                    <a:pt x="149" y="0"/>
                    <a:pt x="113" y="0"/>
                  </a:cubicBezTo>
                  <a:cubicBezTo>
                    <a:pt x="78" y="0"/>
                    <a:pt x="49" y="29"/>
                    <a:pt x="49" y="64"/>
                  </a:cubicBezTo>
                  <a:cubicBezTo>
                    <a:pt x="49" y="100"/>
                    <a:pt x="78" y="129"/>
                    <a:pt x="113" y="129"/>
                  </a:cubicBezTo>
                  <a:close/>
                  <a:moveTo>
                    <a:pt x="113" y="133"/>
                  </a:moveTo>
                  <a:cubicBezTo>
                    <a:pt x="55" y="133"/>
                    <a:pt x="7" y="187"/>
                    <a:pt x="1" y="257"/>
                  </a:cubicBezTo>
                  <a:cubicBezTo>
                    <a:pt x="0" y="263"/>
                    <a:pt x="4" y="271"/>
                    <a:pt x="9" y="274"/>
                  </a:cubicBezTo>
                  <a:cubicBezTo>
                    <a:pt x="38" y="291"/>
                    <a:pt x="74" y="302"/>
                    <a:pt x="113" y="302"/>
                  </a:cubicBezTo>
                  <a:cubicBezTo>
                    <a:pt x="153" y="302"/>
                    <a:pt x="189" y="291"/>
                    <a:pt x="218" y="274"/>
                  </a:cubicBezTo>
                  <a:cubicBezTo>
                    <a:pt x="223" y="271"/>
                    <a:pt x="226" y="263"/>
                    <a:pt x="226" y="257"/>
                  </a:cubicBezTo>
                  <a:cubicBezTo>
                    <a:pt x="220" y="187"/>
                    <a:pt x="172" y="133"/>
                    <a:pt x="113" y="1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27" name="Freeform 102">
              <a:extLst>
                <a:ext uri="{FF2B5EF4-FFF2-40B4-BE49-F238E27FC236}">
                  <a16:creationId xmlns:a16="http://schemas.microsoft.com/office/drawing/2014/main" id="{8A01E7DF-DC08-0B1B-A14A-774AD9598F45}"/>
                </a:ext>
              </a:extLst>
            </p:cNvPr>
            <p:cNvSpPr>
              <a:spLocks noEditPoints="1"/>
            </p:cNvSpPr>
            <p:nvPr/>
          </p:nvSpPr>
          <p:spPr bwMode="auto">
            <a:xfrm>
              <a:off x="2335" y="2594"/>
              <a:ext cx="298" cy="258"/>
            </a:xfrm>
            <a:custGeom>
              <a:avLst/>
              <a:gdLst>
                <a:gd name="T0" fmla="*/ 0 w 350"/>
                <a:gd name="T1" fmla="*/ 238 h 302"/>
                <a:gd name="T2" fmla="*/ 1 w 350"/>
                <a:gd name="T3" fmla="*/ 245 h 302"/>
                <a:gd name="T4" fmla="*/ 5 w 350"/>
                <a:gd name="T5" fmla="*/ 252 h 302"/>
                <a:gd name="T6" fmla="*/ 9 w 350"/>
                <a:gd name="T7" fmla="*/ 255 h 302"/>
                <a:gd name="T8" fmla="*/ 92 w 350"/>
                <a:gd name="T9" fmla="*/ 278 h 302"/>
                <a:gd name="T10" fmla="*/ 115 w 350"/>
                <a:gd name="T11" fmla="*/ 276 h 302"/>
                <a:gd name="T12" fmla="*/ 115 w 350"/>
                <a:gd name="T13" fmla="*/ 275 h 302"/>
                <a:gd name="T14" fmla="*/ 111 w 350"/>
                <a:gd name="T15" fmla="*/ 263 h 302"/>
                <a:gd name="T16" fmla="*/ 92 w 350"/>
                <a:gd name="T17" fmla="*/ 264 h 302"/>
                <a:gd name="T18" fmla="*/ 16 w 350"/>
                <a:gd name="T19" fmla="*/ 244 h 302"/>
                <a:gd name="T20" fmla="*/ 15 w 350"/>
                <a:gd name="T21" fmla="*/ 243 h 302"/>
                <a:gd name="T22" fmla="*/ 14 w 350"/>
                <a:gd name="T23" fmla="*/ 241 h 302"/>
                <a:gd name="T24" fmla="*/ 13 w 350"/>
                <a:gd name="T25" fmla="*/ 238 h 302"/>
                <a:gd name="T26" fmla="*/ 13 w 350"/>
                <a:gd name="T27" fmla="*/ 237 h 302"/>
                <a:gd name="T28" fmla="*/ 13 w 350"/>
                <a:gd name="T29" fmla="*/ 237 h 302"/>
                <a:gd name="T30" fmla="*/ 29 w 350"/>
                <a:gd name="T31" fmla="*/ 187 h 302"/>
                <a:gd name="T32" fmla="*/ 63 w 350"/>
                <a:gd name="T33" fmla="*/ 156 h 302"/>
                <a:gd name="T34" fmla="*/ 92 w 350"/>
                <a:gd name="T35" fmla="*/ 149 h 302"/>
                <a:gd name="T36" fmla="*/ 121 w 350"/>
                <a:gd name="T37" fmla="*/ 156 h 302"/>
                <a:gd name="T38" fmla="*/ 142 w 350"/>
                <a:gd name="T39" fmla="*/ 171 h 302"/>
                <a:gd name="T40" fmla="*/ 150 w 350"/>
                <a:gd name="T41" fmla="*/ 160 h 302"/>
                <a:gd name="T42" fmla="*/ 127 w 350"/>
                <a:gd name="T43" fmla="*/ 144 h 302"/>
                <a:gd name="T44" fmla="*/ 117 w 350"/>
                <a:gd name="T45" fmla="*/ 140 h 302"/>
                <a:gd name="T46" fmla="*/ 132 w 350"/>
                <a:gd name="T47" fmla="*/ 129 h 302"/>
                <a:gd name="T48" fmla="*/ 148 w 350"/>
                <a:gd name="T49" fmla="*/ 90 h 302"/>
                <a:gd name="T50" fmla="*/ 132 w 350"/>
                <a:gd name="T51" fmla="*/ 50 h 302"/>
                <a:gd name="T52" fmla="*/ 92 w 350"/>
                <a:gd name="T53" fmla="*/ 34 h 302"/>
                <a:gd name="T54" fmla="*/ 53 w 350"/>
                <a:gd name="T55" fmla="*/ 50 h 302"/>
                <a:gd name="T56" fmla="*/ 36 w 350"/>
                <a:gd name="T57" fmla="*/ 90 h 302"/>
                <a:gd name="T58" fmla="*/ 53 w 350"/>
                <a:gd name="T59" fmla="*/ 129 h 302"/>
                <a:gd name="T60" fmla="*/ 67 w 350"/>
                <a:gd name="T61" fmla="*/ 140 h 302"/>
                <a:gd name="T62" fmla="*/ 58 w 350"/>
                <a:gd name="T63" fmla="*/ 144 h 302"/>
                <a:gd name="T64" fmla="*/ 29 w 350"/>
                <a:gd name="T65" fmla="*/ 165 h 302"/>
                <a:gd name="T66" fmla="*/ 0 w 350"/>
                <a:gd name="T67" fmla="*/ 236 h 302"/>
                <a:gd name="T68" fmla="*/ 6 w 350"/>
                <a:gd name="T69" fmla="*/ 237 h 302"/>
                <a:gd name="T70" fmla="*/ 0 w 350"/>
                <a:gd name="T71" fmla="*/ 236 h 302"/>
                <a:gd name="T72" fmla="*/ 0 w 350"/>
                <a:gd name="T73" fmla="*/ 238 h 302"/>
                <a:gd name="T74" fmla="*/ 92 w 350"/>
                <a:gd name="T75" fmla="*/ 132 h 302"/>
                <a:gd name="T76" fmla="*/ 62 w 350"/>
                <a:gd name="T77" fmla="*/ 120 h 302"/>
                <a:gd name="T78" fmla="*/ 50 w 350"/>
                <a:gd name="T79" fmla="*/ 90 h 302"/>
                <a:gd name="T80" fmla="*/ 62 w 350"/>
                <a:gd name="T81" fmla="*/ 59 h 302"/>
                <a:gd name="T82" fmla="*/ 92 w 350"/>
                <a:gd name="T83" fmla="*/ 47 h 302"/>
                <a:gd name="T84" fmla="*/ 122 w 350"/>
                <a:gd name="T85" fmla="*/ 59 h 302"/>
                <a:gd name="T86" fmla="*/ 135 w 350"/>
                <a:gd name="T87" fmla="*/ 90 h 302"/>
                <a:gd name="T88" fmla="*/ 122 w 350"/>
                <a:gd name="T89" fmla="*/ 120 h 302"/>
                <a:gd name="T90" fmla="*/ 92 w 350"/>
                <a:gd name="T91" fmla="*/ 132 h 302"/>
                <a:gd name="T92" fmla="*/ 302 w 350"/>
                <a:gd name="T93" fmla="*/ 64 h 302"/>
                <a:gd name="T94" fmla="*/ 237 w 350"/>
                <a:gd name="T95" fmla="*/ 0 h 302"/>
                <a:gd name="T96" fmla="*/ 173 w 350"/>
                <a:gd name="T97" fmla="*/ 64 h 302"/>
                <a:gd name="T98" fmla="*/ 237 w 350"/>
                <a:gd name="T99" fmla="*/ 129 h 302"/>
                <a:gd name="T100" fmla="*/ 302 w 350"/>
                <a:gd name="T101" fmla="*/ 64 h 302"/>
                <a:gd name="T102" fmla="*/ 125 w 350"/>
                <a:gd name="T103" fmla="*/ 257 h 302"/>
                <a:gd name="T104" fmla="*/ 133 w 350"/>
                <a:gd name="T105" fmla="*/ 274 h 302"/>
                <a:gd name="T106" fmla="*/ 237 w 350"/>
                <a:gd name="T107" fmla="*/ 302 h 302"/>
                <a:gd name="T108" fmla="*/ 341 w 350"/>
                <a:gd name="T109" fmla="*/ 274 h 302"/>
                <a:gd name="T110" fmla="*/ 350 w 350"/>
                <a:gd name="T111" fmla="*/ 257 h 302"/>
                <a:gd name="T112" fmla="*/ 237 w 350"/>
                <a:gd name="T113" fmla="*/ 133 h 302"/>
                <a:gd name="T114" fmla="*/ 125 w 350"/>
                <a:gd name="T115" fmla="*/ 257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0" h="302">
                  <a:moveTo>
                    <a:pt x="0" y="238"/>
                  </a:moveTo>
                  <a:cubicBezTo>
                    <a:pt x="0" y="240"/>
                    <a:pt x="0" y="243"/>
                    <a:pt x="1" y="245"/>
                  </a:cubicBezTo>
                  <a:cubicBezTo>
                    <a:pt x="2" y="248"/>
                    <a:pt x="3" y="250"/>
                    <a:pt x="5" y="252"/>
                  </a:cubicBezTo>
                  <a:cubicBezTo>
                    <a:pt x="6" y="253"/>
                    <a:pt x="7" y="254"/>
                    <a:pt x="9" y="255"/>
                  </a:cubicBezTo>
                  <a:cubicBezTo>
                    <a:pt x="32" y="269"/>
                    <a:pt x="61" y="278"/>
                    <a:pt x="92" y="278"/>
                  </a:cubicBezTo>
                  <a:cubicBezTo>
                    <a:pt x="100" y="278"/>
                    <a:pt x="108" y="277"/>
                    <a:pt x="115" y="276"/>
                  </a:cubicBezTo>
                  <a:cubicBezTo>
                    <a:pt x="115" y="276"/>
                    <a:pt x="115" y="275"/>
                    <a:pt x="115" y="275"/>
                  </a:cubicBezTo>
                  <a:cubicBezTo>
                    <a:pt x="113" y="271"/>
                    <a:pt x="111" y="267"/>
                    <a:pt x="111" y="263"/>
                  </a:cubicBezTo>
                  <a:cubicBezTo>
                    <a:pt x="105" y="264"/>
                    <a:pt x="99" y="264"/>
                    <a:pt x="92" y="264"/>
                  </a:cubicBezTo>
                  <a:cubicBezTo>
                    <a:pt x="63" y="264"/>
                    <a:pt x="37" y="257"/>
                    <a:pt x="16" y="244"/>
                  </a:cubicBezTo>
                  <a:cubicBezTo>
                    <a:pt x="16" y="244"/>
                    <a:pt x="15" y="243"/>
                    <a:pt x="15" y="243"/>
                  </a:cubicBezTo>
                  <a:cubicBezTo>
                    <a:pt x="15" y="243"/>
                    <a:pt x="14" y="242"/>
                    <a:pt x="14" y="241"/>
                  </a:cubicBezTo>
                  <a:cubicBezTo>
                    <a:pt x="13" y="240"/>
                    <a:pt x="13" y="238"/>
                    <a:pt x="13" y="238"/>
                  </a:cubicBezTo>
                  <a:cubicBezTo>
                    <a:pt x="13" y="238"/>
                    <a:pt x="13" y="237"/>
                    <a:pt x="13" y="237"/>
                  </a:cubicBezTo>
                  <a:cubicBezTo>
                    <a:pt x="13" y="237"/>
                    <a:pt x="13" y="237"/>
                    <a:pt x="13" y="237"/>
                  </a:cubicBezTo>
                  <a:cubicBezTo>
                    <a:pt x="15" y="218"/>
                    <a:pt x="20" y="201"/>
                    <a:pt x="29" y="187"/>
                  </a:cubicBezTo>
                  <a:cubicBezTo>
                    <a:pt x="38" y="173"/>
                    <a:pt x="50" y="162"/>
                    <a:pt x="63" y="156"/>
                  </a:cubicBezTo>
                  <a:cubicBezTo>
                    <a:pt x="72" y="151"/>
                    <a:pt x="82" y="149"/>
                    <a:pt x="92" y="149"/>
                  </a:cubicBezTo>
                  <a:cubicBezTo>
                    <a:pt x="102" y="149"/>
                    <a:pt x="112" y="151"/>
                    <a:pt x="121" y="156"/>
                  </a:cubicBezTo>
                  <a:cubicBezTo>
                    <a:pt x="128" y="159"/>
                    <a:pt x="136" y="164"/>
                    <a:pt x="142" y="171"/>
                  </a:cubicBezTo>
                  <a:cubicBezTo>
                    <a:pt x="145" y="167"/>
                    <a:pt x="147" y="164"/>
                    <a:pt x="150" y="160"/>
                  </a:cubicBezTo>
                  <a:cubicBezTo>
                    <a:pt x="143" y="153"/>
                    <a:pt x="135" y="148"/>
                    <a:pt x="127" y="144"/>
                  </a:cubicBezTo>
                  <a:cubicBezTo>
                    <a:pt x="123" y="142"/>
                    <a:pt x="120" y="141"/>
                    <a:pt x="117" y="140"/>
                  </a:cubicBezTo>
                  <a:cubicBezTo>
                    <a:pt x="122" y="137"/>
                    <a:pt x="127" y="133"/>
                    <a:pt x="132" y="129"/>
                  </a:cubicBezTo>
                  <a:cubicBezTo>
                    <a:pt x="142" y="119"/>
                    <a:pt x="148" y="105"/>
                    <a:pt x="148" y="90"/>
                  </a:cubicBezTo>
                  <a:cubicBezTo>
                    <a:pt x="148" y="74"/>
                    <a:pt x="142" y="60"/>
                    <a:pt x="132" y="50"/>
                  </a:cubicBezTo>
                  <a:cubicBezTo>
                    <a:pt x="122" y="40"/>
                    <a:pt x="108" y="34"/>
                    <a:pt x="92" y="34"/>
                  </a:cubicBezTo>
                  <a:cubicBezTo>
                    <a:pt x="77" y="34"/>
                    <a:pt x="63" y="40"/>
                    <a:pt x="53" y="50"/>
                  </a:cubicBezTo>
                  <a:cubicBezTo>
                    <a:pt x="43" y="60"/>
                    <a:pt x="36" y="74"/>
                    <a:pt x="36" y="90"/>
                  </a:cubicBezTo>
                  <a:cubicBezTo>
                    <a:pt x="36" y="105"/>
                    <a:pt x="43" y="119"/>
                    <a:pt x="53" y="129"/>
                  </a:cubicBezTo>
                  <a:cubicBezTo>
                    <a:pt x="57" y="133"/>
                    <a:pt x="62" y="137"/>
                    <a:pt x="67" y="140"/>
                  </a:cubicBezTo>
                  <a:cubicBezTo>
                    <a:pt x="64" y="141"/>
                    <a:pt x="61" y="142"/>
                    <a:pt x="58" y="144"/>
                  </a:cubicBezTo>
                  <a:cubicBezTo>
                    <a:pt x="47" y="149"/>
                    <a:pt x="37" y="156"/>
                    <a:pt x="29" y="165"/>
                  </a:cubicBezTo>
                  <a:cubicBezTo>
                    <a:pt x="13" y="183"/>
                    <a:pt x="2" y="208"/>
                    <a:pt x="0" y="236"/>
                  </a:cubicBezTo>
                  <a:cubicBezTo>
                    <a:pt x="6" y="237"/>
                    <a:pt x="6" y="237"/>
                    <a:pt x="6" y="237"/>
                  </a:cubicBezTo>
                  <a:cubicBezTo>
                    <a:pt x="0" y="236"/>
                    <a:pt x="0" y="236"/>
                    <a:pt x="0" y="236"/>
                  </a:cubicBezTo>
                  <a:cubicBezTo>
                    <a:pt x="0" y="237"/>
                    <a:pt x="0" y="237"/>
                    <a:pt x="0" y="238"/>
                  </a:cubicBezTo>
                  <a:close/>
                  <a:moveTo>
                    <a:pt x="92" y="132"/>
                  </a:moveTo>
                  <a:cubicBezTo>
                    <a:pt x="80" y="132"/>
                    <a:pt x="70" y="127"/>
                    <a:pt x="62" y="120"/>
                  </a:cubicBezTo>
                  <a:cubicBezTo>
                    <a:pt x="54" y="112"/>
                    <a:pt x="50" y="101"/>
                    <a:pt x="50" y="90"/>
                  </a:cubicBezTo>
                  <a:cubicBezTo>
                    <a:pt x="50" y="78"/>
                    <a:pt x="54" y="67"/>
                    <a:pt x="62" y="59"/>
                  </a:cubicBezTo>
                  <a:cubicBezTo>
                    <a:pt x="70" y="52"/>
                    <a:pt x="80" y="47"/>
                    <a:pt x="92" y="47"/>
                  </a:cubicBezTo>
                  <a:cubicBezTo>
                    <a:pt x="104" y="47"/>
                    <a:pt x="115" y="52"/>
                    <a:pt x="122" y="59"/>
                  </a:cubicBezTo>
                  <a:cubicBezTo>
                    <a:pt x="130" y="67"/>
                    <a:pt x="135" y="78"/>
                    <a:pt x="135" y="90"/>
                  </a:cubicBezTo>
                  <a:cubicBezTo>
                    <a:pt x="135" y="101"/>
                    <a:pt x="130" y="112"/>
                    <a:pt x="122" y="120"/>
                  </a:cubicBezTo>
                  <a:cubicBezTo>
                    <a:pt x="115" y="127"/>
                    <a:pt x="104" y="132"/>
                    <a:pt x="92" y="132"/>
                  </a:cubicBezTo>
                  <a:close/>
                  <a:moveTo>
                    <a:pt x="302" y="64"/>
                  </a:moveTo>
                  <a:cubicBezTo>
                    <a:pt x="302" y="29"/>
                    <a:pt x="273" y="0"/>
                    <a:pt x="237" y="0"/>
                  </a:cubicBezTo>
                  <a:cubicBezTo>
                    <a:pt x="202" y="0"/>
                    <a:pt x="173" y="29"/>
                    <a:pt x="173" y="64"/>
                  </a:cubicBezTo>
                  <a:cubicBezTo>
                    <a:pt x="173" y="100"/>
                    <a:pt x="202" y="129"/>
                    <a:pt x="237" y="129"/>
                  </a:cubicBezTo>
                  <a:cubicBezTo>
                    <a:pt x="273" y="129"/>
                    <a:pt x="302" y="100"/>
                    <a:pt x="302" y="64"/>
                  </a:cubicBezTo>
                  <a:close/>
                  <a:moveTo>
                    <a:pt x="125" y="257"/>
                  </a:moveTo>
                  <a:cubicBezTo>
                    <a:pt x="124" y="263"/>
                    <a:pt x="128" y="271"/>
                    <a:pt x="133" y="274"/>
                  </a:cubicBezTo>
                  <a:cubicBezTo>
                    <a:pt x="162" y="291"/>
                    <a:pt x="198" y="302"/>
                    <a:pt x="237" y="302"/>
                  </a:cubicBezTo>
                  <a:cubicBezTo>
                    <a:pt x="277" y="302"/>
                    <a:pt x="313" y="291"/>
                    <a:pt x="341" y="274"/>
                  </a:cubicBezTo>
                  <a:cubicBezTo>
                    <a:pt x="346" y="271"/>
                    <a:pt x="350" y="263"/>
                    <a:pt x="350" y="257"/>
                  </a:cubicBezTo>
                  <a:cubicBezTo>
                    <a:pt x="344" y="187"/>
                    <a:pt x="296" y="133"/>
                    <a:pt x="237" y="133"/>
                  </a:cubicBezTo>
                  <a:cubicBezTo>
                    <a:pt x="179" y="133"/>
                    <a:pt x="131" y="187"/>
                    <a:pt x="125" y="25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sp>
        <p:nvSpPr>
          <p:cNvPr id="133" name="TextBox 132">
            <a:extLst>
              <a:ext uri="{FF2B5EF4-FFF2-40B4-BE49-F238E27FC236}">
                <a16:creationId xmlns:a16="http://schemas.microsoft.com/office/drawing/2014/main" id="{339BD114-9A3E-AC44-73C6-A9E54AE6CADB}"/>
              </a:ext>
            </a:extLst>
          </p:cNvPr>
          <p:cNvSpPr txBox="1"/>
          <p:nvPr/>
        </p:nvSpPr>
        <p:spPr>
          <a:xfrm>
            <a:off x="439558" y="1398309"/>
            <a:ext cx="11169424" cy="707886"/>
          </a:xfrm>
          <a:prstGeom prst="rect">
            <a:avLst/>
          </a:prstGeom>
          <a:noFill/>
        </p:spPr>
        <p:txBody>
          <a:bodyPr wrap="square" rtlCol="0">
            <a:spAutoFit/>
          </a:bodyPr>
          <a:lstStyle/>
          <a:p>
            <a:pPr algn="just"/>
            <a:r>
              <a:rPr lang="es-ES" sz="2000" spc="-50" dirty="0">
                <a:solidFill>
                  <a:prstClr val="white"/>
                </a:solidFill>
                <a:latin typeface="Arial"/>
              </a:rPr>
              <a:t>Acá integran un marco de referencia propio con política de ventas y desarrollo en los clientes en un Plan de Relacionamiento y Plan Éxito de Clientes (o plan de cuentas) a continuación: </a:t>
            </a:r>
          </a:p>
        </p:txBody>
      </p:sp>
      <p:sp>
        <p:nvSpPr>
          <p:cNvPr id="136" name="Donut 50">
            <a:extLst>
              <a:ext uri="{FF2B5EF4-FFF2-40B4-BE49-F238E27FC236}">
                <a16:creationId xmlns:a16="http://schemas.microsoft.com/office/drawing/2014/main" id="{7FE917A0-168F-39C6-D6F3-3D7E6086FD51}"/>
              </a:ext>
            </a:extLst>
          </p:cNvPr>
          <p:cNvSpPr/>
          <p:nvPr/>
        </p:nvSpPr>
        <p:spPr>
          <a:xfrm>
            <a:off x="4695931" y="2602118"/>
            <a:ext cx="1164544" cy="1164544"/>
          </a:xfrm>
          <a:prstGeom prst="donut">
            <a:avLst>
              <a:gd name="adj" fmla="val 3492"/>
            </a:avLst>
          </a:prstGeom>
          <a:solidFill>
            <a:schemeClr val="bg2"/>
          </a:solidFill>
          <a:ln w="25400" cap="flat" cmpd="sng" algn="ctr">
            <a:noFill/>
            <a:prstDash val="solid"/>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srgbClr val="000000"/>
              </a:solidFill>
              <a:effectLst/>
              <a:uLnTx/>
              <a:uFillTx/>
              <a:latin typeface="Arial"/>
            </a:endParaRPr>
          </a:p>
        </p:txBody>
      </p:sp>
      <p:sp>
        <p:nvSpPr>
          <p:cNvPr id="137" name="Donut 50">
            <a:extLst>
              <a:ext uri="{FF2B5EF4-FFF2-40B4-BE49-F238E27FC236}">
                <a16:creationId xmlns:a16="http://schemas.microsoft.com/office/drawing/2014/main" id="{A84C3F33-63EC-28DF-E05A-65B26577F49C}"/>
              </a:ext>
            </a:extLst>
          </p:cNvPr>
          <p:cNvSpPr/>
          <p:nvPr/>
        </p:nvSpPr>
        <p:spPr>
          <a:xfrm>
            <a:off x="8686533" y="2586997"/>
            <a:ext cx="1164544" cy="1164544"/>
          </a:xfrm>
          <a:prstGeom prst="donut">
            <a:avLst>
              <a:gd name="adj" fmla="val 3492"/>
            </a:avLst>
          </a:prstGeom>
          <a:solidFill>
            <a:schemeClr val="bg2"/>
          </a:solidFill>
          <a:ln w="25400" cap="flat" cmpd="sng" algn="ctr">
            <a:noFill/>
            <a:prstDash val="solid"/>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srgbClr val="000000"/>
              </a:solidFill>
              <a:effectLst/>
              <a:uLnTx/>
              <a:uFillTx/>
              <a:latin typeface="Arial"/>
            </a:endParaRPr>
          </a:p>
        </p:txBody>
      </p:sp>
      <p:sp>
        <p:nvSpPr>
          <p:cNvPr id="139" name="Donut 50">
            <a:extLst>
              <a:ext uri="{FF2B5EF4-FFF2-40B4-BE49-F238E27FC236}">
                <a16:creationId xmlns:a16="http://schemas.microsoft.com/office/drawing/2014/main" id="{8D7A3FB1-7BE1-BA88-285A-61025359814A}"/>
              </a:ext>
            </a:extLst>
          </p:cNvPr>
          <p:cNvSpPr/>
          <p:nvPr/>
        </p:nvSpPr>
        <p:spPr>
          <a:xfrm>
            <a:off x="628678" y="2571268"/>
            <a:ext cx="1164544" cy="1164544"/>
          </a:xfrm>
          <a:prstGeom prst="donut">
            <a:avLst>
              <a:gd name="adj" fmla="val 3492"/>
            </a:avLst>
          </a:prstGeom>
          <a:solidFill>
            <a:schemeClr val="bg2"/>
          </a:solidFill>
          <a:ln w="25400" cap="flat" cmpd="sng" algn="ctr">
            <a:noFill/>
            <a:prstDash val="solid"/>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srgbClr val="000000"/>
              </a:solidFill>
              <a:effectLst/>
              <a:uLnTx/>
              <a:uFillTx/>
              <a:latin typeface="Arial"/>
            </a:endParaRPr>
          </a:p>
        </p:txBody>
      </p:sp>
      <p:sp>
        <p:nvSpPr>
          <p:cNvPr id="141" name="Donut 50">
            <a:extLst>
              <a:ext uri="{FF2B5EF4-FFF2-40B4-BE49-F238E27FC236}">
                <a16:creationId xmlns:a16="http://schemas.microsoft.com/office/drawing/2014/main" id="{F4CA6724-D861-FEFB-7C68-2B26712C6A0F}"/>
              </a:ext>
            </a:extLst>
          </p:cNvPr>
          <p:cNvSpPr/>
          <p:nvPr/>
        </p:nvSpPr>
        <p:spPr>
          <a:xfrm>
            <a:off x="6453052" y="4477893"/>
            <a:ext cx="1164544" cy="1164544"/>
          </a:xfrm>
          <a:prstGeom prst="donut">
            <a:avLst>
              <a:gd name="adj" fmla="val 3492"/>
            </a:avLst>
          </a:prstGeom>
          <a:solidFill>
            <a:schemeClr val="bg2"/>
          </a:solidFill>
          <a:ln w="25400" cap="flat" cmpd="sng" algn="ctr">
            <a:noFill/>
            <a:prstDash val="solid"/>
          </a:ln>
          <a:effectLst/>
        </p:spPr>
        <p:txBody>
          <a:bodyPr rtlCol="0" anchor="ctr"/>
          <a:lstStyle/>
          <a:p>
            <a:pPr marL="0" marR="0" lvl="0" indent="0" algn="ctr" defTabSz="896386" eaLnBrk="1" fontAlgn="auto" latinLnBrk="0" hangingPunct="1">
              <a:lnSpc>
                <a:spcPct val="100000"/>
              </a:lnSpc>
              <a:spcBef>
                <a:spcPts val="0"/>
              </a:spcBef>
              <a:spcAft>
                <a:spcPts val="0"/>
              </a:spcAft>
              <a:buClrTx/>
              <a:buSzTx/>
              <a:buFontTx/>
              <a:buNone/>
              <a:tabLst/>
              <a:defRPr/>
            </a:pPr>
            <a:endParaRPr kumimoji="0" lang="en-AU" sz="1600" b="0" i="0" u="none" strike="noStrike" kern="0" cap="none" spc="0" normalizeH="0" baseline="0" noProof="0">
              <a:ln>
                <a:noFill/>
              </a:ln>
              <a:solidFill>
                <a:srgbClr val="000000"/>
              </a:solidFill>
              <a:effectLst/>
              <a:uLnTx/>
              <a:uFillTx/>
              <a:latin typeface="Arial"/>
            </a:endParaRPr>
          </a:p>
        </p:txBody>
      </p:sp>
      <p:cxnSp>
        <p:nvCxnSpPr>
          <p:cNvPr id="149" name="Straight Arrow Connector 148">
            <a:extLst>
              <a:ext uri="{FF2B5EF4-FFF2-40B4-BE49-F238E27FC236}">
                <a16:creationId xmlns:a16="http://schemas.microsoft.com/office/drawing/2014/main" id="{1B05CE47-7935-F848-54D0-5CDCE4BA8D8D}"/>
              </a:ext>
            </a:extLst>
          </p:cNvPr>
          <p:cNvCxnSpPr>
            <a:cxnSpLocks/>
          </p:cNvCxnSpPr>
          <p:nvPr/>
        </p:nvCxnSpPr>
        <p:spPr>
          <a:xfrm>
            <a:off x="626697" y="6642100"/>
            <a:ext cx="4069234"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D2D95990-C03A-48AA-AE84-1F3E3B20643A}"/>
              </a:ext>
            </a:extLst>
          </p:cNvPr>
          <p:cNvCxnSpPr>
            <a:cxnSpLocks/>
          </p:cNvCxnSpPr>
          <p:nvPr/>
        </p:nvCxnSpPr>
        <p:spPr>
          <a:xfrm flipV="1">
            <a:off x="7478145" y="6629400"/>
            <a:ext cx="4225406" cy="1270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4" name="Rectangle 153">
            <a:extLst>
              <a:ext uri="{FF2B5EF4-FFF2-40B4-BE49-F238E27FC236}">
                <a16:creationId xmlns:a16="http://schemas.microsoft.com/office/drawing/2014/main" id="{AE369A4A-6753-79F3-5699-624EF451FC93}"/>
              </a:ext>
            </a:extLst>
          </p:cNvPr>
          <p:cNvSpPr/>
          <p:nvPr/>
        </p:nvSpPr>
        <p:spPr>
          <a:xfrm>
            <a:off x="4922958" y="6471374"/>
            <a:ext cx="2504328" cy="276999"/>
          </a:xfrm>
          <a:prstGeom prst="rect">
            <a:avLst/>
          </a:prstGeom>
        </p:spPr>
        <p:txBody>
          <a:bodyPr wrap="square" lIns="0" tIns="0" rIns="0" bIns="0" anchor="t">
            <a:spAutoFit/>
          </a:bodyPr>
          <a:lstStyle/>
          <a:p>
            <a:pPr defTabSz="896386">
              <a:defRPr/>
            </a:pPr>
            <a:r>
              <a:rPr lang="es-CL" b="1" spc="-50" dirty="0">
                <a:solidFill>
                  <a:srgbClr val="AADDEE"/>
                </a:solidFill>
              </a:rPr>
              <a:t>A</a:t>
            </a:r>
            <a:r>
              <a:rPr lang="en-US" b="1" spc="-50" dirty="0" err="1">
                <a:solidFill>
                  <a:srgbClr val="AADDEE"/>
                </a:solidFill>
              </a:rPr>
              <a:t>seguramiento</a:t>
            </a:r>
            <a:r>
              <a:rPr lang="en-US" b="1" spc="-50" dirty="0">
                <a:solidFill>
                  <a:srgbClr val="AADDEE"/>
                </a:solidFill>
              </a:rPr>
              <a:t> Calidad</a:t>
            </a:r>
          </a:p>
        </p:txBody>
      </p:sp>
    </p:spTree>
    <p:extLst>
      <p:ext uri="{BB962C8B-B14F-4D97-AF65-F5344CB8AC3E}">
        <p14:creationId xmlns:p14="http://schemas.microsoft.com/office/powerpoint/2010/main" val="123934493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950" y="428726"/>
            <a:ext cx="8973849"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Plan Organizacional</a:t>
            </a:r>
            <a:endParaRPr lang="en-US" sz="3500" spc="-30" dirty="0">
              <a:solidFill>
                <a:prstClr val="white"/>
              </a:solidFill>
              <a:latin typeface="Arial"/>
            </a:endParaRPr>
          </a:p>
        </p:txBody>
      </p:sp>
      <p:sp>
        <p:nvSpPr>
          <p:cNvPr id="133" name="TextBox 132">
            <a:extLst>
              <a:ext uri="{FF2B5EF4-FFF2-40B4-BE49-F238E27FC236}">
                <a16:creationId xmlns:a16="http://schemas.microsoft.com/office/drawing/2014/main" id="{339BD114-9A3E-AC44-73C6-A9E54AE6CADB}"/>
              </a:ext>
            </a:extLst>
          </p:cNvPr>
          <p:cNvSpPr txBox="1"/>
          <p:nvPr/>
        </p:nvSpPr>
        <p:spPr>
          <a:xfrm>
            <a:off x="439558" y="1398309"/>
            <a:ext cx="11169424" cy="5262979"/>
          </a:xfrm>
          <a:prstGeom prst="rect">
            <a:avLst/>
          </a:prstGeom>
          <a:noFill/>
        </p:spPr>
        <p:txBody>
          <a:bodyPr wrap="square" lIns="91440" tIns="45720" rIns="91440" bIns="45720" rtlCol="0" anchor="t">
            <a:spAutoFit/>
          </a:bodyPr>
          <a:lstStyle/>
          <a:p>
            <a:pPr algn="just"/>
            <a:r>
              <a:rPr lang="es-ES" sz="2000" spc="-50" dirty="0">
                <a:solidFill>
                  <a:schemeClr val="bg1"/>
                </a:solidFill>
                <a:latin typeface="Arial"/>
                <a:cs typeface="Arial"/>
              </a:rPr>
              <a:t>Establece una estructura y dirección estratégica para el crecimiento en el nuevo mercado.</a:t>
            </a:r>
            <a:endParaRPr lang="en-US" dirty="0">
              <a:solidFill>
                <a:schemeClr val="bg1"/>
              </a:solidFill>
            </a:endParaRPr>
          </a:p>
          <a:p>
            <a:pPr algn="just"/>
            <a:r>
              <a:rPr lang="es-ES" sz="2000" spc="-50" dirty="0">
                <a:solidFill>
                  <a:schemeClr val="bg1"/>
                </a:solidFill>
                <a:latin typeface="Arial"/>
                <a:cs typeface="Arial"/>
              </a:rPr>
              <a:t>Considera la creación de una filial en Colombia mediante la utilización de una Sociedad por Acciones Simplificada (S.A.S.) en la cual la casa matriz IT -Trail Services Chile será la única Dueña y la empresa que se establezca en Colombia se llamará IT-Trail Services Colombia. </a:t>
            </a:r>
            <a:endParaRPr lang="en-US" dirty="0">
              <a:solidFill>
                <a:schemeClr val="bg1"/>
              </a:solidFil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marL="342900" indent="-342900" algn="just">
              <a:buFont typeface="Arial" panose="020B0604020202020204" pitchFamily="34" charset="0"/>
              <a:buChar char="•"/>
            </a:pPr>
            <a:r>
              <a:rPr lang="es-CL" sz="1600" spc="-50" dirty="0">
                <a:solidFill>
                  <a:prstClr val="white"/>
                </a:solidFill>
                <a:latin typeface="Arial"/>
              </a:rPr>
              <a:t>Se decidió por esta forma de empresa debido a su flexibilidad y simplicidad en términos de estructura y requisitos legales</a:t>
            </a:r>
            <a:endParaRPr lang="es-ES" sz="1600" spc="-50" dirty="0">
              <a:solidFill>
                <a:prstClr val="white"/>
              </a:solidFill>
              <a:latin typeface="Arial"/>
            </a:endParaRPr>
          </a:p>
        </p:txBody>
      </p:sp>
      <p:grpSp>
        <p:nvGrpSpPr>
          <p:cNvPr id="28" name="Group 27">
            <a:extLst>
              <a:ext uri="{FF2B5EF4-FFF2-40B4-BE49-F238E27FC236}">
                <a16:creationId xmlns:a16="http://schemas.microsoft.com/office/drawing/2014/main" id="{2B14ACEC-7169-7BB8-0DDD-233006A80D30}"/>
              </a:ext>
            </a:extLst>
          </p:cNvPr>
          <p:cNvGrpSpPr/>
          <p:nvPr/>
        </p:nvGrpSpPr>
        <p:grpSpPr>
          <a:xfrm>
            <a:off x="998101" y="2863850"/>
            <a:ext cx="9841168" cy="2427997"/>
            <a:chOff x="928432" y="2560987"/>
            <a:chExt cx="9841168" cy="3868287"/>
          </a:xfrm>
        </p:grpSpPr>
        <p:grpSp>
          <p:nvGrpSpPr>
            <p:cNvPr id="19" name="Group 18">
              <a:extLst>
                <a:ext uri="{FF2B5EF4-FFF2-40B4-BE49-F238E27FC236}">
                  <a16:creationId xmlns:a16="http://schemas.microsoft.com/office/drawing/2014/main" id="{5409423D-A966-0C36-21CA-C9110161D872}"/>
                </a:ext>
              </a:extLst>
            </p:cNvPr>
            <p:cNvGrpSpPr/>
            <p:nvPr/>
          </p:nvGrpSpPr>
          <p:grpSpPr>
            <a:xfrm>
              <a:off x="928432" y="2560987"/>
              <a:ext cx="9841168" cy="3868287"/>
              <a:chOff x="928432" y="2638949"/>
              <a:chExt cx="10861932" cy="4791075"/>
            </a:xfrm>
          </p:grpSpPr>
          <p:sp>
            <p:nvSpPr>
              <p:cNvPr id="3" name="Rectangle 2">
                <a:extLst>
                  <a:ext uri="{FF2B5EF4-FFF2-40B4-BE49-F238E27FC236}">
                    <a16:creationId xmlns:a16="http://schemas.microsoft.com/office/drawing/2014/main" id="{1D8C5ABA-E619-4752-1088-92A13568F97B}"/>
                  </a:ext>
                </a:extLst>
              </p:cNvPr>
              <p:cNvSpPr/>
              <p:nvPr/>
            </p:nvSpPr>
            <p:spPr>
              <a:xfrm>
                <a:off x="928432" y="2638949"/>
                <a:ext cx="5185031" cy="4791075"/>
              </a:xfrm>
              <a:prstGeom prst="rect">
                <a:avLst/>
              </a:prstGeom>
              <a:no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srgbClr val="000000"/>
                  </a:solidFill>
                  <a:effectLst/>
                  <a:uLnTx/>
                  <a:uFillTx/>
                  <a:latin typeface="Arial"/>
                  <a:ea typeface="+mn-ea"/>
                  <a:cs typeface="+mn-cs"/>
                </a:endParaRPr>
              </a:p>
            </p:txBody>
          </p:sp>
          <p:sp>
            <p:nvSpPr>
              <p:cNvPr id="5" name="Rectangle 4">
                <a:extLst>
                  <a:ext uri="{FF2B5EF4-FFF2-40B4-BE49-F238E27FC236}">
                    <a16:creationId xmlns:a16="http://schemas.microsoft.com/office/drawing/2014/main" id="{160FCE4D-9BCF-307D-2C66-35CC154BF34C}"/>
                  </a:ext>
                </a:extLst>
              </p:cNvPr>
              <p:cNvSpPr/>
              <p:nvPr/>
            </p:nvSpPr>
            <p:spPr>
              <a:xfrm>
                <a:off x="6471982" y="2638949"/>
                <a:ext cx="5318382" cy="4791074"/>
              </a:xfrm>
              <a:prstGeom prst="rect">
                <a:avLst/>
              </a:prstGeom>
              <a:no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CL" sz="1800" b="0" i="0" u="none" strike="noStrike" kern="0" cap="none" spc="0" normalizeH="0" baseline="0" noProof="0">
                  <a:ln>
                    <a:noFill/>
                  </a:ln>
                  <a:solidFill>
                    <a:srgbClr val="FFFF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9315F6F2-74E8-5C61-761B-A846A074195E}"/>
                  </a:ext>
                </a:extLst>
              </p:cNvPr>
              <p:cNvSpPr/>
              <p:nvPr/>
            </p:nvSpPr>
            <p:spPr>
              <a:xfrm>
                <a:off x="2910241" y="3786035"/>
                <a:ext cx="2371725" cy="952500"/>
              </a:xfrm>
              <a:prstGeom prst="rect">
                <a:avLst/>
              </a:prstGeom>
              <a:solidFill>
                <a:srgbClr val="7F0D26"/>
              </a:solidFill>
              <a:ln w="3175" cap="flat" cmpd="sng" algn="ctr">
                <a:solidFill>
                  <a:srgbClr val="00BBEE">
                    <a:shade val="15000"/>
                  </a:srgbClr>
                </a:solidFill>
                <a:prstDash val="solid"/>
              </a:ln>
              <a:effectLst/>
            </p:spPr>
            <p:txBody>
              <a:bodyPr lIns="91440" tIns="45720" rIns="91440" bIns="45720" rtlCol="0" anchor="ctr"/>
              <a:lstStyle/>
              <a:p>
                <a:pPr algn="ctr" fontAlgn="auto">
                  <a:spcBef>
                    <a:spcPts val="0"/>
                  </a:spcBef>
                  <a:spcAft>
                    <a:spcPts val="0"/>
                  </a:spcAft>
                </a:pPr>
                <a:r>
                  <a:rPr lang="es-CL" kern="0" dirty="0">
                    <a:solidFill>
                      <a:srgbClr val="FFFFFF"/>
                    </a:solidFill>
                    <a:latin typeface="Arial"/>
                    <a:cs typeface="+mn-cs"/>
                  </a:rPr>
                  <a:t>Filial en Colombia</a:t>
                </a:r>
              </a:p>
            </p:txBody>
          </p:sp>
          <p:sp>
            <p:nvSpPr>
              <p:cNvPr id="7" name="Rectangle 6">
                <a:extLst>
                  <a:ext uri="{FF2B5EF4-FFF2-40B4-BE49-F238E27FC236}">
                    <a16:creationId xmlns:a16="http://schemas.microsoft.com/office/drawing/2014/main" id="{85C84660-E6DA-237B-C42C-8B3B7E2414AE}"/>
                  </a:ext>
                </a:extLst>
              </p:cNvPr>
              <p:cNvSpPr/>
              <p:nvPr/>
            </p:nvSpPr>
            <p:spPr>
              <a:xfrm>
                <a:off x="8244338" y="3600949"/>
                <a:ext cx="3207262" cy="1322675"/>
              </a:xfrm>
              <a:prstGeom prst="rect">
                <a:avLst/>
              </a:prstGeom>
              <a:solidFill>
                <a:srgbClr val="7F0D26"/>
              </a:solidFill>
              <a:ln w="3175" cap="flat" cmpd="sng" algn="ctr">
                <a:solidFill>
                  <a:srgbClr val="00BBEE">
                    <a:shade val="15000"/>
                  </a:srgbClr>
                </a:solidFill>
                <a:prstDash val="solid"/>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CL" sz="1800" b="0" i="0" u="none" strike="noStrike" kern="0" cap="none" spc="0" normalizeH="0" baseline="0" noProof="0" dirty="0">
                    <a:ln>
                      <a:noFill/>
                    </a:ln>
                    <a:solidFill>
                      <a:srgbClr val="FFFFFF"/>
                    </a:solidFill>
                    <a:effectLst/>
                    <a:uLnTx/>
                    <a:uFillTx/>
                    <a:latin typeface="Arial"/>
                    <a:ea typeface="+mn-ea"/>
                    <a:cs typeface="+mn-cs"/>
                  </a:rPr>
                  <a:t>Empresa Principal  en Chile (Matriz)</a:t>
                </a:r>
              </a:p>
            </p:txBody>
          </p:sp>
          <p:sp>
            <p:nvSpPr>
              <p:cNvPr id="8" name="Rectangle 7">
                <a:extLst>
                  <a:ext uri="{FF2B5EF4-FFF2-40B4-BE49-F238E27FC236}">
                    <a16:creationId xmlns:a16="http://schemas.microsoft.com/office/drawing/2014/main" id="{992894EC-8191-822A-F9ED-0C52F605292C}"/>
                  </a:ext>
                </a:extLst>
              </p:cNvPr>
              <p:cNvSpPr/>
              <p:nvPr/>
            </p:nvSpPr>
            <p:spPr>
              <a:xfrm>
                <a:off x="2895417" y="5658620"/>
                <a:ext cx="2371725" cy="952500"/>
              </a:xfrm>
              <a:prstGeom prst="rect">
                <a:avLst/>
              </a:prstGeom>
              <a:solidFill>
                <a:srgbClr val="7F0D26"/>
              </a:solidFill>
              <a:ln w="3175" cap="flat" cmpd="sng" algn="ctr">
                <a:solidFill>
                  <a:srgbClr val="00BBEE">
                    <a:shade val="15000"/>
                  </a:srgbClr>
                </a:solidFill>
                <a:prstDash val="solid"/>
              </a:ln>
              <a:effectLst/>
            </p:spPr>
            <p:txBody>
              <a:bodyPr lIns="91440" tIns="45720" rIns="91440" bIns="45720" rtlCol="0" anchor="ctr"/>
              <a:lstStyle/>
              <a:p>
                <a:pPr algn="ctr" fontAlgn="auto">
                  <a:spcBef>
                    <a:spcPts val="0"/>
                  </a:spcBef>
                  <a:spcAft>
                    <a:spcPts val="0"/>
                  </a:spcAft>
                </a:pPr>
                <a:r>
                  <a:rPr lang="es-CL" kern="0" dirty="0">
                    <a:solidFill>
                      <a:srgbClr val="FFFFFF"/>
                    </a:solidFill>
                    <a:latin typeface="Arial"/>
                    <a:cs typeface="+mn-cs"/>
                  </a:rPr>
                  <a:t>Clientes Finales</a:t>
                </a:r>
              </a:p>
            </p:txBody>
          </p:sp>
          <p:cxnSp>
            <p:nvCxnSpPr>
              <p:cNvPr id="9" name="Connector: Elbow 8">
                <a:extLst>
                  <a:ext uri="{FF2B5EF4-FFF2-40B4-BE49-F238E27FC236}">
                    <a16:creationId xmlns:a16="http://schemas.microsoft.com/office/drawing/2014/main" id="{3CC5F7F8-D5A7-AB22-8D0C-4231225FBDCE}"/>
                  </a:ext>
                </a:extLst>
              </p:cNvPr>
              <p:cNvCxnSpPr>
                <a:cxnSpLocks/>
                <a:stCxn id="6" idx="1"/>
                <a:endCxn id="8" idx="1"/>
              </p:cNvCxnSpPr>
              <p:nvPr/>
            </p:nvCxnSpPr>
            <p:spPr>
              <a:xfrm rot="10800000" flipV="1">
                <a:off x="2895418" y="4262286"/>
                <a:ext cx="14824" cy="1872584"/>
              </a:xfrm>
              <a:prstGeom prst="bentConnector3">
                <a:avLst>
                  <a:gd name="adj1" fmla="val 1802033"/>
                </a:avLst>
              </a:prstGeom>
              <a:noFill/>
              <a:ln w="19050" cap="flat" cmpd="sng" algn="ctr">
                <a:solidFill>
                  <a:schemeClr val="bg1"/>
                </a:solidFill>
                <a:prstDash val="solid"/>
                <a:tailEnd type="triangle" w="lg" len="lg"/>
              </a:ln>
              <a:effectLst/>
            </p:spPr>
          </p:cxnSp>
          <p:sp>
            <p:nvSpPr>
              <p:cNvPr id="10" name="Text Placeholder 4">
                <a:extLst>
                  <a:ext uri="{FF2B5EF4-FFF2-40B4-BE49-F238E27FC236}">
                    <a16:creationId xmlns:a16="http://schemas.microsoft.com/office/drawing/2014/main" id="{D6286CC8-78C7-F0FB-0159-FA95BF041DD9}"/>
                  </a:ext>
                </a:extLst>
              </p:cNvPr>
              <p:cNvSpPr txBox="1">
                <a:spLocks/>
              </p:cNvSpPr>
              <p:nvPr/>
            </p:nvSpPr>
            <p:spPr>
              <a:xfrm>
                <a:off x="943257" y="4331224"/>
                <a:ext cx="1608465" cy="1411925"/>
              </a:xfrm>
              <a:prstGeom prst="rect">
                <a:avLst/>
              </a:prstGeom>
            </p:spPr>
            <p:txBody>
              <a:bodyPr vert="horz" lIns="0" tIns="60949" rIns="0" bIns="60949" rtlCol="0">
                <a:noAutofit/>
              </a:bodyPr>
              <a:lstStyle>
                <a:lvl1pPr marL="0" indent="0" algn="l" rtl="0" eaLnBrk="1" fontAlgn="base" hangingPunct="1">
                  <a:spcBef>
                    <a:spcPts val="800"/>
                  </a:spcBef>
                  <a:spcAft>
                    <a:spcPct val="0"/>
                  </a:spcAft>
                  <a:buFont typeface="Arial" pitchFamily="34" charset="0"/>
                  <a:buNone/>
                  <a:defRPr sz="2000" kern="1200">
                    <a:solidFill>
                      <a:schemeClr val="accent1"/>
                    </a:solidFill>
                    <a:latin typeface="+mn-lt"/>
                    <a:ea typeface="Arial" pitchFamily="-105" charset="-52"/>
                    <a:cs typeface="Arial" pitchFamily="34" charset="0"/>
                  </a:defRPr>
                </a:lvl1pPr>
                <a:lvl2pPr marL="449263" indent="-266700" algn="l" rtl="0" eaLnBrk="1" fontAlgn="base" hangingPunct="1">
                  <a:spcBef>
                    <a:spcPts val="800"/>
                  </a:spcBef>
                  <a:spcAft>
                    <a:spcPct val="0"/>
                  </a:spcAft>
                  <a:buFont typeface="Arial" pitchFamily="34" charset="0"/>
                  <a:buChar char="–"/>
                  <a:defRPr sz="3500" kern="1200">
                    <a:solidFill>
                      <a:schemeClr val="tx2"/>
                    </a:solidFill>
                    <a:latin typeface="+mn-lt"/>
                    <a:ea typeface="Arial" pitchFamily="-105" charset="-52"/>
                    <a:cs typeface="Arial" pitchFamily="34" charset="0"/>
                  </a:defRPr>
                </a:lvl2pPr>
                <a:lvl3pPr marL="625475" indent="-176213" algn="l" rtl="0" eaLnBrk="1" fontAlgn="base" hangingPunct="1">
                  <a:spcBef>
                    <a:spcPts val="800"/>
                  </a:spcBef>
                  <a:spcAft>
                    <a:spcPct val="0"/>
                  </a:spcAft>
                  <a:buFont typeface="Arial" pitchFamily="34" charset="0"/>
                  <a:buChar char="•"/>
                  <a:tabLst/>
                  <a:defRPr sz="3200" kern="1200">
                    <a:solidFill>
                      <a:schemeClr val="tx2"/>
                    </a:solidFill>
                    <a:latin typeface="+mn-lt"/>
                    <a:ea typeface="Arial" pitchFamily="-105" charset="-52"/>
                    <a:cs typeface="Arial" pitchFamily="34" charset="0"/>
                  </a:defRPr>
                </a:lvl3pPr>
                <a:lvl4pPr marL="898525" indent="-273050" algn="l" rtl="0" eaLnBrk="1" fontAlgn="base" hangingPunct="1">
                  <a:spcBef>
                    <a:spcPts val="800"/>
                  </a:spcBef>
                  <a:spcAft>
                    <a:spcPct val="0"/>
                  </a:spcAft>
                  <a:buFont typeface="Arial" pitchFamily="34" charset="0"/>
                  <a:buChar char="–"/>
                  <a:defRPr sz="2900" kern="1200">
                    <a:solidFill>
                      <a:schemeClr val="tx2"/>
                    </a:solidFill>
                    <a:latin typeface="+mn-lt"/>
                    <a:ea typeface="Arial" pitchFamily="-105" charset="-52"/>
                    <a:cs typeface="Arial" pitchFamily="34" charset="0"/>
                  </a:defRPr>
                </a:lvl4pPr>
                <a:lvl5pPr marL="1074738" indent="-176213" algn="l" rtl="0" eaLnBrk="1" fontAlgn="base" hangingPunct="1">
                  <a:spcBef>
                    <a:spcPts val="800"/>
                  </a:spcBef>
                  <a:spcAft>
                    <a:spcPct val="0"/>
                  </a:spcAft>
                  <a:buFont typeface="Arial" pitchFamily="34" charset="0"/>
                  <a:buChar char="•"/>
                  <a:defRPr sz="2700" kern="1200">
                    <a:solidFill>
                      <a:schemeClr val="tx2"/>
                    </a:solidFill>
                    <a:latin typeface="+mn-lt"/>
                    <a:ea typeface="Arial" pitchFamily="-105" charset="-52"/>
                    <a:cs typeface="Arial"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266700" lvl="1" indent="0">
                  <a:buFont typeface="Arial" pitchFamily="34" charset="0"/>
                  <a:buNone/>
                </a:pPr>
                <a:r>
                  <a:rPr lang="en-US" sz="1600" dirty="0" err="1">
                    <a:solidFill>
                      <a:schemeClr val="bg1"/>
                    </a:solidFill>
                    <a:cs typeface="Times New Roman" panose="02020603050405020304" pitchFamily="18" charset="0"/>
                  </a:rPr>
                  <a:t>Entrega</a:t>
                </a:r>
                <a:r>
                  <a:rPr lang="en-US" sz="1600" dirty="0">
                    <a:solidFill>
                      <a:schemeClr val="bg1"/>
                    </a:solidFill>
                    <a:cs typeface="Times New Roman" panose="02020603050405020304" pitchFamily="18" charset="0"/>
                  </a:rPr>
                  <a:t> Servicios </a:t>
                </a:r>
                <a:r>
                  <a:rPr lang="en-US" sz="1600" dirty="0" err="1">
                    <a:solidFill>
                      <a:schemeClr val="bg1"/>
                    </a:solidFill>
                    <a:cs typeface="Times New Roman" panose="02020603050405020304" pitchFamily="18" charset="0"/>
                  </a:rPr>
                  <a:t>en</a:t>
                </a:r>
                <a:r>
                  <a:rPr lang="en-US" sz="1600" dirty="0">
                    <a:solidFill>
                      <a:schemeClr val="bg1"/>
                    </a:solidFill>
                    <a:cs typeface="Times New Roman" panose="02020603050405020304" pitchFamily="18" charset="0"/>
                  </a:rPr>
                  <a:t> Colombia</a:t>
                </a:r>
                <a:endParaRPr lang="es-CL" sz="1600" dirty="0">
                  <a:solidFill>
                    <a:schemeClr val="bg1"/>
                  </a:solidFill>
                  <a:cs typeface="Times New Roman" panose="02020603050405020304" pitchFamily="18" charset="0"/>
                </a:endParaRPr>
              </a:p>
            </p:txBody>
          </p:sp>
          <p:cxnSp>
            <p:nvCxnSpPr>
              <p:cNvPr id="11" name="Straight Arrow Connector 10">
                <a:extLst>
                  <a:ext uri="{FF2B5EF4-FFF2-40B4-BE49-F238E27FC236}">
                    <a16:creationId xmlns:a16="http://schemas.microsoft.com/office/drawing/2014/main" id="{0632D3CA-A4F1-31B8-0062-0EC1C2D03A27}"/>
                  </a:ext>
                </a:extLst>
              </p:cNvPr>
              <p:cNvCxnSpPr>
                <a:cxnSpLocks/>
                <a:stCxn id="7" idx="1"/>
                <a:endCxn id="6" idx="3"/>
              </p:cNvCxnSpPr>
              <p:nvPr/>
            </p:nvCxnSpPr>
            <p:spPr>
              <a:xfrm flipH="1" flipV="1">
                <a:off x="5281966" y="4262285"/>
                <a:ext cx="2962372" cy="2"/>
              </a:xfrm>
              <a:prstGeom prst="straightConnector1">
                <a:avLst/>
              </a:prstGeom>
              <a:noFill/>
              <a:ln w="19050" cap="flat" cmpd="sng" algn="ctr">
                <a:solidFill>
                  <a:schemeClr val="bg1"/>
                </a:solidFill>
                <a:prstDash val="solid"/>
                <a:tailEnd type="triangle" w="lg" len="lg"/>
              </a:ln>
              <a:effectLst/>
            </p:spPr>
          </p:cxnSp>
          <p:sp>
            <p:nvSpPr>
              <p:cNvPr id="16" name="Rectangle 15">
                <a:extLst>
                  <a:ext uri="{FF2B5EF4-FFF2-40B4-BE49-F238E27FC236}">
                    <a16:creationId xmlns:a16="http://schemas.microsoft.com/office/drawing/2014/main" id="{2E1F11EF-C594-71E5-3D6D-9037E405F79B}"/>
                  </a:ext>
                </a:extLst>
              </p:cNvPr>
              <p:cNvSpPr/>
              <p:nvPr/>
            </p:nvSpPr>
            <p:spPr>
              <a:xfrm>
                <a:off x="7234127" y="5733710"/>
                <a:ext cx="4264872" cy="877407"/>
              </a:xfrm>
              <a:prstGeom prst="rect">
                <a:avLst/>
              </a:prstGeom>
              <a:noFill/>
              <a:ln w="3175" cap="flat" cmpd="sng" algn="ctr">
                <a:solidFill>
                  <a:schemeClr val="bg1"/>
                </a:solidFill>
                <a:prstDash val="solid"/>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s-CL" sz="1200" b="0" i="0" u="none" strike="noStrike" kern="0" cap="none" spc="0" normalizeH="0" baseline="0" noProof="0" dirty="0">
                  <a:ln>
                    <a:noFill/>
                  </a:ln>
                  <a:solidFill>
                    <a:srgbClr val="FFFFFF"/>
                  </a:solidFill>
                  <a:effectLst/>
                  <a:uLnTx/>
                  <a:uFillTx/>
                  <a:latin typeface="Arial"/>
                  <a:ea typeface="+mn-ea"/>
                  <a:cs typeface="Arial"/>
                </a:endParaRPr>
              </a:p>
              <a:p>
                <a:pPr marR="0" lvl="0" defTabSz="914400" eaLnBrk="1" fontAlgn="auto" latinLnBrk="0" hangingPunct="1">
                  <a:lnSpc>
                    <a:spcPct val="114000"/>
                  </a:lnSpc>
                  <a:spcBef>
                    <a:spcPts val="0"/>
                  </a:spcBef>
                  <a:spcAft>
                    <a:spcPts val="0"/>
                  </a:spcAft>
                  <a:buClrTx/>
                  <a:buSzTx/>
                  <a:tabLst/>
                  <a:defRPr/>
                </a:pPr>
                <a:r>
                  <a:rPr lang="es-CL" sz="1400" i="1" spc="-50" dirty="0">
                    <a:solidFill>
                      <a:prstClr val="white"/>
                    </a:solidFill>
                    <a:latin typeface="Arial"/>
                  </a:rPr>
                  <a:t>Realización de Contrato comercial entre Matriz y Filial de IT Trail Services</a:t>
                </a:r>
                <a:r>
                  <a:rPr lang="es-CL" sz="1600" i="1" spc="-50" dirty="0">
                    <a:solidFill>
                      <a:prstClr val="white"/>
                    </a:solidFill>
                    <a:latin typeface="Arial"/>
                  </a:rPr>
                  <a:t>.</a:t>
                </a:r>
              </a:p>
              <a:p>
                <a:pPr marL="0" marR="0" lvl="0" indent="0" defTabSz="914400" eaLnBrk="1" fontAlgn="auto" latinLnBrk="0" hangingPunct="1">
                  <a:lnSpc>
                    <a:spcPct val="100000"/>
                  </a:lnSpc>
                  <a:spcBef>
                    <a:spcPts val="0"/>
                  </a:spcBef>
                  <a:spcAft>
                    <a:spcPts val="0"/>
                  </a:spcAft>
                  <a:buClrTx/>
                  <a:buSzTx/>
                  <a:buFontTx/>
                  <a:buNone/>
                  <a:tabLst/>
                  <a:defRPr/>
                </a:pPr>
                <a:endParaRPr kumimoji="0" lang="es-CL" sz="1200" b="0" i="0" u="none" strike="noStrike" kern="0" cap="none" spc="0" normalizeH="0" baseline="0" noProof="0" dirty="0">
                  <a:ln>
                    <a:noFill/>
                  </a:ln>
                  <a:solidFill>
                    <a:srgbClr val="FFFFFF"/>
                  </a:solidFill>
                  <a:effectLst/>
                  <a:uLnTx/>
                  <a:uFillTx/>
                  <a:latin typeface="Arial"/>
                  <a:ea typeface="+mn-ea"/>
                  <a:cs typeface="+mn-cs"/>
                </a:endParaRPr>
              </a:p>
            </p:txBody>
          </p:sp>
        </p:grpSp>
        <p:sp>
          <p:nvSpPr>
            <p:cNvPr id="26" name="Rectangle 25">
              <a:extLst>
                <a:ext uri="{FF2B5EF4-FFF2-40B4-BE49-F238E27FC236}">
                  <a16:creationId xmlns:a16="http://schemas.microsoft.com/office/drawing/2014/main" id="{3525F77F-2DD6-42B0-389D-B37072321CA7}"/>
                </a:ext>
              </a:extLst>
            </p:cNvPr>
            <p:cNvSpPr/>
            <p:nvPr/>
          </p:nvSpPr>
          <p:spPr bwMode="auto">
            <a:xfrm>
              <a:off x="6026099" y="5059676"/>
              <a:ext cx="438912" cy="708407"/>
            </a:xfrm>
            <a:prstGeom prst="rect">
              <a:avLst/>
            </a:prstGeom>
            <a:solidFill>
              <a:schemeClr val="bg2"/>
            </a:solidFill>
            <a:ln w="9525"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27" name="Rectangle 26">
              <a:extLst>
                <a:ext uri="{FF2B5EF4-FFF2-40B4-BE49-F238E27FC236}">
                  <a16:creationId xmlns:a16="http://schemas.microsoft.com/office/drawing/2014/main" id="{CC669095-9394-0EC9-C29F-B57AE7200BA2}"/>
                </a:ext>
              </a:extLst>
            </p:cNvPr>
            <p:cNvSpPr/>
            <p:nvPr/>
          </p:nvSpPr>
          <p:spPr bwMode="auto">
            <a:xfrm>
              <a:off x="6557727" y="5059678"/>
              <a:ext cx="83814" cy="708406"/>
            </a:xfrm>
            <a:prstGeom prst="rect">
              <a:avLst/>
            </a:prstGeom>
            <a:solidFill>
              <a:schemeClr val="bg2"/>
            </a:solidFill>
            <a:ln w="9525" cap="flat" cmpd="sng" algn="ctr">
              <a:solidFill>
                <a:schemeClr val="bg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cxnSp>
        <p:nvCxnSpPr>
          <p:cNvPr id="33" name="Straight Arrow Connector 32">
            <a:extLst>
              <a:ext uri="{FF2B5EF4-FFF2-40B4-BE49-F238E27FC236}">
                <a16:creationId xmlns:a16="http://schemas.microsoft.com/office/drawing/2014/main" id="{CB221D57-1E0C-05D9-137E-4BD4EE3F7B7E}"/>
              </a:ext>
            </a:extLst>
          </p:cNvPr>
          <p:cNvCxnSpPr>
            <a:cxnSpLocks/>
          </p:cNvCxnSpPr>
          <p:nvPr/>
        </p:nvCxnSpPr>
        <p:spPr>
          <a:xfrm>
            <a:off x="1011533" y="5534877"/>
            <a:ext cx="3602895" cy="1270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B2D86C8-7D89-9249-AEDD-413F6A929664}"/>
              </a:ext>
            </a:extLst>
          </p:cNvPr>
          <p:cNvCxnSpPr>
            <a:cxnSpLocks/>
          </p:cNvCxnSpPr>
          <p:nvPr/>
        </p:nvCxnSpPr>
        <p:spPr>
          <a:xfrm flipV="1">
            <a:off x="7396642" y="5534877"/>
            <a:ext cx="3442627" cy="1270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A3C0691B-9B60-FBFB-4AD8-66DC86540E63}"/>
              </a:ext>
            </a:extLst>
          </p:cNvPr>
          <p:cNvSpPr/>
          <p:nvPr/>
        </p:nvSpPr>
        <p:spPr>
          <a:xfrm>
            <a:off x="4841455" y="5376851"/>
            <a:ext cx="2504328" cy="584775"/>
          </a:xfrm>
          <a:prstGeom prst="rect">
            <a:avLst/>
          </a:prstGeom>
        </p:spPr>
        <p:txBody>
          <a:bodyPr wrap="square" lIns="0" tIns="0" rIns="0" bIns="0" anchor="t">
            <a:spAutoFit/>
          </a:bodyPr>
          <a:lstStyle/>
          <a:p>
            <a:pPr defTabSz="896386">
              <a:defRPr/>
            </a:pPr>
            <a:r>
              <a:rPr lang="es-CL" b="1" spc="-50" dirty="0">
                <a:solidFill>
                  <a:srgbClr val="AADDEE"/>
                </a:solidFill>
              </a:rPr>
              <a:t>Gobierno Corporativo</a:t>
            </a:r>
          </a:p>
          <a:p>
            <a:pPr defTabSz="896386">
              <a:defRPr/>
            </a:pPr>
            <a:r>
              <a:rPr lang="es-CL" sz="2000" spc="-50">
                <a:solidFill>
                  <a:schemeClr val="bg1"/>
                </a:solidFill>
                <a:latin typeface="Arial"/>
                <a:cs typeface="Arial"/>
              </a:rPr>
              <a:t>(Corp.</a:t>
            </a:r>
            <a:r>
              <a:rPr lang="es-CL" sz="2000" spc="-50" dirty="0">
                <a:solidFill>
                  <a:schemeClr val="bg1"/>
                </a:solidFill>
                <a:latin typeface="Arial"/>
                <a:cs typeface="Arial"/>
              </a:rPr>
              <a:t> Fin.</a:t>
            </a:r>
            <a:r>
              <a:rPr lang="es-CL" sz="1200" spc="-50" dirty="0">
                <a:solidFill>
                  <a:schemeClr val="bg1"/>
                </a:solidFill>
                <a:latin typeface="Arial"/>
                <a:cs typeface="Arial"/>
              </a:rPr>
              <a:t> </a:t>
            </a:r>
            <a:r>
              <a:rPr lang="es-CL" sz="2000" spc="-50">
                <a:solidFill>
                  <a:schemeClr val="bg1"/>
                </a:solidFill>
                <a:latin typeface="Arial"/>
                <a:cs typeface="Arial"/>
              </a:rPr>
              <a:t>Inte</a:t>
            </a:r>
            <a:r>
              <a:rPr lang="es-CL" sz="2000" spc="-50" dirty="0">
                <a:solidFill>
                  <a:schemeClr val="bg1"/>
                </a:solidFill>
                <a:latin typeface="Arial"/>
                <a:cs typeface="Arial"/>
              </a:rPr>
              <a:t>r</a:t>
            </a:r>
            <a:r>
              <a:rPr lang="es-CL" sz="2000" spc="-50">
                <a:solidFill>
                  <a:schemeClr val="bg1"/>
                </a:solidFill>
                <a:latin typeface="Arial"/>
                <a:cs typeface="Arial"/>
              </a:rPr>
              <a:t>.)</a:t>
            </a:r>
            <a:endParaRPr lang="es-CL" sz="2000" spc="-50" dirty="0">
              <a:solidFill>
                <a:schemeClr val="bg1"/>
              </a:solidFill>
              <a:latin typeface="Arial"/>
              <a:cs typeface="Arial"/>
            </a:endParaRPr>
          </a:p>
        </p:txBody>
      </p:sp>
    </p:spTree>
    <p:extLst>
      <p:ext uri="{BB962C8B-B14F-4D97-AF65-F5344CB8AC3E}">
        <p14:creationId xmlns:p14="http://schemas.microsoft.com/office/powerpoint/2010/main" val="81955709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AutoShape 7">
            <a:extLst>
              <a:ext uri="{FF2B5EF4-FFF2-40B4-BE49-F238E27FC236}">
                <a16:creationId xmlns:a16="http://schemas.microsoft.com/office/drawing/2014/main" id="{89B89009-4FB1-8A76-EFA6-A1D24A9F6723}"/>
              </a:ext>
            </a:extLst>
          </p:cNvPr>
          <p:cNvCxnSpPr>
            <a:cxnSpLocks noChangeShapeType="1"/>
          </p:cNvCxnSpPr>
          <p:nvPr/>
        </p:nvCxnSpPr>
        <p:spPr bwMode="auto">
          <a:xfrm rot="5400000">
            <a:off x="10556931" y="5535983"/>
            <a:ext cx="264424" cy="0"/>
          </a:xfrm>
          <a:prstGeom prst="straightConnector1">
            <a:avLst/>
          </a:prstGeom>
          <a:noFill/>
          <a:ln w="6350">
            <a:solidFill>
              <a:schemeClr val="bg1"/>
            </a:solidFill>
            <a:round/>
            <a:headEnd/>
            <a:tailEnd/>
          </a:ln>
          <a:effectLst/>
        </p:spPr>
      </p:cxnSp>
      <p:sp>
        <p:nvSpPr>
          <p:cNvPr id="2" name="TextBox 1"/>
          <p:cNvSpPr txBox="1"/>
          <p:nvPr/>
        </p:nvSpPr>
        <p:spPr>
          <a:xfrm>
            <a:off x="347950" y="428726"/>
            <a:ext cx="8973849"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Organigrama y Roles </a:t>
            </a:r>
            <a:endParaRPr lang="en-US" sz="3500" spc="-30" dirty="0">
              <a:solidFill>
                <a:prstClr val="white"/>
              </a:solidFill>
              <a:latin typeface="Arial"/>
            </a:endParaRPr>
          </a:p>
        </p:txBody>
      </p:sp>
      <p:sp>
        <p:nvSpPr>
          <p:cNvPr id="133" name="TextBox 132">
            <a:extLst>
              <a:ext uri="{FF2B5EF4-FFF2-40B4-BE49-F238E27FC236}">
                <a16:creationId xmlns:a16="http://schemas.microsoft.com/office/drawing/2014/main" id="{339BD114-9A3E-AC44-73C6-A9E54AE6CADB}"/>
              </a:ext>
            </a:extLst>
          </p:cNvPr>
          <p:cNvSpPr txBox="1"/>
          <p:nvPr/>
        </p:nvSpPr>
        <p:spPr>
          <a:xfrm>
            <a:off x="439558" y="1398309"/>
            <a:ext cx="11169424" cy="4708981"/>
          </a:xfrm>
          <a:prstGeom prst="rect">
            <a:avLst/>
          </a:prstGeom>
          <a:noFill/>
        </p:spPr>
        <p:txBody>
          <a:bodyPr wrap="square" rtlCol="0">
            <a:spAutoFit/>
          </a:bodyPr>
          <a:lstStyle/>
          <a:p>
            <a:pPr algn="just"/>
            <a:r>
              <a:rPr lang="es-ES" sz="2000" spc="-50" dirty="0">
                <a:solidFill>
                  <a:prstClr val="white"/>
                </a:solidFill>
                <a:latin typeface="Arial"/>
              </a:rPr>
              <a:t>IT-Trail Services en Colombia considera nuevos colaboradores locales, </a:t>
            </a:r>
            <a:r>
              <a:rPr lang="es-CL" sz="2000" spc="-50" dirty="0">
                <a:solidFill>
                  <a:prstClr val="white"/>
                </a:solidFill>
                <a:latin typeface="Arial"/>
              </a:rPr>
              <a:t>A medida que la empresa se consolide y expanda en el mercado colombiano, se procederá a la contratación de personal local progresivamente</a:t>
            </a:r>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endParaRPr lang="es-ES" sz="2000" spc="-50" dirty="0">
              <a:solidFill>
                <a:prstClr val="white"/>
              </a:solidFill>
              <a:latin typeface="Arial"/>
            </a:endParaRPr>
          </a:p>
          <a:p>
            <a:pPr algn="just"/>
            <a:r>
              <a:rPr lang="es-CL" sz="2000" spc="-50" dirty="0">
                <a:solidFill>
                  <a:prstClr val="white"/>
                </a:solidFill>
                <a:latin typeface="Arial"/>
              </a:rPr>
              <a:t> </a:t>
            </a:r>
            <a:endParaRPr lang="es-ES" sz="2000" spc="-50" dirty="0">
              <a:solidFill>
                <a:prstClr val="white"/>
              </a:solidFill>
              <a:latin typeface="Arial"/>
            </a:endParaRPr>
          </a:p>
        </p:txBody>
      </p:sp>
      <p:sp>
        <p:nvSpPr>
          <p:cNvPr id="4" name="Rectangle 4">
            <a:extLst>
              <a:ext uri="{FF2B5EF4-FFF2-40B4-BE49-F238E27FC236}">
                <a16:creationId xmlns:a16="http://schemas.microsoft.com/office/drawing/2014/main" id="{D1C24924-6F99-B621-97F8-8916D4854B0E}"/>
              </a:ext>
            </a:extLst>
          </p:cNvPr>
          <p:cNvSpPr>
            <a:spLocks noChangeArrowheads="1"/>
          </p:cNvSpPr>
          <p:nvPr/>
        </p:nvSpPr>
        <p:spPr bwMode="auto">
          <a:xfrm>
            <a:off x="2432656" y="4220588"/>
            <a:ext cx="1379001" cy="488877"/>
          </a:xfrm>
          <a:prstGeom prst="rect">
            <a:avLst/>
          </a:prstGeom>
          <a:solidFill>
            <a:srgbClr val="640D26"/>
          </a:solidFill>
          <a:ln w="6350">
            <a:solidFill>
              <a:schemeClr val="bg1"/>
            </a:solidFill>
            <a:miter lim="800000"/>
            <a:headEnd type="none" w="sm" len="sm"/>
            <a:tailEnd type="none" w="sm" len="sm"/>
          </a:ln>
          <a:effectLst/>
        </p:spPr>
        <p:txBody>
          <a:bodyPr wrap="none" lIns="72017" tIns="72017" rIns="72017" bIns="72017"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rPr>
              <a:t>Manager</a:t>
            </a:r>
            <a:endParaRPr kumimoji="0" lang="en-US" sz="1200" b="0" i="0" u="none" strike="noStrike" kern="0" cap="none" spc="0" normalizeH="0" baseline="0" noProof="0" dirty="0">
              <a:ln>
                <a:noFill/>
              </a:ln>
              <a:solidFill>
                <a:srgbClr val="FFFFFF"/>
              </a:solidFill>
              <a:effectLst/>
              <a:uLnTx/>
              <a:uFillTx/>
            </a:endParaRPr>
          </a:p>
        </p:txBody>
      </p:sp>
      <p:cxnSp>
        <p:nvCxnSpPr>
          <p:cNvPr id="12" name="AutoShape 7">
            <a:extLst>
              <a:ext uri="{FF2B5EF4-FFF2-40B4-BE49-F238E27FC236}">
                <a16:creationId xmlns:a16="http://schemas.microsoft.com/office/drawing/2014/main" id="{8B16611B-0ADA-375C-B1BF-3C042CD7FD7F}"/>
              </a:ext>
            </a:extLst>
          </p:cNvPr>
          <p:cNvCxnSpPr>
            <a:cxnSpLocks noChangeShapeType="1"/>
            <a:stCxn id="4" idx="2"/>
            <a:endCxn id="13" idx="0"/>
          </p:cNvCxnSpPr>
          <p:nvPr/>
        </p:nvCxnSpPr>
        <p:spPr bwMode="auto">
          <a:xfrm rot="5400000">
            <a:off x="2990713" y="4841677"/>
            <a:ext cx="264424" cy="0"/>
          </a:xfrm>
          <a:prstGeom prst="straightConnector1">
            <a:avLst/>
          </a:prstGeom>
          <a:noFill/>
          <a:ln w="6350">
            <a:solidFill>
              <a:schemeClr val="bg1"/>
            </a:solidFill>
            <a:round/>
            <a:headEnd/>
            <a:tailEnd/>
          </a:ln>
          <a:effectLst/>
        </p:spPr>
      </p:cxnSp>
      <p:sp>
        <p:nvSpPr>
          <p:cNvPr id="13" name="Rectangle 31">
            <a:extLst>
              <a:ext uri="{FF2B5EF4-FFF2-40B4-BE49-F238E27FC236}">
                <a16:creationId xmlns:a16="http://schemas.microsoft.com/office/drawing/2014/main" id="{B07D0F70-47FE-2E6E-AC4B-DEFA93E180C0}"/>
              </a:ext>
            </a:extLst>
          </p:cNvPr>
          <p:cNvSpPr>
            <a:spLocks noChangeArrowheads="1"/>
          </p:cNvSpPr>
          <p:nvPr/>
        </p:nvSpPr>
        <p:spPr bwMode="auto">
          <a:xfrm>
            <a:off x="2432656" y="4973889"/>
            <a:ext cx="1379001" cy="484264"/>
          </a:xfrm>
          <a:prstGeom prst="rect">
            <a:avLst/>
          </a:prstGeom>
          <a:solidFill>
            <a:srgbClr val="9C102E"/>
          </a:solidFill>
          <a:ln w="6350">
            <a:solidFill>
              <a:schemeClr val="bg1"/>
            </a:solidFill>
            <a:miter lim="800000"/>
            <a:headEnd type="none" w="sm" len="sm"/>
            <a:tailEnd type="none" w="sm" len="sm"/>
          </a:ln>
          <a:effectLst/>
        </p:spPr>
        <p:txBody>
          <a:bodyPr wrap="none" lIns="72017" tIns="72017" rIns="72017" bIns="72017" anchor="ct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rPr>
              <a:t>Consultor de </a:t>
            </a:r>
          </a:p>
          <a:p>
            <a:pPr marL="0" marR="0" lvl="0" indent="0" defTabSz="914400" eaLnBrk="0"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err="1">
                <a:ln>
                  <a:noFill/>
                </a:ln>
                <a:solidFill>
                  <a:srgbClr val="FFFFFF"/>
                </a:solidFill>
                <a:effectLst/>
                <a:uLnTx/>
                <a:uFillTx/>
              </a:rPr>
              <a:t>Ciberseguridad</a:t>
            </a:r>
            <a:endParaRPr kumimoji="0" lang="en-US" sz="1200" b="0" i="0" u="none" strike="noStrike" kern="0" cap="none" spc="0" normalizeH="0" baseline="0" noProof="0" dirty="0">
              <a:ln>
                <a:noFill/>
              </a:ln>
              <a:solidFill>
                <a:srgbClr val="FFFFFF"/>
              </a:solidFill>
              <a:effectLst/>
              <a:uLnTx/>
              <a:uFillTx/>
            </a:endParaRPr>
          </a:p>
        </p:txBody>
      </p:sp>
      <p:sp>
        <p:nvSpPr>
          <p:cNvPr id="14" name="Rectangle 4">
            <a:extLst>
              <a:ext uri="{FF2B5EF4-FFF2-40B4-BE49-F238E27FC236}">
                <a16:creationId xmlns:a16="http://schemas.microsoft.com/office/drawing/2014/main" id="{E21039CE-7C78-A190-1B36-4692047459F0}"/>
              </a:ext>
            </a:extLst>
          </p:cNvPr>
          <p:cNvSpPr>
            <a:spLocks noChangeArrowheads="1"/>
          </p:cNvSpPr>
          <p:nvPr/>
        </p:nvSpPr>
        <p:spPr bwMode="auto">
          <a:xfrm>
            <a:off x="2433424" y="3266907"/>
            <a:ext cx="1379001" cy="488877"/>
          </a:xfrm>
          <a:prstGeom prst="rect">
            <a:avLst/>
          </a:prstGeom>
          <a:solidFill>
            <a:srgbClr val="666666"/>
          </a:solidFill>
          <a:ln w="6350">
            <a:solidFill>
              <a:schemeClr val="bg1"/>
            </a:solidFill>
            <a:miter lim="800000"/>
            <a:headEnd type="none" w="sm" len="sm"/>
            <a:tailEnd type="none" w="sm" len="sm"/>
          </a:ln>
          <a:effectLst/>
        </p:spPr>
        <p:txBody>
          <a:bodyPr wrap="none" lIns="72017" tIns="72017" rIns="72017" bIns="72017" anchor="ctr"/>
          <a:lstStyle/>
          <a:p>
            <a:pPr eaLnBrk="0" fontAlgn="auto" hangingPunct="0">
              <a:spcBef>
                <a:spcPts val="0"/>
              </a:spcBef>
              <a:spcAft>
                <a:spcPts val="0"/>
              </a:spcAft>
            </a:pPr>
            <a:r>
              <a:rPr lang="en-US" sz="1200" b="1" kern="0" dirty="0">
                <a:solidFill>
                  <a:srgbClr val="FFFFFF"/>
                </a:solidFill>
              </a:rPr>
              <a:t>Director de </a:t>
            </a:r>
          </a:p>
          <a:p>
            <a:pPr eaLnBrk="0" fontAlgn="auto" hangingPunct="0">
              <a:spcBef>
                <a:spcPts val="0"/>
              </a:spcBef>
              <a:spcAft>
                <a:spcPts val="0"/>
              </a:spcAft>
            </a:pPr>
            <a:r>
              <a:rPr lang="en-US" sz="1200" b="1" kern="0" dirty="0" err="1">
                <a:solidFill>
                  <a:srgbClr val="FFFFFF"/>
                </a:solidFill>
              </a:rPr>
              <a:t>Negocios</a:t>
            </a:r>
            <a:endParaRPr lang="en-US" sz="1200" b="1" kern="0" dirty="0">
              <a:solidFill>
                <a:srgbClr val="FFFFFF"/>
              </a:solidFill>
            </a:endParaRPr>
          </a:p>
        </p:txBody>
      </p:sp>
      <p:cxnSp>
        <p:nvCxnSpPr>
          <p:cNvPr id="15" name="Conector recto 13">
            <a:extLst>
              <a:ext uri="{FF2B5EF4-FFF2-40B4-BE49-F238E27FC236}">
                <a16:creationId xmlns:a16="http://schemas.microsoft.com/office/drawing/2014/main" id="{B2E47AF7-8246-7006-8857-7C91F0E55B31}"/>
              </a:ext>
            </a:extLst>
          </p:cNvPr>
          <p:cNvCxnSpPr>
            <a:stCxn id="14" idx="2"/>
            <a:endCxn id="4" idx="0"/>
          </p:cNvCxnSpPr>
          <p:nvPr/>
        </p:nvCxnSpPr>
        <p:spPr>
          <a:xfrm flipH="1">
            <a:off x="3122157" y="3755784"/>
            <a:ext cx="768" cy="464804"/>
          </a:xfrm>
          <a:prstGeom prst="line">
            <a:avLst/>
          </a:prstGeom>
          <a:noFill/>
          <a:ln w="9525" cap="flat" cmpd="sng" algn="ctr">
            <a:solidFill>
              <a:schemeClr val="bg1"/>
            </a:solidFill>
            <a:prstDash val="solid"/>
          </a:ln>
          <a:effectLst/>
        </p:spPr>
      </p:cxnSp>
      <p:sp>
        <p:nvSpPr>
          <p:cNvPr id="17" name="Rectangle 4">
            <a:extLst>
              <a:ext uri="{FF2B5EF4-FFF2-40B4-BE49-F238E27FC236}">
                <a16:creationId xmlns:a16="http://schemas.microsoft.com/office/drawing/2014/main" id="{5B838436-56E9-577E-B1A6-9FE37DD870CF}"/>
              </a:ext>
            </a:extLst>
          </p:cNvPr>
          <p:cNvSpPr>
            <a:spLocks noChangeArrowheads="1"/>
          </p:cNvSpPr>
          <p:nvPr/>
        </p:nvSpPr>
        <p:spPr bwMode="auto">
          <a:xfrm>
            <a:off x="694615" y="3731711"/>
            <a:ext cx="1379001" cy="488877"/>
          </a:xfrm>
          <a:prstGeom prst="rect">
            <a:avLst/>
          </a:prstGeom>
          <a:solidFill>
            <a:srgbClr val="9C102E"/>
          </a:solidFill>
          <a:ln w="9525">
            <a:solidFill>
              <a:schemeClr val="bg1"/>
            </a:solidFill>
            <a:miter lim="800000"/>
            <a:headEnd type="none" w="sm" len="sm"/>
            <a:tailEnd type="none" w="sm" len="sm"/>
          </a:ln>
          <a:effectLst/>
        </p:spPr>
        <p:txBody>
          <a:bodyPr wrap="none" lIns="72017" tIns="72017" rIns="72017" bIns="72017" anchor="ctr"/>
          <a:lstStyle/>
          <a:p>
            <a:pPr eaLnBrk="0" fontAlgn="auto" hangingPunct="0">
              <a:spcBef>
                <a:spcPts val="0"/>
              </a:spcBef>
              <a:spcAft>
                <a:spcPts val="0"/>
              </a:spcAft>
            </a:pPr>
            <a:r>
              <a:rPr lang="es-CL" sz="1200" b="1" kern="0" dirty="0">
                <a:solidFill>
                  <a:srgbClr val="FFFFFF"/>
                </a:solidFill>
              </a:rPr>
              <a:t>Contador</a:t>
            </a:r>
          </a:p>
          <a:p>
            <a:pPr eaLnBrk="0" fontAlgn="auto" hangingPunct="0">
              <a:spcBef>
                <a:spcPts val="0"/>
              </a:spcBef>
              <a:spcAft>
                <a:spcPts val="0"/>
              </a:spcAft>
            </a:pPr>
            <a:r>
              <a:rPr lang="es-CL" sz="1200" b="1" kern="0" dirty="0">
                <a:solidFill>
                  <a:srgbClr val="FFFFFF"/>
                </a:solidFill>
              </a:rPr>
              <a:t>General</a:t>
            </a:r>
            <a:endParaRPr lang="en-US" sz="1200" b="1" kern="0" dirty="0">
              <a:solidFill>
                <a:srgbClr val="FFFFFF"/>
              </a:solidFill>
            </a:endParaRPr>
          </a:p>
        </p:txBody>
      </p:sp>
      <p:cxnSp>
        <p:nvCxnSpPr>
          <p:cNvPr id="18" name="Straight Connector 33">
            <a:extLst>
              <a:ext uri="{FF2B5EF4-FFF2-40B4-BE49-F238E27FC236}">
                <a16:creationId xmlns:a16="http://schemas.microsoft.com/office/drawing/2014/main" id="{56842752-D9FE-906C-04BB-0BD0AE1194A2}"/>
              </a:ext>
            </a:extLst>
          </p:cNvPr>
          <p:cNvCxnSpPr>
            <a:cxnSpLocks/>
            <a:stCxn id="17" idx="3"/>
          </p:cNvCxnSpPr>
          <p:nvPr/>
        </p:nvCxnSpPr>
        <p:spPr bwMode="auto">
          <a:xfrm>
            <a:off x="2073616" y="3976150"/>
            <a:ext cx="1058610" cy="0"/>
          </a:xfrm>
          <a:prstGeom prst="line">
            <a:avLst/>
          </a:prstGeom>
          <a:solidFill>
            <a:srgbClr val="00BBEE"/>
          </a:solidFill>
          <a:ln w="9525" cap="flat" cmpd="sng" algn="ctr">
            <a:solidFill>
              <a:schemeClr val="bg1"/>
            </a:solidFill>
            <a:prstDash val="solid"/>
            <a:round/>
            <a:headEnd type="none" w="med" len="med"/>
            <a:tailEnd type="none" w="med" len="med"/>
          </a:ln>
          <a:effectLst/>
        </p:spPr>
      </p:cxnSp>
      <p:sp>
        <p:nvSpPr>
          <p:cNvPr id="20" name="Rectangle 4">
            <a:extLst>
              <a:ext uri="{FF2B5EF4-FFF2-40B4-BE49-F238E27FC236}">
                <a16:creationId xmlns:a16="http://schemas.microsoft.com/office/drawing/2014/main" id="{E10C3BA5-CFAA-489A-8A87-05AB0EA7DDD9}"/>
              </a:ext>
            </a:extLst>
          </p:cNvPr>
          <p:cNvSpPr>
            <a:spLocks noChangeArrowheads="1"/>
          </p:cNvSpPr>
          <p:nvPr/>
        </p:nvSpPr>
        <p:spPr bwMode="auto">
          <a:xfrm>
            <a:off x="8287039" y="4220588"/>
            <a:ext cx="1379001" cy="488877"/>
          </a:xfrm>
          <a:prstGeom prst="rect">
            <a:avLst/>
          </a:prstGeom>
          <a:solidFill>
            <a:srgbClr val="640D26"/>
          </a:solidFill>
          <a:ln w="6350">
            <a:noFill/>
            <a:miter lim="800000"/>
            <a:headEnd type="none" w="sm" len="sm"/>
            <a:tailEnd type="none" w="sm" len="sm"/>
          </a:ln>
          <a:effectLst/>
        </p:spPr>
        <p:txBody>
          <a:bodyPr wrap="none" lIns="72017" tIns="72017" rIns="72017" bIns="72017" anchor="ctr"/>
          <a:lstStyle/>
          <a:p>
            <a:pPr eaLnBrk="0" fontAlgn="auto" hangingPunct="0">
              <a:spcBef>
                <a:spcPts val="0"/>
              </a:spcBef>
              <a:spcAft>
                <a:spcPts val="0"/>
              </a:spcAft>
            </a:pPr>
            <a:r>
              <a:rPr lang="en-US" sz="1200" b="1" kern="0" dirty="0">
                <a:solidFill>
                  <a:srgbClr val="FFFFFF"/>
                </a:solidFill>
              </a:rPr>
              <a:t>Manager</a:t>
            </a:r>
          </a:p>
        </p:txBody>
      </p:sp>
      <p:cxnSp>
        <p:nvCxnSpPr>
          <p:cNvPr id="21" name="AutoShape 6">
            <a:extLst>
              <a:ext uri="{FF2B5EF4-FFF2-40B4-BE49-F238E27FC236}">
                <a16:creationId xmlns:a16="http://schemas.microsoft.com/office/drawing/2014/main" id="{F138D3CA-4F44-9C5C-105D-E0A5B080D643}"/>
              </a:ext>
            </a:extLst>
          </p:cNvPr>
          <p:cNvCxnSpPr>
            <a:cxnSpLocks noChangeShapeType="1"/>
            <a:stCxn id="24" idx="0"/>
            <a:endCxn id="20" idx="2"/>
          </p:cNvCxnSpPr>
          <p:nvPr/>
        </p:nvCxnSpPr>
        <p:spPr bwMode="auto">
          <a:xfrm rot="16200000">
            <a:off x="7994174" y="3990755"/>
            <a:ext cx="264424" cy="1701844"/>
          </a:xfrm>
          <a:prstGeom prst="bentConnector3">
            <a:avLst>
              <a:gd name="adj1" fmla="val 49676"/>
            </a:avLst>
          </a:prstGeom>
          <a:noFill/>
          <a:ln w="6350">
            <a:solidFill>
              <a:schemeClr val="bg1"/>
            </a:solidFill>
            <a:miter lim="800000"/>
            <a:headEnd/>
            <a:tailEnd/>
          </a:ln>
          <a:effectLst/>
        </p:spPr>
      </p:cxnSp>
      <p:cxnSp>
        <p:nvCxnSpPr>
          <p:cNvPr id="22" name="AutoShape 7">
            <a:extLst>
              <a:ext uri="{FF2B5EF4-FFF2-40B4-BE49-F238E27FC236}">
                <a16:creationId xmlns:a16="http://schemas.microsoft.com/office/drawing/2014/main" id="{3B971A4A-A9EE-A1A4-5303-8F2E90BD2239}"/>
              </a:ext>
            </a:extLst>
          </p:cNvPr>
          <p:cNvCxnSpPr>
            <a:cxnSpLocks noChangeShapeType="1"/>
            <a:stCxn id="20" idx="2"/>
            <a:endCxn id="25" idx="0"/>
          </p:cNvCxnSpPr>
          <p:nvPr/>
        </p:nvCxnSpPr>
        <p:spPr bwMode="auto">
          <a:xfrm rot="5400000">
            <a:off x="8845096" y="4841677"/>
            <a:ext cx="264424" cy="0"/>
          </a:xfrm>
          <a:prstGeom prst="straightConnector1">
            <a:avLst/>
          </a:prstGeom>
          <a:noFill/>
          <a:ln w="6350">
            <a:solidFill>
              <a:srgbClr val="00BBEE"/>
            </a:solidFill>
            <a:round/>
            <a:headEnd/>
            <a:tailEnd/>
          </a:ln>
          <a:effectLst/>
        </p:spPr>
      </p:cxnSp>
      <p:cxnSp>
        <p:nvCxnSpPr>
          <p:cNvPr id="23" name="AutoShape 8">
            <a:extLst>
              <a:ext uri="{FF2B5EF4-FFF2-40B4-BE49-F238E27FC236}">
                <a16:creationId xmlns:a16="http://schemas.microsoft.com/office/drawing/2014/main" id="{239D17B6-FEC9-0B5D-83EC-307302EA1EAE}"/>
              </a:ext>
            </a:extLst>
          </p:cNvPr>
          <p:cNvCxnSpPr>
            <a:cxnSpLocks noChangeShapeType="1"/>
            <a:stCxn id="20" idx="2"/>
            <a:endCxn id="29" idx="0"/>
          </p:cNvCxnSpPr>
          <p:nvPr/>
        </p:nvCxnSpPr>
        <p:spPr bwMode="auto">
          <a:xfrm rot="16200000" flipH="1">
            <a:off x="9695250" y="3991523"/>
            <a:ext cx="264424" cy="1700307"/>
          </a:xfrm>
          <a:prstGeom prst="bentConnector3">
            <a:avLst>
              <a:gd name="adj1" fmla="val 49676"/>
            </a:avLst>
          </a:prstGeom>
          <a:noFill/>
          <a:ln w="6350">
            <a:solidFill>
              <a:schemeClr val="bg1"/>
            </a:solidFill>
            <a:miter lim="800000"/>
            <a:headEnd/>
            <a:tailEnd/>
          </a:ln>
          <a:effectLst/>
        </p:spPr>
      </p:cxnSp>
      <p:sp>
        <p:nvSpPr>
          <p:cNvPr id="24" name="Rectangle 21">
            <a:extLst>
              <a:ext uri="{FF2B5EF4-FFF2-40B4-BE49-F238E27FC236}">
                <a16:creationId xmlns:a16="http://schemas.microsoft.com/office/drawing/2014/main" id="{B5714146-19A7-3632-4D00-07185CD097A4}"/>
              </a:ext>
            </a:extLst>
          </p:cNvPr>
          <p:cNvSpPr>
            <a:spLocks noChangeArrowheads="1"/>
          </p:cNvSpPr>
          <p:nvPr/>
        </p:nvSpPr>
        <p:spPr bwMode="auto">
          <a:xfrm>
            <a:off x="6585194" y="4973889"/>
            <a:ext cx="1377464" cy="484264"/>
          </a:xfrm>
          <a:prstGeom prst="rect">
            <a:avLst/>
          </a:prstGeom>
          <a:solidFill>
            <a:srgbClr val="9C102E"/>
          </a:solidFill>
          <a:ln w="6350">
            <a:solidFill>
              <a:schemeClr val="bg1"/>
            </a:solidFill>
            <a:miter lim="800000"/>
            <a:headEnd type="none" w="sm" len="sm"/>
            <a:tailEnd type="none" w="sm" len="sm"/>
          </a:ln>
          <a:effectLst/>
        </p:spPr>
        <p:txBody>
          <a:bodyPr wrap="none" lIns="72017" tIns="72017" rIns="72017" bIns="72017" anchor="ctr"/>
          <a:lstStyle/>
          <a:p>
            <a:pPr eaLnBrk="0" fontAlgn="auto" hangingPunct="0">
              <a:spcBef>
                <a:spcPts val="0"/>
              </a:spcBef>
              <a:spcAft>
                <a:spcPts val="0"/>
              </a:spcAft>
            </a:pPr>
            <a:r>
              <a:rPr lang="en-US" sz="1200" b="1" kern="0" dirty="0">
                <a:solidFill>
                  <a:srgbClr val="FFFFFF"/>
                </a:solidFill>
              </a:rPr>
              <a:t>Consultor de </a:t>
            </a:r>
          </a:p>
          <a:p>
            <a:pPr eaLnBrk="0" fontAlgn="auto" hangingPunct="0">
              <a:spcBef>
                <a:spcPts val="0"/>
              </a:spcBef>
              <a:spcAft>
                <a:spcPts val="0"/>
              </a:spcAft>
            </a:pPr>
            <a:r>
              <a:rPr lang="en-US" sz="1200" b="1" kern="0" dirty="0" err="1">
                <a:solidFill>
                  <a:srgbClr val="FFFFFF"/>
                </a:solidFill>
              </a:rPr>
              <a:t>Ciberseguridad</a:t>
            </a:r>
            <a:endParaRPr lang="en-US" sz="1200" b="1" kern="0" dirty="0">
              <a:solidFill>
                <a:srgbClr val="FFFFFF"/>
              </a:solidFill>
            </a:endParaRPr>
          </a:p>
        </p:txBody>
      </p:sp>
      <p:sp>
        <p:nvSpPr>
          <p:cNvPr id="25" name="Rectangle 31">
            <a:extLst>
              <a:ext uri="{FF2B5EF4-FFF2-40B4-BE49-F238E27FC236}">
                <a16:creationId xmlns:a16="http://schemas.microsoft.com/office/drawing/2014/main" id="{F8348959-2703-6023-85F9-26C10ACC381C}"/>
              </a:ext>
            </a:extLst>
          </p:cNvPr>
          <p:cNvSpPr>
            <a:spLocks noChangeArrowheads="1"/>
          </p:cNvSpPr>
          <p:nvPr/>
        </p:nvSpPr>
        <p:spPr bwMode="auto">
          <a:xfrm>
            <a:off x="8287039" y="4973889"/>
            <a:ext cx="1379001" cy="484264"/>
          </a:xfrm>
          <a:prstGeom prst="rect">
            <a:avLst/>
          </a:prstGeom>
          <a:solidFill>
            <a:srgbClr val="9C102E"/>
          </a:solidFill>
          <a:ln w="6350">
            <a:solidFill>
              <a:schemeClr val="bg1"/>
            </a:solidFill>
            <a:miter lim="800000"/>
            <a:headEnd type="none" w="sm" len="sm"/>
            <a:tailEnd type="none" w="sm" len="sm"/>
          </a:ln>
          <a:effectLst/>
        </p:spPr>
        <p:txBody>
          <a:bodyPr wrap="none" lIns="72017" tIns="72017" rIns="72017" bIns="72017" anchor="ctr"/>
          <a:lstStyle/>
          <a:p>
            <a:pPr eaLnBrk="0" fontAlgn="auto" hangingPunct="0">
              <a:spcBef>
                <a:spcPts val="0"/>
              </a:spcBef>
              <a:spcAft>
                <a:spcPts val="0"/>
              </a:spcAft>
            </a:pPr>
            <a:r>
              <a:rPr lang="en-US" sz="1200" b="1" kern="0" dirty="0">
                <a:solidFill>
                  <a:srgbClr val="FFFFFF"/>
                </a:solidFill>
              </a:rPr>
              <a:t>Consultor de </a:t>
            </a:r>
          </a:p>
          <a:p>
            <a:pPr eaLnBrk="0" fontAlgn="auto" hangingPunct="0">
              <a:spcBef>
                <a:spcPts val="0"/>
              </a:spcBef>
              <a:spcAft>
                <a:spcPts val="0"/>
              </a:spcAft>
            </a:pPr>
            <a:r>
              <a:rPr lang="en-US" sz="1200" b="1" kern="0" dirty="0" err="1">
                <a:solidFill>
                  <a:srgbClr val="FFFFFF"/>
                </a:solidFill>
              </a:rPr>
              <a:t>Ciberseguridad</a:t>
            </a:r>
            <a:endParaRPr lang="en-US" sz="1200" b="1" kern="0" dirty="0">
              <a:solidFill>
                <a:srgbClr val="FFFFFF"/>
              </a:solidFill>
            </a:endParaRPr>
          </a:p>
        </p:txBody>
      </p:sp>
      <p:sp>
        <p:nvSpPr>
          <p:cNvPr id="29" name="Rectangle 41">
            <a:extLst>
              <a:ext uri="{FF2B5EF4-FFF2-40B4-BE49-F238E27FC236}">
                <a16:creationId xmlns:a16="http://schemas.microsoft.com/office/drawing/2014/main" id="{7BEA11AF-95E2-E5E0-86EA-EDCA76A997B4}"/>
              </a:ext>
            </a:extLst>
          </p:cNvPr>
          <p:cNvSpPr>
            <a:spLocks noChangeArrowheads="1"/>
          </p:cNvSpPr>
          <p:nvPr/>
        </p:nvSpPr>
        <p:spPr bwMode="auto">
          <a:xfrm>
            <a:off x="9990421" y="4973889"/>
            <a:ext cx="1375926" cy="485802"/>
          </a:xfrm>
          <a:prstGeom prst="rect">
            <a:avLst/>
          </a:prstGeom>
          <a:solidFill>
            <a:srgbClr val="9C102E"/>
          </a:solidFill>
          <a:ln w="6350">
            <a:solidFill>
              <a:schemeClr val="bg1"/>
            </a:solidFill>
            <a:miter lim="800000"/>
            <a:headEnd type="none" w="sm" len="sm"/>
            <a:tailEnd type="none" w="sm" len="sm"/>
          </a:ln>
          <a:effectLst/>
        </p:spPr>
        <p:txBody>
          <a:bodyPr wrap="none" lIns="72017" tIns="72017" rIns="72017" bIns="72017" anchor="ctr"/>
          <a:lstStyle/>
          <a:p>
            <a:pPr eaLnBrk="0" fontAlgn="auto" hangingPunct="0">
              <a:spcBef>
                <a:spcPts val="0"/>
              </a:spcBef>
              <a:spcAft>
                <a:spcPts val="0"/>
              </a:spcAft>
            </a:pPr>
            <a:r>
              <a:rPr lang="en-US" sz="1200" b="1" kern="0" dirty="0">
                <a:solidFill>
                  <a:srgbClr val="FFFFFF"/>
                </a:solidFill>
              </a:rPr>
              <a:t>Consultor de </a:t>
            </a:r>
          </a:p>
          <a:p>
            <a:pPr eaLnBrk="0" fontAlgn="auto" hangingPunct="0">
              <a:spcBef>
                <a:spcPts val="0"/>
              </a:spcBef>
              <a:spcAft>
                <a:spcPts val="0"/>
              </a:spcAft>
            </a:pPr>
            <a:r>
              <a:rPr lang="en-US" sz="1200" b="1" kern="0" dirty="0" err="1">
                <a:solidFill>
                  <a:srgbClr val="FFFFFF"/>
                </a:solidFill>
              </a:rPr>
              <a:t>Ciberseguridad</a:t>
            </a:r>
            <a:endParaRPr lang="en-US" sz="1200" b="1" kern="0" dirty="0">
              <a:solidFill>
                <a:srgbClr val="FFFFFF"/>
              </a:solidFill>
            </a:endParaRPr>
          </a:p>
        </p:txBody>
      </p:sp>
      <p:sp>
        <p:nvSpPr>
          <p:cNvPr id="30" name="Rectangle 4">
            <a:extLst>
              <a:ext uri="{FF2B5EF4-FFF2-40B4-BE49-F238E27FC236}">
                <a16:creationId xmlns:a16="http://schemas.microsoft.com/office/drawing/2014/main" id="{CC42078E-B845-21DB-F8E2-36F21C4B1A69}"/>
              </a:ext>
            </a:extLst>
          </p:cNvPr>
          <p:cNvSpPr>
            <a:spLocks noChangeArrowheads="1"/>
          </p:cNvSpPr>
          <p:nvPr/>
        </p:nvSpPr>
        <p:spPr bwMode="auto">
          <a:xfrm>
            <a:off x="8287807" y="3266907"/>
            <a:ext cx="1379001" cy="488877"/>
          </a:xfrm>
          <a:prstGeom prst="rect">
            <a:avLst/>
          </a:prstGeom>
          <a:solidFill>
            <a:srgbClr val="666666"/>
          </a:solidFill>
          <a:ln w="6350">
            <a:solidFill>
              <a:schemeClr val="bg1"/>
            </a:solidFill>
            <a:miter lim="800000"/>
            <a:headEnd type="none" w="sm" len="sm"/>
            <a:tailEnd type="none" w="sm" len="sm"/>
          </a:ln>
          <a:effectLst/>
        </p:spPr>
        <p:txBody>
          <a:bodyPr wrap="none" lIns="72017" tIns="72017" rIns="72017" bIns="72017" anchor="ctr"/>
          <a:lstStyle/>
          <a:p>
            <a:pPr eaLnBrk="0" fontAlgn="auto" hangingPunct="0">
              <a:spcBef>
                <a:spcPts val="0"/>
              </a:spcBef>
              <a:spcAft>
                <a:spcPts val="0"/>
              </a:spcAft>
            </a:pPr>
            <a:r>
              <a:rPr lang="en-US" sz="1200" b="1" kern="0" dirty="0">
                <a:solidFill>
                  <a:srgbClr val="FFFFFF"/>
                </a:solidFill>
              </a:rPr>
              <a:t>Director de </a:t>
            </a:r>
          </a:p>
          <a:p>
            <a:pPr eaLnBrk="0" fontAlgn="auto" hangingPunct="0">
              <a:spcBef>
                <a:spcPts val="0"/>
              </a:spcBef>
              <a:spcAft>
                <a:spcPts val="0"/>
              </a:spcAft>
            </a:pPr>
            <a:r>
              <a:rPr lang="en-US" sz="1200" b="1" kern="0" dirty="0" err="1">
                <a:solidFill>
                  <a:srgbClr val="FFFFFF"/>
                </a:solidFill>
              </a:rPr>
              <a:t>Negocios</a:t>
            </a:r>
            <a:endParaRPr lang="en-US" sz="1200" b="1" kern="0" dirty="0">
              <a:solidFill>
                <a:srgbClr val="FFFFFF"/>
              </a:solidFill>
            </a:endParaRPr>
          </a:p>
        </p:txBody>
      </p:sp>
      <p:cxnSp>
        <p:nvCxnSpPr>
          <p:cNvPr id="31" name="Conector recto 8">
            <a:extLst>
              <a:ext uri="{FF2B5EF4-FFF2-40B4-BE49-F238E27FC236}">
                <a16:creationId xmlns:a16="http://schemas.microsoft.com/office/drawing/2014/main" id="{D9AF0740-F485-9E17-2996-C17ED0CED80F}"/>
              </a:ext>
            </a:extLst>
          </p:cNvPr>
          <p:cNvCxnSpPr>
            <a:stCxn id="30" idx="2"/>
            <a:endCxn id="20" idx="0"/>
          </p:cNvCxnSpPr>
          <p:nvPr/>
        </p:nvCxnSpPr>
        <p:spPr>
          <a:xfrm flipH="1">
            <a:off x="8976540" y="3755784"/>
            <a:ext cx="768" cy="464804"/>
          </a:xfrm>
          <a:prstGeom prst="line">
            <a:avLst/>
          </a:prstGeom>
          <a:noFill/>
          <a:ln w="9525" cap="flat" cmpd="sng" algn="ctr">
            <a:solidFill>
              <a:schemeClr val="bg1"/>
            </a:solidFill>
            <a:prstDash val="solid"/>
          </a:ln>
          <a:effectLst/>
        </p:spPr>
      </p:cxnSp>
      <p:sp>
        <p:nvSpPr>
          <p:cNvPr id="32" name="Rectangle 4">
            <a:extLst>
              <a:ext uri="{FF2B5EF4-FFF2-40B4-BE49-F238E27FC236}">
                <a16:creationId xmlns:a16="http://schemas.microsoft.com/office/drawing/2014/main" id="{D1CDF44D-2EA8-98C1-D642-8706600B76B8}"/>
              </a:ext>
            </a:extLst>
          </p:cNvPr>
          <p:cNvSpPr>
            <a:spLocks noChangeArrowheads="1"/>
          </p:cNvSpPr>
          <p:nvPr/>
        </p:nvSpPr>
        <p:spPr bwMode="auto">
          <a:xfrm>
            <a:off x="6548998" y="3731711"/>
            <a:ext cx="1379001" cy="488877"/>
          </a:xfrm>
          <a:prstGeom prst="rect">
            <a:avLst/>
          </a:prstGeom>
          <a:solidFill>
            <a:srgbClr val="9C102E"/>
          </a:solidFill>
          <a:ln w="6350">
            <a:noFill/>
            <a:miter lim="800000"/>
            <a:headEnd type="none" w="sm" len="sm"/>
            <a:tailEnd type="none" w="sm" len="sm"/>
          </a:ln>
          <a:effectLst/>
        </p:spPr>
        <p:txBody>
          <a:bodyPr wrap="none" lIns="72017" tIns="72017" rIns="72017" bIns="72017" anchor="ctr"/>
          <a:lstStyle/>
          <a:p>
            <a:pPr eaLnBrk="0" fontAlgn="auto" hangingPunct="0">
              <a:spcBef>
                <a:spcPts val="0"/>
              </a:spcBef>
              <a:spcAft>
                <a:spcPts val="0"/>
              </a:spcAft>
            </a:pPr>
            <a:r>
              <a:rPr lang="es-CL" sz="1200" b="1" kern="0" dirty="0">
                <a:solidFill>
                  <a:srgbClr val="FFFFFF"/>
                </a:solidFill>
              </a:rPr>
              <a:t>Contador</a:t>
            </a:r>
          </a:p>
          <a:p>
            <a:pPr eaLnBrk="0" fontAlgn="auto" hangingPunct="0">
              <a:spcBef>
                <a:spcPts val="0"/>
              </a:spcBef>
              <a:spcAft>
                <a:spcPts val="0"/>
              </a:spcAft>
            </a:pPr>
            <a:r>
              <a:rPr lang="es-CL" sz="1200" b="1" kern="0" dirty="0">
                <a:solidFill>
                  <a:srgbClr val="FFFFFF"/>
                </a:solidFill>
              </a:rPr>
              <a:t>General</a:t>
            </a:r>
            <a:endParaRPr lang="en-US" sz="1200" b="1" kern="0" dirty="0">
              <a:solidFill>
                <a:srgbClr val="FFFFFF"/>
              </a:solidFill>
            </a:endParaRPr>
          </a:p>
        </p:txBody>
      </p:sp>
      <p:cxnSp>
        <p:nvCxnSpPr>
          <p:cNvPr id="33" name="Straight Connector 33">
            <a:extLst>
              <a:ext uri="{FF2B5EF4-FFF2-40B4-BE49-F238E27FC236}">
                <a16:creationId xmlns:a16="http://schemas.microsoft.com/office/drawing/2014/main" id="{A4B3AEA1-FD86-1A8B-F7C5-03F23679DBDA}"/>
              </a:ext>
            </a:extLst>
          </p:cNvPr>
          <p:cNvCxnSpPr>
            <a:cxnSpLocks/>
            <a:stCxn id="32" idx="3"/>
          </p:cNvCxnSpPr>
          <p:nvPr/>
        </p:nvCxnSpPr>
        <p:spPr bwMode="auto">
          <a:xfrm>
            <a:off x="7927999" y="3976150"/>
            <a:ext cx="1058610" cy="0"/>
          </a:xfrm>
          <a:prstGeom prst="line">
            <a:avLst/>
          </a:prstGeom>
          <a:solidFill>
            <a:srgbClr val="00BBEE"/>
          </a:solidFill>
          <a:ln w="9525" cap="flat" cmpd="sng" algn="ctr">
            <a:solidFill>
              <a:schemeClr val="bg1"/>
            </a:solidFill>
            <a:prstDash val="solid"/>
            <a:round/>
            <a:headEnd type="none" w="med" len="med"/>
            <a:tailEnd type="none" w="med" len="med"/>
          </a:ln>
          <a:effectLst/>
        </p:spPr>
      </p:cxnSp>
      <p:sp>
        <p:nvSpPr>
          <p:cNvPr id="34" name="Rectangle 41">
            <a:extLst>
              <a:ext uri="{FF2B5EF4-FFF2-40B4-BE49-F238E27FC236}">
                <a16:creationId xmlns:a16="http://schemas.microsoft.com/office/drawing/2014/main" id="{B7F39F78-332D-F36A-5CA1-A6956FAFCD61}"/>
              </a:ext>
            </a:extLst>
          </p:cNvPr>
          <p:cNvSpPr>
            <a:spLocks noChangeArrowheads="1"/>
          </p:cNvSpPr>
          <p:nvPr/>
        </p:nvSpPr>
        <p:spPr bwMode="auto">
          <a:xfrm>
            <a:off x="9990421" y="5645903"/>
            <a:ext cx="1375926" cy="485802"/>
          </a:xfrm>
          <a:prstGeom prst="rect">
            <a:avLst/>
          </a:prstGeom>
          <a:solidFill>
            <a:srgbClr val="9C102E"/>
          </a:solidFill>
          <a:ln w="6350">
            <a:solidFill>
              <a:schemeClr val="bg1"/>
            </a:solidFill>
            <a:miter lim="800000"/>
            <a:headEnd type="none" w="sm" len="sm"/>
            <a:tailEnd type="none" w="sm" len="sm"/>
          </a:ln>
          <a:effectLst/>
        </p:spPr>
        <p:txBody>
          <a:bodyPr wrap="none" lIns="72017" tIns="72017" rIns="72017" bIns="72017" anchor="ctr"/>
          <a:lstStyle/>
          <a:p>
            <a:pPr eaLnBrk="0" fontAlgn="auto" hangingPunct="0">
              <a:spcBef>
                <a:spcPts val="0"/>
              </a:spcBef>
              <a:spcAft>
                <a:spcPts val="0"/>
              </a:spcAft>
            </a:pPr>
            <a:r>
              <a:rPr lang="en-US" sz="1200" b="1" kern="0" dirty="0">
                <a:solidFill>
                  <a:srgbClr val="FFFFFF"/>
                </a:solidFill>
              </a:rPr>
              <a:t>Consultor de </a:t>
            </a:r>
          </a:p>
          <a:p>
            <a:pPr eaLnBrk="0" fontAlgn="auto" hangingPunct="0">
              <a:spcBef>
                <a:spcPts val="0"/>
              </a:spcBef>
              <a:spcAft>
                <a:spcPts val="0"/>
              </a:spcAft>
            </a:pPr>
            <a:r>
              <a:rPr lang="en-US" sz="1200" b="1" kern="0" dirty="0" err="1">
                <a:solidFill>
                  <a:srgbClr val="FFFFFF"/>
                </a:solidFill>
              </a:rPr>
              <a:t>Ciberseguridad</a:t>
            </a:r>
            <a:endParaRPr lang="en-US" sz="1200" b="1" kern="0" dirty="0">
              <a:solidFill>
                <a:srgbClr val="FFFFFF"/>
              </a:solidFill>
            </a:endParaRPr>
          </a:p>
        </p:txBody>
      </p:sp>
      <p:cxnSp>
        <p:nvCxnSpPr>
          <p:cNvPr id="42" name="Straight Connector 41">
            <a:extLst>
              <a:ext uri="{FF2B5EF4-FFF2-40B4-BE49-F238E27FC236}">
                <a16:creationId xmlns:a16="http://schemas.microsoft.com/office/drawing/2014/main" id="{C8605D47-5F7B-0DC5-5DCC-9A18BF2BDD9D}"/>
              </a:ext>
            </a:extLst>
          </p:cNvPr>
          <p:cNvCxnSpPr/>
          <p:nvPr/>
        </p:nvCxnSpPr>
        <p:spPr>
          <a:xfrm>
            <a:off x="3633857" y="3429000"/>
            <a:ext cx="569843" cy="0"/>
          </a:xfrm>
          <a:prstGeom prst="line">
            <a:avLst/>
          </a:prstGeom>
          <a:ln>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9AE70E7E-D89E-7F19-F04A-F6721603577D}"/>
              </a:ext>
            </a:extLst>
          </p:cNvPr>
          <p:cNvSpPr/>
          <p:nvPr/>
        </p:nvSpPr>
        <p:spPr>
          <a:xfrm>
            <a:off x="4340245" y="3152001"/>
            <a:ext cx="1097162" cy="553998"/>
          </a:xfrm>
          <a:prstGeom prst="rect">
            <a:avLst/>
          </a:prstGeom>
        </p:spPr>
        <p:txBody>
          <a:bodyPr wrap="square" lIns="0" tIns="0" rIns="0" bIns="0" anchor="t">
            <a:spAutoFit/>
          </a:bodyPr>
          <a:lstStyle/>
          <a:p>
            <a:pPr defTabSz="896386">
              <a:defRPr/>
            </a:pPr>
            <a:r>
              <a:rPr lang="es-CL" b="1" spc="-50" dirty="0">
                <a:solidFill>
                  <a:srgbClr val="AADDEE"/>
                </a:solidFill>
              </a:rPr>
              <a:t>Dueño</a:t>
            </a:r>
          </a:p>
          <a:p>
            <a:pPr defTabSz="896386">
              <a:defRPr/>
            </a:pPr>
            <a:r>
              <a:rPr lang="es-CL" b="1" spc="-50" dirty="0">
                <a:solidFill>
                  <a:srgbClr val="AADDEE"/>
                </a:solidFill>
              </a:rPr>
              <a:t>Matriz</a:t>
            </a:r>
            <a:endParaRPr lang="en-US" b="1" spc="-50" dirty="0">
              <a:solidFill>
                <a:srgbClr val="AADDEE"/>
              </a:solidFill>
            </a:endParaRPr>
          </a:p>
        </p:txBody>
      </p:sp>
      <p:cxnSp>
        <p:nvCxnSpPr>
          <p:cNvPr id="44" name="Straight Connector 43">
            <a:extLst>
              <a:ext uri="{FF2B5EF4-FFF2-40B4-BE49-F238E27FC236}">
                <a16:creationId xmlns:a16="http://schemas.microsoft.com/office/drawing/2014/main" id="{0BC4BFF2-65FC-5EBF-C4ED-9566AEA55A64}"/>
              </a:ext>
            </a:extLst>
          </p:cNvPr>
          <p:cNvCxnSpPr/>
          <p:nvPr/>
        </p:nvCxnSpPr>
        <p:spPr>
          <a:xfrm>
            <a:off x="9588382" y="3429000"/>
            <a:ext cx="569843" cy="0"/>
          </a:xfrm>
          <a:prstGeom prst="line">
            <a:avLst/>
          </a:prstGeom>
          <a:ln>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38AD3CFF-029D-F78A-6515-60CB3AB00083}"/>
              </a:ext>
            </a:extLst>
          </p:cNvPr>
          <p:cNvSpPr/>
          <p:nvPr/>
        </p:nvSpPr>
        <p:spPr>
          <a:xfrm>
            <a:off x="10294770" y="3152001"/>
            <a:ext cx="1097162" cy="553998"/>
          </a:xfrm>
          <a:prstGeom prst="rect">
            <a:avLst/>
          </a:prstGeom>
        </p:spPr>
        <p:txBody>
          <a:bodyPr wrap="square" lIns="0" tIns="0" rIns="0" bIns="0" anchor="t">
            <a:spAutoFit/>
          </a:bodyPr>
          <a:lstStyle/>
          <a:p>
            <a:pPr defTabSz="896386">
              <a:defRPr/>
            </a:pPr>
            <a:r>
              <a:rPr lang="es-CL" b="1" spc="-50" dirty="0">
                <a:solidFill>
                  <a:srgbClr val="AADDEE"/>
                </a:solidFill>
              </a:rPr>
              <a:t>Dueño</a:t>
            </a:r>
          </a:p>
          <a:p>
            <a:pPr defTabSz="896386">
              <a:defRPr/>
            </a:pPr>
            <a:r>
              <a:rPr lang="es-CL" b="1" spc="-50" dirty="0">
                <a:solidFill>
                  <a:srgbClr val="AADDEE"/>
                </a:solidFill>
              </a:rPr>
              <a:t>Matriz</a:t>
            </a:r>
            <a:endParaRPr lang="en-US" b="1" spc="-50" dirty="0">
              <a:solidFill>
                <a:srgbClr val="AADDEE"/>
              </a:solidFill>
            </a:endParaRPr>
          </a:p>
        </p:txBody>
      </p:sp>
      <p:cxnSp>
        <p:nvCxnSpPr>
          <p:cNvPr id="47" name="Straight Connector 46">
            <a:extLst>
              <a:ext uri="{FF2B5EF4-FFF2-40B4-BE49-F238E27FC236}">
                <a16:creationId xmlns:a16="http://schemas.microsoft.com/office/drawing/2014/main" id="{54B09F4D-D71D-CD13-5D08-8D3958B52A00}"/>
              </a:ext>
            </a:extLst>
          </p:cNvPr>
          <p:cNvCxnSpPr>
            <a:cxnSpLocks/>
          </p:cNvCxnSpPr>
          <p:nvPr>
            <p:custDataLst>
              <p:tags r:id="rId1"/>
            </p:custDataLst>
          </p:nvPr>
        </p:nvCxnSpPr>
        <p:spPr bwMode="ltGray">
          <a:xfrm rot="16200000">
            <a:off x="3890066" y="4220588"/>
            <a:ext cx="3888000" cy="0"/>
          </a:xfrm>
          <a:prstGeom prst="line">
            <a:avLst/>
          </a:prstGeom>
          <a:solidFill>
            <a:schemeClr val="accent1"/>
          </a:solidFill>
          <a:ln w="12700" cap="flat" cmpd="sng" algn="ctr">
            <a:solidFill>
              <a:schemeClr val="bg1"/>
            </a:solidFill>
            <a:prstDash val="solid"/>
            <a:round/>
            <a:headEnd type="none" w="sm" len="sm"/>
            <a:tailEnd type="none" w="sm" len="sm"/>
          </a:ln>
          <a:effectLst/>
        </p:spPr>
      </p:cxnSp>
      <p:sp>
        <p:nvSpPr>
          <p:cNvPr id="48" name="Isosceles Triangle 47">
            <a:extLst>
              <a:ext uri="{FF2B5EF4-FFF2-40B4-BE49-F238E27FC236}">
                <a16:creationId xmlns:a16="http://schemas.microsoft.com/office/drawing/2014/main" id="{B193F4AE-A616-7C31-A1AA-BEBB20BD4D39}"/>
              </a:ext>
            </a:extLst>
          </p:cNvPr>
          <p:cNvSpPr/>
          <p:nvPr>
            <p:custDataLst>
              <p:tags r:id="rId2"/>
            </p:custDataLst>
          </p:nvPr>
        </p:nvSpPr>
        <p:spPr bwMode="ltGray">
          <a:xfrm rot="5400000">
            <a:off x="5606421" y="4094983"/>
            <a:ext cx="574991" cy="251209"/>
          </a:xfrm>
          <a:prstGeom prst="triangle">
            <a:avLst/>
          </a:prstGeom>
          <a:solidFill>
            <a:schemeClr val="bg1"/>
          </a:solidFill>
          <a:ln w="762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500" b="1" i="0" u="none" strike="noStrike" cap="none" normalizeH="0" baseline="0" dirty="0">
              <a:ln>
                <a:noFill/>
              </a:ln>
              <a:effectLst/>
              <a:latin typeface="Arial" charset="0"/>
            </a:endParaRPr>
          </a:p>
        </p:txBody>
      </p:sp>
      <p:sp>
        <p:nvSpPr>
          <p:cNvPr id="51" name="TextBox 50">
            <a:extLst>
              <a:ext uri="{FF2B5EF4-FFF2-40B4-BE49-F238E27FC236}">
                <a16:creationId xmlns:a16="http://schemas.microsoft.com/office/drawing/2014/main" id="{E4B80784-EC4C-7017-AB3A-C5D2F76E7361}"/>
              </a:ext>
            </a:extLst>
          </p:cNvPr>
          <p:cNvSpPr txBox="1"/>
          <p:nvPr/>
        </p:nvSpPr>
        <p:spPr>
          <a:xfrm>
            <a:off x="2704586" y="6052605"/>
            <a:ext cx="608106" cy="318924"/>
          </a:xfrm>
          <a:prstGeom prst="rect">
            <a:avLst/>
          </a:prstGeom>
          <a:noFill/>
        </p:spPr>
        <p:txBody>
          <a:bodyPr wrap="none" lIns="36000" tIns="36000" rIns="36000" bIns="36000" rtlCol="0">
            <a:spAutoFit/>
          </a:bodyPr>
          <a:lstStyle/>
          <a:p>
            <a:pPr algn="l"/>
            <a:r>
              <a:rPr lang="en-US" sz="1600" dirty="0" err="1">
                <a:solidFill>
                  <a:schemeClr val="bg1"/>
                </a:solidFill>
              </a:rPr>
              <a:t>Año</a:t>
            </a:r>
            <a:r>
              <a:rPr lang="en-US" sz="1600" dirty="0">
                <a:solidFill>
                  <a:schemeClr val="bg1"/>
                </a:solidFill>
              </a:rPr>
              <a:t> 1</a:t>
            </a:r>
          </a:p>
        </p:txBody>
      </p:sp>
      <p:sp>
        <p:nvSpPr>
          <p:cNvPr id="52" name="TextBox 51">
            <a:extLst>
              <a:ext uri="{FF2B5EF4-FFF2-40B4-BE49-F238E27FC236}">
                <a16:creationId xmlns:a16="http://schemas.microsoft.com/office/drawing/2014/main" id="{3FE147F8-B239-DBF4-2300-A829B3A5B27F}"/>
              </a:ext>
            </a:extLst>
          </p:cNvPr>
          <p:cNvSpPr txBox="1"/>
          <p:nvPr/>
        </p:nvSpPr>
        <p:spPr>
          <a:xfrm>
            <a:off x="8718981" y="6030498"/>
            <a:ext cx="608106" cy="318924"/>
          </a:xfrm>
          <a:prstGeom prst="rect">
            <a:avLst/>
          </a:prstGeom>
          <a:noFill/>
        </p:spPr>
        <p:txBody>
          <a:bodyPr wrap="none" lIns="36000" tIns="36000" rIns="36000" bIns="36000" rtlCol="0">
            <a:spAutoFit/>
          </a:bodyPr>
          <a:lstStyle/>
          <a:p>
            <a:pPr algn="l"/>
            <a:r>
              <a:rPr lang="en-US" sz="1600" dirty="0" err="1">
                <a:solidFill>
                  <a:schemeClr val="bg1"/>
                </a:solidFill>
              </a:rPr>
              <a:t>Año</a:t>
            </a:r>
            <a:r>
              <a:rPr lang="en-US" sz="1600" dirty="0">
                <a:solidFill>
                  <a:schemeClr val="bg1"/>
                </a:solidFill>
              </a:rPr>
              <a:t> 5</a:t>
            </a:r>
          </a:p>
        </p:txBody>
      </p:sp>
    </p:spTree>
    <p:extLst>
      <p:ext uri="{BB962C8B-B14F-4D97-AF65-F5344CB8AC3E}">
        <p14:creationId xmlns:p14="http://schemas.microsoft.com/office/powerpoint/2010/main" val="169646198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950" y="428726"/>
            <a:ext cx="8973849"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Desarrollo y Gestión de Talentos</a:t>
            </a:r>
            <a:endParaRPr lang="en-US" sz="3500" spc="-30" dirty="0">
              <a:solidFill>
                <a:prstClr val="white"/>
              </a:solidFill>
              <a:latin typeface="Arial"/>
            </a:endParaRPr>
          </a:p>
        </p:txBody>
      </p:sp>
      <p:sp>
        <p:nvSpPr>
          <p:cNvPr id="3" name="Oval 2">
            <a:extLst>
              <a:ext uri="{FF2B5EF4-FFF2-40B4-BE49-F238E27FC236}">
                <a16:creationId xmlns:a16="http://schemas.microsoft.com/office/drawing/2014/main" id="{BFAF6549-9503-A4CD-3D19-E7609289F2AC}"/>
              </a:ext>
            </a:extLst>
          </p:cNvPr>
          <p:cNvSpPr/>
          <p:nvPr/>
        </p:nvSpPr>
        <p:spPr>
          <a:xfrm>
            <a:off x="543808" y="1971903"/>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8B62C42-4574-137B-3DD6-0C8367D235D1}"/>
              </a:ext>
            </a:extLst>
          </p:cNvPr>
          <p:cNvSpPr/>
          <p:nvPr/>
        </p:nvSpPr>
        <p:spPr>
          <a:xfrm>
            <a:off x="6273803" y="1971903"/>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3DA68F2-AB6A-0E31-4BE6-5388EC5A957A}"/>
              </a:ext>
            </a:extLst>
          </p:cNvPr>
          <p:cNvSpPr txBox="1"/>
          <p:nvPr/>
        </p:nvSpPr>
        <p:spPr>
          <a:xfrm>
            <a:off x="1523924" y="2080902"/>
            <a:ext cx="4527069" cy="2031325"/>
          </a:xfrm>
          <a:prstGeom prst="rect">
            <a:avLst/>
          </a:prstGeom>
          <a:noFill/>
        </p:spPr>
        <p:txBody>
          <a:bodyPr wrap="square" rtlCol="0">
            <a:spAutoFit/>
          </a:bodyPr>
          <a:lstStyle/>
          <a:p>
            <a:r>
              <a:rPr lang="es-ES" b="1" spc="-50" dirty="0">
                <a:solidFill>
                  <a:srgbClr val="AADDEE"/>
                </a:solidFill>
              </a:rPr>
              <a:t>Capacitación</a:t>
            </a:r>
            <a:endParaRPr lang="es-ES" spc="-50" dirty="0">
              <a:solidFill>
                <a:schemeClr val="bg1"/>
              </a:solidFill>
            </a:endParaRPr>
          </a:p>
          <a:p>
            <a:pPr marL="285750" indent="-285750">
              <a:buFont typeface="Arial" panose="020B0604020202020204" pitchFamily="34" charset="0"/>
              <a:buChar char="•"/>
            </a:pPr>
            <a:r>
              <a:rPr lang="es-ES" spc="-50" dirty="0">
                <a:solidFill>
                  <a:schemeClr val="bg1"/>
                </a:solidFill>
              </a:rPr>
              <a:t>Se incluyen planes de certificaciones y una dedicación del 18% de la jornada laboral (mensual)</a:t>
            </a:r>
          </a:p>
          <a:p>
            <a:pPr marL="285750" indent="-285750">
              <a:buFont typeface="Arial" panose="020B0604020202020204" pitchFamily="34" charset="0"/>
              <a:buChar char="•"/>
            </a:pPr>
            <a:r>
              <a:rPr lang="es-ES" spc="-50" dirty="0">
                <a:solidFill>
                  <a:schemeClr val="bg1"/>
                </a:solidFill>
              </a:rPr>
              <a:t>Sus acreditaciones serán por tecnologías y la profundidad del nivel tecnológico de los servicios propuestos</a:t>
            </a:r>
            <a:endParaRPr lang="en-US" spc="-50" dirty="0">
              <a:solidFill>
                <a:schemeClr val="bg1"/>
              </a:solidFill>
            </a:endParaRPr>
          </a:p>
        </p:txBody>
      </p:sp>
      <p:sp>
        <p:nvSpPr>
          <p:cNvPr id="9" name="TextBox 8">
            <a:extLst>
              <a:ext uri="{FF2B5EF4-FFF2-40B4-BE49-F238E27FC236}">
                <a16:creationId xmlns:a16="http://schemas.microsoft.com/office/drawing/2014/main" id="{71152FCB-B616-AF1D-45B7-EBDFB1BE38D7}"/>
              </a:ext>
            </a:extLst>
          </p:cNvPr>
          <p:cNvSpPr txBox="1"/>
          <p:nvPr/>
        </p:nvSpPr>
        <p:spPr>
          <a:xfrm>
            <a:off x="7321886" y="2063139"/>
            <a:ext cx="4345980" cy="2031325"/>
          </a:xfrm>
          <a:prstGeom prst="rect">
            <a:avLst/>
          </a:prstGeom>
          <a:noFill/>
        </p:spPr>
        <p:txBody>
          <a:bodyPr wrap="square" rtlCol="0">
            <a:spAutoFit/>
          </a:bodyPr>
          <a:lstStyle/>
          <a:p>
            <a:r>
              <a:rPr lang="en-US" b="1" spc="-50" dirty="0" err="1">
                <a:solidFill>
                  <a:srgbClr val="AADDEE"/>
                </a:solidFill>
              </a:rPr>
              <a:t>Retención</a:t>
            </a:r>
            <a:r>
              <a:rPr lang="en-US" b="1" spc="-50" dirty="0">
                <a:solidFill>
                  <a:srgbClr val="AADDEE"/>
                </a:solidFill>
              </a:rPr>
              <a:t> de </a:t>
            </a:r>
            <a:r>
              <a:rPr lang="en-US" b="1" spc="-50" dirty="0" err="1">
                <a:solidFill>
                  <a:srgbClr val="AADDEE"/>
                </a:solidFill>
              </a:rPr>
              <a:t>Talentos</a:t>
            </a:r>
            <a:r>
              <a:rPr lang="en-US" b="1" spc="-50" dirty="0">
                <a:solidFill>
                  <a:srgbClr val="AADDEE"/>
                </a:solidFill>
              </a:rPr>
              <a:t> </a:t>
            </a:r>
          </a:p>
          <a:p>
            <a:pPr marL="285750" indent="-285750">
              <a:buFont typeface="Arial" panose="020B0604020202020204" pitchFamily="34" charset="0"/>
              <a:buChar char="•"/>
            </a:pPr>
            <a:r>
              <a:rPr lang="es-CL" spc="-50" dirty="0">
                <a:solidFill>
                  <a:schemeClr val="bg1"/>
                </a:solidFill>
              </a:rPr>
              <a:t>Dentro de Desarrollo Organizacional y Retención de Talentos, se </a:t>
            </a:r>
            <a:r>
              <a:rPr lang="es-CL" spc="-50" dirty="0" err="1">
                <a:solidFill>
                  <a:schemeClr val="bg1"/>
                </a:solidFill>
              </a:rPr>
              <a:t>condirara</a:t>
            </a:r>
            <a:r>
              <a:rPr lang="es-CL" spc="-50" dirty="0">
                <a:solidFill>
                  <a:schemeClr val="bg1"/>
                </a:solidFill>
              </a:rPr>
              <a:t>;</a:t>
            </a:r>
          </a:p>
          <a:p>
            <a:pPr marL="742950" lvl="1" indent="-285750">
              <a:buFont typeface="Arial" panose="020B0604020202020204" pitchFamily="34" charset="0"/>
              <a:buChar char="•"/>
            </a:pPr>
            <a:r>
              <a:rPr lang="es-CL" spc="-50" dirty="0">
                <a:solidFill>
                  <a:schemeClr val="bg1"/>
                </a:solidFill>
              </a:rPr>
              <a:t>Evaluación de Desempeño </a:t>
            </a:r>
          </a:p>
          <a:p>
            <a:pPr marL="742950" lvl="1" indent="-285750">
              <a:buFont typeface="Arial" panose="020B0604020202020204" pitchFamily="34" charset="0"/>
              <a:buChar char="•"/>
            </a:pPr>
            <a:r>
              <a:rPr lang="es-CL" spc="-50" dirty="0">
                <a:solidFill>
                  <a:schemeClr val="bg1"/>
                </a:solidFill>
              </a:rPr>
              <a:t>Compensación por Metas</a:t>
            </a:r>
          </a:p>
          <a:p>
            <a:pPr marL="742950" lvl="1" indent="-285750">
              <a:buFont typeface="Arial" panose="020B0604020202020204" pitchFamily="34" charset="0"/>
              <a:buChar char="•"/>
            </a:pPr>
            <a:r>
              <a:rPr lang="es-CL" spc="-50" dirty="0">
                <a:solidFill>
                  <a:schemeClr val="bg1"/>
                </a:solidFill>
              </a:rPr>
              <a:t>Beneficios existentes: Teletrabajo, Seguros, educación. </a:t>
            </a:r>
            <a:endParaRPr lang="en-US" spc="-50" dirty="0">
              <a:solidFill>
                <a:schemeClr val="bg1"/>
              </a:solidFill>
            </a:endParaRPr>
          </a:p>
        </p:txBody>
      </p:sp>
      <p:sp>
        <p:nvSpPr>
          <p:cNvPr id="35" name="TextBox 34">
            <a:extLst>
              <a:ext uri="{FF2B5EF4-FFF2-40B4-BE49-F238E27FC236}">
                <a16:creationId xmlns:a16="http://schemas.microsoft.com/office/drawing/2014/main" id="{47BFF9E7-43E0-3ABA-593C-01BECB5FE935}"/>
              </a:ext>
            </a:extLst>
          </p:cNvPr>
          <p:cNvSpPr txBox="1"/>
          <p:nvPr/>
        </p:nvSpPr>
        <p:spPr bwMode="auto">
          <a:xfrm>
            <a:off x="681199" y="4754860"/>
            <a:ext cx="11470391" cy="400110"/>
          </a:xfrm>
          <a:prstGeom prst="rect">
            <a:avLst/>
          </a:prstGeom>
          <a:noFill/>
          <a:ln w="9525">
            <a:noFill/>
            <a:miter lim="800000"/>
            <a:headEnd/>
            <a:tailEnd/>
          </a:ln>
        </p:spPr>
        <p:txBody>
          <a:bodyPr wrap="square">
            <a:spAutoFit/>
          </a:bodyPr>
          <a:lstStyle/>
          <a:p>
            <a:r>
              <a:rPr lang="es-ES" sz="2000" spc="-50" dirty="0">
                <a:solidFill>
                  <a:schemeClr val="bg1"/>
                </a:solidFill>
              </a:rPr>
              <a:t>Se considerará la misma Cultura y políticas de desarrollo de talentos que en la casa matriz </a:t>
            </a:r>
            <a:endParaRPr lang="en-US" sz="2000" dirty="0">
              <a:solidFill>
                <a:schemeClr val="bg1"/>
              </a:solidFill>
            </a:endParaRPr>
          </a:p>
        </p:txBody>
      </p:sp>
      <p:grpSp>
        <p:nvGrpSpPr>
          <p:cNvPr id="134" name="Group 100">
            <a:extLst>
              <a:ext uri="{FF2B5EF4-FFF2-40B4-BE49-F238E27FC236}">
                <a16:creationId xmlns:a16="http://schemas.microsoft.com/office/drawing/2014/main" id="{FD7BA8C5-054B-A548-F90E-463BDBDC4567}"/>
              </a:ext>
            </a:extLst>
          </p:cNvPr>
          <p:cNvGrpSpPr>
            <a:grpSpLocks noChangeAspect="1"/>
          </p:cNvGrpSpPr>
          <p:nvPr/>
        </p:nvGrpSpPr>
        <p:grpSpPr bwMode="auto">
          <a:xfrm>
            <a:off x="6416394" y="2210988"/>
            <a:ext cx="644525" cy="411163"/>
            <a:chOff x="2335" y="2594"/>
            <a:chExt cx="406" cy="259"/>
          </a:xfrm>
        </p:grpSpPr>
        <p:sp>
          <p:nvSpPr>
            <p:cNvPr id="135" name="AutoShape 99">
              <a:extLst>
                <a:ext uri="{FF2B5EF4-FFF2-40B4-BE49-F238E27FC236}">
                  <a16:creationId xmlns:a16="http://schemas.microsoft.com/office/drawing/2014/main" id="{8257F42A-895B-1C3E-0CC1-FD2577DB4B6C}"/>
                </a:ext>
              </a:extLst>
            </p:cNvPr>
            <p:cNvSpPr>
              <a:spLocks noChangeAspect="1" noChangeArrowheads="1" noTextEdit="1"/>
            </p:cNvSpPr>
            <p:nvPr/>
          </p:nvSpPr>
          <p:spPr bwMode="auto">
            <a:xfrm>
              <a:off x="2335" y="2594"/>
              <a:ext cx="406"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36" name="Freeform 101">
              <a:extLst>
                <a:ext uri="{FF2B5EF4-FFF2-40B4-BE49-F238E27FC236}">
                  <a16:creationId xmlns:a16="http://schemas.microsoft.com/office/drawing/2014/main" id="{0551E5ED-00C9-5706-536F-5B5DA8D0A9A8}"/>
                </a:ext>
              </a:extLst>
            </p:cNvPr>
            <p:cNvSpPr>
              <a:spLocks noEditPoints="1"/>
            </p:cNvSpPr>
            <p:nvPr/>
          </p:nvSpPr>
          <p:spPr bwMode="auto">
            <a:xfrm>
              <a:off x="2441" y="2594"/>
              <a:ext cx="299" cy="258"/>
            </a:xfrm>
            <a:custGeom>
              <a:avLst/>
              <a:gdLst>
                <a:gd name="T0" fmla="*/ 351 w 351"/>
                <a:gd name="T1" fmla="*/ 236 h 302"/>
                <a:gd name="T2" fmla="*/ 344 w 351"/>
                <a:gd name="T3" fmla="*/ 237 h 302"/>
                <a:gd name="T4" fmla="*/ 351 w 351"/>
                <a:gd name="T5" fmla="*/ 236 h 302"/>
                <a:gd name="T6" fmla="*/ 321 w 351"/>
                <a:gd name="T7" fmla="*/ 165 h 302"/>
                <a:gd name="T8" fmla="*/ 293 w 351"/>
                <a:gd name="T9" fmla="*/ 144 h 302"/>
                <a:gd name="T10" fmla="*/ 283 w 351"/>
                <a:gd name="T11" fmla="*/ 140 h 302"/>
                <a:gd name="T12" fmla="*/ 298 w 351"/>
                <a:gd name="T13" fmla="*/ 129 h 302"/>
                <a:gd name="T14" fmla="*/ 314 w 351"/>
                <a:gd name="T15" fmla="*/ 90 h 302"/>
                <a:gd name="T16" fmla="*/ 298 w 351"/>
                <a:gd name="T17" fmla="*/ 50 h 302"/>
                <a:gd name="T18" fmla="*/ 258 w 351"/>
                <a:gd name="T19" fmla="*/ 34 h 302"/>
                <a:gd name="T20" fmla="*/ 219 w 351"/>
                <a:gd name="T21" fmla="*/ 50 h 302"/>
                <a:gd name="T22" fmla="*/ 203 w 351"/>
                <a:gd name="T23" fmla="*/ 90 h 302"/>
                <a:gd name="T24" fmla="*/ 219 w 351"/>
                <a:gd name="T25" fmla="*/ 129 h 302"/>
                <a:gd name="T26" fmla="*/ 234 w 351"/>
                <a:gd name="T27" fmla="*/ 140 h 302"/>
                <a:gd name="T28" fmla="*/ 224 w 351"/>
                <a:gd name="T29" fmla="*/ 144 h 302"/>
                <a:gd name="T30" fmla="*/ 200 w 351"/>
                <a:gd name="T31" fmla="*/ 160 h 302"/>
                <a:gd name="T32" fmla="*/ 209 w 351"/>
                <a:gd name="T33" fmla="*/ 171 h 302"/>
                <a:gd name="T34" fmla="*/ 230 w 351"/>
                <a:gd name="T35" fmla="*/ 156 h 302"/>
                <a:gd name="T36" fmla="*/ 258 w 351"/>
                <a:gd name="T37" fmla="*/ 149 h 302"/>
                <a:gd name="T38" fmla="*/ 287 w 351"/>
                <a:gd name="T39" fmla="*/ 156 h 302"/>
                <a:gd name="T40" fmla="*/ 321 w 351"/>
                <a:gd name="T41" fmla="*/ 187 h 302"/>
                <a:gd name="T42" fmla="*/ 338 w 351"/>
                <a:gd name="T43" fmla="*/ 237 h 302"/>
                <a:gd name="T44" fmla="*/ 338 w 351"/>
                <a:gd name="T45" fmla="*/ 237 h 302"/>
                <a:gd name="T46" fmla="*/ 338 w 351"/>
                <a:gd name="T47" fmla="*/ 238 h 302"/>
                <a:gd name="T48" fmla="*/ 337 w 351"/>
                <a:gd name="T49" fmla="*/ 241 h 302"/>
                <a:gd name="T50" fmla="*/ 335 w 351"/>
                <a:gd name="T51" fmla="*/ 243 h 302"/>
                <a:gd name="T52" fmla="*/ 335 w 351"/>
                <a:gd name="T53" fmla="*/ 244 h 302"/>
                <a:gd name="T54" fmla="*/ 258 w 351"/>
                <a:gd name="T55" fmla="*/ 264 h 302"/>
                <a:gd name="T56" fmla="*/ 240 w 351"/>
                <a:gd name="T57" fmla="*/ 263 h 302"/>
                <a:gd name="T58" fmla="*/ 236 w 351"/>
                <a:gd name="T59" fmla="*/ 275 h 302"/>
                <a:gd name="T60" fmla="*/ 235 w 351"/>
                <a:gd name="T61" fmla="*/ 276 h 302"/>
                <a:gd name="T62" fmla="*/ 258 w 351"/>
                <a:gd name="T63" fmla="*/ 278 h 302"/>
                <a:gd name="T64" fmla="*/ 341 w 351"/>
                <a:gd name="T65" fmla="*/ 255 h 302"/>
                <a:gd name="T66" fmla="*/ 346 w 351"/>
                <a:gd name="T67" fmla="*/ 252 h 302"/>
                <a:gd name="T68" fmla="*/ 349 w 351"/>
                <a:gd name="T69" fmla="*/ 245 h 302"/>
                <a:gd name="T70" fmla="*/ 351 w 351"/>
                <a:gd name="T71" fmla="*/ 238 h 302"/>
                <a:gd name="T72" fmla="*/ 351 w 351"/>
                <a:gd name="T73" fmla="*/ 236 h 302"/>
                <a:gd name="T74" fmla="*/ 228 w 351"/>
                <a:gd name="T75" fmla="*/ 120 h 302"/>
                <a:gd name="T76" fmla="*/ 216 w 351"/>
                <a:gd name="T77" fmla="*/ 90 h 302"/>
                <a:gd name="T78" fmla="*/ 228 w 351"/>
                <a:gd name="T79" fmla="*/ 59 h 302"/>
                <a:gd name="T80" fmla="*/ 258 w 351"/>
                <a:gd name="T81" fmla="*/ 47 h 302"/>
                <a:gd name="T82" fmla="*/ 288 w 351"/>
                <a:gd name="T83" fmla="*/ 59 h 302"/>
                <a:gd name="T84" fmla="*/ 301 w 351"/>
                <a:gd name="T85" fmla="*/ 90 h 302"/>
                <a:gd name="T86" fmla="*/ 288 w 351"/>
                <a:gd name="T87" fmla="*/ 120 h 302"/>
                <a:gd name="T88" fmla="*/ 258 w 351"/>
                <a:gd name="T89" fmla="*/ 132 h 302"/>
                <a:gd name="T90" fmla="*/ 228 w 351"/>
                <a:gd name="T91" fmla="*/ 120 h 302"/>
                <a:gd name="T92" fmla="*/ 113 w 351"/>
                <a:gd name="T93" fmla="*/ 129 h 302"/>
                <a:gd name="T94" fmla="*/ 178 w 351"/>
                <a:gd name="T95" fmla="*/ 64 h 302"/>
                <a:gd name="T96" fmla="*/ 113 w 351"/>
                <a:gd name="T97" fmla="*/ 0 h 302"/>
                <a:gd name="T98" fmla="*/ 49 w 351"/>
                <a:gd name="T99" fmla="*/ 64 h 302"/>
                <a:gd name="T100" fmla="*/ 113 w 351"/>
                <a:gd name="T101" fmla="*/ 129 h 302"/>
                <a:gd name="T102" fmla="*/ 113 w 351"/>
                <a:gd name="T103" fmla="*/ 133 h 302"/>
                <a:gd name="T104" fmla="*/ 1 w 351"/>
                <a:gd name="T105" fmla="*/ 257 h 302"/>
                <a:gd name="T106" fmla="*/ 9 w 351"/>
                <a:gd name="T107" fmla="*/ 274 h 302"/>
                <a:gd name="T108" fmla="*/ 113 w 351"/>
                <a:gd name="T109" fmla="*/ 302 h 302"/>
                <a:gd name="T110" fmla="*/ 218 w 351"/>
                <a:gd name="T111" fmla="*/ 274 h 302"/>
                <a:gd name="T112" fmla="*/ 226 w 351"/>
                <a:gd name="T113" fmla="*/ 257 h 302"/>
                <a:gd name="T114" fmla="*/ 113 w 351"/>
                <a:gd name="T115" fmla="*/ 133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1" h="302">
                  <a:moveTo>
                    <a:pt x="351" y="236"/>
                  </a:moveTo>
                  <a:cubicBezTo>
                    <a:pt x="344" y="237"/>
                    <a:pt x="344" y="237"/>
                    <a:pt x="344" y="237"/>
                  </a:cubicBezTo>
                  <a:cubicBezTo>
                    <a:pt x="351" y="236"/>
                    <a:pt x="351" y="236"/>
                    <a:pt x="351" y="236"/>
                  </a:cubicBezTo>
                  <a:cubicBezTo>
                    <a:pt x="348" y="208"/>
                    <a:pt x="338" y="183"/>
                    <a:pt x="321" y="165"/>
                  </a:cubicBezTo>
                  <a:cubicBezTo>
                    <a:pt x="313" y="156"/>
                    <a:pt x="303" y="149"/>
                    <a:pt x="293" y="144"/>
                  </a:cubicBezTo>
                  <a:cubicBezTo>
                    <a:pt x="290" y="142"/>
                    <a:pt x="286" y="141"/>
                    <a:pt x="283" y="140"/>
                  </a:cubicBezTo>
                  <a:cubicBezTo>
                    <a:pt x="289" y="137"/>
                    <a:pt x="294" y="133"/>
                    <a:pt x="298" y="129"/>
                  </a:cubicBezTo>
                  <a:cubicBezTo>
                    <a:pt x="308" y="119"/>
                    <a:pt x="314" y="105"/>
                    <a:pt x="314" y="90"/>
                  </a:cubicBezTo>
                  <a:cubicBezTo>
                    <a:pt x="314" y="74"/>
                    <a:pt x="308" y="60"/>
                    <a:pt x="298" y="50"/>
                  </a:cubicBezTo>
                  <a:cubicBezTo>
                    <a:pt x="288" y="40"/>
                    <a:pt x="274" y="34"/>
                    <a:pt x="258" y="34"/>
                  </a:cubicBezTo>
                  <a:cubicBezTo>
                    <a:pt x="243" y="34"/>
                    <a:pt x="229" y="40"/>
                    <a:pt x="219" y="50"/>
                  </a:cubicBezTo>
                  <a:cubicBezTo>
                    <a:pt x="209" y="60"/>
                    <a:pt x="203" y="74"/>
                    <a:pt x="203" y="90"/>
                  </a:cubicBezTo>
                  <a:cubicBezTo>
                    <a:pt x="203" y="105"/>
                    <a:pt x="209" y="119"/>
                    <a:pt x="219" y="129"/>
                  </a:cubicBezTo>
                  <a:cubicBezTo>
                    <a:pt x="223" y="133"/>
                    <a:pt x="228" y="137"/>
                    <a:pt x="234" y="140"/>
                  </a:cubicBezTo>
                  <a:cubicBezTo>
                    <a:pt x="230" y="141"/>
                    <a:pt x="227" y="142"/>
                    <a:pt x="224" y="144"/>
                  </a:cubicBezTo>
                  <a:cubicBezTo>
                    <a:pt x="215" y="148"/>
                    <a:pt x="207" y="153"/>
                    <a:pt x="200" y="160"/>
                  </a:cubicBezTo>
                  <a:cubicBezTo>
                    <a:pt x="203" y="164"/>
                    <a:pt x="206" y="167"/>
                    <a:pt x="209" y="171"/>
                  </a:cubicBezTo>
                  <a:cubicBezTo>
                    <a:pt x="215" y="164"/>
                    <a:pt x="222" y="159"/>
                    <a:pt x="230" y="156"/>
                  </a:cubicBezTo>
                  <a:cubicBezTo>
                    <a:pt x="239" y="151"/>
                    <a:pt x="248" y="149"/>
                    <a:pt x="258" y="149"/>
                  </a:cubicBezTo>
                  <a:cubicBezTo>
                    <a:pt x="268" y="149"/>
                    <a:pt x="278" y="151"/>
                    <a:pt x="287" y="156"/>
                  </a:cubicBezTo>
                  <a:cubicBezTo>
                    <a:pt x="301" y="162"/>
                    <a:pt x="312" y="173"/>
                    <a:pt x="321" y="187"/>
                  </a:cubicBezTo>
                  <a:cubicBezTo>
                    <a:pt x="330" y="201"/>
                    <a:pt x="336" y="218"/>
                    <a:pt x="338" y="237"/>
                  </a:cubicBezTo>
                  <a:cubicBezTo>
                    <a:pt x="338" y="237"/>
                    <a:pt x="338" y="237"/>
                    <a:pt x="338" y="237"/>
                  </a:cubicBezTo>
                  <a:cubicBezTo>
                    <a:pt x="338" y="237"/>
                    <a:pt x="338" y="238"/>
                    <a:pt x="338" y="238"/>
                  </a:cubicBezTo>
                  <a:cubicBezTo>
                    <a:pt x="338" y="238"/>
                    <a:pt x="337" y="240"/>
                    <a:pt x="337" y="241"/>
                  </a:cubicBezTo>
                  <a:cubicBezTo>
                    <a:pt x="336" y="242"/>
                    <a:pt x="336" y="243"/>
                    <a:pt x="335" y="243"/>
                  </a:cubicBezTo>
                  <a:cubicBezTo>
                    <a:pt x="335" y="243"/>
                    <a:pt x="335" y="244"/>
                    <a:pt x="335" y="244"/>
                  </a:cubicBezTo>
                  <a:cubicBezTo>
                    <a:pt x="314" y="257"/>
                    <a:pt x="287" y="264"/>
                    <a:pt x="258" y="264"/>
                  </a:cubicBezTo>
                  <a:cubicBezTo>
                    <a:pt x="252" y="264"/>
                    <a:pt x="246" y="264"/>
                    <a:pt x="240" y="263"/>
                  </a:cubicBezTo>
                  <a:cubicBezTo>
                    <a:pt x="239" y="267"/>
                    <a:pt x="238" y="271"/>
                    <a:pt x="236" y="275"/>
                  </a:cubicBezTo>
                  <a:cubicBezTo>
                    <a:pt x="236" y="275"/>
                    <a:pt x="236" y="276"/>
                    <a:pt x="235" y="276"/>
                  </a:cubicBezTo>
                  <a:cubicBezTo>
                    <a:pt x="243" y="277"/>
                    <a:pt x="251" y="278"/>
                    <a:pt x="258" y="278"/>
                  </a:cubicBezTo>
                  <a:cubicBezTo>
                    <a:pt x="290" y="278"/>
                    <a:pt x="319" y="269"/>
                    <a:pt x="341" y="255"/>
                  </a:cubicBezTo>
                  <a:cubicBezTo>
                    <a:pt x="343" y="254"/>
                    <a:pt x="344" y="253"/>
                    <a:pt x="346" y="252"/>
                  </a:cubicBezTo>
                  <a:cubicBezTo>
                    <a:pt x="347" y="250"/>
                    <a:pt x="349" y="248"/>
                    <a:pt x="349" y="245"/>
                  </a:cubicBezTo>
                  <a:cubicBezTo>
                    <a:pt x="350" y="243"/>
                    <a:pt x="351" y="240"/>
                    <a:pt x="351" y="238"/>
                  </a:cubicBezTo>
                  <a:cubicBezTo>
                    <a:pt x="351" y="237"/>
                    <a:pt x="351" y="237"/>
                    <a:pt x="351" y="236"/>
                  </a:cubicBezTo>
                  <a:close/>
                  <a:moveTo>
                    <a:pt x="228" y="120"/>
                  </a:moveTo>
                  <a:cubicBezTo>
                    <a:pt x="221" y="112"/>
                    <a:pt x="216" y="101"/>
                    <a:pt x="216" y="90"/>
                  </a:cubicBezTo>
                  <a:cubicBezTo>
                    <a:pt x="216" y="78"/>
                    <a:pt x="221" y="67"/>
                    <a:pt x="228" y="59"/>
                  </a:cubicBezTo>
                  <a:cubicBezTo>
                    <a:pt x="236" y="52"/>
                    <a:pt x="247" y="47"/>
                    <a:pt x="258" y="47"/>
                  </a:cubicBezTo>
                  <a:cubicBezTo>
                    <a:pt x="270" y="47"/>
                    <a:pt x="281" y="52"/>
                    <a:pt x="288" y="59"/>
                  </a:cubicBezTo>
                  <a:cubicBezTo>
                    <a:pt x="296" y="67"/>
                    <a:pt x="301" y="78"/>
                    <a:pt x="301" y="90"/>
                  </a:cubicBezTo>
                  <a:cubicBezTo>
                    <a:pt x="301" y="101"/>
                    <a:pt x="296" y="112"/>
                    <a:pt x="288" y="120"/>
                  </a:cubicBezTo>
                  <a:cubicBezTo>
                    <a:pt x="281" y="127"/>
                    <a:pt x="270" y="132"/>
                    <a:pt x="258" y="132"/>
                  </a:cubicBezTo>
                  <a:cubicBezTo>
                    <a:pt x="247" y="132"/>
                    <a:pt x="236" y="127"/>
                    <a:pt x="228" y="120"/>
                  </a:cubicBezTo>
                  <a:close/>
                  <a:moveTo>
                    <a:pt x="113" y="129"/>
                  </a:moveTo>
                  <a:cubicBezTo>
                    <a:pt x="149" y="129"/>
                    <a:pt x="178" y="100"/>
                    <a:pt x="178" y="64"/>
                  </a:cubicBezTo>
                  <a:cubicBezTo>
                    <a:pt x="178" y="29"/>
                    <a:pt x="149" y="0"/>
                    <a:pt x="113" y="0"/>
                  </a:cubicBezTo>
                  <a:cubicBezTo>
                    <a:pt x="78" y="0"/>
                    <a:pt x="49" y="29"/>
                    <a:pt x="49" y="64"/>
                  </a:cubicBezTo>
                  <a:cubicBezTo>
                    <a:pt x="49" y="100"/>
                    <a:pt x="78" y="129"/>
                    <a:pt x="113" y="129"/>
                  </a:cubicBezTo>
                  <a:close/>
                  <a:moveTo>
                    <a:pt x="113" y="133"/>
                  </a:moveTo>
                  <a:cubicBezTo>
                    <a:pt x="55" y="133"/>
                    <a:pt x="7" y="187"/>
                    <a:pt x="1" y="257"/>
                  </a:cubicBezTo>
                  <a:cubicBezTo>
                    <a:pt x="0" y="263"/>
                    <a:pt x="4" y="271"/>
                    <a:pt x="9" y="274"/>
                  </a:cubicBezTo>
                  <a:cubicBezTo>
                    <a:pt x="38" y="291"/>
                    <a:pt x="74" y="302"/>
                    <a:pt x="113" y="302"/>
                  </a:cubicBezTo>
                  <a:cubicBezTo>
                    <a:pt x="153" y="302"/>
                    <a:pt x="189" y="291"/>
                    <a:pt x="218" y="274"/>
                  </a:cubicBezTo>
                  <a:cubicBezTo>
                    <a:pt x="223" y="271"/>
                    <a:pt x="226" y="263"/>
                    <a:pt x="226" y="257"/>
                  </a:cubicBezTo>
                  <a:cubicBezTo>
                    <a:pt x="220" y="187"/>
                    <a:pt x="172" y="133"/>
                    <a:pt x="113" y="1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37" name="Freeform 102">
              <a:extLst>
                <a:ext uri="{FF2B5EF4-FFF2-40B4-BE49-F238E27FC236}">
                  <a16:creationId xmlns:a16="http://schemas.microsoft.com/office/drawing/2014/main" id="{7E9707AA-52CE-DA97-24F2-FB95A86ED050}"/>
                </a:ext>
              </a:extLst>
            </p:cNvPr>
            <p:cNvSpPr>
              <a:spLocks noEditPoints="1"/>
            </p:cNvSpPr>
            <p:nvPr/>
          </p:nvSpPr>
          <p:spPr bwMode="auto">
            <a:xfrm>
              <a:off x="2335" y="2594"/>
              <a:ext cx="298" cy="258"/>
            </a:xfrm>
            <a:custGeom>
              <a:avLst/>
              <a:gdLst>
                <a:gd name="T0" fmla="*/ 0 w 350"/>
                <a:gd name="T1" fmla="*/ 238 h 302"/>
                <a:gd name="T2" fmla="*/ 1 w 350"/>
                <a:gd name="T3" fmla="*/ 245 h 302"/>
                <a:gd name="T4" fmla="*/ 5 w 350"/>
                <a:gd name="T5" fmla="*/ 252 h 302"/>
                <a:gd name="T6" fmla="*/ 9 w 350"/>
                <a:gd name="T7" fmla="*/ 255 h 302"/>
                <a:gd name="T8" fmla="*/ 92 w 350"/>
                <a:gd name="T9" fmla="*/ 278 h 302"/>
                <a:gd name="T10" fmla="*/ 115 w 350"/>
                <a:gd name="T11" fmla="*/ 276 h 302"/>
                <a:gd name="T12" fmla="*/ 115 w 350"/>
                <a:gd name="T13" fmla="*/ 275 h 302"/>
                <a:gd name="T14" fmla="*/ 111 w 350"/>
                <a:gd name="T15" fmla="*/ 263 h 302"/>
                <a:gd name="T16" fmla="*/ 92 w 350"/>
                <a:gd name="T17" fmla="*/ 264 h 302"/>
                <a:gd name="T18" fmla="*/ 16 w 350"/>
                <a:gd name="T19" fmla="*/ 244 h 302"/>
                <a:gd name="T20" fmla="*/ 15 w 350"/>
                <a:gd name="T21" fmla="*/ 243 h 302"/>
                <a:gd name="T22" fmla="*/ 14 w 350"/>
                <a:gd name="T23" fmla="*/ 241 h 302"/>
                <a:gd name="T24" fmla="*/ 13 w 350"/>
                <a:gd name="T25" fmla="*/ 238 h 302"/>
                <a:gd name="T26" fmla="*/ 13 w 350"/>
                <a:gd name="T27" fmla="*/ 237 h 302"/>
                <a:gd name="T28" fmla="*/ 13 w 350"/>
                <a:gd name="T29" fmla="*/ 237 h 302"/>
                <a:gd name="T30" fmla="*/ 29 w 350"/>
                <a:gd name="T31" fmla="*/ 187 h 302"/>
                <a:gd name="T32" fmla="*/ 63 w 350"/>
                <a:gd name="T33" fmla="*/ 156 h 302"/>
                <a:gd name="T34" fmla="*/ 92 w 350"/>
                <a:gd name="T35" fmla="*/ 149 h 302"/>
                <a:gd name="T36" fmla="*/ 121 w 350"/>
                <a:gd name="T37" fmla="*/ 156 h 302"/>
                <a:gd name="T38" fmla="*/ 142 w 350"/>
                <a:gd name="T39" fmla="*/ 171 h 302"/>
                <a:gd name="T40" fmla="*/ 150 w 350"/>
                <a:gd name="T41" fmla="*/ 160 h 302"/>
                <a:gd name="T42" fmla="*/ 127 w 350"/>
                <a:gd name="T43" fmla="*/ 144 h 302"/>
                <a:gd name="T44" fmla="*/ 117 w 350"/>
                <a:gd name="T45" fmla="*/ 140 h 302"/>
                <a:gd name="T46" fmla="*/ 132 w 350"/>
                <a:gd name="T47" fmla="*/ 129 h 302"/>
                <a:gd name="T48" fmla="*/ 148 w 350"/>
                <a:gd name="T49" fmla="*/ 90 h 302"/>
                <a:gd name="T50" fmla="*/ 132 w 350"/>
                <a:gd name="T51" fmla="*/ 50 h 302"/>
                <a:gd name="T52" fmla="*/ 92 w 350"/>
                <a:gd name="T53" fmla="*/ 34 h 302"/>
                <a:gd name="T54" fmla="*/ 53 w 350"/>
                <a:gd name="T55" fmla="*/ 50 h 302"/>
                <a:gd name="T56" fmla="*/ 36 w 350"/>
                <a:gd name="T57" fmla="*/ 90 h 302"/>
                <a:gd name="T58" fmla="*/ 53 w 350"/>
                <a:gd name="T59" fmla="*/ 129 h 302"/>
                <a:gd name="T60" fmla="*/ 67 w 350"/>
                <a:gd name="T61" fmla="*/ 140 h 302"/>
                <a:gd name="T62" fmla="*/ 58 w 350"/>
                <a:gd name="T63" fmla="*/ 144 h 302"/>
                <a:gd name="T64" fmla="*/ 29 w 350"/>
                <a:gd name="T65" fmla="*/ 165 h 302"/>
                <a:gd name="T66" fmla="*/ 0 w 350"/>
                <a:gd name="T67" fmla="*/ 236 h 302"/>
                <a:gd name="T68" fmla="*/ 6 w 350"/>
                <a:gd name="T69" fmla="*/ 237 h 302"/>
                <a:gd name="T70" fmla="*/ 0 w 350"/>
                <a:gd name="T71" fmla="*/ 236 h 302"/>
                <a:gd name="T72" fmla="*/ 0 w 350"/>
                <a:gd name="T73" fmla="*/ 238 h 302"/>
                <a:gd name="T74" fmla="*/ 92 w 350"/>
                <a:gd name="T75" fmla="*/ 132 h 302"/>
                <a:gd name="T76" fmla="*/ 62 w 350"/>
                <a:gd name="T77" fmla="*/ 120 h 302"/>
                <a:gd name="T78" fmla="*/ 50 w 350"/>
                <a:gd name="T79" fmla="*/ 90 h 302"/>
                <a:gd name="T80" fmla="*/ 62 w 350"/>
                <a:gd name="T81" fmla="*/ 59 h 302"/>
                <a:gd name="T82" fmla="*/ 92 w 350"/>
                <a:gd name="T83" fmla="*/ 47 h 302"/>
                <a:gd name="T84" fmla="*/ 122 w 350"/>
                <a:gd name="T85" fmla="*/ 59 h 302"/>
                <a:gd name="T86" fmla="*/ 135 w 350"/>
                <a:gd name="T87" fmla="*/ 90 h 302"/>
                <a:gd name="T88" fmla="*/ 122 w 350"/>
                <a:gd name="T89" fmla="*/ 120 h 302"/>
                <a:gd name="T90" fmla="*/ 92 w 350"/>
                <a:gd name="T91" fmla="*/ 132 h 302"/>
                <a:gd name="T92" fmla="*/ 302 w 350"/>
                <a:gd name="T93" fmla="*/ 64 h 302"/>
                <a:gd name="T94" fmla="*/ 237 w 350"/>
                <a:gd name="T95" fmla="*/ 0 h 302"/>
                <a:gd name="T96" fmla="*/ 173 w 350"/>
                <a:gd name="T97" fmla="*/ 64 h 302"/>
                <a:gd name="T98" fmla="*/ 237 w 350"/>
                <a:gd name="T99" fmla="*/ 129 h 302"/>
                <a:gd name="T100" fmla="*/ 302 w 350"/>
                <a:gd name="T101" fmla="*/ 64 h 302"/>
                <a:gd name="T102" fmla="*/ 125 w 350"/>
                <a:gd name="T103" fmla="*/ 257 h 302"/>
                <a:gd name="T104" fmla="*/ 133 w 350"/>
                <a:gd name="T105" fmla="*/ 274 h 302"/>
                <a:gd name="T106" fmla="*/ 237 w 350"/>
                <a:gd name="T107" fmla="*/ 302 h 302"/>
                <a:gd name="T108" fmla="*/ 341 w 350"/>
                <a:gd name="T109" fmla="*/ 274 h 302"/>
                <a:gd name="T110" fmla="*/ 350 w 350"/>
                <a:gd name="T111" fmla="*/ 257 h 302"/>
                <a:gd name="T112" fmla="*/ 237 w 350"/>
                <a:gd name="T113" fmla="*/ 133 h 302"/>
                <a:gd name="T114" fmla="*/ 125 w 350"/>
                <a:gd name="T115" fmla="*/ 257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0" h="302">
                  <a:moveTo>
                    <a:pt x="0" y="238"/>
                  </a:moveTo>
                  <a:cubicBezTo>
                    <a:pt x="0" y="240"/>
                    <a:pt x="0" y="243"/>
                    <a:pt x="1" y="245"/>
                  </a:cubicBezTo>
                  <a:cubicBezTo>
                    <a:pt x="2" y="248"/>
                    <a:pt x="3" y="250"/>
                    <a:pt x="5" y="252"/>
                  </a:cubicBezTo>
                  <a:cubicBezTo>
                    <a:pt x="6" y="253"/>
                    <a:pt x="7" y="254"/>
                    <a:pt x="9" y="255"/>
                  </a:cubicBezTo>
                  <a:cubicBezTo>
                    <a:pt x="32" y="269"/>
                    <a:pt x="61" y="278"/>
                    <a:pt x="92" y="278"/>
                  </a:cubicBezTo>
                  <a:cubicBezTo>
                    <a:pt x="100" y="278"/>
                    <a:pt x="108" y="277"/>
                    <a:pt x="115" y="276"/>
                  </a:cubicBezTo>
                  <a:cubicBezTo>
                    <a:pt x="115" y="276"/>
                    <a:pt x="115" y="275"/>
                    <a:pt x="115" y="275"/>
                  </a:cubicBezTo>
                  <a:cubicBezTo>
                    <a:pt x="113" y="271"/>
                    <a:pt x="111" y="267"/>
                    <a:pt x="111" y="263"/>
                  </a:cubicBezTo>
                  <a:cubicBezTo>
                    <a:pt x="105" y="264"/>
                    <a:pt x="99" y="264"/>
                    <a:pt x="92" y="264"/>
                  </a:cubicBezTo>
                  <a:cubicBezTo>
                    <a:pt x="63" y="264"/>
                    <a:pt x="37" y="257"/>
                    <a:pt x="16" y="244"/>
                  </a:cubicBezTo>
                  <a:cubicBezTo>
                    <a:pt x="16" y="244"/>
                    <a:pt x="15" y="243"/>
                    <a:pt x="15" y="243"/>
                  </a:cubicBezTo>
                  <a:cubicBezTo>
                    <a:pt x="15" y="243"/>
                    <a:pt x="14" y="242"/>
                    <a:pt x="14" y="241"/>
                  </a:cubicBezTo>
                  <a:cubicBezTo>
                    <a:pt x="13" y="240"/>
                    <a:pt x="13" y="238"/>
                    <a:pt x="13" y="238"/>
                  </a:cubicBezTo>
                  <a:cubicBezTo>
                    <a:pt x="13" y="238"/>
                    <a:pt x="13" y="237"/>
                    <a:pt x="13" y="237"/>
                  </a:cubicBezTo>
                  <a:cubicBezTo>
                    <a:pt x="13" y="237"/>
                    <a:pt x="13" y="237"/>
                    <a:pt x="13" y="237"/>
                  </a:cubicBezTo>
                  <a:cubicBezTo>
                    <a:pt x="15" y="218"/>
                    <a:pt x="20" y="201"/>
                    <a:pt x="29" y="187"/>
                  </a:cubicBezTo>
                  <a:cubicBezTo>
                    <a:pt x="38" y="173"/>
                    <a:pt x="50" y="162"/>
                    <a:pt x="63" y="156"/>
                  </a:cubicBezTo>
                  <a:cubicBezTo>
                    <a:pt x="72" y="151"/>
                    <a:pt x="82" y="149"/>
                    <a:pt x="92" y="149"/>
                  </a:cubicBezTo>
                  <a:cubicBezTo>
                    <a:pt x="102" y="149"/>
                    <a:pt x="112" y="151"/>
                    <a:pt x="121" y="156"/>
                  </a:cubicBezTo>
                  <a:cubicBezTo>
                    <a:pt x="128" y="159"/>
                    <a:pt x="136" y="164"/>
                    <a:pt x="142" y="171"/>
                  </a:cubicBezTo>
                  <a:cubicBezTo>
                    <a:pt x="145" y="167"/>
                    <a:pt x="147" y="164"/>
                    <a:pt x="150" y="160"/>
                  </a:cubicBezTo>
                  <a:cubicBezTo>
                    <a:pt x="143" y="153"/>
                    <a:pt x="135" y="148"/>
                    <a:pt x="127" y="144"/>
                  </a:cubicBezTo>
                  <a:cubicBezTo>
                    <a:pt x="123" y="142"/>
                    <a:pt x="120" y="141"/>
                    <a:pt x="117" y="140"/>
                  </a:cubicBezTo>
                  <a:cubicBezTo>
                    <a:pt x="122" y="137"/>
                    <a:pt x="127" y="133"/>
                    <a:pt x="132" y="129"/>
                  </a:cubicBezTo>
                  <a:cubicBezTo>
                    <a:pt x="142" y="119"/>
                    <a:pt x="148" y="105"/>
                    <a:pt x="148" y="90"/>
                  </a:cubicBezTo>
                  <a:cubicBezTo>
                    <a:pt x="148" y="74"/>
                    <a:pt x="142" y="60"/>
                    <a:pt x="132" y="50"/>
                  </a:cubicBezTo>
                  <a:cubicBezTo>
                    <a:pt x="122" y="40"/>
                    <a:pt x="108" y="34"/>
                    <a:pt x="92" y="34"/>
                  </a:cubicBezTo>
                  <a:cubicBezTo>
                    <a:pt x="77" y="34"/>
                    <a:pt x="63" y="40"/>
                    <a:pt x="53" y="50"/>
                  </a:cubicBezTo>
                  <a:cubicBezTo>
                    <a:pt x="43" y="60"/>
                    <a:pt x="36" y="74"/>
                    <a:pt x="36" y="90"/>
                  </a:cubicBezTo>
                  <a:cubicBezTo>
                    <a:pt x="36" y="105"/>
                    <a:pt x="43" y="119"/>
                    <a:pt x="53" y="129"/>
                  </a:cubicBezTo>
                  <a:cubicBezTo>
                    <a:pt x="57" y="133"/>
                    <a:pt x="62" y="137"/>
                    <a:pt x="67" y="140"/>
                  </a:cubicBezTo>
                  <a:cubicBezTo>
                    <a:pt x="64" y="141"/>
                    <a:pt x="61" y="142"/>
                    <a:pt x="58" y="144"/>
                  </a:cubicBezTo>
                  <a:cubicBezTo>
                    <a:pt x="47" y="149"/>
                    <a:pt x="37" y="156"/>
                    <a:pt x="29" y="165"/>
                  </a:cubicBezTo>
                  <a:cubicBezTo>
                    <a:pt x="13" y="183"/>
                    <a:pt x="2" y="208"/>
                    <a:pt x="0" y="236"/>
                  </a:cubicBezTo>
                  <a:cubicBezTo>
                    <a:pt x="6" y="237"/>
                    <a:pt x="6" y="237"/>
                    <a:pt x="6" y="237"/>
                  </a:cubicBezTo>
                  <a:cubicBezTo>
                    <a:pt x="0" y="236"/>
                    <a:pt x="0" y="236"/>
                    <a:pt x="0" y="236"/>
                  </a:cubicBezTo>
                  <a:cubicBezTo>
                    <a:pt x="0" y="237"/>
                    <a:pt x="0" y="237"/>
                    <a:pt x="0" y="238"/>
                  </a:cubicBezTo>
                  <a:close/>
                  <a:moveTo>
                    <a:pt x="92" y="132"/>
                  </a:moveTo>
                  <a:cubicBezTo>
                    <a:pt x="80" y="132"/>
                    <a:pt x="70" y="127"/>
                    <a:pt x="62" y="120"/>
                  </a:cubicBezTo>
                  <a:cubicBezTo>
                    <a:pt x="54" y="112"/>
                    <a:pt x="50" y="101"/>
                    <a:pt x="50" y="90"/>
                  </a:cubicBezTo>
                  <a:cubicBezTo>
                    <a:pt x="50" y="78"/>
                    <a:pt x="54" y="67"/>
                    <a:pt x="62" y="59"/>
                  </a:cubicBezTo>
                  <a:cubicBezTo>
                    <a:pt x="70" y="52"/>
                    <a:pt x="80" y="47"/>
                    <a:pt x="92" y="47"/>
                  </a:cubicBezTo>
                  <a:cubicBezTo>
                    <a:pt x="104" y="47"/>
                    <a:pt x="115" y="52"/>
                    <a:pt x="122" y="59"/>
                  </a:cubicBezTo>
                  <a:cubicBezTo>
                    <a:pt x="130" y="67"/>
                    <a:pt x="135" y="78"/>
                    <a:pt x="135" y="90"/>
                  </a:cubicBezTo>
                  <a:cubicBezTo>
                    <a:pt x="135" y="101"/>
                    <a:pt x="130" y="112"/>
                    <a:pt x="122" y="120"/>
                  </a:cubicBezTo>
                  <a:cubicBezTo>
                    <a:pt x="115" y="127"/>
                    <a:pt x="104" y="132"/>
                    <a:pt x="92" y="132"/>
                  </a:cubicBezTo>
                  <a:close/>
                  <a:moveTo>
                    <a:pt x="302" y="64"/>
                  </a:moveTo>
                  <a:cubicBezTo>
                    <a:pt x="302" y="29"/>
                    <a:pt x="273" y="0"/>
                    <a:pt x="237" y="0"/>
                  </a:cubicBezTo>
                  <a:cubicBezTo>
                    <a:pt x="202" y="0"/>
                    <a:pt x="173" y="29"/>
                    <a:pt x="173" y="64"/>
                  </a:cubicBezTo>
                  <a:cubicBezTo>
                    <a:pt x="173" y="100"/>
                    <a:pt x="202" y="129"/>
                    <a:pt x="237" y="129"/>
                  </a:cubicBezTo>
                  <a:cubicBezTo>
                    <a:pt x="273" y="129"/>
                    <a:pt x="302" y="100"/>
                    <a:pt x="302" y="64"/>
                  </a:cubicBezTo>
                  <a:close/>
                  <a:moveTo>
                    <a:pt x="125" y="257"/>
                  </a:moveTo>
                  <a:cubicBezTo>
                    <a:pt x="124" y="263"/>
                    <a:pt x="128" y="271"/>
                    <a:pt x="133" y="274"/>
                  </a:cubicBezTo>
                  <a:cubicBezTo>
                    <a:pt x="162" y="291"/>
                    <a:pt x="198" y="302"/>
                    <a:pt x="237" y="302"/>
                  </a:cubicBezTo>
                  <a:cubicBezTo>
                    <a:pt x="277" y="302"/>
                    <a:pt x="313" y="291"/>
                    <a:pt x="341" y="274"/>
                  </a:cubicBezTo>
                  <a:cubicBezTo>
                    <a:pt x="346" y="271"/>
                    <a:pt x="350" y="263"/>
                    <a:pt x="350" y="257"/>
                  </a:cubicBezTo>
                  <a:cubicBezTo>
                    <a:pt x="344" y="187"/>
                    <a:pt x="296" y="133"/>
                    <a:pt x="237" y="133"/>
                  </a:cubicBezTo>
                  <a:cubicBezTo>
                    <a:pt x="179" y="133"/>
                    <a:pt x="131" y="187"/>
                    <a:pt x="125" y="25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pic>
        <p:nvPicPr>
          <p:cNvPr id="138" name="Graphic 137" descr="Classroom">
            <a:extLst>
              <a:ext uri="{FF2B5EF4-FFF2-40B4-BE49-F238E27FC236}">
                <a16:creationId xmlns:a16="http://schemas.microsoft.com/office/drawing/2014/main" id="{57259D6E-CA18-CB41-BB22-54B49496A7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7323" y="2127494"/>
            <a:ext cx="576561" cy="576561"/>
          </a:xfrm>
          <a:prstGeom prst="rect">
            <a:avLst/>
          </a:prstGeom>
        </p:spPr>
      </p:pic>
    </p:spTree>
    <p:extLst>
      <p:ext uri="{BB962C8B-B14F-4D97-AF65-F5344CB8AC3E}">
        <p14:creationId xmlns:p14="http://schemas.microsoft.com/office/powerpoint/2010/main" val="123433027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950" y="428726"/>
            <a:ext cx="8973849"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Evaluación Económica: </a:t>
            </a:r>
            <a:endParaRPr lang="en-US" sz="3500" spc="-30" dirty="0">
              <a:solidFill>
                <a:prstClr val="white"/>
              </a:solidFill>
              <a:latin typeface="Arial"/>
            </a:endParaRPr>
          </a:p>
        </p:txBody>
      </p:sp>
      <p:sp>
        <p:nvSpPr>
          <p:cNvPr id="3" name="Oval 2">
            <a:extLst>
              <a:ext uri="{FF2B5EF4-FFF2-40B4-BE49-F238E27FC236}">
                <a16:creationId xmlns:a16="http://schemas.microsoft.com/office/drawing/2014/main" id="{BFAF6549-9503-A4CD-3D19-E7609289F2AC}"/>
              </a:ext>
            </a:extLst>
          </p:cNvPr>
          <p:cNvSpPr/>
          <p:nvPr/>
        </p:nvSpPr>
        <p:spPr>
          <a:xfrm>
            <a:off x="543808" y="1417435"/>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58B62C42-4574-137B-3DD6-0C8367D235D1}"/>
              </a:ext>
            </a:extLst>
          </p:cNvPr>
          <p:cNvSpPr/>
          <p:nvPr/>
        </p:nvSpPr>
        <p:spPr>
          <a:xfrm>
            <a:off x="6175483" y="1417435"/>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3DA68F2-AB6A-0E31-4BE6-5388EC5A957A}"/>
              </a:ext>
            </a:extLst>
          </p:cNvPr>
          <p:cNvSpPr txBox="1"/>
          <p:nvPr/>
        </p:nvSpPr>
        <p:spPr>
          <a:xfrm>
            <a:off x="1523924" y="1526434"/>
            <a:ext cx="4387925" cy="2308324"/>
          </a:xfrm>
          <a:prstGeom prst="rect">
            <a:avLst/>
          </a:prstGeom>
          <a:noFill/>
        </p:spPr>
        <p:txBody>
          <a:bodyPr wrap="square" rtlCol="0">
            <a:spAutoFit/>
          </a:bodyPr>
          <a:lstStyle/>
          <a:p>
            <a:r>
              <a:rPr lang="es-ES" b="1" spc="-50" dirty="0">
                <a:solidFill>
                  <a:srgbClr val="AADDEE"/>
                </a:solidFill>
              </a:rPr>
              <a:t>Proyección de la Demanda </a:t>
            </a:r>
            <a:endParaRPr lang="es-ES" spc="-50" dirty="0">
              <a:solidFill>
                <a:schemeClr val="bg1"/>
              </a:solidFill>
            </a:endParaRPr>
          </a:p>
          <a:p>
            <a:pPr marL="285750" indent="-285750">
              <a:buFont typeface="Arial" panose="020B0604020202020204" pitchFamily="34" charset="0"/>
              <a:buChar char="•"/>
            </a:pPr>
            <a:r>
              <a:rPr lang="es-ES" spc="-50" dirty="0">
                <a:solidFill>
                  <a:schemeClr val="bg1"/>
                </a:solidFill>
              </a:rPr>
              <a:t>Se consideró un escenario Neutro con Contratos de Soporte y </a:t>
            </a:r>
            <a:r>
              <a:rPr lang="es-ES" spc="-50" dirty="0" err="1">
                <a:solidFill>
                  <a:schemeClr val="bg1"/>
                </a:solidFill>
              </a:rPr>
              <a:t>Assessments</a:t>
            </a:r>
            <a:r>
              <a:rPr lang="es-ES" spc="-50" dirty="0">
                <a:solidFill>
                  <a:schemeClr val="bg1"/>
                </a:solidFill>
              </a:rPr>
              <a:t>: Pagados y </a:t>
            </a:r>
            <a:r>
              <a:rPr lang="es-ES" spc="-50" dirty="0" err="1">
                <a:solidFill>
                  <a:schemeClr val="bg1"/>
                </a:solidFill>
              </a:rPr>
              <a:t>Gratuidos</a:t>
            </a:r>
            <a:endParaRPr lang="es-ES" spc="-50" dirty="0">
              <a:solidFill>
                <a:schemeClr val="bg1"/>
              </a:solidFill>
            </a:endParaRPr>
          </a:p>
          <a:p>
            <a:pPr marL="285750" indent="-285750">
              <a:buFont typeface="Arial" panose="020B0604020202020204" pitchFamily="34" charset="0"/>
              <a:buChar char="•"/>
            </a:pPr>
            <a:r>
              <a:rPr lang="es-ES" spc="-50" dirty="0">
                <a:solidFill>
                  <a:schemeClr val="bg1"/>
                </a:solidFill>
              </a:rPr>
              <a:t>El +70% de estrategia de penetración está en el primer y parte segundo año</a:t>
            </a:r>
          </a:p>
          <a:p>
            <a:endParaRPr lang="es-ES" spc="-50" dirty="0">
              <a:solidFill>
                <a:schemeClr val="bg1"/>
              </a:solidFill>
            </a:endParaRPr>
          </a:p>
          <a:p>
            <a:pPr marL="285750" indent="-285750">
              <a:buFont typeface="Arial" panose="020B0604020202020204" pitchFamily="34" charset="0"/>
              <a:buChar char="•"/>
            </a:pPr>
            <a:endParaRPr lang="es-ES" spc="-50" dirty="0">
              <a:solidFill>
                <a:schemeClr val="bg1"/>
              </a:solidFill>
            </a:endParaRPr>
          </a:p>
        </p:txBody>
      </p:sp>
      <p:sp>
        <p:nvSpPr>
          <p:cNvPr id="9" name="TextBox 8">
            <a:extLst>
              <a:ext uri="{FF2B5EF4-FFF2-40B4-BE49-F238E27FC236}">
                <a16:creationId xmlns:a16="http://schemas.microsoft.com/office/drawing/2014/main" id="{71152FCB-B616-AF1D-45B7-EBDFB1BE38D7}"/>
              </a:ext>
            </a:extLst>
          </p:cNvPr>
          <p:cNvSpPr txBox="1"/>
          <p:nvPr/>
        </p:nvSpPr>
        <p:spPr>
          <a:xfrm>
            <a:off x="7144908" y="1508671"/>
            <a:ext cx="4786561" cy="2308324"/>
          </a:xfrm>
          <a:prstGeom prst="rect">
            <a:avLst/>
          </a:prstGeom>
          <a:noFill/>
        </p:spPr>
        <p:txBody>
          <a:bodyPr wrap="square" rtlCol="0">
            <a:spAutoFit/>
          </a:bodyPr>
          <a:lstStyle/>
          <a:p>
            <a:r>
              <a:rPr lang="en-US" b="1" spc="-50" dirty="0" err="1">
                <a:solidFill>
                  <a:srgbClr val="AADDEE"/>
                </a:solidFill>
              </a:rPr>
              <a:t>Proyección</a:t>
            </a:r>
            <a:r>
              <a:rPr lang="en-US" b="1" spc="-50" dirty="0">
                <a:solidFill>
                  <a:srgbClr val="AADDEE"/>
                </a:solidFill>
              </a:rPr>
              <a:t> de </a:t>
            </a:r>
            <a:r>
              <a:rPr lang="en-US" b="1" spc="-50" dirty="0" err="1">
                <a:solidFill>
                  <a:srgbClr val="AADDEE"/>
                </a:solidFill>
              </a:rPr>
              <a:t>Ingresos</a:t>
            </a:r>
            <a:r>
              <a:rPr lang="en-US" b="1" spc="-50" dirty="0">
                <a:solidFill>
                  <a:srgbClr val="AADDEE"/>
                </a:solidFill>
              </a:rPr>
              <a:t> y </a:t>
            </a:r>
            <a:r>
              <a:rPr lang="en-US" b="1" spc="-50" dirty="0" err="1">
                <a:solidFill>
                  <a:srgbClr val="AADDEE"/>
                </a:solidFill>
              </a:rPr>
              <a:t>Capacidad</a:t>
            </a:r>
            <a:r>
              <a:rPr lang="en-US" b="1" spc="-50" dirty="0">
                <a:solidFill>
                  <a:srgbClr val="AADDEE"/>
                </a:solidFill>
              </a:rPr>
              <a:t> </a:t>
            </a:r>
          </a:p>
          <a:p>
            <a:pPr marL="285750" indent="-285750">
              <a:buFont typeface="Arial" panose="020B0604020202020204" pitchFamily="34" charset="0"/>
              <a:buChar char="•"/>
            </a:pPr>
            <a:r>
              <a:rPr lang="es-ES" spc="-50" dirty="0">
                <a:solidFill>
                  <a:schemeClr val="bg1"/>
                </a:solidFill>
              </a:rPr>
              <a:t>La proyección de Ingresos es directamente proporcional con la incorporación de Nuevos Consultores y su Capacidad de Entrega</a:t>
            </a:r>
          </a:p>
          <a:p>
            <a:pPr marL="285750" indent="-285750">
              <a:buFont typeface="Arial" panose="020B0604020202020204" pitchFamily="34" charset="0"/>
              <a:buChar char="•"/>
            </a:pPr>
            <a:r>
              <a:rPr lang="es-CL" spc="-50" dirty="0">
                <a:solidFill>
                  <a:schemeClr val="bg1"/>
                </a:solidFill>
              </a:rPr>
              <a:t>Desde el  tercer y quinto año, la hora consultora tendrá un aumento de un 7%.</a:t>
            </a:r>
            <a:endParaRPr lang="en-US" spc="-50" dirty="0">
              <a:solidFill>
                <a:schemeClr val="bg1"/>
              </a:solidFill>
            </a:endParaRPr>
          </a:p>
          <a:p>
            <a:endParaRPr lang="es-ES" spc="-50" dirty="0">
              <a:solidFill>
                <a:schemeClr val="bg1"/>
              </a:solidFill>
            </a:endParaRPr>
          </a:p>
          <a:p>
            <a:pPr marL="285750" indent="-285750">
              <a:buFont typeface="Arial" panose="020B0604020202020204" pitchFamily="34" charset="0"/>
              <a:buChar char="•"/>
            </a:pPr>
            <a:endParaRPr lang="en-US" spc="-50" dirty="0">
              <a:solidFill>
                <a:schemeClr val="bg1"/>
              </a:solidFill>
            </a:endParaRPr>
          </a:p>
        </p:txBody>
      </p:sp>
      <p:graphicFrame>
        <p:nvGraphicFramePr>
          <p:cNvPr id="11" name="Gráfico 3">
            <a:extLst>
              <a:ext uri="{FF2B5EF4-FFF2-40B4-BE49-F238E27FC236}">
                <a16:creationId xmlns:a16="http://schemas.microsoft.com/office/drawing/2014/main" id="{D78AE7A5-CF25-401D-81B5-E07D10C114B6}"/>
              </a:ext>
            </a:extLst>
          </p:cNvPr>
          <p:cNvGraphicFramePr>
            <a:graphicFrameLocks/>
          </p:cNvGraphicFramePr>
          <p:nvPr>
            <p:extLst>
              <p:ext uri="{D42A27DB-BD31-4B8C-83A1-F6EECF244321}">
                <p14:modId xmlns:p14="http://schemas.microsoft.com/office/powerpoint/2010/main" val="3727744424"/>
              </p:ext>
            </p:extLst>
          </p:nvPr>
        </p:nvGraphicFramePr>
        <p:xfrm>
          <a:off x="6273804" y="3712941"/>
          <a:ext cx="5593732" cy="2940731"/>
        </p:xfrm>
        <a:graphic>
          <a:graphicData uri="http://schemas.openxmlformats.org/drawingml/2006/chart">
            <c:chart xmlns:c="http://schemas.openxmlformats.org/drawingml/2006/chart" xmlns:r="http://schemas.openxmlformats.org/officeDocument/2006/relationships" r:id="rId4"/>
          </a:graphicData>
        </a:graphic>
      </p:graphicFrame>
      <p:grpSp>
        <p:nvGrpSpPr>
          <p:cNvPr id="15" name="Group 14">
            <a:extLst>
              <a:ext uri="{FF2B5EF4-FFF2-40B4-BE49-F238E27FC236}">
                <a16:creationId xmlns:a16="http://schemas.microsoft.com/office/drawing/2014/main" id="{1FB866BE-E2C0-8CB9-4C1E-3A0D7EAB58EB}"/>
              </a:ext>
            </a:extLst>
          </p:cNvPr>
          <p:cNvGrpSpPr/>
          <p:nvPr/>
        </p:nvGrpSpPr>
        <p:grpSpPr>
          <a:xfrm>
            <a:off x="715953" y="1613839"/>
            <a:ext cx="520926" cy="452256"/>
            <a:chOff x="1830388" y="5408613"/>
            <a:chExt cx="733425" cy="723900"/>
          </a:xfrm>
          <a:solidFill>
            <a:schemeClr val="bg1"/>
          </a:solidFill>
        </p:grpSpPr>
        <p:sp>
          <p:nvSpPr>
            <p:cNvPr id="16" name="Rectangle 45">
              <a:extLst>
                <a:ext uri="{FF2B5EF4-FFF2-40B4-BE49-F238E27FC236}">
                  <a16:creationId xmlns:a16="http://schemas.microsoft.com/office/drawing/2014/main" id="{A3470E72-4CF3-1A67-2889-6FB506E2AF3D}"/>
                </a:ext>
              </a:extLst>
            </p:cNvPr>
            <p:cNvSpPr>
              <a:spLocks noChangeArrowheads="1"/>
            </p:cNvSpPr>
            <p:nvPr/>
          </p:nvSpPr>
          <p:spPr bwMode="auto">
            <a:xfrm>
              <a:off x="1830388" y="6059488"/>
              <a:ext cx="733425" cy="73025"/>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7" name="Rectangle 46">
              <a:extLst>
                <a:ext uri="{FF2B5EF4-FFF2-40B4-BE49-F238E27FC236}">
                  <a16:creationId xmlns:a16="http://schemas.microsoft.com/office/drawing/2014/main" id="{A11D97AA-8E9D-0D9A-FAA4-00B9136D6309}"/>
                </a:ext>
              </a:extLst>
            </p:cNvPr>
            <p:cNvSpPr>
              <a:spLocks noChangeArrowheads="1"/>
            </p:cNvSpPr>
            <p:nvPr/>
          </p:nvSpPr>
          <p:spPr bwMode="auto">
            <a:xfrm>
              <a:off x="1916113" y="5808663"/>
              <a:ext cx="141287" cy="195263"/>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8" name="Rectangle 47">
              <a:extLst>
                <a:ext uri="{FF2B5EF4-FFF2-40B4-BE49-F238E27FC236}">
                  <a16:creationId xmlns:a16="http://schemas.microsoft.com/office/drawing/2014/main" id="{D1977291-E273-C819-1843-CD6AF50C49EB}"/>
                </a:ext>
              </a:extLst>
            </p:cNvPr>
            <p:cNvSpPr>
              <a:spLocks noChangeArrowheads="1"/>
            </p:cNvSpPr>
            <p:nvPr/>
          </p:nvSpPr>
          <p:spPr bwMode="auto">
            <a:xfrm>
              <a:off x="2125663" y="5722938"/>
              <a:ext cx="142875" cy="280988"/>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9" name="Rectangle 48">
              <a:extLst>
                <a:ext uri="{FF2B5EF4-FFF2-40B4-BE49-F238E27FC236}">
                  <a16:creationId xmlns:a16="http://schemas.microsoft.com/office/drawing/2014/main" id="{679D4C85-E310-F048-6B74-673D1DB644D6}"/>
                </a:ext>
              </a:extLst>
            </p:cNvPr>
            <p:cNvSpPr>
              <a:spLocks noChangeArrowheads="1"/>
            </p:cNvSpPr>
            <p:nvPr/>
          </p:nvSpPr>
          <p:spPr bwMode="auto">
            <a:xfrm>
              <a:off x="2336800" y="5575300"/>
              <a:ext cx="144462" cy="428625"/>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20" name="Freeform 49">
              <a:extLst>
                <a:ext uri="{FF2B5EF4-FFF2-40B4-BE49-F238E27FC236}">
                  <a16:creationId xmlns:a16="http://schemas.microsoft.com/office/drawing/2014/main" id="{5A5009F1-4560-8618-6D6F-F3C1EBB2CEB9}"/>
                </a:ext>
              </a:extLst>
            </p:cNvPr>
            <p:cNvSpPr>
              <a:spLocks/>
            </p:cNvSpPr>
            <p:nvPr/>
          </p:nvSpPr>
          <p:spPr bwMode="auto">
            <a:xfrm>
              <a:off x="1884363" y="5408613"/>
              <a:ext cx="423862" cy="360363"/>
            </a:xfrm>
            <a:custGeom>
              <a:avLst/>
              <a:gdLst>
                <a:gd name="T0" fmla="*/ 15 w 267"/>
                <a:gd name="T1" fmla="*/ 227 h 227"/>
                <a:gd name="T2" fmla="*/ 205 w 267"/>
                <a:gd name="T3" fmla="*/ 97 h 227"/>
                <a:gd name="T4" fmla="*/ 234 w 267"/>
                <a:gd name="T5" fmla="*/ 145 h 227"/>
                <a:gd name="T6" fmla="*/ 267 w 267"/>
                <a:gd name="T7" fmla="*/ 17 h 227"/>
                <a:gd name="T8" fmla="*/ 144 w 267"/>
                <a:gd name="T9" fmla="*/ 0 h 227"/>
                <a:gd name="T10" fmla="*/ 175 w 267"/>
                <a:gd name="T11" fmla="*/ 51 h 227"/>
                <a:gd name="T12" fmla="*/ 0 w 267"/>
                <a:gd name="T13" fmla="*/ 212 h 227"/>
                <a:gd name="T14" fmla="*/ 15 w 267"/>
                <a:gd name="T15" fmla="*/ 227 h 2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227">
                  <a:moveTo>
                    <a:pt x="15" y="227"/>
                  </a:moveTo>
                  <a:lnTo>
                    <a:pt x="205" y="97"/>
                  </a:lnTo>
                  <a:lnTo>
                    <a:pt x="234" y="145"/>
                  </a:lnTo>
                  <a:lnTo>
                    <a:pt x="267" y="17"/>
                  </a:lnTo>
                  <a:lnTo>
                    <a:pt x="144" y="0"/>
                  </a:lnTo>
                  <a:lnTo>
                    <a:pt x="175" y="51"/>
                  </a:lnTo>
                  <a:lnTo>
                    <a:pt x="0" y="212"/>
                  </a:lnTo>
                  <a:lnTo>
                    <a:pt x="15" y="22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graphicFrame>
        <p:nvGraphicFramePr>
          <p:cNvPr id="21" name="Gráfico 1">
            <a:extLst>
              <a:ext uri="{FF2B5EF4-FFF2-40B4-BE49-F238E27FC236}">
                <a16:creationId xmlns:a16="http://schemas.microsoft.com/office/drawing/2014/main" id="{F2E8CC6C-836C-498B-960F-C80584D517F3}"/>
              </a:ext>
            </a:extLst>
          </p:cNvPr>
          <p:cNvGraphicFramePr>
            <a:graphicFrameLocks/>
          </p:cNvGraphicFramePr>
          <p:nvPr>
            <p:extLst>
              <p:ext uri="{D42A27DB-BD31-4B8C-83A1-F6EECF244321}">
                <p14:modId xmlns:p14="http://schemas.microsoft.com/office/powerpoint/2010/main" val="786127171"/>
              </p:ext>
            </p:extLst>
          </p:nvPr>
        </p:nvGraphicFramePr>
        <p:xfrm>
          <a:off x="543808" y="3638669"/>
          <a:ext cx="5369628" cy="2975033"/>
        </p:xfrm>
        <a:graphic>
          <a:graphicData uri="http://schemas.openxmlformats.org/drawingml/2006/chart">
            <c:chart xmlns:c="http://schemas.openxmlformats.org/drawingml/2006/chart" xmlns:r="http://schemas.openxmlformats.org/officeDocument/2006/relationships" r:id="rId5"/>
          </a:graphicData>
        </a:graphic>
      </p:graphicFrame>
      <p:cxnSp>
        <p:nvCxnSpPr>
          <p:cNvPr id="22" name="Straight Connector 21">
            <a:extLst>
              <a:ext uri="{FF2B5EF4-FFF2-40B4-BE49-F238E27FC236}">
                <a16:creationId xmlns:a16="http://schemas.microsoft.com/office/drawing/2014/main" id="{9A653775-0497-4CDB-F377-A2C0D7E0A7CA}"/>
              </a:ext>
            </a:extLst>
          </p:cNvPr>
          <p:cNvCxnSpPr>
            <a:cxnSpLocks/>
          </p:cNvCxnSpPr>
          <p:nvPr>
            <p:custDataLst>
              <p:tags r:id="rId1"/>
            </p:custDataLst>
          </p:nvPr>
        </p:nvCxnSpPr>
        <p:spPr bwMode="ltGray">
          <a:xfrm flipV="1">
            <a:off x="5949779" y="3638669"/>
            <a:ext cx="0" cy="2828924"/>
          </a:xfrm>
          <a:prstGeom prst="line">
            <a:avLst/>
          </a:prstGeom>
          <a:solidFill>
            <a:schemeClr val="accent1"/>
          </a:solidFill>
          <a:ln w="12700" cap="flat" cmpd="sng" algn="ctr">
            <a:solidFill>
              <a:schemeClr val="bg1"/>
            </a:solidFill>
            <a:prstDash val="dashDot"/>
            <a:round/>
            <a:headEnd type="none" w="sm" len="sm"/>
            <a:tailEnd type="none" w="sm" len="sm"/>
          </a:ln>
          <a:effectLst/>
        </p:spPr>
      </p:cxnSp>
      <p:sp>
        <p:nvSpPr>
          <p:cNvPr id="24" name="TextBox 23">
            <a:extLst>
              <a:ext uri="{FF2B5EF4-FFF2-40B4-BE49-F238E27FC236}">
                <a16:creationId xmlns:a16="http://schemas.microsoft.com/office/drawing/2014/main" id="{1248B5F7-47A5-36A3-4D5F-DE2235143BCD}"/>
              </a:ext>
            </a:extLst>
          </p:cNvPr>
          <p:cNvSpPr txBox="1"/>
          <p:nvPr/>
        </p:nvSpPr>
        <p:spPr>
          <a:xfrm>
            <a:off x="8282101" y="6540376"/>
            <a:ext cx="534368" cy="226591"/>
          </a:xfrm>
          <a:prstGeom prst="rect">
            <a:avLst/>
          </a:prstGeom>
          <a:noFill/>
        </p:spPr>
        <p:txBody>
          <a:bodyPr wrap="none" lIns="36000" tIns="36000" rIns="36000" bIns="36000" rtlCol="0">
            <a:spAutoFit/>
          </a:bodyPr>
          <a:lstStyle/>
          <a:p>
            <a:pPr algn="l"/>
            <a:r>
              <a:rPr lang="en-US" sz="1000" dirty="0">
                <a:solidFill>
                  <a:schemeClr val="bg1"/>
                </a:solidFill>
              </a:rPr>
              <a:t>En USD</a:t>
            </a:r>
          </a:p>
        </p:txBody>
      </p:sp>
      <p:grpSp>
        <p:nvGrpSpPr>
          <p:cNvPr id="31" name="Group 30">
            <a:extLst>
              <a:ext uri="{FF2B5EF4-FFF2-40B4-BE49-F238E27FC236}">
                <a16:creationId xmlns:a16="http://schemas.microsoft.com/office/drawing/2014/main" id="{CCACD782-25C5-BA84-594B-5D36015FC0DF}"/>
              </a:ext>
            </a:extLst>
          </p:cNvPr>
          <p:cNvGrpSpPr/>
          <p:nvPr/>
        </p:nvGrpSpPr>
        <p:grpSpPr>
          <a:xfrm>
            <a:off x="6330204" y="1602083"/>
            <a:ext cx="561761" cy="482735"/>
            <a:chOff x="6331935" y="1634857"/>
            <a:chExt cx="417513" cy="412749"/>
          </a:xfrm>
          <a:solidFill>
            <a:schemeClr val="bg1"/>
          </a:solidFill>
        </p:grpSpPr>
        <p:sp>
          <p:nvSpPr>
            <p:cNvPr id="29" name="Freeform 146">
              <a:extLst>
                <a:ext uri="{FF2B5EF4-FFF2-40B4-BE49-F238E27FC236}">
                  <a16:creationId xmlns:a16="http://schemas.microsoft.com/office/drawing/2014/main" id="{03BBCF09-3FD1-6BB2-E9EE-87AB52C2FCB7}"/>
                </a:ext>
              </a:extLst>
            </p:cNvPr>
            <p:cNvSpPr>
              <a:spLocks noEditPoints="1"/>
            </p:cNvSpPr>
            <p:nvPr/>
          </p:nvSpPr>
          <p:spPr bwMode="auto">
            <a:xfrm>
              <a:off x="6357335" y="1849169"/>
              <a:ext cx="258763" cy="198437"/>
            </a:xfrm>
            <a:custGeom>
              <a:avLst/>
              <a:gdLst>
                <a:gd name="T0" fmla="*/ 148 w 204"/>
                <a:gd name="T1" fmla="*/ 86 h 157"/>
                <a:gd name="T2" fmla="*/ 148 w 204"/>
                <a:gd name="T3" fmla="*/ 71 h 157"/>
                <a:gd name="T4" fmla="*/ 148 w 204"/>
                <a:gd name="T5" fmla="*/ 69 h 157"/>
                <a:gd name="T6" fmla="*/ 185 w 204"/>
                <a:gd name="T7" fmla="*/ 50 h 157"/>
                <a:gd name="T8" fmla="*/ 185 w 204"/>
                <a:gd name="T9" fmla="*/ 23 h 157"/>
                <a:gd name="T10" fmla="*/ 161 w 204"/>
                <a:gd name="T11" fmla="*/ 5 h 157"/>
                <a:gd name="T12" fmla="*/ 63 w 204"/>
                <a:gd name="T13" fmla="*/ 5 h 157"/>
                <a:gd name="T14" fmla="*/ 38 w 204"/>
                <a:gd name="T15" fmla="*/ 50 h 157"/>
                <a:gd name="T16" fmla="*/ 25 w 204"/>
                <a:gd name="T17" fmla="*/ 53 h 157"/>
                <a:gd name="T18" fmla="*/ 0 w 204"/>
                <a:gd name="T19" fmla="*/ 98 h 157"/>
                <a:gd name="T20" fmla="*/ 57 w 204"/>
                <a:gd name="T21" fmla="*/ 119 h 157"/>
                <a:gd name="T22" fmla="*/ 81 w 204"/>
                <a:gd name="T23" fmla="*/ 152 h 157"/>
                <a:gd name="T24" fmla="*/ 180 w 204"/>
                <a:gd name="T25" fmla="*/ 152 h 157"/>
                <a:gd name="T26" fmla="*/ 204 w 204"/>
                <a:gd name="T27" fmla="*/ 108 h 157"/>
                <a:gd name="T28" fmla="*/ 204 w 204"/>
                <a:gd name="T29" fmla="*/ 107 h 157"/>
                <a:gd name="T30" fmla="*/ 112 w 204"/>
                <a:gd name="T31" fmla="*/ 13 h 157"/>
                <a:gd name="T32" fmla="*/ 112 w 204"/>
                <a:gd name="T33" fmla="*/ 30 h 157"/>
                <a:gd name="T34" fmla="*/ 112 w 204"/>
                <a:gd name="T35" fmla="*/ 13 h 157"/>
                <a:gd name="T36" fmla="*/ 131 w 204"/>
                <a:gd name="T37" fmla="*/ 58 h 157"/>
                <a:gd name="T38" fmla="*/ 120 w 204"/>
                <a:gd name="T39" fmla="*/ 42 h 157"/>
                <a:gd name="T40" fmla="*/ 106 w 204"/>
                <a:gd name="T41" fmla="*/ 42 h 157"/>
                <a:gd name="T42" fmla="*/ 95 w 204"/>
                <a:gd name="T43" fmla="*/ 58 h 157"/>
                <a:gd name="T44" fmla="*/ 106 w 204"/>
                <a:gd name="T45" fmla="*/ 42 h 157"/>
                <a:gd name="T46" fmla="*/ 81 w 204"/>
                <a:gd name="T47" fmla="*/ 57 h 157"/>
                <a:gd name="T48" fmla="*/ 71 w 204"/>
                <a:gd name="T49" fmla="*/ 40 h 157"/>
                <a:gd name="T50" fmla="*/ 50 w 204"/>
                <a:gd name="T51" fmla="*/ 35 h 157"/>
                <a:gd name="T52" fmla="*/ 57 w 204"/>
                <a:gd name="T53" fmla="*/ 52 h 157"/>
                <a:gd name="T54" fmla="*/ 50 w 204"/>
                <a:gd name="T55" fmla="*/ 35 h 157"/>
                <a:gd name="T56" fmla="*/ 13 w 204"/>
                <a:gd name="T57" fmla="*/ 97 h 157"/>
                <a:gd name="T58" fmla="*/ 19 w 204"/>
                <a:gd name="T59" fmla="*/ 84 h 157"/>
                <a:gd name="T60" fmla="*/ 43 w 204"/>
                <a:gd name="T61" fmla="*/ 105 h 157"/>
                <a:gd name="T62" fmla="*/ 34 w 204"/>
                <a:gd name="T63" fmla="*/ 87 h 157"/>
                <a:gd name="T64" fmla="*/ 43 w 204"/>
                <a:gd name="T65" fmla="*/ 105 h 157"/>
                <a:gd name="T66" fmla="*/ 57 w 204"/>
                <a:gd name="T67" fmla="*/ 106 h 157"/>
                <a:gd name="T68" fmla="*/ 68 w 204"/>
                <a:gd name="T69" fmla="*/ 90 h 157"/>
                <a:gd name="T70" fmla="*/ 76 w 204"/>
                <a:gd name="T71" fmla="*/ 138 h 157"/>
                <a:gd name="T72" fmla="*/ 69 w 204"/>
                <a:gd name="T73" fmla="*/ 120 h 157"/>
                <a:gd name="T74" fmla="*/ 76 w 204"/>
                <a:gd name="T75" fmla="*/ 138 h 157"/>
                <a:gd name="T76" fmla="*/ 14 w 204"/>
                <a:gd name="T77" fmla="*/ 69 h 157"/>
                <a:gd name="T78" fmla="*/ 63 w 204"/>
                <a:gd name="T79" fmla="*/ 67 h 157"/>
                <a:gd name="T80" fmla="*/ 130 w 204"/>
                <a:gd name="T81" fmla="*/ 71 h 157"/>
                <a:gd name="T82" fmla="*/ 82 w 204"/>
                <a:gd name="T83" fmla="*/ 90 h 157"/>
                <a:gd name="T84" fmla="*/ 93 w 204"/>
                <a:gd name="T85" fmla="*/ 106 h 157"/>
                <a:gd name="T86" fmla="*/ 82 w 204"/>
                <a:gd name="T87" fmla="*/ 90 h 157"/>
                <a:gd name="T88" fmla="*/ 90 w 204"/>
                <a:gd name="T89" fmla="*/ 141 h 157"/>
                <a:gd name="T90" fmla="*/ 99 w 204"/>
                <a:gd name="T91" fmla="*/ 126 h 157"/>
                <a:gd name="T92" fmla="*/ 108 w 204"/>
                <a:gd name="T93" fmla="*/ 88 h 157"/>
                <a:gd name="T94" fmla="*/ 117 w 204"/>
                <a:gd name="T95" fmla="*/ 103 h 157"/>
                <a:gd name="T96" fmla="*/ 108 w 204"/>
                <a:gd name="T97" fmla="*/ 88 h 157"/>
                <a:gd name="T98" fmla="*/ 114 w 204"/>
                <a:gd name="T99" fmla="*/ 144 h 157"/>
                <a:gd name="T100" fmla="*/ 125 w 204"/>
                <a:gd name="T101" fmla="*/ 128 h 157"/>
                <a:gd name="T102" fmla="*/ 130 w 204"/>
                <a:gd name="T103" fmla="*/ 115 h 157"/>
                <a:gd name="T104" fmla="*/ 123 w 204"/>
                <a:gd name="T105" fmla="*/ 115 h 157"/>
                <a:gd name="T106" fmla="*/ 190 w 204"/>
                <a:gd name="T107" fmla="*/ 10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4" h="157">
                  <a:moveTo>
                    <a:pt x="180" y="90"/>
                  </a:moveTo>
                  <a:cubicBezTo>
                    <a:pt x="171" y="88"/>
                    <a:pt x="160" y="87"/>
                    <a:pt x="148" y="86"/>
                  </a:cubicBezTo>
                  <a:cubicBezTo>
                    <a:pt x="148" y="71"/>
                    <a:pt x="148" y="71"/>
                    <a:pt x="148" y="71"/>
                  </a:cubicBezTo>
                  <a:cubicBezTo>
                    <a:pt x="148" y="71"/>
                    <a:pt x="148" y="71"/>
                    <a:pt x="148" y="71"/>
                  </a:cubicBezTo>
                  <a:cubicBezTo>
                    <a:pt x="148" y="70"/>
                    <a:pt x="148" y="70"/>
                    <a:pt x="148" y="69"/>
                  </a:cubicBezTo>
                  <a:cubicBezTo>
                    <a:pt x="148" y="69"/>
                    <a:pt x="148" y="69"/>
                    <a:pt x="148" y="69"/>
                  </a:cubicBezTo>
                  <a:cubicBezTo>
                    <a:pt x="152" y="69"/>
                    <a:pt x="157" y="68"/>
                    <a:pt x="161" y="67"/>
                  </a:cubicBezTo>
                  <a:cubicBezTo>
                    <a:pt x="171" y="65"/>
                    <a:pt x="185" y="60"/>
                    <a:pt x="185" y="50"/>
                  </a:cubicBezTo>
                  <a:cubicBezTo>
                    <a:pt x="185" y="23"/>
                    <a:pt x="185" y="23"/>
                    <a:pt x="185" y="23"/>
                  </a:cubicBezTo>
                  <a:cubicBezTo>
                    <a:pt x="185" y="23"/>
                    <a:pt x="185" y="23"/>
                    <a:pt x="185" y="23"/>
                  </a:cubicBezTo>
                  <a:cubicBezTo>
                    <a:pt x="185" y="23"/>
                    <a:pt x="185" y="22"/>
                    <a:pt x="185" y="21"/>
                  </a:cubicBezTo>
                  <a:cubicBezTo>
                    <a:pt x="185" y="11"/>
                    <a:pt x="171" y="7"/>
                    <a:pt x="161" y="5"/>
                  </a:cubicBezTo>
                  <a:cubicBezTo>
                    <a:pt x="148" y="2"/>
                    <a:pt x="130" y="0"/>
                    <a:pt x="112" y="0"/>
                  </a:cubicBezTo>
                  <a:cubicBezTo>
                    <a:pt x="93" y="0"/>
                    <a:pt x="76" y="2"/>
                    <a:pt x="63" y="5"/>
                  </a:cubicBezTo>
                  <a:cubicBezTo>
                    <a:pt x="52" y="7"/>
                    <a:pt x="38" y="11"/>
                    <a:pt x="38" y="21"/>
                  </a:cubicBezTo>
                  <a:cubicBezTo>
                    <a:pt x="38" y="50"/>
                    <a:pt x="38" y="50"/>
                    <a:pt x="38" y="50"/>
                  </a:cubicBezTo>
                  <a:cubicBezTo>
                    <a:pt x="38" y="50"/>
                    <a:pt x="38" y="50"/>
                    <a:pt x="38" y="50"/>
                  </a:cubicBezTo>
                  <a:cubicBezTo>
                    <a:pt x="33" y="51"/>
                    <a:pt x="29" y="52"/>
                    <a:pt x="25" y="53"/>
                  </a:cubicBezTo>
                  <a:cubicBezTo>
                    <a:pt x="14" y="55"/>
                    <a:pt x="0" y="59"/>
                    <a:pt x="0" y="69"/>
                  </a:cubicBezTo>
                  <a:cubicBezTo>
                    <a:pt x="0" y="98"/>
                    <a:pt x="0" y="98"/>
                    <a:pt x="0" y="98"/>
                  </a:cubicBezTo>
                  <a:cubicBezTo>
                    <a:pt x="0" y="108"/>
                    <a:pt x="14" y="112"/>
                    <a:pt x="25" y="115"/>
                  </a:cubicBezTo>
                  <a:cubicBezTo>
                    <a:pt x="34" y="117"/>
                    <a:pt x="45" y="118"/>
                    <a:pt x="57" y="119"/>
                  </a:cubicBezTo>
                  <a:cubicBezTo>
                    <a:pt x="57" y="136"/>
                    <a:pt x="57" y="136"/>
                    <a:pt x="57" y="136"/>
                  </a:cubicBezTo>
                  <a:cubicBezTo>
                    <a:pt x="57" y="146"/>
                    <a:pt x="71" y="150"/>
                    <a:pt x="81" y="152"/>
                  </a:cubicBezTo>
                  <a:cubicBezTo>
                    <a:pt x="95" y="155"/>
                    <a:pt x="112" y="157"/>
                    <a:pt x="130" y="157"/>
                  </a:cubicBezTo>
                  <a:cubicBezTo>
                    <a:pt x="149" y="157"/>
                    <a:pt x="166" y="155"/>
                    <a:pt x="180" y="152"/>
                  </a:cubicBezTo>
                  <a:cubicBezTo>
                    <a:pt x="190" y="150"/>
                    <a:pt x="204" y="146"/>
                    <a:pt x="204" y="136"/>
                  </a:cubicBezTo>
                  <a:cubicBezTo>
                    <a:pt x="204" y="108"/>
                    <a:pt x="204" y="108"/>
                    <a:pt x="204" y="108"/>
                  </a:cubicBezTo>
                  <a:cubicBezTo>
                    <a:pt x="204" y="108"/>
                    <a:pt x="204" y="108"/>
                    <a:pt x="204" y="108"/>
                  </a:cubicBezTo>
                  <a:cubicBezTo>
                    <a:pt x="204" y="108"/>
                    <a:pt x="204" y="107"/>
                    <a:pt x="204" y="107"/>
                  </a:cubicBezTo>
                  <a:cubicBezTo>
                    <a:pt x="204" y="97"/>
                    <a:pt x="190" y="93"/>
                    <a:pt x="180" y="90"/>
                  </a:cubicBezTo>
                  <a:close/>
                  <a:moveTo>
                    <a:pt x="112" y="13"/>
                  </a:moveTo>
                  <a:cubicBezTo>
                    <a:pt x="145" y="13"/>
                    <a:pt x="165" y="18"/>
                    <a:pt x="171" y="21"/>
                  </a:cubicBezTo>
                  <a:cubicBezTo>
                    <a:pt x="165" y="25"/>
                    <a:pt x="145" y="30"/>
                    <a:pt x="112" y="30"/>
                  </a:cubicBezTo>
                  <a:cubicBezTo>
                    <a:pt x="79" y="30"/>
                    <a:pt x="58" y="25"/>
                    <a:pt x="52" y="21"/>
                  </a:cubicBezTo>
                  <a:cubicBezTo>
                    <a:pt x="58" y="18"/>
                    <a:pt x="79" y="13"/>
                    <a:pt x="112" y="13"/>
                  </a:cubicBezTo>
                  <a:close/>
                  <a:moveTo>
                    <a:pt x="131" y="42"/>
                  </a:moveTo>
                  <a:cubicBezTo>
                    <a:pt x="131" y="58"/>
                    <a:pt x="131" y="58"/>
                    <a:pt x="131" y="58"/>
                  </a:cubicBezTo>
                  <a:cubicBezTo>
                    <a:pt x="127" y="58"/>
                    <a:pt x="124" y="59"/>
                    <a:pt x="120" y="59"/>
                  </a:cubicBezTo>
                  <a:cubicBezTo>
                    <a:pt x="120" y="42"/>
                    <a:pt x="120" y="42"/>
                    <a:pt x="120" y="42"/>
                  </a:cubicBezTo>
                  <a:cubicBezTo>
                    <a:pt x="124" y="42"/>
                    <a:pt x="127" y="42"/>
                    <a:pt x="131" y="42"/>
                  </a:cubicBezTo>
                  <a:close/>
                  <a:moveTo>
                    <a:pt x="106" y="42"/>
                  </a:moveTo>
                  <a:cubicBezTo>
                    <a:pt x="106" y="59"/>
                    <a:pt x="106" y="59"/>
                    <a:pt x="106" y="59"/>
                  </a:cubicBezTo>
                  <a:cubicBezTo>
                    <a:pt x="102" y="59"/>
                    <a:pt x="98" y="59"/>
                    <a:pt x="95" y="58"/>
                  </a:cubicBezTo>
                  <a:cubicBezTo>
                    <a:pt x="95" y="42"/>
                    <a:pt x="95" y="42"/>
                    <a:pt x="95" y="42"/>
                  </a:cubicBezTo>
                  <a:cubicBezTo>
                    <a:pt x="99" y="42"/>
                    <a:pt x="102" y="42"/>
                    <a:pt x="106" y="42"/>
                  </a:cubicBezTo>
                  <a:close/>
                  <a:moveTo>
                    <a:pt x="81" y="41"/>
                  </a:moveTo>
                  <a:cubicBezTo>
                    <a:pt x="81" y="57"/>
                    <a:pt x="81" y="57"/>
                    <a:pt x="81" y="57"/>
                  </a:cubicBezTo>
                  <a:cubicBezTo>
                    <a:pt x="77" y="57"/>
                    <a:pt x="74" y="56"/>
                    <a:pt x="71" y="56"/>
                  </a:cubicBezTo>
                  <a:cubicBezTo>
                    <a:pt x="71" y="40"/>
                    <a:pt x="71" y="40"/>
                    <a:pt x="71" y="40"/>
                  </a:cubicBezTo>
                  <a:cubicBezTo>
                    <a:pt x="74" y="40"/>
                    <a:pt x="77" y="41"/>
                    <a:pt x="81" y="41"/>
                  </a:cubicBezTo>
                  <a:close/>
                  <a:moveTo>
                    <a:pt x="50" y="35"/>
                  </a:moveTo>
                  <a:cubicBezTo>
                    <a:pt x="52" y="35"/>
                    <a:pt x="55" y="36"/>
                    <a:pt x="57" y="37"/>
                  </a:cubicBezTo>
                  <a:cubicBezTo>
                    <a:pt x="57" y="52"/>
                    <a:pt x="57" y="52"/>
                    <a:pt x="57" y="52"/>
                  </a:cubicBezTo>
                  <a:cubicBezTo>
                    <a:pt x="54" y="51"/>
                    <a:pt x="51" y="50"/>
                    <a:pt x="50" y="49"/>
                  </a:cubicBezTo>
                  <a:lnTo>
                    <a:pt x="50" y="35"/>
                  </a:lnTo>
                  <a:close/>
                  <a:moveTo>
                    <a:pt x="19" y="100"/>
                  </a:moveTo>
                  <a:cubicBezTo>
                    <a:pt x="16" y="99"/>
                    <a:pt x="14" y="98"/>
                    <a:pt x="13" y="97"/>
                  </a:cubicBezTo>
                  <a:cubicBezTo>
                    <a:pt x="13" y="82"/>
                    <a:pt x="13" y="82"/>
                    <a:pt x="13" y="82"/>
                  </a:cubicBezTo>
                  <a:cubicBezTo>
                    <a:pt x="15" y="83"/>
                    <a:pt x="17" y="84"/>
                    <a:pt x="19" y="84"/>
                  </a:cubicBezTo>
                  <a:lnTo>
                    <a:pt x="19" y="100"/>
                  </a:lnTo>
                  <a:close/>
                  <a:moveTo>
                    <a:pt x="43" y="105"/>
                  </a:moveTo>
                  <a:cubicBezTo>
                    <a:pt x="40" y="104"/>
                    <a:pt x="36" y="104"/>
                    <a:pt x="34" y="103"/>
                  </a:cubicBezTo>
                  <a:cubicBezTo>
                    <a:pt x="34" y="87"/>
                    <a:pt x="34" y="87"/>
                    <a:pt x="34" y="87"/>
                  </a:cubicBezTo>
                  <a:cubicBezTo>
                    <a:pt x="37" y="88"/>
                    <a:pt x="40" y="88"/>
                    <a:pt x="43" y="89"/>
                  </a:cubicBezTo>
                  <a:lnTo>
                    <a:pt x="43" y="105"/>
                  </a:lnTo>
                  <a:close/>
                  <a:moveTo>
                    <a:pt x="68" y="106"/>
                  </a:moveTo>
                  <a:cubicBezTo>
                    <a:pt x="64" y="106"/>
                    <a:pt x="61" y="106"/>
                    <a:pt x="57" y="106"/>
                  </a:cubicBezTo>
                  <a:cubicBezTo>
                    <a:pt x="57" y="90"/>
                    <a:pt x="57" y="90"/>
                    <a:pt x="57" y="90"/>
                  </a:cubicBezTo>
                  <a:cubicBezTo>
                    <a:pt x="61" y="90"/>
                    <a:pt x="64" y="90"/>
                    <a:pt x="68" y="90"/>
                  </a:cubicBezTo>
                  <a:lnTo>
                    <a:pt x="68" y="106"/>
                  </a:lnTo>
                  <a:close/>
                  <a:moveTo>
                    <a:pt x="76" y="138"/>
                  </a:moveTo>
                  <a:cubicBezTo>
                    <a:pt x="72" y="137"/>
                    <a:pt x="70" y="136"/>
                    <a:pt x="69" y="135"/>
                  </a:cubicBezTo>
                  <a:cubicBezTo>
                    <a:pt x="69" y="120"/>
                    <a:pt x="69" y="120"/>
                    <a:pt x="69" y="120"/>
                  </a:cubicBezTo>
                  <a:cubicBezTo>
                    <a:pt x="71" y="121"/>
                    <a:pt x="73" y="121"/>
                    <a:pt x="76" y="122"/>
                  </a:cubicBezTo>
                  <a:lnTo>
                    <a:pt x="76" y="138"/>
                  </a:lnTo>
                  <a:close/>
                  <a:moveTo>
                    <a:pt x="74" y="78"/>
                  </a:moveTo>
                  <a:cubicBezTo>
                    <a:pt x="41" y="78"/>
                    <a:pt x="21" y="73"/>
                    <a:pt x="14" y="69"/>
                  </a:cubicBezTo>
                  <a:cubicBezTo>
                    <a:pt x="19" y="67"/>
                    <a:pt x="30" y="64"/>
                    <a:pt x="47" y="62"/>
                  </a:cubicBezTo>
                  <a:cubicBezTo>
                    <a:pt x="52" y="64"/>
                    <a:pt x="58" y="66"/>
                    <a:pt x="63" y="67"/>
                  </a:cubicBezTo>
                  <a:cubicBezTo>
                    <a:pt x="76" y="70"/>
                    <a:pt x="93" y="71"/>
                    <a:pt x="112" y="71"/>
                  </a:cubicBezTo>
                  <a:cubicBezTo>
                    <a:pt x="118" y="71"/>
                    <a:pt x="124" y="71"/>
                    <a:pt x="130" y="71"/>
                  </a:cubicBezTo>
                  <a:cubicBezTo>
                    <a:pt x="121" y="74"/>
                    <a:pt x="102" y="78"/>
                    <a:pt x="74" y="78"/>
                  </a:cubicBezTo>
                  <a:close/>
                  <a:moveTo>
                    <a:pt x="82" y="90"/>
                  </a:moveTo>
                  <a:cubicBezTo>
                    <a:pt x="86" y="90"/>
                    <a:pt x="90" y="90"/>
                    <a:pt x="93" y="90"/>
                  </a:cubicBezTo>
                  <a:cubicBezTo>
                    <a:pt x="93" y="106"/>
                    <a:pt x="93" y="106"/>
                    <a:pt x="93" y="106"/>
                  </a:cubicBezTo>
                  <a:cubicBezTo>
                    <a:pt x="90" y="106"/>
                    <a:pt x="86" y="106"/>
                    <a:pt x="82" y="106"/>
                  </a:cubicBezTo>
                  <a:lnTo>
                    <a:pt x="82" y="90"/>
                  </a:lnTo>
                  <a:close/>
                  <a:moveTo>
                    <a:pt x="99" y="142"/>
                  </a:moveTo>
                  <a:cubicBezTo>
                    <a:pt x="96" y="142"/>
                    <a:pt x="93" y="142"/>
                    <a:pt x="90" y="141"/>
                  </a:cubicBezTo>
                  <a:cubicBezTo>
                    <a:pt x="90" y="125"/>
                    <a:pt x="90" y="125"/>
                    <a:pt x="90" y="125"/>
                  </a:cubicBezTo>
                  <a:cubicBezTo>
                    <a:pt x="93" y="125"/>
                    <a:pt x="96" y="126"/>
                    <a:pt x="99" y="126"/>
                  </a:cubicBezTo>
                  <a:lnTo>
                    <a:pt x="99" y="142"/>
                  </a:lnTo>
                  <a:close/>
                  <a:moveTo>
                    <a:pt x="108" y="88"/>
                  </a:moveTo>
                  <a:cubicBezTo>
                    <a:pt x="111" y="88"/>
                    <a:pt x="114" y="87"/>
                    <a:pt x="117" y="87"/>
                  </a:cubicBezTo>
                  <a:cubicBezTo>
                    <a:pt x="117" y="103"/>
                    <a:pt x="117" y="103"/>
                    <a:pt x="117" y="103"/>
                  </a:cubicBezTo>
                  <a:cubicBezTo>
                    <a:pt x="114" y="104"/>
                    <a:pt x="111" y="104"/>
                    <a:pt x="108" y="105"/>
                  </a:cubicBezTo>
                  <a:lnTo>
                    <a:pt x="108" y="88"/>
                  </a:lnTo>
                  <a:close/>
                  <a:moveTo>
                    <a:pt x="125" y="144"/>
                  </a:moveTo>
                  <a:cubicBezTo>
                    <a:pt x="121" y="144"/>
                    <a:pt x="117" y="144"/>
                    <a:pt x="114" y="144"/>
                  </a:cubicBezTo>
                  <a:cubicBezTo>
                    <a:pt x="114" y="127"/>
                    <a:pt x="114" y="127"/>
                    <a:pt x="114" y="127"/>
                  </a:cubicBezTo>
                  <a:cubicBezTo>
                    <a:pt x="117" y="128"/>
                    <a:pt x="121" y="128"/>
                    <a:pt x="125" y="128"/>
                  </a:cubicBezTo>
                  <a:lnTo>
                    <a:pt x="125" y="144"/>
                  </a:lnTo>
                  <a:close/>
                  <a:moveTo>
                    <a:pt x="130" y="115"/>
                  </a:moveTo>
                  <a:cubicBezTo>
                    <a:pt x="127" y="115"/>
                    <a:pt x="124" y="115"/>
                    <a:pt x="120" y="115"/>
                  </a:cubicBezTo>
                  <a:cubicBezTo>
                    <a:pt x="121" y="115"/>
                    <a:pt x="122" y="115"/>
                    <a:pt x="123" y="115"/>
                  </a:cubicBezTo>
                  <a:cubicBezTo>
                    <a:pt x="133" y="112"/>
                    <a:pt x="147" y="108"/>
                    <a:pt x="148" y="99"/>
                  </a:cubicBezTo>
                  <a:cubicBezTo>
                    <a:pt x="171" y="100"/>
                    <a:pt x="185" y="104"/>
                    <a:pt x="190" y="107"/>
                  </a:cubicBezTo>
                  <a:cubicBezTo>
                    <a:pt x="184" y="110"/>
                    <a:pt x="163" y="115"/>
                    <a:pt x="130" y="1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
          <p:nvSpPr>
            <p:cNvPr id="30" name="Freeform 147">
              <a:extLst>
                <a:ext uri="{FF2B5EF4-FFF2-40B4-BE49-F238E27FC236}">
                  <a16:creationId xmlns:a16="http://schemas.microsoft.com/office/drawing/2014/main" id="{4BC14C6B-7E49-596F-CBF0-6EF61FA7DFCE}"/>
                </a:ext>
              </a:extLst>
            </p:cNvPr>
            <p:cNvSpPr>
              <a:spLocks/>
            </p:cNvSpPr>
            <p:nvPr/>
          </p:nvSpPr>
          <p:spPr bwMode="auto">
            <a:xfrm>
              <a:off x="6331935" y="1634857"/>
              <a:ext cx="417513" cy="312737"/>
            </a:xfrm>
            <a:custGeom>
              <a:avLst/>
              <a:gdLst>
                <a:gd name="T0" fmla="*/ 211 w 263"/>
                <a:gd name="T1" fmla="*/ 34 h 197"/>
                <a:gd name="T2" fmla="*/ 227 w 263"/>
                <a:gd name="T3" fmla="*/ 35 h 197"/>
                <a:gd name="T4" fmla="*/ 173 w 263"/>
                <a:gd name="T5" fmla="*/ 112 h 197"/>
                <a:gd name="T6" fmla="*/ 83 w 263"/>
                <a:gd name="T7" fmla="*/ 58 h 197"/>
                <a:gd name="T8" fmla="*/ 0 w 263"/>
                <a:gd name="T9" fmla="*/ 166 h 197"/>
                <a:gd name="T10" fmla="*/ 0 w 263"/>
                <a:gd name="T11" fmla="*/ 197 h 197"/>
                <a:gd name="T12" fmla="*/ 88 w 263"/>
                <a:gd name="T13" fmla="*/ 84 h 197"/>
                <a:gd name="T14" fmla="*/ 179 w 263"/>
                <a:gd name="T15" fmla="*/ 139 h 197"/>
                <a:gd name="T16" fmla="*/ 243 w 263"/>
                <a:gd name="T17" fmla="*/ 46 h 197"/>
                <a:gd name="T18" fmla="*/ 249 w 263"/>
                <a:gd name="T19" fmla="*/ 61 h 197"/>
                <a:gd name="T20" fmla="*/ 263 w 263"/>
                <a:gd name="T21" fmla="*/ 0 h 197"/>
                <a:gd name="T22" fmla="*/ 211 w 263"/>
                <a:gd name="T23" fmla="*/ 3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3" h="197">
                  <a:moveTo>
                    <a:pt x="211" y="34"/>
                  </a:moveTo>
                  <a:lnTo>
                    <a:pt x="227" y="35"/>
                  </a:lnTo>
                  <a:lnTo>
                    <a:pt x="173" y="112"/>
                  </a:lnTo>
                  <a:lnTo>
                    <a:pt x="83" y="58"/>
                  </a:lnTo>
                  <a:lnTo>
                    <a:pt x="0" y="166"/>
                  </a:lnTo>
                  <a:lnTo>
                    <a:pt x="0" y="197"/>
                  </a:lnTo>
                  <a:lnTo>
                    <a:pt x="88" y="84"/>
                  </a:lnTo>
                  <a:lnTo>
                    <a:pt x="179" y="139"/>
                  </a:lnTo>
                  <a:lnTo>
                    <a:pt x="243" y="46"/>
                  </a:lnTo>
                  <a:lnTo>
                    <a:pt x="249" y="61"/>
                  </a:lnTo>
                  <a:lnTo>
                    <a:pt x="263" y="0"/>
                  </a:lnTo>
                  <a:lnTo>
                    <a:pt x="21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grpSp>
    </p:spTree>
    <p:extLst>
      <p:ext uri="{BB962C8B-B14F-4D97-AF65-F5344CB8AC3E}">
        <p14:creationId xmlns:p14="http://schemas.microsoft.com/office/powerpoint/2010/main" val="265548330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950" y="428726"/>
            <a:ext cx="11198782"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Evaluación Económica: Costos Asociados al Proyecto </a:t>
            </a:r>
            <a:endParaRPr lang="en-US" sz="3500" spc="-30" dirty="0">
              <a:solidFill>
                <a:prstClr val="white"/>
              </a:solidFill>
              <a:latin typeface="Arial"/>
            </a:endParaRPr>
          </a:p>
        </p:txBody>
      </p:sp>
      <p:grpSp>
        <p:nvGrpSpPr>
          <p:cNvPr id="29" name="Group 28">
            <a:extLst>
              <a:ext uri="{FF2B5EF4-FFF2-40B4-BE49-F238E27FC236}">
                <a16:creationId xmlns:a16="http://schemas.microsoft.com/office/drawing/2014/main" id="{364CA4EE-59A0-FA3A-0B96-D2F4C3041066}"/>
              </a:ext>
            </a:extLst>
          </p:cNvPr>
          <p:cNvGrpSpPr/>
          <p:nvPr/>
        </p:nvGrpSpPr>
        <p:grpSpPr>
          <a:xfrm>
            <a:off x="552531" y="2194560"/>
            <a:ext cx="4984670" cy="4255103"/>
            <a:chOff x="524431" y="1391989"/>
            <a:chExt cx="5272427" cy="5304682"/>
          </a:xfrm>
        </p:grpSpPr>
        <p:sp>
          <p:nvSpPr>
            <p:cNvPr id="27" name="AutoShape 6">
              <a:extLst>
                <a:ext uri="{FF2B5EF4-FFF2-40B4-BE49-F238E27FC236}">
                  <a16:creationId xmlns:a16="http://schemas.microsoft.com/office/drawing/2014/main" id="{2F8D3B05-CCE8-7414-7F35-F57867B74141}"/>
                </a:ext>
              </a:extLst>
            </p:cNvPr>
            <p:cNvSpPr>
              <a:spLocks noChangeArrowheads="1"/>
            </p:cNvSpPr>
            <p:nvPr/>
          </p:nvSpPr>
          <p:spPr bwMode="gray">
            <a:xfrm>
              <a:off x="1578941" y="5545732"/>
              <a:ext cx="4217917" cy="1150939"/>
            </a:xfrm>
            <a:prstGeom prst="rect">
              <a:avLst/>
            </a:prstGeom>
            <a:noFill/>
            <a:ln w="12700" algn="ctr">
              <a:solidFill>
                <a:schemeClr val="bg1"/>
              </a:solidFill>
              <a:round/>
              <a:headEnd/>
              <a:tailEnd/>
            </a:ln>
            <a:effectLst/>
          </p:spPr>
          <p:txBody>
            <a:bodyPr lIns="72000" tIns="72000" rIns="72000" bIns="72000" anchor="ctr"/>
            <a:lstStyle/>
            <a:p>
              <a:pPr marL="233363"/>
              <a:r>
                <a:rPr lang="en-US" sz="1600" spc="-50" dirty="0" err="1">
                  <a:solidFill>
                    <a:schemeClr val="bg1"/>
                  </a:solidFill>
                </a:rPr>
                <a:t>Escritorios</a:t>
              </a:r>
              <a:r>
                <a:rPr lang="en-US" sz="1600" spc="-50" dirty="0">
                  <a:solidFill>
                    <a:schemeClr val="bg1"/>
                  </a:solidFill>
                </a:rPr>
                <a:t>, </a:t>
              </a:r>
              <a:r>
                <a:rPr lang="en-US" sz="1600" spc="-50" dirty="0" err="1">
                  <a:solidFill>
                    <a:schemeClr val="bg1"/>
                  </a:solidFill>
                </a:rPr>
                <a:t>Sillas</a:t>
              </a:r>
              <a:r>
                <a:rPr lang="en-US" sz="1600" spc="-50" dirty="0">
                  <a:solidFill>
                    <a:schemeClr val="bg1"/>
                  </a:solidFill>
                </a:rPr>
                <a:t>, </a:t>
              </a:r>
              <a:r>
                <a:rPr lang="en-US" sz="1600" spc="-50" dirty="0" err="1">
                  <a:solidFill>
                    <a:schemeClr val="bg1"/>
                  </a:solidFill>
                </a:rPr>
                <a:t>etc</a:t>
              </a:r>
              <a:r>
                <a:rPr lang="en-US" sz="1600" spc="-50" dirty="0">
                  <a:solidFill>
                    <a:schemeClr val="bg1"/>
                  </a:solidFill>
                </a:rPr>
                <a:t> </a:t>
              </a:r>
            </a:p>
          </p:txBody>
        </p:sp>
        <p:sp>
          <p:nvSpPr>
            <p:cNvPr id="26" name="AutoShape 6">
              <a:extLst>
                <a:ext uri="{FF2B5EF4-FFF2-40B4-BE49-F238E27FC236}">
                  <a16:creationId xmlns:a16="http://schemas.microsoft.com/office/drawing/2014/main" id="{99DB5A50-08CA-0775-9131-5338C305604D}"/>
                </a:ext>
              </a:extLst>
            </p:cNvPr>
            <p:cNvSpPr>
              <a:spLocks noChangeArrowheads="1"/>
            </p:cNvSpPr>
            <p:nvPr/>
          </p:nvSpPr>
          <p:spPr bwMode="gray">
            <a:xfrm>
              <a:off x="1578941" y="4152740"/>
              <a:ext cx="4217917" cy="1150939"/>
            </a:xfrm>
            <a:prstGeom prst="rect">
              <a:avLst/>
            </a:prstGeom>
            <a:noFill/>
            <a:ln w="12700" algn="ctr">
              <a:solidFill>
                <a:schemeClr val="bg1"/>
              </a:solidFill>
              <a:round/>
              <a:headEnd/>
              <a:tailEnd/>
            </a:ln>
            <a:effectLst/>
          </p:spPr>
          <p:txBody>
            <a:bodyPr lIns="72000" tIns="72000" rIns="72000" bIns="72000" anchor="ctr"/>
            <a:lstStyle/>
            <a:p>
              <a:pPr marL="233363"/>
              <a:r>
                <a:rPr lang="en-US" sz="1600" spc="-50" dirty="0" err="1">
                  <a:solidFill>
                    <a:schemeClr val="bg1"/>
                  </a:solidFill>
                </a:rPr>
                <a:t>Campañas</a:t>
              </a:r>
              <a:r>
                <a:rPr lang="en-US" sz="1600" spc="-50" dirty="0">
                  <a:solidFill>
                    <a:schemeClr val="bg1"/>
                  </a:solidFill>
                </a:rPr>
                <a:t> </a:t>
              </a:r>
              <a:r>
                <a:rPr lang="en-US" sz="1600" spc="-50" dirty="0" err="1">
                  <a:solidFill>
                    <a:schemeClr val="bg1"/>
                  </a:solidFill>
                </a:rPr>
                <a:t>asociadas</a:t>
              </a:r>
              <a:r>
                <a:rPr lang="en-US" sz="1600" spc="-50" dirty="0">
                  <a:solidFill>
                    <a:schemeClr val="bg1"/>
                  </a:solidFill>
                </a:rPr>
                <a:t> a la </a:t>
              </a:r>
              <a:r>
                <a:rPr lang="en-US" sz="1600" spc="-50" dirty="0" err="1">
                  <a:solidFill>
                    <a:schemeClr val="bg1"/>
                  </a:solidFill>
                </a:rPr>
                <a:t>promocion</a:t>
              </a:r>
              <a:r>
                <a:rPr lang="en-US" sz="1600" spc="-50" dirty="0">
                  <a:solidFill>
                    <a:schemeClr val="bg1"/>
                  </a:solidFill>
                </a:rPr>
                <a:t> SEM, </a:t>
              </a:r>
              <a:r>
                <a:rPr lang="en-US" sz="1600" spc="-50" dirty="0" err="1">
                  <a:solidFill>
                    <a:schemeClr val="bg1"/>
                  </a:solidFill>
                </a:rPr>
                <a:t>Linkedin</a:t>
              </a:r>
              <a:r>
                <a:rPr lang="en-US" sz="1600" spc="-50" dirty="0">
                  <a:solidFill>
                    <a:schemeClr val="bg1"/>
                  </a:solidFill>
                </a:rPr>
                <a:t>, </a:t>
              </a:r>
              <a:r>
                <a:rPr lang="en-US" sz="1600" spc="-50" dirty="0" err="1">
                  <a:solidFill>
                    <a:schemeClr val="bg1"/>
                  </a:solidFill>
                </a:rPr>
                <a:t>Revistas</a:t>
              </a:r>
              <a:r>
                <a:rPr lang="en-US" sz="1600" spc="-50" dirty="0">
                  <a:solidFill>
                    <a:schemeClr val="bg1"/>
                  </a:solidFill>
                </a:rPr>
                <a:t>, </a:t>
              </a:r>
              <a:r>
                <a:rPr lang="en-US" sz="1600" spc="-50" dirty="0" err="1">
                  <a:solidFill>
                    <a:schemeClr val="bg1"/>
                  </a:solidFill>
                </a:rPr>
                <a:t>Eventos</a:t>
              </a:r>
              <a:r>
                <a:rPr lang="en-US" sz="1600" spc="-50" dirty="0">
                  <a:solidFill>
                    <a:schemeClr val="bg1"/>
                  </a:solidFill>
                </a:rPr>
                <a:t>.</a:t>
              </a:r>
            </a:p>
          </p:txBody>
        </p:sp>
        <p:sp>
          <p:nvSpPr>
            <p:cNvPr id="24" name="AutoShape 6">
              <a:extLst>
                <a:ext uri="{FF2B5EF4-FFF2-40B4-BE49-F238E27FC236}">
                  <a16:creationId xmlns:a16="http://schemas.microsoft.com/office/drawing/2014/main" id="{7362B655-C472-1641-4D3C-FFC6A292811F}"/>
                </a:ext>
              </a:extLst>
            </p:cNvPr>
            <p:cNvSpPr>
              <a:spLocks noChangeArrowheads="1"/>
            </p:cNvSpPr>
            <p:nvPr/>
          </p:nvSpPr>
          <p:spPr bwMode="gray">
            <a:xfrm>
              <a:off x="1578942" y="2807787"/>
              <a:ext cx="4217915" cy="1150939"/>
            </a:xfrm>
            <a:prstGeom prst="rect">
              <a:avLst/>
            </a:prstGeom>
            <a:noFill/>
            <a:ln w="12700" algn="ctr">
              <a:solidFill>
                <a:schemeClr val="bg1"/>
              </a:solidFill>
              <a:round/>
              <a:headEnd/>
              <a:tailEnd/>
            </a:ln>
            <a:effectLst/>
          </p:spPr>
          <p:txBody>
            <a:bodyPr lIns="72000" tIns="72000" rIns="72000" bIns="72000" anchor="ctr"/>
            <a:lstStyle/>
            <a:p>
              <a:pPr marL="233363"/>
              <a:r>
                <a:rPr lang="en-US" sz="1600" spc="-50" dirty="0" err="1">
                  <a:solidFill>
                    <a:schemeClr val="bg1"/>
                  </a:solidFill>
                </a:rPr>
                <a:t>Sueldos</a:t>
              </a:r>
              <a:r>
                <a:rPr lang="en-US" sz="1600" spc="-50" dirty="0">
                  <a:solidFill>
                    <a:schemeClr val="bg1"/>
                  </a:solidFill>
                </a:rPr>
                <a:t> </a:t>
              </a:r>
              <a:r>
                <a:rPr lang="en-US" sz="1600" spc="-50" dirty="0" err="1">
                  <a:solidFill>
                    <a:schemeClr val="bg1"/>
                  </a:solidFill>
                </a:rPr>
                <a:t>Asociados</a:t>
              </a:r>
              <a:r>
                <a:rPr lang="en-US" sz="1600" spc="-50" dirty="0">
                  <a:solidFill>
                    <a:schemeClr val="bg1"/>
                  </a:solidFill>
                </a:rPr>
                <a:t> a </a:t>
              </a:r>
              <a:r>
                <a:rPr lang="en-US" sz="1600" spc="-50" dirty="0" err="1">
                  <a:solidFill>
                    <a:schemeClr val="bg1"/>
                  </a:solidFill>
                </a:rPr>
                <a:t>los</a:t>
              </a:r>
              <a:r>
                <a:rPr lang="en-US" sz="1600" spc="-50" dirty="0">
                  <a:solidFill>
                    <a:schemeClr val="bg1"/>
                  </a:solidFill>
                </a:rPr>
                <a:t> </a:t>
              </a:r>
              <a:r>
                <a:rPr lang="en-US" sz="1600" spc="-50" dirty="0" err="1">
                  <a:solidFill>
                    <a:schemeClr val="bg1"/>
                  </a:solidFill>
                </a:rPr>
                <a:t>trabajadores</a:t>
              </a:r>
              <a:endParaRPr lang="en-US" sz="1600" spc="-50" dirty="0">
                <a:solidFill>
                  <a:schemeClr val="bg1"/>
                </a:solidFill>
              </a:endParaRPr>
            </a:p>
          </p:txBody>
        </p:sp>
        <p:sp>
          <p:nvSpPr>
            <p:cNvPr id="10" name="AutoShape 6">
              <a:extLst>
                <a:ext uri="{FF2B5EF4-FFF2-40B4-BE49-F238E27FC236}">
                  <a16:creationId xmlns:a16="http://schemas.microsoft.com/office/drawing/2014/main" id="{B4841AF7-B307-753A-4D31-415F82645256}"/>
                </a:ext>
              </a:extLst>
            </p:cNvPr>
            <p:cNvSpPr>
              <a:spLocks noChangeArrowheads="1"/>
            </p:cNvSpPr>
            <p:nvPr/>
          </p:nvSpPr>
          <p:spPr bwMode="gray">
            <a:xfrm>
              <a:off x="1578941" y="1391989"/>
              <a:ext cx="4217917" cy="1150939"/>
            </a:xfrm>
            <a:prstGeom prst="rect">
              <a:avLst/>
            </a:prstGeom>
            <a:noFill/>
            <a:ln w="12700" algn="ctr">
              <a:solidFill>
                <a:schemeClr val="bg1"/>
              </a:solidFill>
              <a:round/>
              <a:headEnd/>
              <a:tailEnd/>
            </a:ln>
            <a:effectLst/>
          </p:spPr>
          <p:txBody>
            <a:bodyPr lIns="72000" tIns="72000" rIns="72000" bIns="72000" anchor="ctr"/>
            <a:lstStyle/>
            <a:p>
              <a:pPr marL="233363"/>
              <a:r>
                <a:rPr lang="en-US" sz="1600" spc="-50" dirty="0" err="1">
                  <a:solidFill>
                    <a:schemeClr val="bg1"/>
                  </a:solidFill>
                </a:rPr>
                <a:t>Gastos</a:t>
              </a:r>
              <a:r>
                <a:rPr lang="en-US" sz="1600" spc="-50" dirty="0">
                  <a:solidFill>
                    <a:schemeClr val="bg1"/>
                  </a:solidFill>
                </a:rPr>
                <a:t> </a:t>
              </a:r>
              <a:r>
                <a:rPr lang="en-US" sz="1600" spc="-50" dirty="0" err="1">
                  <a:solidFill>
                    <a:schemeClr val="bg1"/>
                  </a:solidFill>
                </a:rPr>
                <a:t>asociados</a:t>
              </a:r>
              <a:r>
                <a:rPr lang="en-US" sz="1600" spc="-50" dirty="0">
                  <a:solidFill>
                    <a:schemeClr val="bg1"/>
                  </a:solidFill>
                </a:rPr>
                <a:t> </a:t>
              </a:r>
              <a:r>
                <a:rPr lang="en-US" sz="1600" spc="-50" dirty="0" err="1">
                  <a:solidFill>
                    <a:schemeClr val="bg1"/>
                  </a:solidFill>
                </a:rPr>
                <a:t>varios</a:t>
              </a:r>
              <a:r>
                <a:rPr lang="en-US" sz="1600" spc="-50" dirty="0">
                  <a:solidFill>
                    <a:schemeClr val="bg1"/>
                  </a:solidFill>
                </a:rPr>
                <a:t> </a:t>
              </a:r>
              <a:r>
                <a:rPr lang="en-US" sz="1600" spc="-50" dirty="0" err="1">
                  <a:solidFill>
                    <a:schemeClr val="bg1"/>
                  </a:solidFill>
                </a:rPr>
                <a:t>asociados</a:t>
              </a:r>
              <a:r>
                <a:rPr lang="en-US" sz="1600" spc="-50" dirty="0">
                  <a:solidFill>
                    <a:schemeClr val="bg1"/>
                  </a:solidFill>
                </a:rPr>
                <a:t> a </a:t>
              </a:r>
              <a:r>
                <a:rPr lang="en-US" sz="1600" spc="-50" dirty="0" err="1">
                  <a:solidFill>
                    <a:schemeClr val="bg1"/>
                  </a:solidFill>
                </a:rPr>
                <a:t>telefonía</a:t>
              </a:r>
              <a:r>
                <a:rPr lang="en-US" sz="1600" spc="-50" dirty="0">
                  <a:solidFill>
                    <a:schemeClr val="bg1"/>
                  </a:solidFill>
                </a:rPr>
                <a:t>, </a:t>
              </a:r>
              <a:r>
                <a:rPr lang="en-US" sz="1600" spc="-50" dirty="0" err="1">
                  <a:solidFill>
                    <a:schemeClr val="bg1"/>
                  </a:solidFill>
                </a:rPr>
                <a:t>arriendo</a:t>
              </a:r>
              <a:r>
                <a:rPr lang="en-US" sz="1600" spc="-50" dirty="0">
                  <a:solidFill>
                    <a:schemeClr val="bg1"/>
                  </a:solidFill>
                </a:rPr>
                <a:t> de </a:t>
              </a:r>
              <a:r>
                <a:rPr lang="en-US" sz="1600" spc="-50" dirty="0" err="1">
                  <a:solidFill>
                    <a:schemeClr val="bg1"/>
                  </a:solidFill>
                </a:rPr>
                <a:t>Computadores</a:t>
              </a:r>
              <a:r>
                <a:rPr lang="en-US" sz="1600" spc="-50" dirty="0">
                  <a:solidFill>
                    <a:schemeClr val="bg1"/>
                  </a:solidFill>
                </a:rPr>
                <a:t>, </a:t>
              </a:r>
              <a:r>
                <a:rPr lang="en-US" sz="1600" spc="-50" dirty="0" err="1">
                  <a:solidFill>
                    <a:schemeClr val="bg1"/>
                  </a:solidFill>
                </a:rPr>
                <a:t>Oficina</a:t>
              </a:r>
              <a:r>
                <a:rPr lang="en-US" sz="1600" spc="-50" dirty="0">
                  <a:solidFill>
                    <a:schemeClr val="bg1"/>
                  </a:solidFill>
                </a:rPr>
                <a:t>, </a:t>
              </a:r>
              <a:r>
                <a:rPr lang="en-US" sz="1600" spc="-50" dirty="0" err="1">
                  <a:solidFill>
                    <a:schemeClr val="bg1"/>
                  </a:solidFill>
                </a:rPr>
                <a:t>Gastos</a:t>
              </a:r>
              <a:r>
                <a:rPr lang="en-US" sz="1600" spc="-50" dirty="0">
                  <a:solidFill>
                    <a:schemeClr val="bg1"/>
                  </a:solidFill>
                </a:rPr>
                <a:t> de Administracion.</a:t>
              </a:r>
            </a:p>
          </p:txBody>
        </p:sp>
        <p:grpSp>
          <p:nvGrpSpPr>
            <p:cNvPr id="23" name="Group 22">
              <a:extLst>
                <a:ext uri="{FF2B5EF4-FFF2-40B4-BE49-F238E27FC236}">
                  <a16:creationId xmlns:a16="http://schemas.microsoft.com/office/drawing/2014/main" id="{A6E3B3EC-B3FC-2ACA-531E-A50CC3A710D3}"/>
                </a:ext>
              </a:extLst>
            </p:cNvPr>
            <p:cNvGrpSpPr/>
            <p:nvPr/>
          </p:nvGrpSpPr>
          <p:grpSpPr>
            <a:xfrm>
              <a:off x="524431" y="1391989"/>
              <a:ext cx="1323172" cy="5304682"/>
              <a:chOff x="524430" y="1391989"/>
              <a:chExt cx="1934921" cy="5304682"/>
            </a:xfrm>
            <a:solidFill>
              <a:srgbClr val="9C102E"/>
            </a:solidFill>
          </p:grpSpPr>
          <p:sp>
            <p:nvSpPr>
              <p:cNvPr id="4" name="AutoShape 7">
                <a:extLst>
                  <a:ext uri="{FF2B5EF4-FFF2-40B4-BE49-F238E27FC236}">
                    <a16:creationId xmlns:a16="http://schemas.microsoft.com/office/drawing/2014/main" id="{6F8AF2B9-9F9D-1BE6-69F0-435D3B5E6708}"/>
                  </a:ext>
                </a:extLst>
              </p:cNvPr>
              <p:cNvSpPr>
                <a:spLocks noChangeArrowheads="1"/>
              </p:cNvSpPr>
              <p:nvPr/>
            </p:nvSpPr>
            <p:spPr bwMode="gray">
              <a:xfrm>
                <a:off x="524430" y="1391989"/>
                <a:ext cx="1934921" cy="1150937"/>
              </a:xfrm>
              <a:prstGeom prst="homePlate">
                <a:avLst>
                  <a:gd name="adj" fmla="val 13397"/>
                </a:avLst>
              </a:prstGeom>
              <a:grpFill/>
              <a:ln w="12700" algn="ctr">
                <a:solidFill>
                  <a:schemeClr val="bg1"/>
                </a:solidFill>
                <a:round/>
                <a:headEnd/>
                <a:tailEnd/>
              </a:ln>
              <a:effectLst/>
            </p:spPr>
            <p:txBody>
              <a:bodyPr lIns="72000" tIns="72000" rIns="72000" bIns="72000" anchor="ctr"/>
              <a:lstStyle/>
              <a:p>
                <a:pPr marL="0" marR="0" lvl="0" indent="0" defTabSz="914400" eaLnBrk="0" fontAlgn="auto" latinLnBrk="0" hangingPunct="0">
                  <a:lnSpc>
                    <a:spcPct val="100000"/>
                  </a:lnSpc>
                  <a:spcBef>
                    <a:spcPct val="20000"/>
                  </a:spcBef>
                  <a:spcAft>
                    <a:spcPts val="0"/>
                  </a:spcAft>
                  <a:buClrTx/>
                  <a:buSzPct val="100000"/>
                  <a:buFont typeface="Wingdings" pitchFamily="2" charset="2"/>
                  <a:buNone/>
                  <a:tabLst/>
                  <a:defRPr/>
                </a:pPr>
                <a:r>
                  <a:rPr lang="en-US" sz="1600" spc="-50" dirty="0" err="1">
                    <a:solidFill>
                      <a:schemeClr val="bg1"/>
                    </a:solidFill>
                  </a:rPr>
                  <a:t>Operativos</a:t>
                </a:r>
                <a:r>
                  <a:rPr lang="en-US" sz="1600" spc="-50" dirty="0">
                    <a:solidFill>
                      <a:schemeClr val="bg1"/>
                    </a:solidFill>
                  </a:rPr>
                  <a:t> </a:t>
                </a:r>
              </a:p>
            </p:txBody>
          </p:sp>
          <p:sp>
            <p:nvSpPr>
              <p:cNvPr id="6" name="AutoShape 9">
                <a:extLst>
                  <a:ext uri="{FF2B5EF4-FFF2-40B4-BE49-F238E27FC236}">
                    <a16:creationId xmlns:a16="http://schemas.microsoft.com/office/drawing/2014/main" id="{3DF95D6D-2159-B409-FA98-8E8C78B9C5CC}"/>
                  </a:ext>
                </a:extLst>
              </p:cNvPr>
              <p:cNvSpPr>
                <a:spLocks noChangeArrowheads="1"/>
              </p:cNvSpPr>
              <p:nvPr/>
            </p:nvSpPr>
            <p:spPr bwMode="gray">
              <a:xfrm>
                <a:off x="524430" y="2807787"/>
                <a:ext cx="1934921" cy="1150939"/>
              </a:xfrm>
              <a:prstGeom prst="homePlate">
                <a:avLst>
                  <a:gd name="adj" fmla="val 13397"/>
                </a:avLst>
              </a:prstGeom>
              <a:grpFill/>
              <a:ln w="12700" algn="ctr">
                <a:solidFill>
                  <a:schemeClr val="bg1"/>
                </a:solidFill>
                <a:round/>
                <a:headEnd/>
                <a:tailEnd/>
              </a:ln>
              <a:effectLst/>
            </p:spPr>
            <p:txBody>
              <a:bodyPr lIns="72000" tIns="72000" rIns="72000" bIns="72000" anchor="ctr"/>
              <a:lstStyle/>
              <a:p>
                <a:pPr eaLnBrk="0" fontAlgn="auto" hangingPunct="0">
                  <a:spcBef>
                    <a:spcPct val="20000"/>
                  </a:spcBef>
                  <a:spcAft>
                    <a:spcPts val="0"/>
                  </a:spcAft>
                  <a:buSzPct val="100000"/>
                </a:pPr>
                <a:r>
                  <a:rPr lang="en-US" sz="1600" spc="-50" dirty="0">
                    <a:solidFill>
                      <a:schemeClr val="bg1"/>
                    </a:solidFill>
                  </a:rPr>
                  <a:t>Recursos Humanos</a:t>
                </a:r>
              </a:p>
            </p:txBody>
          </p:sp>
          <p:sp>
            <p:nvSpPr>
              <p:cNvPr id="7" name="AutoShape 9">
                <a:extLst>
                  <a:ext uri="{FF2B5EF4-FFF2-40B4-BE49-F238E27FC236}">
                    <a16:creationId xmlns:a16="http://schemas.microsoft.com/office/drawing/2014/main" id="{48749747-50BC-51BB-9579-F7350C478C9E}"/>
                  </a:ext>
                </a:extLst>
              </p:cNvPr>
              <p:cNvSpPr>
                <a:spLocks noChangeArrowheads="1"/>
              </p:cNvSpPr>
              <p:nvPr/>
            </p:nvSpPr>
            <p:spPr bwMode="gray">
              <a:xfrm>
                <a:off x="524430" y="4152740"/>
                <a:ext cx="1934921" cy="1150939"/>
              </a:xfrm>
              <a:prstGeom prst="homePlate">
                <a:avLst>
                  <a:gd name="adj" fmla="val 13397"/>
                </a:avLst>
              </a:prstGeom>
              <a:grpFill/>
              <a:ln w="12700" algn="ctr">
                <a:solidFill>
                  <a:schemeClr val="bg1"/>
                </a:solidFill>
                <a:round/>
                <a:headEnd/>
                <a:tailEnd/>
              </a:ln>
              <a:effectLst/>
            </p:spPr>
            <p:txBody>
              <a:bodyPr lIns="72000" tIns="72000" rIns="72000" bIns="72000" anchor="ctr"/>
              <a:lstStyle/>
              <a:p>
                <a:pPr marL="0" marR="0" lvl="0" indent="0" defTabSz="914400" eaLnBrk="0" fontAlgn="auto" latinLnBrk="0" hangingPunct="0">
                  <a:lnSpc>
                    <a:spcPct val="100000"/>
                  </a:lnSpc>
                  <a:spcBef>
                    <a:spcPct val="20000"/>
                  </a:spcBef>
                  <a:spcAft>
                    <a:spcPts val="0"/>
                  </a:spcAft>
                  <a:buClrTx/>
                  <a:buSzPct val="100000"/>
                  <a:buFont typeface="Wingdings" pitchFamily="2" charset="2"/>
                  <a:buNone/>
                  <a:tabLst/>
                  <a:defRPr/>
                </a:pPr>
                <a:r>
                  <a:rPr lang="en-US" sz="1600" spc="-50" dirty="0">
                    <a:solidFill>
                      <a:schemeClr val="bg1"/>
                    </a:solidFill>
                  </a:rPr>
                  <a:t>Marketing</a:t>
                </a:r>
              </a:p>
            </p:txBody>
          </p:sp>
          <p:sp>
            <p:nvSpPr>
              <p:cNvPr id="13" name="AutoShape 9">
                <a:extLst>
                  <a:ext uri="{FF2B5EF4-FFF2-40B4-BE49-F238E27FC236}">
                    <a16:creationId xmlns:a16="http://schemas.microsoft.com/office/drawing/2014/main" id="{8DB6FCF1-1303-2F87-E6BD-386B0A2C2D36}"/>
                  </a:ext>
                </a:extLst>
              </p:cNvPr>
              <p:cNvSpPr>
                <a:spLocks noChangeArrowheads="1"/>
              </p:cNvSpPr>
              <p:nvPr/>
            </p:nvSpPr>
            <p:spPr bwMode="gray">
              <a:xfrm>
                <a:off x="524430" y="5545732"/>
                <a:ext cx="1934921" cy="1150939"/>
              </a:xfrm>
              <a:prstGeom prst="homePlate">
                <a:avLst>
                  <a:gd name="adj" fmla="val 13397"/>
                </a:avLst>
              </a:prstGeom>
              <a:grpFill/>
              <a:ln w="12700" algn="ctr">
                <a:solidFill>
                  <a:schemeClr val="bg1"/>
                </a:solidFill>
                <a:round/>
                <a:headEnd/>
                <a:tailEnd/>
              </a:ln>
              <a:effectLst/>
            </p:spPr>
            <p:txBody>
              <a:bodyPr lIns="72000" tIns="72000" rIns="72000" bIns="72000" anchor="ctr"/>
              <a:lstStyle/>
              <a:p>
                <a:pPr eaLnBrk="0" fontAlgn="auto" hangingPunct="0">
                  <a:spcBef>
                    <a:spcPct val="20000"/>
                  </a:spcBef>
                  <a:spcAft>
                    <a:spcPts val="0"/>
                  </a:spcAft>
                  <a:buSzPct val="100000"/>
                </a:pPr>
                <a:r>
                  <a:rPr lang="en-US" sz="1600" spc="-50" dirty="0" err="1">
                    <a:solidFill>
                      <a:schemeClr val="bg1"/>
                    </a:solidFill>
                  </a:rPr>
                  <a:t>Mobiliario</a:t>
                </a:r>
                <a:endParaRPr lang="en-US" sz="1600" spc="-50" dirty="0">
                  <a:solidFill>
                    <a:schemeClr val="bg1"/>
                  </a:solidFill>
                </a:endParaRPr>
              </a:p>
            </p:txBody>
          </p:sp>
        </p:grpSp>
      </p:grpSp>
      <p:sp>
        <p:nvSpPr>
          <p:cNvPr id="30" name="TextBox 29">
            <a:extLst>
              <a:ext uri="{FF2B5EF4-FFF2-40B4-BE49-F238E27FC236}">
                <a16:creationId xmlns:a16="http://schemas.microsoft.com/office/drawing/2014/main" id="{255B63C2-6D1B-6F0F-C317-BA5165E3F815}"/>
              </a:ext>
            </a:extLst>
          </p:cNvPr>
          <p:cNvSpPr txBox="1"/>
          <p:nvPr/>
        </p:nvSpPr>
        <p:spPr>
          <a:xfrm>
            <a:off x="439558" y="1398309"/>
            <a:ext cx="11169424" cy="369332"/>
          </a:xfrm>
          <a:prstGeom prst="rect">
            <a:avLst/>
          </a:prstGeom>
          <a:noFill/>
        </p:spPr>
        <p:txBody>
          <a:bodyPr wrap="square" rtlCol="0">
            <a:spAutoFit/>
          </a:bodyPr>
          <a:lstStyle/>
          <a:p>
            <a:pPr marL="229870" indent="-229870"/>
            <a:r>
              <a:rPr lang="en-US" spc="-50" dirty="0">
                <a:solidFill>
                  <a:schemeClr val="bg1"/>
                </a:solidFill>
              </a:rPr>
              <a:t>A </a:t>
            </a:r>
            <a:r>
              <a:rPr lang="en-US" spc="-50" dirty="0" err="1">
                <a:solidFill>
                  <a:schemeClr val="bg1"/>
                </a:solidFill>
              </a:rPr>
              <a:t>excepción</a:t>
            </a:r>
            <a:r>
              <a:rPr lang="en-US" spc="-50" dirty="0">
                <a:solidFill>
                  <a:schemeClr val="bg1"/>
                </a:solidFill>
              </a:rPr>
              <a:t> del </a:t>
            </a:r>
            <a:r>
              <a:rPr lang="en-US" spc="-50" dirty="0" err="1">
                <a:solidFill>
                  <a:schemeClr val="bg1"/>
                </a:solidFill>
              </a:rPr>
              <a:t>Mobiliario</a:t>
            </a:r>
            <a:r>
              <a:rPr lang="en-US" spc="-50" dirty="0">
                <a:solidFill>
                  <a:schemeClr val="bg1"/>
                </a:solidFill>
              </a:rPr>
              <a:t>, </a:t>
            </a:r>
            <a:r>
              <a:rPr lang="en-US" spc="-50" dirty="0" err="1">
                <a:solidFill>
                  <a:schemeClr val="bg1"/>
                </a:solidFill>
              </a:rPr>
              <a:t>todo</a:t>
            </a:r>
            <a:r>
              <a:rPr lang="en-US" spc="-50" dirty="0">
                <a:solidFill>
                  <a:schemeClr val="bg1"/>
                </a:solidFill>
              </a:rPr>
              <a:t> se </a:t>
            </a:r>
            <a:r>
              <a:rPr lang="en-US" spc="-50" dirty="0" err="1">
                <a:solidFill>
                  <a:schemeClr val="bg1"/>
                </a:solidFill>
              </a:rPr>
              <a:t>considera</a:t>
            </a:r>
            <a:r>
              <a:rPr lang="en-US" spc="-50" dirty="0">
                <a:solidFill>
                  <a:schemeClr val="bg1"/>
                </a:solidFill>
              </a:rPr>
              <a:t> </a:t>
            </a:r>
            <a:r>
              <a:rPr lang="en-US" spc="-50" dirty="0" err="1">
                <a:solidFill>
                  <a:schemeClr val="bg1"/>
                </a:solidFill>
              </a:rPr>
              <a:t>contablemente</a:t>
            </a:r>
            <a:r>
              <a:rPr lang="en-US" spc="-50" dirty="0">
                <a:solidFill>
                  <a:schemeClr val="bg1"/>
                </a:solidFill>
              </a:rPr>
              <a:t> </a:t>
            </a:r>
            <a:r>
              <a:rPr lang="en-US" spc="-50" dirty="0" err="1">
                <a:solidFill>
                  <a:schemeClr val="bg1"/>
                </a:solidFill>
              </a:rPr>
              <a:t>como</a:t>
            </a:r>
            <a:r>
              <a:rPr lang="en-US" spc="-50" dirty="0">
                <a:solidFill>
                  <a:schemeClr val="bg1"/>
                </a:solidFill>
              </a:rPr>
              <a:t> un </a:t>
            </a:r>
            <a:r>
              <a:rPr lang="en-US" spc="-50" dirty="0" err="1">
                <a:solidFill>
                  <a:schemeClr val="bg1"/>
                </a:solidFill>
              </a:rPr>
              <a:t>gasto</a:t>
            </a:r>
            <a:r>
              <a:rPr lang="en-US" spc="-50" dirty="0">
                <a:solidFill>
                  <a:schemeClr val="bg1"/>
                </a:solidFill>
              </a:rPr>
              <a:t> </a:t>
            </a:r>
            <a:r>
              <a:rPr lang="en-US" spc="-50" dirty="0" err="1">
                <a:solidFill>
                  <a:schemeClr val="bg1"/>
                </a:solidFill>
              </a:rPr>
              <a:t>en</a:t>
            </a:r>
            <a:r>
              <a:rPr lang="en-US" spc="-50" dirty="0">
                <a:solidFill>
                  <a:schemeClr val="bg1"/>
                </a:solidFill>
              </a:rPr>
              <a:t> </a:t>
            </a:r>
            <a:r>
              <a:rPr lang="en-US" spc="-50" dirty="0" err="1">
                <a:solidFill>
                  <a:schemeClr val="bg1"/>
                </a:solidFill>
              </a:rPr>
              <a:t>el</a:t>
            </a:r>
            <a:r>
              <a:rPr lang="en-US" spc="-50" dirty="0">
                <a:solidFill>
                  <a:schemeClr val="bg1"/>
                </a:solidFill>
              </a:rPr>
              <a:t> Proyecto.</a:t>
            </a:r>
          </a:p>
        </p:txBody>
      </p:sp>
      <p:graphicFrame>
        <p:nvGraphicFramePr>
          <p:cNvPr id="32" name="Chart 31">
            <a:extLst>
              <a:ext uri="{FF2B5EF4-FFF2-40B4-BE49-F238E27FC236}">
                <a16:creationId xmlns:a16="http://schemas.microsoft.com/office/drawing/2014/main" id="{506F9995-6528-2434-E9B6-ADB4FBC01A39}"/>
              </a:ext>
            </a:extLst>
          </p:cNvPr>
          <p:cNvGraphicFramePr>
            <a:graphicFrameLocks/>
          </p:cNvGraphicFramePr>
          <p:nvPr>
            <p:extLst>
              <p:ext uri="{D42A27DB-BD31-4B8C-83A1-F6EECF244321}">
                <p14:modId xmlns:p14="http://schemas.microsoft.com/office/powerpoint/2010/main" val="2297279420"/>
              </p:ext>
            </p:extLst>
          </p:nvPr>
        </p:nvGraphicFramePr>
        <p:xfrm>
          <a:off x="5709920" y="2194560"/>
          <a:ext cx="6289040" cy="418112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6717163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950" y="428726"/>
            <a:ext cx="11198782"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Evaluación del Plan de Negocio </a:t>
            </a:r>
            <a:endParaRPr lang="en-US" sz="3500" spc="-30" dirty="0">
              <a:solidFill>
                <a:schemeClr val="accent6"/>
              </a:solidFill>
              <a:highlight>
                <a:srgbClr val="FFFF00"/>
              </a:highlight>
              <a:latin typeface="Arial"/>
            </a:endParaRPr>
          </a:p>
        </p:txBody>
      </p:sp>
      <p:graphicFrame>
        <p:nvGraphicFramePr>
          <p:cNvPr id="18" name="Table 17">
            <a:extLst>
              <a:ext uri="{FF2B5EF4-FFF2-40B4-BE49-F238E27FC236}">
                <a16:creationId xmlns:a16="http://schemas.microsoft.com/office/drawing/2014/main" id="{4DB414A3-4855-5C16-9C70-322D87A2BE7E}"/>
              </a:ext>
            </a:extLst>
          </p:cNvPr>
          <p:cNvGraphicFramePr>
            <a:graphicFrameLocks noGrp="1"/>
          </p:cNvGraphicFramePr>
          <p:nvPr>
            <p:extLst>
              <p:ext uri="{D42A27DB-BD31-4B8C-83A1-F6EECF244321}">
                <p14:modId xmlns:p14="http://schemas.microsoft.com/office/powerpoint/2010/main" val="2971982593"/>
              </p:ext>
            </p:extLst>
          </p:nvPr>
        </p:nvGraphicFramePr>
        <p:xfrm>
          <a:off x="540032" y="3075778"/>
          <a:ext cx="11107174" cy="2984080"/>
        </p:xfrm>
        <a:graphic>
          <a:graphicData uri="http://schemas.openxmlformats.org/drawingml/2006/table">
            <a:tbl>
              <a:tblPr>
                <a:tableStyleId>{21E4AEA4-8DFA-4A89-87EB-49C32662AFE0}</a:tableStyleId>
              </a:tblPr>
              <a:tblGrid>
                <a:gridCol w="2720202">
                  <a:extLst>
                    <a:ext uri="{9D8B030D-6E8A-4147-A177-3AD203B41FA5}">
                      <a16:colId xmlns:a16="http://schemas.microsoft.com/office/drawing/2014/main" val="1876532010"/>
                    </a:ext>
                  </a:extLst>
                </a:gridCol>
                <a:gridCol w="1330960">
                  <a:extLst>
                    <a:ext uri="{9D8B030D-6E8A-4147-A177-3AD203B41FA5}">
                      <a16:colId xmlns:a16="http://schemas.microsoft.com/office/drawing/2014/main" val="3123654362"/>
                    </a:ext>
                  </a:extLst>
                </a:gridCol>
                <a:gridCol w="1300480">
                  <a:extLst>
                    <a:ext uri="{9D8B030D-6E8A-4147-A177-3AD203B41FA5}">
                      <a16:colId xmlns:a16="http://schemas.microsoft.com/office/drawing/2014/main" val="3895263687"/>
                    </a:ext>
                  </a:extLst>
                </a:gridCol>
                <a:gridCol w="1442720">
                  <a:extLst>
                    <a:ext uri="{9D8B030D-6E8A-4147-A177-3AD203B41FA5}">
                      <a16:colId xmlns:a16="http://schemas.microsoft.com/office/drawing/2014/main" val="1580159281"/>
                    </a:ext>
                  </a:extLst>
                </a:gridCol>
                <a:gridCol w="1351280">
                  <a:extLst>
                    <a:ext uri="{9D8B030D-6E8A-4147-A177-3AD203B41FA5}">
                      <a16:colId xmlns:a16="http://schemas.microsoft.com/office/drawing/2014/main" val="2993311613"/>
                    </a:ext>
                  </a:extLst>
                </a:gridCol>
                <a:gridCol w="1432560">
                  <a:extLst>
                    <a:ext uri="{9D8B030D-6E8A-4147-A177-3AD203B41FA5}">
                      <a16:colId xmlns:a16="http://schemas.microsoft.com/office/drawing/2014/main" val="2203123964"/>
                    </a:ext>
                  </a:extLst>
                </a:gridCol>
                <a:gridCol w="1528972">
                  <a:extLst>
                    <a:ext uri="{9D8B030D-6E8A-4147-A177-3AD203B41FA5}">
                      <a16:colId xmlns:a16="http://schemas.microsoft.com/office/drawing/2014/main" val="2331072415"/>
                    </a:ext>
                  </a:extLst>
                </a:gridCol>
              </a:tblGrid>
              <a:tr h="271280">
                <a:tc>
                  <a:txBody>
                    <a:bodyPr/>
                    <a:lstStyle/>
                    <a:p>
                      <a:pPr algn="ctr" fontAlgn="ctr"/>
                      <a:r>
                        <a:rPr lang="es-CL" sz="1400" b="1" u="none" strike="noStrike" dirty="0">
                          <a:solidFill>
                            <a:schemeClr val="bg1"/>
                          </a:solidFill>
                          <a:effectLst/>
                        </a:rPr>
                        <a:t>Años del Proyecto</a:t>
                      </a:r>
                      <a:endParaRPr lang="en-US" sz="1400" b="1" i="0" u="none" strike="noStrike" dirty="0">
                        <a:solidFill>
                          <a:schemeClr val="bg1"/>
                        </a:solidFill>
                        <a:effectLst/>
                        <a:latin typeface="Arial" panose="020B0604020202020204" pitchFamily="34" charset="0"/>
                      </a:endParaRPr>
                    </a:p>
                  </a:txBody>
                  <a:tcPr marL="0" marR="0" marT="0" marB="0" anchor="ctr">
                    <a:solidFill>
                      <a:srgbClr val="9C102E"/>
                    </a:solidFill>
                  </a:tcPr>
                </a:tc>
                <a:tc>
                  <a:txBody>
                    <a:bodyPr/>
                    <a:lstStyle/>
                    <a:p>
                      <a:pPr algn="ctr" fontAlgn="ctr"/>
                      <a:endParaRPr lang="en-US" sz="1400" b="1" i="0" u="none" strike="noStrike" dirty="0">
                        <a:solidFill>
                          <a:schemeClr val="bg1"/>
                        </a:solidFill>
                        <a:effectLst/>
                        <a:latin typeface="Arial" panose="020B0604020202020204" pitchFamily="34" charset="0"/>
                      </a:endParaRPr>
                    </a:p>
                  </a:txBody>
                  <a:tcPr marL="0" marR="0" marT="0" marB="0" anchor="ctr">
                    <a:solidFill>
                      <a:srgbClr val="9C102E"/>
                    </a:solidFill>
                  </a:tcPr>
                </a:tc>
                <a:tc>
                  <a:txBody>
                    <a:bodyPr/>
                    <a:lstStyle/>
                    <a:p>
                      <a:pPr algn="ctr" fontAlgn="ctr"/>
                      <a:r>
                        <a:rPr lang="es-CL" sz="1400" b="1" u="none" strike="noStrike" dirty="0">
                          <a:solidFill>
                            <a:schemeClr val="bg1"/>
                          </a:solidFill>
                          <a:effectLst/>
                        </a:rPr>
                        <a:t>1</a:t>
                      </a:r>
                      <a:endParaRPr lang="en-US" sz="1400" b="1" i="0" u="none" strike="noStrike" dirty="0">
                        <a:solidFill>
                          <a:schemeClr val="bg1"/>
                        </a:solidFill>
                        <a:effectLst/>
                        <a:latin typeface="Arial" panose="020B0604020202020204" pitchFamily="34" charset="0"/>
                      </a:endParaRPr>
                    </a:p>
                  </a:txBody>
                  <a:tcPr marL="0" marR="0" marT="0" marB="0" anchor="ctr">
                    <a:solidFill>
                      <a:srgbClr val="9C102E"/>
                    </a:solidFill>
                  </a:tcPr>
                </a:tc>
                <a:tc>
                  <a:txBody>
                    <a:bodyPr/>
                    <a:lstStyle/>
                    <a:p>
                      <a:pPr algn="ctr" fontAlgn="ctr"/>
                      <a:r>
                        <a:rPr lang="es-CL" sz="1400" b="1" u="none" strike="noStrike">
                          <a:solidFill>
                            <a:schemeClr val="bg1"/>
                          </a:solidFill>
                          <a:effectLst/>
                        </a:rPr>
                        <a:t>2</a:t>
                      </a:r>
                      <a:endParaRPr lang="en-US" sz="1400" b="1" i="0" u="none" strike="noStrike">
                        <a:solidFill>
                          <a:schemeClr val="bg1"/>
                        </a:solidFill>
                        <a:effectLst/>
                        <a:latin typeface="Arial" panose="020B0604020202020204" pitchFamily="34" charset="0"/>
                      </a:endParaRPr>
                    </a:p>
                  </a:txBody>
                  <a:tcPr marL="0" marR="0" marT="0" marB="0" anchor="ctr">
                    <a:solidFill>
                      <a:srgbClr val="9C102E"/>
                    </a:solidFill>
                  </a:tcPr>
                </a:tc>
                <a:tc>
                  <a:txBody>
                    <a:bodyPr/>
                    <a:lstStyle/>
                    <a:p>
                      <a:pPr algn="ctr" fontAlgn="ctr"/>
                      <a:r>
                        <a:rPr lang="es-CL" sz="1400" b="1" u="none" strike="noStrike" dirty="0">
                          <a:solidFill>
                            <a:schemeClr val="bg1"/>
                          </a:solidFill>
                          <a:effectLst/>
                        </a:rPr>
                        <a:t>3</a:t>
                      </a:r>
                      <a:endParaRPr lang="en-US" sz="1400" b="1" i="0" u="none" strike="noStrike" dirty="0">
                        <a:solidFill>
                          <a:schemeClr val="bg1"/>
                        </a:solidFill>
                        <a:effectLst/>
                        <a:latin typeface="Arial" panose="020B0604020202020204" pitchFamily="34" charset="0"/>
                      </a:endParaRPr>
                    </a:p>
                  </a:txBody>
                  <a:tcPr marL="0" marR="0" marT="0" marB="0" anchor="ctr">
                    <a:solidFill>
                      <a:srgbClr val="9C102E"/>
                    </a:solidFill>
                  </a:tcPr>
                </a:tc>
                <a:tc>
                  <a:txBody>
                    <a:bodyPr/>
                    <a:lstStyle/>
                    <a:p>
                      <a:pPr algn="ctr" fontAlgn="ctr"/>
                      <a:r>
                        <a:rPr lang="es-CL" sz="1400" b="1" u="none" strike="noStrike">
                          <a:solidFill>
                            <a:schemeClr val="bg1"/>
                          </a:solidFill>
                          <a:effectLst/>
                        </a:rPr>
                        <a:t>4</a:t>
                      </a:r>
                      <a:endParaRPr lang="en-US" sz="1400" b="1" i="0" u="none" strike="noStrike">
                        <a:solidFill>
                          <a:schemeClr val="bg1"/>
                        </a:solidFill>
                        <a:effectLst/>
                        <a:latin typeface="Arial" panose="020B0604020202020204" pitchFamily="34" charset="0"/>
                      </a:endParaRPr>
                    </a:p>
                  </a:txBody>
                  <a:tcPr marL="0" marR="0" marT="0" marB="0" anchor="ctr">
                    <a:solidFill>
                      <a:srgbClr val="9C102E"/>
                    </a:solidFill>
                  </a:tcPr>
                </a:tc>
                <a:tc>
                  <a:txBody>
                    <a:bodyPr/>
                    <a:lstStyle/>
                    <a:p>
                      <a:pPr algn="ctr" fontAlgn="ctr"/>
                      <a:r>
                        <a:rPr lang="es-CL" sz="1400" b="1" u="none" strike="noStrike" dirty="0">
                          <a:solidFill>
                            <a:schemeClr val="bg1"/>
                          </a:solidFill>
                          <a:effectLst/>
                        </a:rPr>
                        <a:t>5</a:t>
                      </a:r>
                      <a:endParaRPr lang="en-US" sz="1400" b="1" i="0" u="none" strike="noStrike" dirty="0">
                        <a:solidFill>
                          <a:schemeClr val="bg1"/>
                        </a:solidFill>
                        <a:effectLst/>
                        <a:latin typeface="Arial" panose="020B0604020202020204" pitchFamily="34" charset="0"/>
                      </a:endParaRPr>
                    </a:p>
                  </a:txBody>
                  <a:tcPr marL="0" marR="0" marT="0" marB="0" anchor="ctr">
                    <a:solidFill>
                      <a:srgbClr val="9C102E"/>
                    </a:solidFill>
                  </a:tcPr>
                </a:tc>
                <a:extLst>
                  <a:ext uri="{0D108BD9-81ED-4DB2-BD59-A6C34878D82A}">
                    <a16:rowId xmlns:a16="http://schemas.microsoft.com/office/drawing/2014/main" val="1705073429"/>
                  </a:ext>
                </a:extLst>
              </a:tr>
              <a:tr h="271280">
                <a:tc>
                  <a:txBody>
                    <a:bodyPr/>
                    <a:lstStyle/>
                    <a:p>
                      <a:pPr algn="ctr" fontAlgn="ctr"/>
                      <a:r>
                        <a:rPr lang="es-CL" sz="1400" b="1" u="none" strike="noStrike" dirty="0">
                          <a:solidFill>
                            <a:schemeClr val="bg1"/>
                          </a:solidFill>
                          <a:effectLst/>
                        </a:rPr>
                        <a:t>Años</a:t>
                      </a:r>
                      <a:endParaRPr lang="en-US" sz="1200" b="1" i="0" u="none" strike="noStrike" dirty="0">
                        <a:solidFill>
                          <a:schemeClr val="bg1"/>
                        </a:solidFill>
                        <a:effectLst/>
                        <a:latin typeface="Arial" panose="020B0604020202020204" pitchFamily="34" charset="0"/>
                      </a:endParaRPr>
                    </a:p>
                  </a:txBody>
                  <a:tcPr marL="0" marR="0" marT="0" marB="0" anchor="ctr">
                    <a:noFill/>
                  </a:tcPr>
                </a:tc>
                <a:tc>
                  <a:txBody>
                    <a:bodyPr/>
                    <a:lstStyle/>
                    <a:p>
                      <a:pPr algn="r" fontAlgn="ctr"/>
                      <a:r>
                        <a:rPr lang="es-CL" sz="1400" u="none" strike="noStrike" kern="1200" dirty="0">
                          <a:solidFill>
                            <a:schemeClr val="bg1"/>
                          </a:solidFill>
                          <a:effectLst/>
                          <a:latin typeface="+mn-lt"/>
                          <a:ea typeface="+mn-ea"/>
                          <a:cs typeface="+mn-cs"/>
                        </a:rPr>
                        <a:t> </a:t>
                      </a:r>
                      <a:endParaRPr lang="en-US" sz="1400" u="none" strike="noStrike" kern="1200" dirty="0">
                        <a:solidFill>
                          <a:schemeClr val="bg1"/>
                        </a:solidFill>
                        <a:effectLst/>
                        <a:latin typeface="+mn-lt"/>
                        <a:ea typeface="+mn-ea"/>
                        <a:cs typeface="+mn-cs"/>
                      </a:endParaRPr>
                    </a:p>
                  </a:txBody>
                  <a:tcPr marL="0" marR="0" marT="0" marB="0" anchor="ctr">
                    <a:solidFill>
                      <a:srgbClr val="640D26"/>
                    </a:solidFill>
                  </a:tcPr>
                </a:tc>
                <a:tc>
                  <a:txBody>
                    <a:bodyPr/>
                    <a:lstStyle/>
                    <a:p>
                      <a:pPr algn="ctr" fontAlgn="ctr"/>
                      <a:r>
                        <a:rPr lang="es-CL" sz="1600" u="none" strike="noStrike" dirty="0">
                          <a:solidFill>
                            <a:schemeClr val="bg1"/>
                          </a:solidFill>
                          <a:effectLst/>
                        </a:rPr>
                        <a:t>2022</a:t>
                      </a:r>
                      <a:endParaRPr lang="en-US" sz="1600" b="0" i="0" u="none" strike="noStrike" dirty="0">
                        <a:solidFill>
                          <a:schemeClr val="bg1"/>
                        </a:solidFill>
                        <a:effectLst/>
                        <a:latin typeface="Arial" panose="020B0604020202020204" pitchFamily="34" charset="0"/>
                      </a:endParaRPr>
                    </a:p>
                  </a:txBody>
                  <a:tcPr marL="0" marR="0" marT="0" marB="0" anchor="ctr">
                    <a:lnB w="6350" cap="flat" cmpd="sng" algn="ctr">
                      <a:solidFill>
                        <a:schemeClr val="bg1"/>
                      </a:solidFill>
                      <a:prstDash val="sysDash"/>
                      <a:round/>
                      <a:headEnd type="none" w="med" len="med"/>
                      <a:tailEnd type="none" w="med" len="med"/>
                    </a:lnB>
                    <a:solidFill>
                      <a:srgbClr val="640D26"/>
                    </a:solidFill>
                  </a:tcPr>
                </a:tc>
                <a:tc>
                  <a:txBody>
                    <a:bodyPr/>
                    <a:lstStyle/>
                    <a:p>
                      <a:pPr algn="ctr" fontAlgn="ctr"/>
                      <a:r>
                        <a:rPr lang="es-CL" sz="1600" u="none" strike="noStrike" dirty="0">
                          <a:solidFill>
                            <a:schemeClr val="bg1"/>
                          </a:solidFill>
                          <a:effectLst/>
                        </a:rPr>
                        <a:t>2023</a:t>
                      </a:r>
                      <a:endParaRPr lang="en-US" sz="1600" b="0" i="0" u="none" strike="noStrike" dirty="0">
                        <a:solidFill>
                          <a:schemeClr val="bg1"/>
                        </a:solidFill>
                        <a:effectLst/>
                        <a:latin typeface="Arial" panose="020B0604020202020204" pitchFamily="34" charset="0"/>
                      </a:endParaRPr>
                    </a:p>
                  </a:txBody>
                  <a:tcPr marL="0" marR="0" marT="0" marB="0" anchor="ctr">
                    <a:lnB w="6350" cap="flat" cmpd="sng" algn="ctr">
                      <a:solidFill>
                        <a:schemeClr val="bg1"/>
                      </a:solidFill>
                      <a:prstDash val="sysDash"/>
                      <a:round/>
                      <a:headEnd type="none" w="med" len="med"/>
                      <a:tailEnd type="none" w="med" len="med"/>
                    </a:lnB>
                    <a:solidFill>
                      <a:srgbClr val="640D26"/>
                    </a:solidFill>
                  </a:tcPr>
                </a:tc>
                <a:tc>
                  <a:txBody>
                    <a:bodyPr/>
                    <a:lstStyle/>
                    <a:p>
                      <a:pPr algn="ctr" fontAlgn="ctr"/>
                      <a:r>
                        <a:rPr lang="es-CL" sz="1600" u="none" strike="noStrike" dirty="0">
                          <a:solidFill>
                            <a:schemeClr val="bg1"/>
                          </a:solidFill>
                          <a:effectLst/>
                        </a:rPr>
                        <a:t>2024</a:t>
                      </a:r>
                      <a:endParaRPr lang="en-US" sz="1600" b="0" i="0" u="none" strike="noStrike" dirty="0">
                        <a:solidFill>
                          <a:schemeClr val="bg1"/>
                        </a:solidFill>
                        <a:effectLst/>
                        <a:latin typeface="Arial" panose="020B0604020202020204" pitchFamily="34" charset="0"/>
                      </a:endParaRPr>
                    </a:p>
                  </a:txBody>
                  <a:tcPr marL="0" marR="0" marT="0" marB="0" anchor="ctr">
                    <a:lnB w="6350" cap="flat" cmpd="sng" algn="ctr">
                      <a:solidFill>
                        <a:schemeClr val="bg1"/>
                      </a:solidFill>
                      <a:prstDash val="sysDash"/>
                      <a:round/>
                      <a:headEnd type="none" w="med" len="med"/>
                      <a:tailEnd type="none" w="med" len="med"/>
                    </a:lnB>
                    <a:solidFill>
                      <a:srgbClr val="640D26"/>
                    </a:solidFill>
                  </a:tcPr>
                </a:tc>
                <a:tc>
                  <a:txBody>
                    <a:bodyPr/>
                    <a:lstStyle/>
                    <a:p>
                      <a:pPr algn="ctr" fontAlgn="ctr"/>
                      <a:r>
                        <a:rPr lang="es-CL" sz="1600" u="none" strike="noStrike" dirty="0">
                          <a:solidFill>
                            <a:schemeClr val="bg1"/>
                          </a:solidFill>
                          <a:effectLst/>
                        </a:rPr>
                        <a:t>2025</a:t>
                      </a:r>
                      <a:endParaRPr lang="en-US" sz="1600" b="0" i="0" u="none" strike="noStrike" dirty="0">
                        <a:solidFill>
                          <a:schemeClr val="bg1"/>
                        </a:solidFill>
                        <a:effectLst/>
                        <a:latin typeface="Arial" panose="020B0604020202020204" pitchFamily="34" charset="0"/>
                      </a:endParaRPr>
                    </a:p>
                  </a:txBody>
                  <a:tcPr marL="0" marR="0" marT="0" marB="0" anchor="ctr">
                    <a:lnB w="6350" cap="flat" cmpd="sng" algn="ctr">
                      <a:solidFill>
                        <a:schemeClr val="bg1"/>
                      </a:solidFill>
                      <a:prstDash val="sysDash"/>
                      <a:round/>
                      <a:headEnd type="none" w="med" len="med"/>
                      <a:tailEnd type="none" w="med" len="med"/>
                    </a:lnB>
                    <a:solidFill>
                      <a:srgbClr val="640D26"/>
                    </a:solidFill>
                  </a:tcPr>
                </a:tc>
                <a:tc>
                  <a:txBody>
                    <a:bodyPr/>
                    <a:lstStyle/>
                    <a:p>
                      <a:pPr algn="ctr" fontAlgn="ctr"/>
                      <a:r>
                        <a:rPr lang="es-CL" sz="1600" u="none" strike="noStrike" dirty="0">
                          <a:solidFill>
                            <a:schemeClr val="bg1"/>
                          </a:solidFill>
                          <a:effectLst/>
                        </a:rPr>
                        <a:t>2026</a:t>
                      </a:r>
                      <a:endParaRPr lang="en-US" sz="1600" b="0" i="0" u="none" strike="noStrike" dirty="0">
                        <a:solidFill>
                          <a:schemeClr val="bg1"/>
                        </a:solidFill>
                        <a:effectLst/>
                        <a:latin typeface="Arial" panose="020B0604020202020204" pitchFamily="34" charset="0"/>
                      </a:endParaRPr>
                    </a:p>
                  </a:txBody>
                  <a:tcPr marL="0" marR="0" marT="0" marB="0" anchor="ctr">
                    <a:lnB w="6350" cap="flat" cmpd="sng" algn="ctr">
                      <a:solidFill>
                        <a:schemeClr val="bg1"/>
                      </a:solidFill>
                      <a:prstDash val="sysDash"/>
                      <a:round/>
                      <a:headEnd type="none" w="med" len="med"/>
                      <a:tailEnd type="none" w="med" len="med"/>
                    </a:lnB>
                    <a:solidFill>
                      <a:srgbClr val="640D26"/>
                    </a:solidFill>
                  </a:tcPr>
                </a:tc>
                <a:extLst>
                  <a:ext uri="{0D108BD9-81ED-4DB2-BD59-A6C34878D82A}">
                    <a16:rowId xmlns:a16="http://schemas.microsoft.com/office/drawing/2014/main" val="4284781151"/>
                  </a:ext>
                </a:extLst>
              </a:tr>
              <a:tr h="271280">
                <a:tc>
                  <a:txBody>
                    <a:bodyPr/>
                    <a:lstStyle/>
                    <a:p>
                      <a:pPr marL="172720" indent="0" algn="l" fontAlgn="ctr"/>
                      <a:r>
                        <a:rPr lang="es-CL" sz="1200" i="1" u="none" strike="noStrike">
                          <a:solidFill>
                            <a:schemeClr val="bg1"/>
                          </a:solidFill>
                          <a:effectLst/>
                        </a:rPr>
                        <a:t>INGRESOS POR VENTA</a:t>
                      </a:r>
                      <a:endParaRPr lang="en-US" sz="1200" b="0" i="1" u="none" strike="noStrike" dirty="0">
                        <a:solidFill>
                          <a:schemeClr val="bg1"/>
                        </a:solidFill>
                        <a:effectLst/>
                        <a:latin typeface="Arial" panose="020B0604020202020204" pitchFamily="34" charset="0"/>
                      </a:endParaRPr>
                    </a:p>
                  </a:txBody>
                  <a:tcPr marL="0" marR="0" marT="0" marB="0" anchor="ctr">
                    <a:noFill/>
                  </a:tcPr>
                </a:tc>
                <a:tc>
                  <a:txBody>
                    <a:bodyPr/>
                    <a:lstStyle/>
                    <a:p>
                      <a:pPr algn="r" fontAlgn="ctr"/>
                      <a:r>
                        <a:rPr lang="es-CL" sz="1400" u="none" strike="noStrike" kern="1200" dirty="0">
                          <a:solidFill>
                            <a:schemeClr val="bg1"/>
                          </a:solidFill>
                          <a:effectLst/>
                          <a:latin typeface="+mn-lt"/>
                          <a:ea typeface="+mn-ea"/>
                          <a:cs typeface="+mn-cs"/>
                        </a:rPr>
                        <a:t> </a:t>
                      </a:r>
                      <a:endParaRPr lang="en-US" sz="1400" u="none" strike="noStrike" kern="1200" dirty="0">
                        <a:solidFill>
                          <a:schemeClr val="bg1"/>
                        </a:solidFill>
                        <a:effectLst/>
                        <a:latin typeface="+mn-lt"/>
                        <a:ea typeface="+mn-ea"/>
                        <a:cs typeface="+mn-cs"/>
                      </a:endParaRPr>
                    </a:p>
                  </a:txBody>
                  <a:tcPr marL="0" marR="0" marT="0" marB="0" anchor="ctr">
                    <a:lnR w="6350" cap="flat" cmpd="sng" algn="ctr">
                      <a:solidFill>
                        <a:schemeClr val="bg1"/>
                      </a:solidFill>
                      <a:prstDash val="sysDash"/>
                      <a:round/>
                      <a:headEnd type="none" w="med" len="med"/>
                      <a:tailEnd type="none" w="med" len="med"/>
                    </a:lnR>
                    <a:solidFill>
                      <a:srgbClr val="640D26"/>
                    </a:solidFill>
                  </a:tcPr>
                </a:tc>
                <a:tc>
                  <a:txBody>
                    <a:bodyPr/>
                    <a:lstStyle/>
                    <a:p>
                      <a:pPr algn="r" fontAlgn="ctr"/>
                      <a:r>
                        <a:rPr lang="es-CL" sz="1400" u="none" strike="noStrike" dirty="0">
                          <a:solidFill>
                            <a:schemeClr val="bg1"/>
                          </a:solidFill>
                          <a:effectLst/>
                        </a:rPr>
                        <a:t>$268,320</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a:solidFill>
                            <a:schemeClr val="bg1"/>
                          </a:solidFill>
                          <a:effectLst/>
                        </a:rPr>
                        <a:t>$574,860</a:t>
                      </a:r>
                      <a:endParaRPr lang="en-US" sz="1400" b="0" i="0" u="none" strike="noStrike">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a:solidFill>
                            <a:schemeClr val="bg1"/>
                          </a:solidFill>
                          <a:effectLst/>
                        </a:rPr>
                        <a:t>$626,284</a:t>
                      </a:r>
                      <a:endParaRPr lang="en-US" sz="1400" b="0" i="0" u="none" strike="noStrike">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a:solidFill>
                            <a:schemeClr val="bg1"/>
                          </a:solidFill>
                          <a:effectLst/>
                        </a:rPr>
                        <a:t>$861,140</a:t>
                      </a:r>
                      <a:endParaRPr lang="en-US" sz="1400" b="0" i="0" u="none" strike="noStrike">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a:solidFill>
                            <a:schemeClr val="bg1"/>
                          </a:solidFill>
                          <a:effectLst/>
                        </a:rPr>
                        <a:t>$933,387</a:t>
                      </a:r>
                      <a:endParaRPr lang="en-US" sz="1400" b="0" i="0" u="none" strike="noStrike">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extLst>
                  <a:ext uri="{0D108BD9-81ED-4DB2-BD59-A6C34878D82A}">
                    <a16:rowId xmlns:a16="http://schemas.microsoft.com/office/drawing/2014/main" val="597487651"/>
                  </a:ext>
                </a:extLst>
              </a:tr>
              <a:tr h="271280">
                <a:tc>
                  <a:txBody>
                    <a:bodyPr/>
                    <a:lstStyle/>
                    <a:p>
                      <a:pPr marL="173038" indent="0" algn="l" fontAlgn="b"/>
                      <a:r>
                        <a:rPr lang="en-US" sz="1200" i="1" u="none" strike="noStrike" dirty="0">
                          <a:solidFill>
                            <a:schemeClr val="bg1"/>
                          </a:solidFill>
                          <a:effectLst/>
                        </a:rPr>
                        <a:t>RESUL. ANTES IMPUESTOS</a:t>
                      </a:r>
                      <a:endParaRPr lang="en-US" sz="1200" b="0" i="1" u="none" strike="noStrike" dirty="0">
                        <a:solidFill>
                          <a:schemeClr val="bg1"/>
                        </a:solidFill>
                        <a:effectLst/>
                        <a:latin typeface="Calibri" panose="020F0502020204030204" pitchFamily="34" charset="0"/>
                      </a:endParaRPr>
                    </a:p>
                  </a:txBody>
                  <a:tcPr marL="0" marR="0" marT="0" marB="0" anchor="ctr">
                    <a:solidFill>
                      <a:schemeClr val="bg2"/>
                    </a:solidFill>
                  </a:tcPr>
                </a:tc>
                <a:tc>
                  <a:txBody>
                    <a:bodyPr/>
                    <a:lstStyle/>
                    <a:p>
                      <a:pPr algn="r" fontAlgn="ctr"/>
                      <a:endParaRPr lang="en-US" sz="1400" u="none" strike="noStrike" kern="1200">
                        <a:solidFill>
                          <a:schemeClr val="bg1"/>
                        </a:solidFill>
                        <a:effectLst/>
                        <a:latin typeface="+mn-lt"/>
                        <a:ea typeface="+mn-ea"/>
                        <a:cs typeface="+mn-cs"/>
                      </a:endParaRPr>
                    </a:p>
                  </a:txBody>
                  <a:tcPr marL="0" marR="0" marT="0" marB="0" anchor="ctr">
                    <a:lnR w="6350" cap="flat" cmpd="sng" algn="ctr">
                      <a:solidFill>
                        <a:schemeClr val="bg1"/>
                      </a:solidFill>
                      <a:prstDash val="sysDash"/>
                      <a:round/>
                      <a:headEnd type="none" w="med" len="med"/>
                      <a:tailEnd type="none" w="med" len="med"/>
                    </a:lnR>
                    <a:solidFill>
                      <a:schemeClr val="bg2"/>
                    </a:solidFill>
                  </a:tcPr>
                </a:tc>
                <a:tc>
                  <a:txBody>
                    <a:bodyPr/>
                    <a:lstStyle/>
                    <a:p>
                      <a:pPr algn="r" fontAlgn="ctr"/>
                      <a:r>
                        <a:rPr lang="es-CL" sz="1400" u="none" strike="noStrike" dirty="0">
                          <a:solidFill>
                            <a:schemeClr val="bg1"/>
                          </a:solidFill>
                          <a:effectLst/>
                        </a:rPr>
                        <a:t>$61,038</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solidFill>
                      <a:schemeClr val="bg2"/>
                    </a:solidFill>
                  </a:tcPr>
                </a:tc>
                <a:tc>
                  <a:txBody>
                    <a:bodyPr/>
                    <a:lstStyle/>
                    <a:p>
                      <a:pPr algn="r" fontAlgn="ctr"/>
                      <a:r>
                        <a:rPr lang="es-CL" sz="1400" u="none" strike="noStrike" dirty="0">
                          <a:solidFill>
                            <a:schemeClr val="bg1"/>
                          </a:solidFill>
                          <a:effectLst/>
                        </a:rPr>
                        <a:t>$292,459</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solidFill>
                      <a:schemeClr val="bg2"/>
                    </a:solidFill>
                  </a:tcPr>
                </a:tc>
                <a:tc>
                  <a:txBody>
                    <a:bodyPr/>
                    <a:lstStyle/>
                    <a:p>
                      <a:pPr algn="r" fontAlgn="ctr"/>
                      <a:r>
                        <a:rPr lang="es-CL" sz="1400" u="none" strike="noStrike" dirty="0">
                          <a:solidFill>
                            <a:schemeClr val="bg1"/>
                          </a:solidFill>
                          <a:effectLst/>
                        </a:rPr>
                        <a:t>$328,195</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solidFill>
                      <a:schemeClr val="bg2"/>
                    </a:solidFill>
                  </a:tcPr>
                </a:tc>
                <a:tc>
                  <a:txBody>
                    <a:bodyPr/>
                    <a:lstStyle/>
                    <a:p>
                      <a:pPr algn="r" fontAlgn="ctr"/>
                      <a:r>
                        <a:rPr lang="es-CL" sz="1400" u="none" strike="noStrike" dirty="0">
                          <a:solidFill>
                            <a:schemeClr val="bg1"/>
                          </a:solidFill>
                          <a:effectLst/>
                        </a:rPr>
                        <a:t>$514,923</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solidFill>
                      <a:schemeClr val="bg2"/>
                    </a:solidFill>
                  </a:tcPr>
                </a:tc>
                <a:tc>
                  <a:txBody>
                    <a:bodyPr/>
                    <a:lstStyle/>
                    <a:p>
                      <a:pPr algn="r" fontAlgn="ctr"/>
                      <a:r>
                        <a:rPr lang="es-CL" sz="1400" u="none" strike="noStrike" dirty="0">
                          <a:solidFill>
                            <a:schemeClr val="bg1"/>
                          </a:solidFill>
                          <a:effectLst/>
                        </a:rPr>
                        <a:t>$584,466</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solidFill>
                      <a:schemeClr val="bg2"/>
                    </a:solidFill>
                  </a:tcPr>
                </a:tc>
                <a:extLst>
                  <a:ext uri="{0D108BD9-81ED-4DB2-BD59-A6C34878D82A}">
                    <a16:rowId xmlns:a16="http://schemas.microsoft.com/office/drawing/2014/main" val="484646619"/>
                  </a:ext>
                </a:extLst>
              </a:tr>
              <a:tr h="271280">
                <a:tc>
                  <a:txBody>
                    <a:bodyPr/>
                    <a:lstStyle/>
                    <a:p>
                      <a:pPr marL="173038" indent="0" algn="l" fontAlgn="ctr"/>
                      <a:r>
                        <a:rPr lang="es-CL" sz="1200" i="1" u="none" strike="noStrike" dirty="0">
                          <a:solidFill>
                            <a:schemeClr val="bg1"/>
                          </a:solidFill>
                          <a:effectLst/>
                        </a:rPr>
                        <a:t>RESUL. DESPUE. IMPTOS</a:t>
                      </a:r>
                      <a:endParaRPr lang="en-US" sz="1200" b="0" i="1" u="none" strike="noStrike" dirty="0">
                        <a:solidFill>
                          <a:schemeClr val="bg1"/>
                        </a:solidFill>
                        <a:effectLst/>
                        <a:latin typeface="Arial" panose="020B0604020202020204" pitchFamily="34" charset="0"/>
                      </a:endParaRPr>
                    </a:p>
                  </a:txBody>
                  <a:tcPr marL="0" marR="0" marT="0" marB="0" anchor="ctr">
                    <a:noFill/>
                  </a:tcPr>
                </a:tc>
                <a:tc>
                  <a:txBody>
                    <a:bodyPr/>
                    <a:lstStyle/>
                    <a:p>
                      <a:pPr algn="r" fontAlgn="ctr"/>
                      <a:r>
                        <a:rPr lang="es-CL" sz="1400" u="none" strike="noStrike" kern="1200" dirty="0">
                          <a:solidFill>
                            <a:schemeClr val="bg1"/>
                          </a:solidFill>
                          <a:effectLst/>
                          <a:latin typeface="+mn-lt"/>
                          <a:ea typeface="+mn-ea"/>
                          <a:cs typeface="+mn-cs"/>
                        </a:rPr>
                        <a:t> </a:t>
                      </a:r>
                      <a:endParaRPr lang="en-US" sz="1400" u="none" strike="noStrike" kern="1200" dirty="0">
                        <a:solidFill>
                          <a:schemeClr val="bg1"/>
                        </a:solidFill>
                        <a:effectLst/>
                        <a:latin typeface="+mn-lt"/>
                        <a:ea typeface="+mn-ea"/>
                        <a:cs typeface="+mn-cs"/>
                      </a:endParaRPr>
                    </a:p>
                  </a:txBody>
                  <a:tcPr marL="0" marR="0" marT="0" marB="0" anchor="ctr">
                    <a:lnR w="6350" cap="flat" cmpd="sng" algn="ctr">
                      <a:solidFill>
                        <a:schemeClr val="bg1"/>
                      </a:solidFill>
                      <a:prstDash val="sysDash"/>
                      <a:round/>
                      <a:headEnd type="none" w="med" len="med"/>
                      <a:tailEnd type="none" w="med" len="med"/>
                    </a:lnR>
                    <a:solidFill>
                      <a:srgbClr val="640D26"/>
                    </a:solidFill>
                  </a:tcPr>
                </a:tc>
                <a:tc>
                  <a:txBody>
                    <a:bodyPr/>
                    <a:lstStyle/>
                    <a:p>
                      <a:pPr algn="r" fontAlgn="ctr"/>
                      <a:r>
                        <a:rPr lang="es-CL" sz="1400" u="none" strike="noStrike" dirty="0">
                          <a:solidFill>
                            <a:schemeClr val="bg1"/>
                          </a:solidFill>
                          <a:effectLst/>
                        </a:rPr>
                        <a:t>$37,844</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a:solidFill>
                            <a:schemeClr val="bg1"/>
                          </a:solidFill>
                          <a:effectLst/>
                        </a:rPr>
                        <a:t>$181,324</a:t>
                      </a:r>
                      <a:endParaRPr lang="en-US" sz="1400" b="0" i="0" u="none" strike="noStrike">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dirty="0">
                          <a:solidFill>
                            <a:schemeClr val="bg1"/>
                          </a:solidFill>
                          <a:effectLst/>
                        </a:rPr>
                        <a:t>$203,481</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a:solidFill>
                            <a:schemeClr val="bg1"/>
                          </a:solidFill>
                          <a:effectLst/>
                        </a:rPr>
                        <a:t>$319,252</a:t>
                      </a:r>
                      <a:endParaRPr lang="en-US" sz="1400" b="0" i="0" u="none" strike="noStrike">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a:solidFill>
                            <a:schemeClr val="bg1"/>
                          </a:solidFill>
                          <a:effectLst/>
                        </a:rPr>
                        <a:t>$362,369</a:t>
                      </a:r>
                      <a:endParaRPr lang="en-US" sz="1400" b="0" i="0" u="none" strike="noStrike">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extLst>
                  <a:ext uri="{0D108BD9-81ED-4DB2-BD59-A6C34878D82A}">
                    <a16:rowId xmlns:a16="http://schemas.microsoft.com/office/drawing/2014/main" val="4047908455"/>
                  </a:ext>
                </a:extLst>
              </a:tr>
              <a:tr h="271280">
                <a:tc>
                  <a:txBody>
                    <a:bodyPr/>
                    <a:lstStyle/>
                    <a:p>
                      <a:pPr marL="172720" indent="0" algn="l" fontAlgn="ctr"/>
                      <a:r>
                        <a:rPr lang="es-CL" sz="1200" i="1" u="none" strike="noStrike">
                          <a:solidFill>
                            <a:schemeClr val="bg1"/>
                          </a:solidFill>
                          <a:effectLst/>
                        </a:rPr>
                        <a:t>ROE </a:t>
                      </a:r>
                      <a:endParaRPr lang="en-US" sz="1200" b="0" i="1" u="none" strike="noStrike" dirty="0">
                        <a:solidFill>
                          <a:schemeClr val="bg1"/>
                        </a:solidFill>
                        <a:effectLst/>
                        <a:latin typeface="Arial" panose="020B0604020202020204" pitchFamily="34" charset="0"/>
                      </a:endParaRPr>
                    </a:p>
                  </a:txBody>
                  <a:tcPr marL="0" marR="0" marT="0" marB="0" anchor="ctr">
                    <a:solidFill>
                      <a:schemeClr val="bg2"/>
                    </a:solidFill>
                  </a:tcPr>
                </a:tc>
                <a:tc>
                  <a:txBody>
                    <a:bodyPr/>
                    <a:lstStyle/>
                    <a:p>
                      <a:pPr algn="r" fontAlgn="ctr"/>
                      <a:r>
                        <a:rPr lang="es-CL" sz="1400" u="none" strike="noStrike" kern="1200" dirty="0">
                          <a:solidFill>
                            <a:schemeClr val="bg1"/>
                          </a:solidFill>
                          <a:effectLst/>
                          <a:latin typeface="+mn-lt"/>
                          <a:ea typeface="+mn-ea"/>
                          <a:cs typeface="+mn-cs"/>
                        </a:rPr>
                        <a:t> </a:t>
                      </a:r>
                      <a:endParaRPr lang="en-US" sz="1400" u="none" strike="noStrike" kern="1200" dirty="0">
                        <a:solidFill>
                          <a:schemeClr val="bg1"/>
                        </a:solidFill>
                        <a:effectLst/>
                        <a:latin typeface="+mn-lt"/>
                        <a:ea typeface="+mn-ea"/>
                        <a:cs typeface="+mn-cs"/>
                      </a:endParaRPr>
                    </a:p>
                  </a:txBody>
                  <a:tcPr marL="0" marR="0" marT="0" marB="0" anchor="ctr">
                    <a:lnR w="6350" cap="flat" cmpd="sng" algn="ctr">
                      <a:solidFill>
                        <a:schemeClr val="bg1"/>
                      </a:solidFill>
                      <a:prstDash val="sysDash"/>
                      <a:round/>
                      <a:headEnd type="none" w="med" len="med"/>
                      <a:tailEnd type="none" w="med" len="med"/>
                    </a:lnR>
                    <a:solidFill>
                      <a:schemeClr val="bg2"/>
                    </a:solidFill>
                  </a:tcPr>
                </a:tc>
                <a:tc>
                  <a:txBody>
                    <a:bodyPr/>
                    <a:lstStyle/>
                    <a:p>
                      <a:pPr algn="r" fontAlgn="ctr"/>
                      <a:r>
                        <a:rPr lang="es-CL" sz="1400" u="none" strike="noStrike" dirty="0">
                          <a:solidFill>
                            <a:schemeClr val="bg1"/>
                          </a:solidFill>
                          <a:effectLst/>
                        </a:rPr>
                        <a:t>17,0%</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solidFill>
                      <a:schemeClr val="bg2"/>
                    </a:solidFill>
                  </a:tcPr>
                </a:tc>
                <a:tc>
                  <a:txBody>
                    <a:bodyPr/>
                    <a:lstStyle/>
                    <a:p>
                      <a:pPr algn="r" fontAlgn="ctr"/>
                      <a:r>
                        <a:rPr lang="es-CL" sz="1400" u="none" strike="noStrike" dirty="0">
                          <a:solidFill>
                            <a:schemeClr val="bg1"/>
                          </a:solidFill>
                          <a:effectLst/>
                        </a:rPr>
                        <a:t>16,0%</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solidFill>
                      <a:schemeClr val="bg2"/>
                    </a:solidFill>
                  </a:tcPr>
                </a:tc>
                <a:tc>
                  <a:txBody>
                    <a:bodyPr/>
                    <a:lstStyle/>
                    <a:p>
                      <a:pPr algn="r" fontAlgn="ctr"/>
                      <a:r>
                        <a:rPr lang="es-CL" sz="1400" u="none" strike="noStrike" dirty="0">
                          <a:solidFill>
                            <a:schemeClr val="bg1"/>
                          </a:solidFill>
                          <a:effectLst/>
                        </a:rPr>
                        <a:t>15,0%</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solidFill>
                      <a:schemeClr val="bg2"/>
                    </a:solidFill>
                  </a:tcPr>
                </a:tc>
                <a:tc>
                  <a:txBody>
                    <a:bodyPr/>
                    <a:lstStyle/>
                    <a:p>
                      <a:pPr algn="r" fontAlgn="ctr"/>
                      <a:r>
                        <a:rPr lang="es-CL" sz="1400" u="none" strike="noStrike" dirty="0">
                          <a:solidFill>
                            <a:schemeClr val="bg1"/>
                          </a:solidFill>
                          <a:effectLst/>
                        </a:rPr>
                        <a:t>14,0%</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solidFill>
                      <a:schemeClr val="bg2"/>
                    </a:solidFill>
                  </a:tcPr>
                </a:tc>
                <a:tc>
                  <a:txBody>
                    <a:bodyPr/>
                    <a:lstStyle/>
                    <a:p>
                      <a:pPr algn="r" fontAlgn="ctr"/>
                      <a:r>
                        <a:rPr lang="es-CL" sz="1400" u="none" strike="noStrike" dirty="0">
                          <a:solidFill>
                            <a:schemeClr val="bg1"/>
                          </a:solidFill>
                          <a:effectLst/>
                        </a:rPr>
                        <a:t>13,0%</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solidFill>
                      <a:schemeClr val="bg2"/>
                    </a:solidFill>
                  </a:tcPr>
                </a:tc>
                <a:extLst>
                  <a:ext uri="{0D108BD9-81ED-4DB2-BD59-A6C34878D82A}">
                    <a16:rowId xmlns:a16="http://schemas.microsoft.com/office/drawing/2014/main" val="1586066681"/>
                  </a:ext>
                </a:extLst>
              </a:tr>
              <a:tr h="271280">
                <a:tc>
                  <a:txBody>
                    <a:bodyPr/>
                    <a:lstStyle/>
                    <a:p>
                      <a:pPr marL="173038" indent="0" algn="l" fontAlgn="ctr"/>
                      <a:r>
                        <a:rPr lang="es-CL" sz="1200" i="1" u="none" strike="noStrike" dirty="0">
                          <a:solidFill>
                            <a:schemeClr val="bg1"/>
                          </a:solidFill>
                          <a:effectLst/>
                        </a:rPr>
                        <a:t>FNF ACTUALIZADO</a:t>
                      </a:r>
                      <a:endParaRPr lang="en-US" sz="1200" b="0" i="1" u="none" strike="noStrike" dirty="0">
                        <a:solidFill>
                          <a:schemeClr val="bg1"/>
                        </a:solidFill>
                        <a:effectLst/>
                        <a:latin typeface="Arial" panose="020B0604020202020204" pitchFamily="34" charset="0"/>
                      </a:endParaRPr>
                    </a:p>
                  </a:txBody>
                  <a:tcPr marL="0" marR="0" marT="0" marB="0" anchor="ctr">
                    <a:noFill/>
                  </a:tcPr>
                </a:tc>
                <a:tc>
                  <a:txBody>
                    <a:bodyPr/>
                    <a:lstStyle/>
                    <a:p>
                      <a:pPr algn="r" fontAlgn="ctr"/>
                      <a:r>
                        <a:rPr lang="es-CL" sz="1400" u="none" strike="noStrike" kern="1200" dirty="0">
                          <a:solidFill>
                            <a:schemeClr val="bg1"/>
                          </a:solidFill>
                          <a:effectLst/>
                          <a:latin typeface="+mn-lt"/>
                          <a:ea typeface="+mn-ea"/>
                          <a:cs typeface="+mn-cs"/>
                        </a:rPr>
                        <a:t>-$114,600</a:t>
                      </a:r>
                      <a:endParaRPr lang="en-US" sz="1400" u="none" strike="noStrike" kern="1200" dirty="0">
                        <a:solidFill>
                          <a:schemeClr val="bg1"/>
                        </a:solidFill>
                        <a:effectLst/>
                        <a:latin typeface="+mn-lt"/>
                        <a:ea typeface="+mn-ea"/>
                        <a:cs typeface="+mn-cs"/>
                      </a:endParaRPr>
                    </a:p>
                  </a:txBody>
                  <a:tcPr marL="0" marR="0" marT="0" marB="0" anchor="ctr">
                    <a:lnR w="6350" cap="flat" cmpd="sng" algn="ctr">
                      <a:solidFill>
                        <a:schemeClr val="bg1"/>
                      </a:solidFill>
                      <a:prstDash val="sysDash"/>
                      <a:round/>
                      <a:headEnd type="none" w="med" len="med"/>
                      <a:tailEnd type="none" w="med" len="med"/>
                    </a:lnR>
                    <a:solidFill>
                      <a:srgbClr val="640D26"/>
                    </a:solidFill>
                  </a:tcPr>
                </a:tc>
                <a:tc>
                  <a:txBody>
                    <a:bodyPr/>
                    <a:lstStyle/>
                    <a:p>
                      <a:pPr algn="r" fontAlgn="ctr"/>
                      <a:r>
                        <a:rPr lang="es-CL" sz="1400" u="none" strike="noStrike" dirty="0">
                          <a:solidFill>
                            <a:schemeClr val="bg1"/>
                          </a:solidFill>
                          <a:effectLst/>
                        </a:rPr>
                        <a:t>$32,550</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dirty="0">
                          <a:solidFill>
                            <a:schemeClr val="bg1"/>
                          </a:solidFill>
                          <a:effectLst/>
                        </a:rPr>
                        <a:t>$133,779</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dirty="0">
                          <a:solidFill>
                            <a:schemeClr val="bg1"/>
                          </a:solidFill>
                          <a:effectLst/>
                        </a:rPr>
                        <a:t>$130,525</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dirty="0">
                          <a:solidFill>
                            <a:schemeClr val="bg1"/>
                          </a:solidFill>
                          <a:effectLst/>
                        </a:rPr>
                        <a:t>$179,562</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dirty="0">
                          <a:solidFill>
                            <a:schemeClr val="bg1"/>
                          </a:solidFill>
                          <a:effectLst/>
                        </a:rPr>
                        <a:t>$236,750</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extLst>
                  <a:ext uri="{0D108BD9-81ED-4DB2-BD59-A6C34878D82A}">
                    <a16:rowId xmlns:a16="http://schemas.microsoft.com/office/drawing/2014/main" val="4116488125"/>
                  </a:ext>
                </a:extLst>
              </a:tr>
              <a:tr h="271280">
                <a:tc>
                  <a:txBody>
                    <a:bodyPr/>
                    <a:lstStyle/>
                    <a:p>
                      <a:pPr marL="173038" indent="0" algn="l" fontAlgn="ctr"/>
                      <a:r>
                        <a:rPr lang="es-CL" sz="1200" i="1" u="none" strike="noStrike" dirty="0">
                          <a:solidFill>
                            <a:schemeClr val="bg1"/>
                          </a:solidFill>
                          <a:effectLst/>
                        </a:rPr>
                        <a:t>VAN PRO PURO</a:t>
                      </a:r>
                      <a:endParaRPr lang="en-US" sz="1200" b="0" i="1" u="none" strike="noStrike" dirty="0">
                        <a:solidFill>
                          <a:schemeClr val="bg1"/>
                        </a:solidFill>
                        <a:effectLst/>
                        <a:latin typeface="Arial" panose="020B0604020202020204" pitchFamily="34" charset="0"/>
                      </a:endParaRPr>
                    </a:p>
                  </a:txBody>
                  <a:tcPr marL="0" marR="0" marT="0" marB="0" anchor="ctr">
                    <a:noFill/>
                  </a:tcPr>
                </a:tc>
                <a:tc>
                  <a:txBody>
                    <a:bodyPr/>
                    <a:lstStyle/>
                    <a:p>
                      <a:pPr algn="r" fontAlgn="ctr"/>
                      <a:r>
                        <a:rPr lang="es-CL" sz="1400" u="none" strike="noStrike" kern="1200" dirty="0">
                          <a:solidFill>
                            <a:schemeClr val="bg1"/>
                          </a:solidFill>
                          <a:effectLst/>
                          <a:latin typeface="+mn-lt"/>
                          <a:ea typeface="+mn-ea"/>
                          <a:cs typeface="+mn-cs"/>
                        </a:rPr>
                        <a:t>$598,566</a:t>
                      </a:r>
                      <a:endParaRPr lang="en-US" sz="1400" u="none" strike="noStrike" kern="1200" dirty="0">
                        <a:solidFill>
                          <a:schemeClr val="bg1"/>
                        </a:solidFill>
                        <a:effectLst/>
                        <a:latin typeface="+mn-lt"/>
                        <a:ea typeface="+mn-ea"/>
                        <a:cs typeface="+mn-cs"/>
                      </a:endParaRPr>
                    </a:p>
                  </a:txBody>
                  <a:tcPr marL="0" marR="0" marT="0" marB="0" anchor="ctr">
                    <a:lnR w="12700" cmpd="sng">
                      <a:noFill/>
                    </a:lnR>
                    <a:solidFill>
                      <a:srgbClr val="640D26"/>
                    </a:solidFill>
                  </a:tcPr>
                </a:tc>
                <a:tc>
                  <a:txBody>
                    <a:bodyPr/>
                    <a:lstStyle/>
                    <a:p>
                      <a:pPr algn="l" fontAlgn="ctr"/>
                      <a:endParaRPr lang="en-US" sz="1200" b="0" i="0" u="none" strike="noStrike">
                        <a:solidFill>
                          <a:schemeClr val="bg1"/>
                        </a:solidFill>
                        <a:effectLst/>
                        <a:latin typeface="Arial" panose="020B0604020202020204" pitchFamily="34" charset="0"/>
                      </a:endParaRPr>
                    </a:p>
                  </a:txBody>
                  <a:tcPr marL="0" marR="0" marT="0" marB="0" anchor="ctr">
                    <a:lnL w="12700" cmpd="sng">
                      <a:noFill/>
                    </a:lnL>
                    <a:lnR w="12700" cmpd="sng">
                      <a:noFill/>
                    </a:lnR>
                    <a:lnT w="6350" cap="flat" cmpd="sng" algn="ctr">
                      <a:solidFill>
                        <a:schemeClr val="bg1"/>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ctr"/>
                      <a:r>
                        <a:rPr lang="es-CL" sz="1200" u="none" strike="noStrike" dirty="0">
                          <a:solidFill>
                            <a:schemeClr val="bg1"/>
                          </a:solidFill>
                          <a:effectLst/>
                        </a:rPr>
                        <a:t> </a:t>
                      </a:r>
                      <a:endParaRPr lang="en-US" sz="1200" b="0" i="0" u="none" strike="noStrike" dirty="0">
                        <a:solidFill>
                          <a:schemeClr val="bg1"/>
                        </a:solidFill>
                        <a:effectLst/>
                        <a:latin typeface="Arial" panose="020B0604020202020204" pitchFamily="34" charset="0"/>
                      </a:endParaRPr>
                    </a:p>
                  </a:txBody>
                  <a:tcPr marL="0" marR="0" marT="0" marB="0" anchor="ctr">
                    <a:lnL w="12700" cmpd="sng">
                      <a:noFill/>
                    </a:lnL>
                    <a:lnR w="12700" cmpd="sng">
                      <a:noFill/>
                    </a:lnR>
                    <a:lnT w="6350" cap="flat" cmpd="sng" algn="ctr">
                      <a:solidFill>
                        <a:schemeClr val="bg1"/>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ctr"/>
                      <a:r>
                        <a:rPr lang="es-CL" sz="1200" u="none" strike="noStrike" dirty="0">
                          <a:solidFill>
                            <a:schemeClr val="bg1"/>
                          </a:solidFill>
                          <a:effectLst/>
                        </a:rPr>
                        <a:t> </a:t>
                      </a:r>
                      <a:endParaRPr lang="en-US" sz="1200" b="0" i="0" u="none" strike="noStrike" dirty="0">
                        <a:solidFill>
                          <a:schemeClr val="bg1"/>
                        </a:solidFill>
                        <a:effectLst/>
                        <a:latin typeface="Arial" panose="020B0604020202020204" pitchFamily="34" charset="0"/>
                      </a:endParaRPr>
                    </a:p>
                  </a:txBody>
                  <a:tcPr marL="0" marR="0" marT="0" marB="0" anchor="ctr">
                    <a:lnL w="12700" cmpd="sng">
                      <a:noFill/>
                    </a:lnL>
                    <a:lnR w="12700" cmpd="sng">
                      <a:noFill/>
                    </a:lnR>
                    <a:lnT w="6350" cap="flat" cmpd="sng" algn="ctr">
                      <a:solidFill>
                        <a:schemeClr val="bg1"/>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ctr"/>
                      <a:endParaRPr lang="en-US" sz="1200" b="0" i="0" u="none" strike="noStrike">
                        <a:solidFill>
                          <a:schemeClr val="bg1"/>
                        </a:solidFill>
                        <a:effectLst/>
                        <a:latin typeface="Arial" panose="020B0604020202020204" pitchFamily="34" charset="0"/>
                      </a:endParaRPr>
                    </a:p>
                  </a:txBody>
                  <a:tcPr marL="0" marR="0" marT="0" marB="0" anchor="ctr">
                    <a:lnL w="12700" cmpd="sng">
                      <a:noFill/>
                    </a:lnL>
                    <a:lnR w="12700" cmpd="sng">
                      <a:noFill/>
                    </a:lnR>
                    <a:lnT w="6350" cap="flat" cmpd="sng" algn="ctr">
                      <a:solidFill>
                        <a:schemeClr val="bg1"/>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ctr"/>
                      <a:r>
                        <a:rPr lang="es-CL" sz="1200" u="none" strike="noStrike" dirty="0">
                          <a:solidFill>
                            <a:schemeClr val="bg1"/>
                          </a:solidFill>
                          <a:effectLst/>
                        </a:rPr>
                        <a:t> </a:t>
                      </a:r>
                      <a:endParaRPr lang="en-US" sz="1200" b="0" i="0" u="none" strike="noStrike" dirty="0">
                        <a:solidFill>
                          <a:schemeClr val="bg1"/>
                        </a:solidFill>
                        <a:effectLst/>
                        <a:latin typeface="Arial" panose="020B0604020202020204" pitchFamily="34" charset="0"/>
                      </a:endParaRPr>
                    </a:p>
                  </a:txBody>
                  <a:tcPr marL="0" marR="0" marT="0" marB="0" anchor="ctr">
                    <a:lnL w="12700" cmpd="sng">
                      <a:noFill/>
                    </a:lnL>
                    <a:lnR w="12700" cmpd="sng">
                      <a:noFill/>
                    </a:lnR>
                    <a:lnT w="6350" cap="flat" cmpd="sng" algn="ctr">
                      <a:solidFill>
                        <a:schemeClr val="bg1"/>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25817609"/>
                  </a:ext>
                </a:extLst>
              </a:tr>
              <a:tr h="271280">
                <a:tc>
                  <a:txBody>
                    <a:bodyPr/>
                    <a:lstStyle/>
                    <a:p>
                      <a:pPr marL="173038" indent="0" algn="l" fontAlgn="ctr"/>
                      <a:r>
                        <a:rPr lang="es-CL" sz="1200" i="1" u="none" strike="noStrike" dirty="0">
                          <a:solidFill>
                            <a:schemeClr val="bg1"/>
                          </a:solidFill>
                          <a:effectLst/>
                        </a:rPr>
                        <a:t>TIR</a:t>
                      </a:r>
                      <a:endParaRPr lang="en-US" sz="1200" b="0" i="1" u="none" strike="noStrike" dirty="0">
                        <a:solidFill>
                          <a:schemeClr val="bg1"/>
                        </a:solidFill>
                        <a:effectLst/>
                        <a:latin typeface="Arial" panose="020B0604020202020204" pitchFamily="34" charset="0"/>
                      </a:endParaRPr>
                    </a:p>
                  </a:txBody>
                  <a:tcPr marL="0" marR="0" marT="0" marB="0" anchor="ctr">
                    <a:noFill/>
                  </a:tcPr>
                </a:tc>
                <a:tc>
                  <a:txBody>
                    <a:bodyPr/>
                    <a:lstStyle/>
                    <a:p>
                      <a:pPr algn="r" fontAlgn="ctr"/>
                      <a:r>
                        <a:rPr lang="es-CL" sz="1400" u="none" strike="noStrike" kern="1200" dirty="0">
                          <a:solidFill>
                            <a:schemeClr val="bg1"/>
                          </a:solidFill>
                          <a:effectLst/>
                          <a:latin typeface="+mn-lt"/>
                          <a:ea typeface="+mn-ea"/>
                          <a:cs typeface="+mn-cs"/>
                        </a:rPr>
                        <a:t>78%</a:t>
                      </a:r>
                      <a:endParaRPr lang="en-US" sz="1400" u="none" strike="noStrike" kern="1200" dirty="0">
                        <a:solidFill>
                          <a:schemeClr val="bg1"/>
                        </a:solidFill>
                        <a:effectLst/>
                        <a:latin typeface="+mn-lt"/>
                        <a:ea typeface="+mn-ea"/>
                        <a:cs typeface="+mn-cs"/>
                      </a:endParaRPr>
                    </a:p>
                  </a:txBody>
                  <a:tcPr marL="0" marR="0" marT="0" marB="0" anchor="ctr">
                    <a:lnR w="12700" cmpd="sng">
                      <a:noFill/>
                    </a:lnR>
                    <a:solidFill>
                      <a:srgbClr val="640D26"/>
                    </a:solidFill>
                  </a:tcPr>
                </a:tc>
                <a:tc>
                  <a:txBody>
                    <a:bodyPr/>
                    <a:lstStyle/>
                    <a:p>
                      <a:pPr algn="l" fontAlgn="ctr"/>
                      <a:endParaRPr lang="en-US" sz="1200" b="0" i="0" u="none" strike="noStrike">
                        <a:solidFill>
                          <a:schemeClr val="bg1"/>
                        </a:solidFill>
                        <a:effectLst/>
                        <a:latin typeface="Arial" panose="020B0604020202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ctr"/>
                      <a:endParaRPr lang="en-US" sz="1200" b="0" i="0" u="none" strike="noStrike">
                        <a:solidFill>
                          <a:schemeClr val="bg1"/>
                        </a:solidFill>
                        <a:effectLst/>
                        <a:latin typeface="Arial" panose="020B0604020202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ctr"/>
                      <a:r>
                        <a:rPr lang="es-CL" sz="1200" u="none" strike="noStrike" dirty="0">
                          <a:solidFill>
                            <a:schemeClr val="bg1"/>
                          </a:solidFill>
                          <a:effectLst/>
                        </a:rPr>
                        <a:t> </a:t>
                      </a:r>
                      <a:endParaRPr lang="en-US" sz="1200" b="0" i="0" u="none" strike="noStrike" dirty="0">
                        <a:solidFill>
                          <a:schemeClr val="bg1"/>
                        </a:solidFill>
                        <a:effectLst/>
                        <a:latin typeface="Arial" panose="020B0604020202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ctr"/>
                      <a:endParaRPr lang="en-US" sz="1200" b="0" i="0" u="none" strike="noStrike">
                        <a:solidFill>
                          <a:schemeClr val="bg1"/>
                        </a:solidFill>
                        <a:effectLst/>
                        <a:latin typeface="Arial" panose="020B0604020202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ctr"/>
                      <a:r>
                        <a:rPr lang="es-CL" sz="1200" u="none" strike="noStrike" dirty="0">
                          <a:solidFill>
                            <a:schemeClr val="bg1"/>
                          </a:solidFill>
                          <a:effectLst/>
                        </a:rPr>
                        <a:t> </a:t>
                      </a:r>
                      <a:endParaRPr lang="en-US" sz="1200" b="0" i="0" u="none" strike="noStrike" dirty="0">
                        <a:solidFill>
                          <a:schemeClr val="bg1"/>
                        </a:solidFill>
                        <a:effectLst/>
                        <a:latin typeface="Arial" panose="020B060402020202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44764105"/>
                  </a:ext>
                </a:extLst>
              </a:tr>
              <a:tr h="271280">
                <a:tc>
                  <a:txBody>
                    <a:bodyPr/>
                    <a:lstStyle/>
                    <a:p>
                      <a:pPr algn="l" fontAlgn="b"/>
                      <a:r>
                        <a:rPr lang="en-US" sz="1200" i="1" u="none" strike="noStrike" dirty="0">
                          <a:solidFill>
                            <a:schemeClr val="bg1"/>
                          </a:solidFill>
                          <a:effectLst/>
                        </a:rPr>
                        <a:t> </a:t>
                      </a:r>
                      <a:endParaRPr lang="en-US" sz="1200" b="0" i="1" u="none" strike="noStrike" dirty="0">
                        <a:solidFill>
                          <a:schemeClr val="bg1"/>
                        </a:solidFill>
                        <a:effectLst/>
                        <a:latin typeface="Calibri" panose="020F0502020204030204" pitchFamily="34" charset="0"/>
                      </a:endParaRPr>
                    </a:p>
                  </a:txBody>
                  <a:tcPr marL="0" marR="0" marT="0" marB="0" anchor="b">
                    <a:noFill/>
                  </a:tcPr>
                </a:tc>
                <a:tc>
                  <a:txBody>
                    <a:bodyPr/>
                    <a:lstStyle/>
                    <a:p>
                      <a:pPr algn="l" fontAlgn="b"/>
                      <a:r>
                        <a:rPr lang="en-US" sz="1400" u="none" strike="noStrike" kern="1200" dirty="0">
                          <a:solidFill>
                            <a:schemeClr val="bg1"/>
                          </a:solidFill>
                          <a:effectLst/>
                          <a:latin typeface="+mn-lt"/>
                          <a:ea typeface="+mn-ea"/>
                          <a:cs typeface="+mn-cs"/>
                        </a:rPr>
                        <a:t> </a:t>
                      </a:r>
                    </a:p>
                  </a:txBody>
                  <a:tcPr marL="0" marR="0" marT="0" marB="0" anchor="b">
                    <a:lnR w="12700" cmpd="sng">
                      <a:noFill/>
                    </a:lnR>
                    <a:solidFill>
                      <a:srgbClr val="640D26"/>
                    </a:solidFill>
                  </a:tcPr>
                </a:tc>
                <a:tc>
                  <a:txBody>
                    <a:bodyPr/>
                    <a:lstStyle/>
                    <a:p>
                      <a:pPr algn="l" fontAlgn="b"/>
                      <a:r>
                        <a:rPr lang="en-US" sz="1200" u="none" strike="noStrike" dirty="0">
                          <a:solidFill>
                            <a:schemeClr val="bg1"/>
                          </a:solidFill>
                          <a:effectLst/>
                        </a:rPr>
                        <a:t> </a:t>
                      </a:r>
                      <a:endParaRPr lang="en-US" sz="1200" b="0" i="0" u="none" strike="noStrike" dirty="0">
                        <a:solidFill>
                          <a:schemeClr val="bg1"/>
                        </a:solidFill>
                        <a:effectLst/>
                        <a:latin typeface="Calibri" panose="020F0502020204030204" pitchFamily="34" charset="0"/>
                      </a:endParaRPr>
                    </a:p>
                  </a:txBody>
                  <a:tcPr marL="0" marR="0" marT="0" marB="0" anchor="b">
                    <a:lnL w="12700" cmpd="sng">
                      <a:noFill/>
                    </a:lnL>
                    <a:lnR w="12700" cmpd="sng">
                      <a:noFill/>
                    </a:lnR>
                    <a:lnT w="12700" cmpd="sng">
                      <a:noFill/>
                    </a:lnT>
                    <a:lnB w="6350" cap="flat" cmpd="sng" algn="ctr">
                      <a:solidFill>
                        <a:schemeClr val="bg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bg1"/>
                        </a:solidFill>
                        <a:effectLst/>
                        <a:latin typeface="Calibri" panose="020F0502020204030204" pitchFamily="34" charset="0"/>
                      </a:endParaRPr>
                    </a:p>
                  </a:txBody>
                  <a:tcPr marL="0" marR="0" marT="0" marB="0" anchor="b">
                    <a:lnL w="12700" cmpd="sng">
                      <a:noFill/>
                    </a:lnL>
                    <a:lnR w="12700" cmpd="sng">
                      <a:noFill/>
                    </a:lnR>
                    <a:lnT w="12700" cmpd="sng">
                      <a:noFill/>
                    </a:lnT>
                    <a:lnB w="6350" cap="flat" cmpd="sng" algn="ctr">
                      <a:solidFill>
                        <a:schemeClr val="bg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u="none" strike="noStrike" dirty="0">
                          <a:solidFill>
                            <a:schemeClr val="bg1"/>
                          </a:solidFill>
                          <a:effectLst/>
                        </a:rPr>
                        <a:t> </a:t>
                      </a:r>
                      <a:endParaRPr lang="en-US" sz="1200" b="0" i="0" u="none" strike="noStrike" dirty="0">
                        <a:solidFill>
                          <a:schemeClr val="bg1"/>
                        </a:solidFill>
                        <a:effectLst/>
                        <a:latin typeface="Calibri" panose="020F0502020204030204" pitchFamily="34" charset="0"/>
                      </a:endParaRPr>
                    </a:p>
                  </a:txBody>
                  <a:tcPr marL="0" marR="0" marT="0" marB="0" anchor="b">
                    <a:lnL w="12700" cmpd="sng">
                      <a:noFill/>
                    </a:lnL>
                    <a:lnR w="12700" cmpd="sng">
                      <a:noFill/>
                    </a:lnR>
                    <a:lnT w="12700" cmpd="sng">
                      <a:noFill/>
                    </a:lnT>
                    <a:lnB w="6350" cap="flat" cmpd="sng" algn="ctr">
                      <a:solidFill>
                        <a:schemeClr val="bg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u="none" strike="noStrike" dirty="0">
                          <a:solidFill>
                            <a:schemeClr val="bg1"/>
                          </a:solidFill>
                          <a:effectLst/>
                        </a:rPr>
                        <a:t> </a:t>
                      </a:r>
                      <a:endParaRPr lang="en-US" sz="1200" b="0" i="0" u="none" strike="noStrike" dirty="0">
                        <a:solidFill>
                          <a:schemeClr val="bg1"/>
                        </a:solidFill>
                        <a:effectLst/>
                        <a:latin typeface="Calibri" panose="020F0502020204030204" pitchFamily="34" charset="0"/>
                      </a:endParaRPr>
                    </a:p>
                  </a:txBody>
                  <a:tcPr marL="0" marR="0" marT="0" marB="0" anchor="b">
                    <a:lnL w="12700" cmpd="sng">
                      <a:noFill/>
                    </a:lnL>
                    <a:lnR w="12700" cmpd="sng">
                      <a:noFill/>
                    </a:lnR>
                    <a:lnT w="12700" cmpd="sng">
                      <a:noFill/>
                    </a:lnT>
                    <a:lnB w="6350" cap="flat" cmpd="sng" algn="ctr">
                      <a:solidFill>
                        <a:schemeClr val="bg1"/>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u="none" strike="noStrike" dirty="0">
                          <a:solidFill>
                            <a:schemeClr val="bg1"/>
                          </a:solidFill>
                          <a:effectLst/>
                        </a:rPr>
                        <a:t> </a:t>
                      </a:r>
                      <a:endParaRPr lang="en-US" sz="1200" b="0" i="0" u="none" strike="noStrike" dirty="0">
                        <a:solidFill>
                          <a:schemeClr val="bg1"/>
                        </a:solidFill>
                        <a:effectLst/>
                        <a:latin typeface="Calibri" panose="020F0502020204030204" pitchFamily="34" charset="0"/>
                      </a:endParaRPr>
                    </a:p>
                  </a:txBody>
                  <a:tcPr marL="0" marR="0" marT="0" marB="0" anchor="b">
                    <a:lnL w="12700" cmpd="sng">
                      <a:noFill/>
                    </a:lnL>
                    <a:lnR w="12700" cmpd="sng">
                      <a:noFill/>
                    </a:lnR>
                    <a:lnT w="12700" cmpd="sng">
                      <a:noFill/>
                    </a:lnT>
                    <a:lnB w="6350" cap="flat" cmpd="sng" algn="ctr">
                      <a:solidFill>
                        <a:schemeClr val="bg1"/>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7773900"/>
                  </a:ext>
                </a:extLst>
              </a:tr>
              <a:tr h="271280">
                <a:tc>
                  <a:txBody>
                    <a:bodyPr/>
                    <a:lstStyle/>
                    <a:p>
                      <a:pPr marL="172720" indent="0" algn="l" fontAlgn="ctr"/>
                      <a:r>
                        <a:rPr lang="es-CL" sz="1200" i="1" u="none" strike="noStrike">
                          <a:solidFill>
                            <a:schemeClr val="bg1"/>
                          </a:solidFill>
                          <a:effectLst/>
                        </a:rPr>
                        <a:t>Payback</a:t>
                      </a:r>
                      <a:endParaRPr lang="en-US" sz="1200" b="0" i="1" u="none" strike="noStrike" dirty="0">
                        <a:solidFill>
                          <a:schemeClr val="bg1"/>
                        </a:solidFill>
                        <a:effectLst/>
                        <a:latin typeface="Arial" panose="020B0604020202020204" pitchFamily="34" charset="0"/>
                      </a:endParaRPr>
                    </a:p>
                  </a:txBody>
                  <a:tcPr marL="0" marR="0" marT="0" marB="0" anchor="ctr">
                    <a:noFill/>
                  </a:tcPr>
                </a:tc>
                <a:tc>
                  <a:txBody>
                    <a:bodyPr/>
                    <a:lstStyle/>
                    <a:p>
                      <a:pPr algn="r" fontAlgn="ctr"/>
                      <a:r>
                        <a:rPr lang="es-CL" sz="1400" u="none" strike="noStrike" kern="1200" dirty="0">
                          <a:solidFill>
                            <a:schemeClr val="bg1"/>
                          </a:solidFill>
                          <a:effectLst/>
                          <a:latin typeface="+mn-lt"/>
                          <a:ea typeface="+mn-ea"/>
                          <a:cs typeface="+mn-cs"/>
                        </a:rPr>
                        <a:t>-$114,600</a:t>
                      </a:r>
                      <a:endParaRPr lang="en-US" sz="1400" u="none" strike="noStrike" kern="1200" dirty="0">
                        <a:solidFill>
                          <a:schemeClr val="bg1"/>
                        </a:solidFill>
                        <a:effectLst/>
                        <a:latin typeface="+mn-lt"/>
                        <a:ea typeface="+mn-ea"/>
                        <a:cs typeface="+mn-cs"/>
                      </a:endParaRPr>
                    </a:p>
                  </a:txBody>
                  <a:tcPr marL="0" marR="0" marT="0" marB="0" anchor="ctr">
                    <a:lnR w="6350" cap="flat" cmpd="sng" algn="ctr">
                      <a:solidFill>
                        <a:schemeClr val="bg1"/>
                      </a:solidFill>
                      <a:prstDash val="sysDash"/>
                      <a:round/>
                      <a:headEnd type="none" w="med" len="med"/>
                      <a:tailEnd type="none" w="med" len="med"/>
                    </a:lnR>
                    <a:solidFill>
                      <a:srgbClr val="640D26"/>
                    </a:solidFill>
                  </a:tcPr>
                </a:tc>
                <a:tc>
                  <a:txBody>
                    <a:bodyPr/>
                    <a:lstStyle/>
                    <a:p>
                      <a:pPr algn="r" fontAlgn="ctr"/>
                      <a:r>
                        <a:rPr lang="es-CL" sz="1400" u="none" strike="noStrike" dirty="0">
                          <a:solidFill>
                            <a:schemeClr val="bg1"/>
                          </a:solidFill>
                          <a:effectLst/>
                        </a:rPr>
                        <a:t>-$82,050</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dirty="0">
                          <a:solidFill>
                            <a:schemeClr val="bg1"/>
                          </a:solidFill>
                          <a:effectLst/>
                        </a:rPr>
                        <a:t>$51,729</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dirty="0">
                          <a:solidFill>
                            <a:schemeClr val="bg1"/>
                          </a:solidFill>
                          <a:effectLst/>
                        </a:rPr>
                        <a:t>$182,254</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dirty="0">
                          <a:solidFill>
                            <a:schemeClr val="bg1"/>
                          </a:solidFill>
                          <a:effectLst/>
                        </a:rPr>
                        <a:t>$361,816</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tc>
                  <a:txBody>
                    <a:bodyPr/>
                    <a:lstStyle/>
                    <a:p>
                      <a:pPr algn="r" fontAlgn="ctr"/>
                      <a:r>
                        <a:rPr lang="es-CL" sz="1400" u="none" strike="noStrike" dirty="0">
                          <a:solidFill>
                            <a:schemeClr val="bg1"/>
                          </a:solidFill>
                          <a:effectLst/>
                        </a:rPr>
                        <a:t>$598,566</a:t>
                      </a:r>
                      <a:endParaRPr lang="en-US" sz="1400" b="0" i="0" u="none" strike="noStrike" dirty="0">
                        <a:solidFill>
                          <a:schemeClr val="bg1"/>
                        </a:solidFill>
                        <a:effectLst/>
                        <a:latin typeface="Arial" panose="020B0604020202020204" pitchFamily="34" charset="0"/>
                      </a:endParaRPr>
                    </a:p>
                  </a:txBody>
                  <a:tcPr marL="0" marR="0" marT="0" marB="0" anchor="ctr">
                    <a:lnL w="6350" cap="flat" cmpd="sng" algn="ctr">
                      <a:solidFill>
                        <a:schemeClr val="bg1"/>
                      </a:solidFill>
                      <a:prstDash val="sysDash"/>
                      <a:round/>
                      <a:headEnd type="none" w="med" len="med"/>
                      <a:tailEnd type="none" w="med" len="med"/>
                    </a:lnL>
                    <a:lnR w="6350" cap="flat" cmpd="sng" algn="ctr">
                      <a:solidFill>
                        <a:schemeClr val="bg1"/>
                      </a:solidFill>
                      <a:prstDash val="sysDash"/>
                      <a:round/>
                      <a:headEnd type="none" w="med" len="med"/>
                      <a:tailEnd type="none" w="med" len="med"/>
                    </a:lnR>
                    <a:lnT w="6350" cap="flat" cmpd="sng" algn="ctr">
                      <a:solidFill>
                        <a:schemeClr val="bg1"/>
                      </a:solidFill>
                      <a:prstDash val="sysDash"/>
                      <a:round/>
                      <a:headEnd type="none" w="med" len="med"/>
                      <a:tailEnd type="none" w="med" len="med"/>
                    </a:lnT>
                    <a:lnB w="6350" cap="flat" cmpd="sng" algn="ctr">
                      <a:solidFill>
                        <a:schemeClr val="bg1"/>
                      </a:solidFill>
                      <a:prstDash val="sysDash"/>
                      <a:round/>
                      <a:headEnd type="none" w="med" len="med"/>
                      <a:tailEnd type="none" w="med" len="med"/>
                    </a:lnB>
                    <a:noFill/>
                  </a:tcPr>
                </a:tc>
                <a:extLst>
                  <a:ext uri="{0D108BD9-81ED-4DB2-BD59-A6C34878D82A}">
                    <a16:rowId xmlns:a16="http://schemas.microsoft.com/office/drawing/2014/main" val="2194169568"/>
                  </a:ext>
                </a:extLst>
              </a:tr>
            </a:tbl>
          </a:graphicData>
        </a:graphic>
      </p:graphicFrame>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24E10E58-783F-E269-BDBF-9C31E2986BBB}"/>
                  </a:ext>
                </a:extLst>
              </p14:cNvPr>
              <p14:cNvContentPartPr>
                <a14:cpLocks xmlns:a14="http://schemas.microsoft.com/office/drawing/2010/main" noRot="1" noChangeAspect="1" noEditPoints="1" noChangeArrowheads="1" noChangeShapeType="1"/>
              </p14:cNvContentPartPr>
              <p14:nvPr/>
            </p14:nvContentPartPr>
            <p14:xfrm>
              <a:off x="1493838" y="3624263"/>
              <a:ext cx="428625" cy="66675"/>
            </p14:xfrm>
          </p:contentPart>
        </mc:Choice>
        <mc:Fallback xmlns="">
          <p:pic>
            <p:nvPicPr>
              <p:cNvPr id="19" name="Ink 18">
                <a:extLst>
                  <a:ext uri="{FF2B5EF4-FFF2-40B4-BE49-F238E27FC236}">
                    <a16:creationId xmlns:a16="http://schemas.microsoft.com/office/drawing/2014/main" id="{24E10E58-783F-E269-BDBF-9C31E2986BBB}"/>
                  </a:ext>
                </a:extLst>
              </p:cNvPr>
              <p:cNvPicPr/>
              <p:nvPr/>
            </p:nvPicPr>
            <p:blipFill/>
            <p:spPr/>
          </p:pic>
        </mc:Fallback>
      </mc:AlternateContent>
      <mc:AlternateContent xmlns:mc="http://schemas.openxmlformats.org/markup-compatibility/2006" xmlns:p14="http://schemas.microsoft.com/office/powerpoint/2010/main">
        <mc:Choice Requires="p14">
          <p:contentPart p14:bwMode="auto" r:id="rId4">
            <p14:nvContentPartPr>
              <p14:cNvPr id="20" name="Ink 19">
                <a:extLst>
                  <a:ext uri="{FF2B5EF4-FFF2-40B4-BE49-F238E27FC236}">
                    <a16:creationId xmlns:a16="http://schemas.microsoft.com/office/drawing/2014/main" id="{6612DA03-453A-E70E-0C5B-E67E16019662}"/>
                  </a:ext>
                </a:extLst>
              </p14:cNvPr>
              <p14:cNvContentPartPr>
                <a14:cpLocks xmlns:a14="http://schemas.microsoft.com/office/drawing/2010/main" noRot="1" noChangeAspect="1" noEditPoints="1" noChangeArrowheads="1" noChangeShapeType="1"/>
              </p14:cNvContentPartPr>
              <p14:nvPr/>
            </p14:nvContentPartPr>
            <p14:xfrm>
              <a:off x="1408113" y="3414713"/>
              <a:ext cx="38100" cy="38100"/>
            </p14:xfrm>
          </p:contentPart>
        </mc:Choice>
        <mc:Fallback xmlns="">
          <p:pic>
            <p:nvPicPr>
              <p:cNvPr id="20" name="Ink 19">
                <a:extLst>
                  <a:ext uri="{FF2B5EF4-FFF2-40B4-BE49-F238E27FC236}">
                    <a16:creationId xmlns:a16="http://schemas.microsoft.com/office/drawing/2014/main" id="{6612DA03-453A-E70E-0C5B-E67E16019662}"/>
                  </a:ext>
                </a:extLst>
              </p:cNvPr>
              <p:cNvPicPr/>
              <p:nvPr/>
            </p:nvPicPr>
            <p:blipFill/>
            <p:spPr/>
          </p:pic>
        </mc:Fallback>
      </mc:AlternateContent>
      <p:sp>
        <p:nvSpPr>
          <p:cNvPr id="55" name="TextBox 54">
            <a:extLst>
              <a:ext uri="{FF2B5EF4-FFF2-40B4-BE49-F238E27FC236}">
                <a16:creationId xmlns:a16="http://schemas.microsoft.com/office/drawing/2014/main" id="{4DCAA8C0-491D-C219-F9C3-2FCBF73D959C}"/>
              </a:ext>
            </a:extLst>
          </p:cNvPr>
          <p:cNvSpPr txBox="1"/>
          <p:nvPr/>
        </p:nvSpPr>
        <p:spPr>
          <a:xfrm>
            <a:off x="1577478" y="1398309"/>
            <a:ext cx="4396869" cy="1200329"/>
          </a:xfrm>
          <a:prstGeom prst="rect">
            <a:avLst/>
          </a:prstGeom>
          <a:noFill/>
        </p:spPr>
        <p:txBody>
          <a:bodyPr wrap="square" rtlCol="0">
            <a:spAutoFit/>
          </a:bodyPr>
          <a:lstStyle/>
          <a:p>
            <a:r>
              <a:rPr lang="es-ES" b="1" spc="-50" dirty="0">
                <a:solidFill>
                  <a:srgbClr val="AADDEE"/>
                </a:solidFill>
              </a:rPr>
              <a:t>Financiamiento</a:t>
            </a:r>
            <a:r>
              <a:rPr lang="es-ES" spc="-50" dirty="0">
                <a:solidFill>
                  <a:schemeClr val="bg1"/>
                </a:solidFill>
              </a:rPr>
              <a:t>: Para el financiamiento de capital de trabajo, se utilizará un crédito para empresas, ofrecido por el Banco de Chile con una tasa del 15,6% fija,</a:t>
            </a:r>
            <a:endParaRPr lang="en-US" spc="-50" dirty="0">
              <a:solidFill>
                <a:schemeClr val="bg1"/>
              </a:solidFill>
            </a:endParaRPr>
          </a:p>
        </p:txBody>
      </p:sp>
      <p:sp>
        <p:nvSpPr>
          <p:cNvPr id="56" name="TextBox 55">
            <a:extLst>
              <a:ext uri="{FF2B5EF4-FFF2-40B4-BE49-F238E27FC236}">
                <a16:creationId xmlns:a16="http://schemas.microsoft.com/office/drawing/2014/main" id="{1936C7A0-A2A9-3EE4-1486-3830D08AAF8C}"/>
              </a:ext>
            </a:extLst>
          </p:cNvPr>
          <p:cNvSpPr txBox="1"/>
          <p:nvPr/>
        </p:nvSpPr>
        <p:spPr>
          <a:xfrm>
            <a:off x="7230446" y="1398309"/>
            <a:ext cx="4345980" cy="1477328"/>
          </a:xfrm>
          <a:prstGeom prst="rect">
            <a:avLst/>
          </a:prstGeom>
          <a:noFill/>
        </p:spPr>
        <p:txBody>
          <a:bodyPr wrap="square" lIns="91440" tIns="45720" rIns="91440" bIns="45720" rtlCol="0" anchor="t">
            <a:spAutoFit/>
          </a:bodyPr>
          <a:lstStyle/>
          <a:p>
            <a:r>
              <a:rPr lang="en-US" b="1" spc="-50" dirty="0">
                <a:solidFill>
                  <a:srgbClr val="AADDEE"/>
                </a:solidFill>
                <a:latin typeface="Arial"/>
                <a:cs typeface="Arial"/>
              </a:rPr>
              <a:t>ROE: </a:t>
            </a:r>
            <a:r>
              <a:rPr lang="en-US" b="1" spc="-50" dirty="0">
                <a:solidFill>
                  <a:schemeClr val="bg1"/>
                </a:solidFill>
                <a:latin typeface="Arial"/>
                <a:cs typeface="Arial"/>
              </a:rPr>
              <a:t>P</a:t>
            </a:r>
            <a:r>
              <a:rPr lang="es-ES" spc="-50" dirty="0">
                <a:solidFill>
                  <a:schemeClr val="bg1"/>
                </a:solidFill>
                <a:latin typeface="Arial"/>
                <a:cs typeface="Arial"/>
              </a:rPr>
              <a:t>ara calcular el costo de oportunidad usaremos el indicador ROE, el cual en el último periodo corresponde a 15% de la casa matriz y con un promedio de un 13% los últimos 3 años </a:t>
            </a:r>
            <a:endParaRPr lang="en-US" spc="-50" dirty="0">
              <a:solidFill>
                <a:schemeClr val="bg1"/>
              </a:solidFill>
            </a:endParaRPr>
          </a:p>
        </p:txBody>
      </p:sp>
      <p:sp>
        <p:nvSpPr>
          <p:cNvPr id="58" name="Oval 57">
            <a:extLst>
              <a:ext uri="{FF2B5EF4-FFF2-40B4-BE49-F238E27FC236}">
                <a16:creationId xmlns:a16="http://schemas.microsoft.com/office/drawing/2014/main" id="{4352CA5E-D54C-ECD3-7C14-F2AC499D1F47}"/>
              </a:ext>
            </a:extLst>
          </p:cNvPr>
          <p:cNvSpPr/>
          <p:nvPr/>
        </p:nvSpPr>
        <p:spPr>
          <a:xfrm>
            <a:off x="519262" y="1426105"/>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104B010C-EFA8-29FD-F9DC-13451AA1290F}"/>
              </a:ext>
            </a:extLst>
          </p:cNvPr>
          <p:cNvSpPr/>
          <p:nvPr/>
        </p:nvSpPr>
        <p:spPr>
          <a:xfrm>
            <a:off x="6236579" y="1488141"/>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9" name="Picture 88">
            <a:extLst>
              <a:ext uri="{FF2B5EF4-FFF2-40B4-BE49-F238E27FC236}">
                <a16:creationId xmlns:a16="http://schemas.microsoft.com/office/drawing/2014/main" id="{C2DD4669-6D7C-7C4D-65A9-EF17DE256F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0882" y="1606661"/>
            <a:ext cx="563141" cy="482693"/>
          </a:xfrm>
          <a:prstGeom prst="rect">
            <a:avLst/>
          </a:prstGeom>
        </p:spPr>
      </p:pic>
      <p:sp>
        <p:nvSpPr>
          <p:cNvPr id="90" name="Freeform 137">
            <a:extLst>
              <a:ext uri="{FF2B5EF4-FFF2-40B4-BE49-F238E27FC236}">
                <a16:creationId xmlns:a16="http://schemas.microsoft.com/office/drawing/2014/main" id="{984D9F80-B176-B61A-3F88-98871FF46DD8}"/>
              </a:ext>
            </a:extLst>
          </p:cNvPr>
          <p:cNvSpPr>
            <a:spLocks noEditPoints="1"/>
          </p:cNvSpPr>
          <p:nvPr/>
        </p:nvSpPr>
        <p:spPr bwMode="auto">
          <a:xfrm>
            <a:off x="6372267" y="1720354"/>
            <a:ext cx="692541" cy="398320"/>
          </a:xfrm>
          <a:custGeom>
            <a:avLst/>
            <a:gdLst>
              <a:gd name="T0" fmla="*/ 334 w 342"/>
              <a:gd name="T1" fmla="*/ 166 h 207"/>
              <a:gd name="T2" fmla="*/ 300 w 342"/>
              <a:gd name="T3" fmla="*/ 75 h 207"/>
              <a:gd name="T4" fmla="*/ 306 w 342"/>
              <a:gd name="T5" fmla="*/ 51 h 207"/>
              <a:gd name="T6" fmla="*/ 292 w 342"/>
              <a:gd name="T7" fmla="*/ 64 h 207"/>
              <a:gd name="T8" fmla="*/ 275 w 342"/>
              <a:gd name="T9" fmla="*/ 66 h 207"/>
              <a:gd name="T10" fmla="*/ 265 w 342"/>
              <a:gd name="T11" fmla="*/ 57 h 207"/>
              <a:gd name="T12" fmla="*/ 257 w 342"/>
              <a:gd name="T13" fmla="*/ 48 h 207"/>
              <a:gd name="T14" fmla="*/ 200 w 342"/>
              <a:gd name="T15" fmla="*/ 19 h 207"/>
              <a:gd name="T16" fmla="*/ 142 w 342"/>
              <a:gd name="T17" fmla="*/ 19 h 207"/>
              <a:gd name="T18" fmla="*/ 85 w 342"/>
              <a:gd name="T19" fmla="*/ 48 h 207"/>
              <a:gd name="T20" fmla="*/ 77 w 342"/>
              <a:gd name="T21" fmla="*/ 56 h 207"/>
              <a:gd name="T22" fmla="*/ 65 w 342"/>
              <a:gd name="T23" fmla="*/ 66 h 207"/>
              <a:gd name="T24" fmla="*/ 50 w 342"/>
              <a:gd name="T25" fmla="*/ 64 h 207"/>
              <a:gd name="T26" fmla="*/ 36 w 342"/>
              <a:gd name="T27" fmla="*/ 51 h 207"/>
              <a:gd name="T28" fmla="*/ 41 w 342"/>
              <a:gd name="T29" fmla="*/ 75 h 207"/>
              <a:gd name="T30" fmla="*/ 8 w 342"/>
              <a:gd name="T31" fmla="*/ 166 h 207"/>
              <a:gd name="T32" fmla="*/ 2 w 342"/>
              <a:gd name="T33" fmla="*/ 172 h 207"/>
              <a:gd name="T34" fmla="*/ 116 w 342"/>
              <a:gd name="T35" fmla="*/ 172 h 207"/>
              <a:gd name="T36" fmla="*/ 110 w 342"/>
              <a:gd name="T37" fmla="*/ 166 h 207"/>
              <a:gd name="T38" fmla="*/ 73 w 342"/>
              <a:gd name="T39" fmla="*/ 79 h 207"/>
              <a:gd name="T40" fmla="*/ 88 w 342"/>
              <a:gd name="T41" fmla="*/ 66 h 207"/>
              <a:gd name="T42" fmla="*/ 94 w 342"/>
              <a:gd name="T43" fmla="*/ 59 h 207"/>
              <a:gd name="T44" fmla="*/ 126 w 342"/>
              <a:gd name="T45" fmla="*/ 49 h 207"/>
              <a:gd name="T46" fmla="*/ 171 w 342"/>
              <a:gd name="T47" fmla="*/ 62 h 207"/>
              <a:gd name="T48" fmla="*/ 224 w 342"/>
              <a:gd name="T49" fmla="*/ 50 h 207"/>
              <a:gd name="T50" fmla="*/ 248 w 342"/>
              <a:gd name="T51" fmla="*/ 59 h 207"/>
              <a:gd name="T52" fmla="*/ 253 w 342"/>
              <a:gd name="T53" fmla="*/ 65 h 207"/>
              <a:gd name="T54" fmla="*/ 272 w 342"/>
              <a:gd name="T55" fmla="*/ 80 h 207"/>
              <a:gd name="T56" fmla="*/ 232 w 342"/>
              <a:gd name="T57" fmla="*/ 166 h 207"/>
              <a:gd name="T58" fmla="*/ 225 w 342"/>
              <a:gd name="T59" fmla="*/ 172 h 207"/>
              <a:gd name="T60" fmla="*/ 340 w 342"/>
              <a:gd name="T61" fmla="*/ 172 h 207"/>
              <a:gd name="T62" fmla="*/ 101 w 342"/>
              <a:gd name="T63" fmla="*/ 166 h 207"/>
              <a:gd name="T64" fmla="*/ 59 w 342"/>
              <a:gd name="T65" fmla="*/ 87 h 207"/>
              <a:gd name="T66" fmla="*/ 171 w 342"/>
              <a:gd name="T67" fmla="*/ 43 h 207"/>
              <a:gd name="T68" fmla="*/ 171 w 342"/>
              <a:gd name="T69" fmla="*/ 18 h 207"/>
              <a:gd name="T70" fmla="*/ 171 w 342"/>
              <a:gd name="T71" fmla="*/ 43 h 207"/>
              <a:gd name="T72" fmla="*/ 283 w 342"/>
              <a:gd name="T73" fmla="*/ 87 h 207"/>
              <a:gd name="T74" fmla="*/ 241 w 342"/>
              <a:gd name="T75" fmla="*/ 166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42" h="207">
                <a:moveTo>
                  <a:pt x="338" y="166"/>
                </a:moveTo>
                <a:cubicBezTo>
                  <a:pt x="337" y="166"/>
                  <a:pt x="336" y="166"/>
                  <a:pt x="334" y="166"/>
                </a:cubicBezTo>
                <a:cubicBezTo>
                  <a:pt x="288" y="81"/>
                  <a:pt x="288" y="81"/>
                  <a:pt x="288" y="81"/>
                </a:cubicBezTo>
                <a:cubicBezTo>
                  <a:pt x="293" y="80"/>
                  <a:pt x="297" y="78"/>
                  <a:pt x="300" y="75"/>
                </a:cubicBezTo>
                <a:cubicBezTo>
                  <a:pt x="305" y="72"/>
                  <a:pt x="309" y="66"/>
                  <a:pt x="311" y="60"/>
                </a:cubicBezTo>
                <a:cubicBezTo>
                  <a:pt x="312" y="56"/>
                  <a:pt x="309" y="52"/>
                  <a:pt x="306" y="51"/>
                </a:cubicBezTo>
                <a:cubicBezTo>
                  <a:pt x="302" y="50"/>
                  <a:pt x="298" y="53"/>
                  <a:pt x="297" y="56"/>
                </a:cubicBezTo>
                <a:cubicBezTo>
                  <a:pt x="296" y="59"/>
                  <a:pt x="294" y="62"/>
                  <a:pt x="292" y="64"/>
                </a:cubicBezTo>
                <a:cubicBezTo>
                  <a:pt x="289" y="66"/>
                  <a:pt x="286" y="67"/>
                  <a:pt x="283" y="67"/>
                </a:cubicBezTo>
                <a:cubicBezTo>
                  <a:pt x="279" y="67"/>
                  <a:pt x="277" y="66"/>
                  <a:pt x="275" y="66"/>
                </a:cubicBezTo>
                <a:cubicBezTo>
                  <a:pt x="274" y="65"/>
                  <a:pt x="272" y="64"/>
                  <a:pt x="271" y="63"/>
                </a:cubicBezTo>
                <a:cubicBezTo>
                  <a:pt x="269" y="62"/>
                  <a:pt x="267" y="59"/>
                  <a:pt x="265" y="57"/>
                </a:cubicBezTo>
                <a:cubicBezTo>
                  <a:pt x="263" y="54"/>
                  <a:pt x="260" y="51"/>
                  <a:pt x="257" y="48"/>
                </a:cubicBezTo>
                <a:cubicBezTo>
                  <a:pt x="257" y="48"/>
                  <a:pt x="257" y="48"/>
                  <a:pt x="257" y="48"/>
                </a:cubicBezTo>
                <a:cubicBezTo>
                  <a:pt x="257" y="48"/>
                  <a:pt x="257" y="48"/>
                  <a:pt x="257" y="48"/>
                </a:cubicBezTo>
                <a:cubicBezTo>
                  <a:pt x="249" y="41"/>
                  <a:pt x="231" y="26"/>
                  <a:pt x="200" y="19"/>
                </a:cubicBezTo>
                <a:cubicBezTo>
                  <a:pt x="195" y="8"/>
                  <a:pt x="184" y="0"/>
                  <a:pt x="171" y="0"/>
                </a:cubicBezTo>
                <a:cubicBezTo>
                  <a:pt x="158" y="0"/>
                  <a:pt x="147" y="8"/>
                  <a:pt x="142" y="19"/>
                </a:cubicBezTo>
                <a:cubicBezTo>
                  <a:pt x="111" y="26"/>
                  <a:pt x="93" y="41"/>
                  <a:pt x="85" y="48"/>
                </a:cubicBezTo>
                <a:cubicBezTo>
                  <a:pt x="85" y="48"/>
                  <a:pt x="85" y="48"/>
                  <a:pt x="85" y="48"/>
                </a:cubicBezTo>
                <a:cubicBezTo>
                  <a:pt x="85" y="48"/>
                  <a:pt x="85" y="48"/>
                  <a:pt x="85" y="48"/>
                </a:cubicBezTo>
                <a:cubicBezTo>
                  <a:pt x="82" y="51"/>
                  <a:pt x="79" y="53"/>
                  <a:pt x="77" y="56"/>
                </a:cubicBezTo>
                <a:cubicBezTo>
                  <a:pt x="74" y="59"/>
                  <a:pt x="72" y="62"/>
                  <a:pt x="70" y="64"/>
                </a:cubicBezTo>
                <a:cubicBezTo>
                  <a:pt x="68" y="65"/>
                  <a:pt x="67" y="66"/>
                  <a:pt x="65" y="66"/>
                </a:cubicBezTo>
                <a:cubicBezTo>
                  <a:pt x="64" y="67"/>
                  <a:pt x="62" y="67"/>
                  <a:pt x="59" y="67"/>
                </a:cubicBezTo>
                <a:cubicBezTo>
                  <a:pt x="56" y="67"/>
                  <a:pt x="53" y="66"/>
                  <a:pt x="50" y="64"/>
                </a:cubicBezTo>
                <a:cubicBezTo>
                  <a:pt x="48" y="62"/>
                  <a:pt x="46" y="59"/>
                  <a:pt x="45" y="56"/>
                </a:cubicBezTo>
                <a:cubicBezTo>
                  <a:pt x="44" y="53"/>
                  <a:pt x="40" y="50"/>
                  <a:pt x="36" y="51"/>
                </a:cubicBezTo>
                <a:cubicBezTo>
                  <a:pt x="32" y="52"/>
                  <a:pt x="30" y="56"/>
                  <a:pt x="31" y="60"/>
                </a:cubicBezTo>
                <a:cubicBezTo>
                  <a:pt x="33" y="66"/>
                  <a:pt x="37" y="72"/>
                  <a:pt x="41" y="75"/>
                </a:cubicBezTo>
                <a:cubicBezTo>
                  <a:pt x="45" y="78"/>
                  <a:pt x="49" y="80"/>
                  <a:pt x="54" y="81"/>
                </a:cubicBezTo>
                <a:cubicBezTo>
                  <a:pt x="8" y="166"/>
                  <a:pt x="8" y="166"/>
                  <a:pt x="8" y="166"/>
                </a:cubicBezTo>
                <a:cubicBezTo>
                  <a:pt x="6" y="166"/>
                  <a:pt x="5" y="166"/>
                  <a:pt x="4" y="166"/>
                </a:cubicBezTo>
                <a:cubicBezTo>
                  <a:pt x="0" y="166"/>
                  <a:pt x="1" y="170"/>
                  <a:pt x="2" y="172"/>
                </a:cubicBezTo>
                <a:cubicBezTo>
                  <a:pt x="11" y="192"/>
                  <a:pt x="33" y="207"/>
                  <a:pt x="59" y="207"/>
                </a:cubicBezTo>
                <a:cubicBezTo>
                  <a:pt x="85" y="207"/>
                  <a:pt x="107" y="192"/>
                  <a:pt x="116" y="172"/>
                </a:cubicBezTo>
                <a:cubicBezTo>
                  <a:pt x="117" y="170"/>
                  <a:pt x="118" y="166"/>
                  <a:pt x="114" y="166"/>
                </a:cubicBezTo>
                <a:cubicBezTo>
                  <a:pt x="113" y="166"/>
                  <a:pt x="112" y="166"/>
                  <a:pt x="110" y="166"/>
                </a:cubicBezTo>
                <a:cubicBezTo>
                  <a:pt x="65" y="81"/>
                  <a:pt x="65" y="81"/>
                  <a:pt x="65" y="81"/>
                </a:cubicBezTo>
                <a:cubicBezTo>
                  <a:pt x="68" y="81"/>
                  <a:pt x="70" y="80"/>
                  <a:pt x="73" y="79"/>
                </a:cubicBezTo>
                <a:cubicBezTo>
                  <a:pt x="76" y="78"/>
                  <a:pt x="78" y="76"/>
                  <a:pt x="80" y="74"/>
                </a:cubicBezTo>
                <a:cubicBezTo>
                  <a:pt x="83" y="72"/>
                  <a:pt x="86" y="69"/>
                  <a:pt x="88" y="66"/>
                </a:cubicBezTo>
                <a:cubicBezTo>
                  <a:pt x="90" y="63"/>
                  <a:pt x="92" y="61"/>
                  <a:pt x="94" y="59"/>
                </a:cubicBezTo>
                <a:cubicBezTo>
                  <a:pt x="94" y="59"/>
                  <a:pt x="94" y="59"/>
                  <a:pt x="94" y="59"/>
                </a:cubicBezTo>
                <a:cubicBezTo>
                  <a:pt x="96" y="58"/>
                  <a:pt x="99" y="56"/>
                  <a:pt x="103" y="54"/>
                </a:cubicBezTo>
                <a:cubicBezTo>
                  <a:pt x="109" y="52"/>
                  <a:pt x="117" y="50"/>
                  <a:pt x="126" y="49"/>
                </a:cubicBezTo>
                <a:cubicBezTo>
                  <a:pt x="132" y="48"/>
                  <a:pt x="138" y="47"/>
                  <a:pt x="144" y="47"/>
                </a:cubicBezTo>
                <a:cubicBezTo>
                  <a:pt x="150" y="56"/>
                  <a:pt x="160" y="62"/>
                  <a:pt x="171" y="62"/>
                </a:cubicBezTo>
                <a:cubicBezTo>
                  <a:pt x="182" y="62"/>
                  <a:pt x="192" y="56"/>
                  <a:pt x="198" y="47"/>
                </a:cubicBezTo>
                <a:cubicBezTo>
                  <a:pt x="207" y="47"/>
                  <a:pt x="216" y="48"/>
                  <a:pt x="224" y="50"/>
                </a:cubicBezTo>
                <a:cubicBezTo>
                  <a:pt x="230" y="51"/>
                  <a:pt x="235" y="53"/>
                  <a:pt x="239" y="54"/>
                </a:cubicBezTo>
                <a:cubicBezTo>
                  <a:pt x="243" y="56"/>
                  <a:pt x="246" y="58"/>
                  <a:pt x="248" y="59"/>
                </a:cubicBezTo>
                <a:cubicBezTo>
                  <a:pt x="248" y="59"/>
                  <a:pt x="248" y="59"/>
                  <a:pt x="248" y="59"/>
                </a:cubicBezTo>
                <a:cubicBezTo>
                  <a:pt x="250" y="61"/>
                  <a:pt x="251" y="63"/>
                  <a:pt x="253" y="65"/>
                </a:cubicBezTo>
                <a:cubicBezTo>
                  <a:pt x="256" y="69"/>
                  <a:pt x="259" y="73"/>
                  <a:pt x="264" y="76"/>
                </a:cubicBezTo>
                <a:cubicBezTo>
                  <a:pt x="266" y="78"/>
                  <a:pt x="269" y="79"/>
                  <a:pt x="272" y="80"/>
                </a:cubicBezTo>
                <a:cubicBezTo>
                  <a:pt x="274" y="80"/>
                  <a:pt x="275" y="81"/>
                  <a:pt x="277" y="81"/>
                </a:cubicBezTo>
                <a:cubicBezTo>
                  <a:pt x="232" y="166"/>
                  <a:pt x="232" y="166"/>
                  <a:pt x="232" y="166"/>
                </a:cubicBezTo>
                <a:cubicBezTo>
                  <a:pt x="230" y="166"/>
                  <a:pt x="229" y="166"/>
                  <a:pt x="228" y="166"/>
                </a:cubicBezTo>
                <a:cubicBezTo>
                  <a:pt x="224" y="166"/>
                  <a:pt x="224" y="170"/>
                  <a:pt x="225" y="172"/>
                </a:cubicBezTo>
                <a:cubicBezTo>
                  <a:pt x="234" y="192"/>
                  <a:pt x="257" y="207"/>
                  <a:pt x="283" y="207"/>
                </a:cubicBezTo>
                <a:cubicBezTo>
                  <a:pt x="309" y="207"/>
                  <a:pt x="331" y="192"/>
                  <a:pt x="340" y="172"/>
                </a:cubicBezTo>
                <a:cubicBezTo>
                  <a:pt x="341" y="170"/>
                  <a:pt x="342" y="166"/>
                  <a:pt x="338" y="166"/>
                </a:cubicBezTo>
                <a:close/>
                <a:moveTo>
                  <a:pt x="101" y="166"/>
                </a:moveTo>
                <a:cubicBezTo>
                  <a:pt x="80" y="166"/>
                  <a:pt x="38" y="166"/>
                  <a:pt x="17" y="166"/>
                </a:cubicBezTo>
                <a:cubicBezTo>
                  <a:pt x="59" y="87"/>
                  <a:pt x="59" y="87"/>
                  <a:pt x="59" y="87"/>
                </a:cubicBezTo>
                <a:lnTo>
                  <a:pt x="101" y="166"/>
                </a:lnTo>
                <a:close/>
                <a:moveTo>
                  <a:pt x="171" y="43"/>
                </a:moveTo>
                <a:cubicBezTo>
                  <a:pt x="164" y="43"/>
                  <a:pt x="158" y="38"/>
                  <a:pt x="158" y="31"/>
                </a:cubicBezTo>
                <a:cubicBezTo>
                  <a:pt x="158" y="24"/>
                  <a:pt x="164" y="18"/>
                  <a:pt x="171" y="18"/>
                </a:cubicBezTo>
                <a:cubicBezTo>
                  <a:pt x="178" y="18"/>
                  <a:pt x="183" y="24"/>
                  <a:pt x="183" y="31"/>
                </a:cubicBezTo>
                <a:cubicBezTo>
                  <a:pt x="183" y="38"/>
                  <a:pt x="178" y="43"/>
                  <a:pt x="171" y="43"/>
                </a:cubicBezTo>
                <a:close/>
                <a:moveTo>
                  <a:pt x="241" y="166"/>
                </a:moveTo>
                <a:cubicBezTo>
                  <a:pt x="283" y="87"/>
                  <a:pt x="283" y="87"/>
                  <a:pt x="283" y="87"/>
                </a:cubicBezTo>
                <a:cubicBezTo>
                  <a:pt x="325" y="166"/>
                  <a:pt x="325" y="166"/>
                  <a:pt x="325" y="166"/>
                </a:cubicBezTo>
                <a:cubicBezTo>
                  <a:pt x="303" y="166"/>
                  <a:pt x="262" y="166"/>
                  <a:pt x="241" y="166"/>
                </a:cubicBezTo>
                <a:close/>
              </a:path>
            </a:pathLst>
          </a:custGeom>
          <a:solidFill>
            <a:schemeClr val="bg1"/>
          </a:solid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1" name="Freeform 138">
            <a:extLst>
              <a:ext uri="{FF2B5EF4-FFF2-40B4-BE49-F238E27FC236}">
                <a16:creationId xmlns:a16="http://schemas.microsoft.com/office/drawing/2014/main" id="{31853000-56BE-E86C-4FB9-F80134FE73CA}"/>
              </a:ext>
            </a:extLst>
          </p:cNvPr>
          <p:cNvSpPr>
            <a:spLocks/>
          </p:cNvSpPr>
          <p:nvPr/>
        </p:nvSpPr>
        <p:spPr bwMode="auto">
          <a:xfrm>
            <a:off x="6670717" y="1606661"/>
            <a:ext cx="73391" cy="59622"/>
          </a:xfrm>
          <a:custGeom>
            <a:avLst/>
            <a:gdLst>
              <a:gd name="T0" fmla="*/ 8 w 36"/>
              <a:gd name="T1" fmla="*/ 31 h 31"/>
              <a:gd name="T2" fmla="*/ 18 w 36"/>
              <a:gd name="T3" fmla="*/ 30 h 31"/>
              <a:gd name="T4" fmla="*/ 28 w 36"/>
              <a:gd name="T5" fmla="*/ 31 h 31"/>
              <a:gd name="T6" fmla="*/ 33 w 36"/>
              <a:gd name="T7" fmla="*/ 17 h 31"/>
              <a:gd name="T8" fmla="*/ 32 w 36"/>
              <a:gd name="T9" fmla="*/ 4 h 31"/>
              <a:gd name="T10" fmla="*/ 19 w 36"/>
              <a:gd name="T11" fmla="*/ 0 h 31"/>
              <a:gd name="T12" fmla="*/ 18 w 36"/>
              <a:gd name="T13" fmla="*/ 0 h 31"/>
              <a:gd name="T14" fmla="*/ 18 w 36"/>
              <a:gd name="T15" fmla="*/ 0 h 31"/>
              <a:gd name="T16" fmla="*/ 17 w 36"/>
              <a:gd name="T17" fmla="*/ 0 h 31"/>
              <a:gd name="T18" fmla="*/ 4 w 36"/>
              <a:gd name="T19" fmla="*/ 4 h 31"/>
              <a:gd name="T20" fmla="*/ 3 w 36"/>
              <a:gd name="T21" fmla="*/ 17 h 31"/>
              <a:gd name="T22" fmla="*/ 8 w 36"/>
              <a:gd name="T23"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 h="31">
                <a:moveTo>
                  <a:pt x="8" y="31"/>
                </a:moveTo>
                <a:cubicBezTo>
                  <a:pt x="11" y="30"/>
                  <a:pt x="15" y="30"/>
                  <a:pt x="18" y="30"/>
                </a:cubicBezTo>
                <a:cubicBezTo>
                  <a:pt x="21" y="30"/>
                  <a:pt x="25" y="30"/>
                  <a:pt x="28" y="31"/>
                </a:cubicBezTo>
                <a:cubicBezTo>
                  <a:pt x="29" y="25"/>
                  <a:pt x="31" y="22"/>
                  <a:pt x="33" y="17"/>
                </a:cubicBezTo>
                <a:cubicBezTo>
                  <a:pt x="36" y="10"/>
                  <a:pt x="34" y="5"/>
                  <a:pt x="32" y="4"/>
                </a:cubicBezTo>
                <a:cubicBezTo>
                  <a:pt x="30" y="1"/>
                  <a:pt x="25" y="0"/>
                  <a:pt x="19" y="0"/>
                </a:cubicBezTo>
                <a:cubicBezTo>
                  <a:pt x="18" y="0"/>
                  <a:pt x="18" y="0"/>
                  <a:pt x="18" y="0"/>
                </a:cubicBezTo>
                <a:cubicBezTo>
                  <a:pt x="18" y="0"/>
                  <a:pt x="18" y="0"/>
                  <a:pt x="18" y="0"/>
                </a:cubicBezTo>
                <a:cubicBezTo>
                  <a:pt x="17" y="0"/>
                  <a:pt x="17" y="0"/>
                  <a:pt x="17" y="0"/>
                </a:cubicBezTo>
                <a:cubicBezTo>
                  <a:pt x="11" y="0"/>
                  <a:pt x="6" y="1"/>
                  <a:pt x="4" y="4"/>
                </a:cubicBezTo>
                <a:cubicBezTo>
                  <a:pt x="2" y="5"/>
                  <a:pt x="0" y="10"/>
                  <a:pt x="3" y="17"/>
                </a:cubicBezTo>
                <a:cubicBezTo>
                  <a:pt x="5" y="22"/>
                  <a:pt x="7" y="25"/>
                  <a:pt x="8" y="31"/>
                </a:cubicBezTo>
                <a:close/>
              </a:path>
            </a:pathLst>
          </a:custGeom>
          <a:solidFill>
            <a:schemeClr val="bg1"/>
          </a:solid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638066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950" y="428726"/>
            <a:ext cx="11198782"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Riesgos y Planes de Mitigación</a:t>
            </a:r>
            <a:endParaRPr lang="en-US" sz="3500" spc="-30" dirty="0">
              <a:solidFill>
                <a:prstClr val="white"/>
              </a:solidFill>
              <a:latin typeface="Arial"/>
            </a:endParaRPr>
          </a:p>
        </p:txBody>
      </p:sp>
      <p:sp>
        <p:nvSpPr>
          <p:cNvPr id="31" name="Oval 30">
            <a:extLst>
              <a:ext uri="{FF2B5EF4-FFF2-40B4-BE49-F238E27FC236}">
                <a16:creationId xmlns:a16="http://schemas.microsoft.com/office/drawing/2014/main" id="{F4401B2D-450E-BD8E-7C45-3AA932693804}"/>
              </a:ext>
            </a:extLst>
          </p:cNvPr>
          <p:cNvSpPr/>
          <p:nvPr/>
        </p:nvSpPr>
        <p:spPr>
          <a:xfrm>
            <a:off x="584448" y="1499637"/>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481372D-9B1A-69B0-9350-21FCE3D3BDDF}"/>
              </a:ext>
            </a:extLst>
          </p:cNvPr>
          <p:cNvSpPr/>
          <p:nvPr/>
        </p:nvSpPr>
        <p:spPr>
          <a:xfrm>
            <a:off x="6314443" y="1499637"/>
            <a:ext cx="926951" cy="926951"/>
          </a:xfrm>
          <a:prstGeom prst="ellipse">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E567C22-88C2-DF8D-FF80-47D87419BBEF}"/>
              </a:ext>
            </a:extLst>
          </p:cNvPr>
          <p:cNvSpPr txBox="1"/>
          <p:nvPr/>
        </p:nvSpPr>
        <p:spPr>
          <a:xfrm>
            <a:off x="1554557" y="1608636"/>
            <a:ext cx="4539062" cy="1477328"/>
          </a:xfrm>
          <a:prstGeom prst="rect">
            <a:avLst/>
          </a:prstGeom>
          <a:noFill/>
        </p:spPr>
        <p:txBody>
          <a:bodyPr wrap="square" lIns="91440" tIns="45720" rIns="91440" bIns="45720" rtlCol="0" anchor="t">
            <a:spAutoFit/>
          </a:bodyPr>
          <a:lstStyle/>
          <a:p>
            <a:r>
              <a:rPr lang="en-US" b="1" spc="-50" dirty="0" err="1">
                <a:solidFill>
                  <a:srgbClr val="AADDEE"/>
                </a:solidFill>
                <a:latin typeface="Arial"/>
                <a:cs typeface="Arial"/>
              </a:rPr>
              <a:t>Riesgo</a:t>
            </a:r>
            <a:r>
              <a:rPr lang="en-US" b="1" spc="-50" dirty="0">
                <a:solidFill>
                  <a:srgbClr val="AADDEE"/>
                </a:solidFill>
                <a:latin typeface="Arial"/>
                <a:cs typeface="Arial"/>
              </a:rPr>
              <a:t> </a:t>
            </a:r>
            <a:r>
              <a:rPr lang="en-US" b="1" spc="-50" dirty="0" err="1">
                <a:solidFill>
                  <a:srgbClr val="AADDEE"/>
                </a:solidFill>
                <a:latin typeface="Arial"/>
                <a:cs typeface="Arial"/>
              </a:rPr>
              <a:t>Financiero</a:t>
            </a:r>
            <a:r>
              <a:rPr lang="en-US" b="1" spc="-50" dirty="0">
                <a:solidFill>
                  <a:srgbClr val="AADDEE"/>
                </a:solidFill>
                <a:latin typeface="Arial"/>
                <a:cs typeface="Arial"/>
              </a:rPr>
              <a:t> (TC)</a:t>
            </a:r>
            <a:r>
              <a:rPr lang="es-ES" spc="-50" dirty="0">
                <a:solidFill>
                  <a:schemeClr val="bg1"/>
                </a:solidFill>
                <a:latin typeface="Arial"/>
                <a:cs typeface="Arial"/>
              </a:rPr>
              <a:t>: </a:t>
            </a:r>
            <a:r>
              <a:rPr lang="es" spc="-50" dirty="0">
                <a:solidFill>
                  <a:schemeClr val="bg1"/>
                </a:solidFill>
                <a:latin typeface="Arial"/>
                <a:cs typeface="Arial"/>
              </a:rPr>
              <a:t>El riesgo identificado para el proyecto es el tipo de cambio, indicar que el peso colombiano respecto al dólar es la octava moneda más devaluada entre 142 monedas frente al dólar.</a:t>
            </a:r>
            <a:endParaRPr lang="en-US" spc="-50" dirty="0">
              <a:solidFill>
                <a:schemeClr val="bg1"/>
              </a:solidFill>
            </a:endParaRPr>
          </a:p>
        </p:txBody>
      </p:sp>
      <p:sp>
        <p:nvSpPr>
          <p:cNvPr id="36" name="TextBox 35">
            <a:extLst>
              <a:ext uri="{FF2B5EF4-FFF2-40B4-BE49-F238E27FC236}">
                <a16:creationId xmlns:a16="http://schemas.microsoft.com/office/drawing/2014/main" id="{B758419D-CCFB-E2C3-25CA-DAB036017C58}"/>
              </a:ext>
            </a:extLst>
          </p:cNvPr>
          <p:cNvSpPr txBox="1"/>
          <p:nvPr/>
        </p:nvSpPr>
        <p:spPr>
          <a:xfrm>
            <a:off x="7362526" y="1590872"/>
            <a:ext cx="4345980" cy="1477328"/>
          </a:xfrm>
          <a:prstGeom prst="rect">
            <a:avLst/>
          </a:prstGeom>
          <a:noFill/>
        </p:spPr>
        <p:txBody>
          <a:bodyPr wrap="square" lIns="91440" tIns="45720" rIns="91440" bIns="45720" rtlCol="0" anchor="t">
            <a:spAutoFit/>
          </a:bodyPr>
          <a:lstStyle/>
          <a:p>
            <a:r>
              <a:rPr lang="en-US" b="1" spc="-50" dirty="0" err="1">
                <a:solidFill>
                  <a:srgbClr val="AADDEE"/>
                </a:solidFill>
                <a:latin typeface="Arial"/>
                <a:cs typeface="Arial"/>
              </a:rPr>
              <a:t>Riesgos</a:t>
            </a:r>
            <a:r>
              <a:rPr lang="en-US" b="1" spc="-50" dirty="0">
                <a:solidFill>
                  <a:srgbClr val="AADDEE"/>
                </a:solidFill>
                <a:latin typeface="Arial"/>
                <a:cs typeface="Arial"/>
              </a:rPr>
              <a:t> </a:t>
            </a:r>
            <a:r>
              <a:rPr lang="en-US" b="1" spc="-50" dirty="0" err="1">
                <a:solidFill>
                  <a:srgbClr val="AADDEE"/>
                </a:solidFill>
                <a:latin typeface="Arial"/>
                <a:cs typeface="Arial"/>
              </a:rPr>
              <a:t>Asociado</a:t>
            </a:r>
            <a:r>
              <a:rPr lang="en-US" b="1" spc="-50" dirty="0">
                <a:solidFill>
                  <a:srgbClr val="AADDEE"/>
                </a:solidFill>
                <a:latin typeface="Arial"/>
                <a:cs typeface="Arial"/>
              </a:rPr>
              <a:t> al </a:t>
            </a:r>
            <a:r>
              <a:rPr lang="en-US" b="1" spc="-50" dirty="0" err="1">
                <a:solidFill>
                  <a:srgbClr val="AADDEE"/>
                </a:solidFill>
                <a:latin typeface="Arial"/>
                <a:cs typeface="Arial"/>
              </a:rPr>
              <a:t>Prestamo</a:t>
            </a:r>
            <a:r>
              <a:rPr lang="en-US" b="1" spc="-50" dirty="0">
                <a:solidFill>
                  <a:srgbClr val="AADDEE"/>
                </a:solidFill>
                <a:latin typeface="Arial"/>
                <a:cs typeface="Arial"/>
              </a:rPr>
              <a:t> del Proyecto: </a:t>
            </a:r>
            <a:r>
              <a:rPr lang="es" spc="-50" dirty="0">
                <a:solidFill>
                  <a:schemeClr val="bg1"/>
                </a:solidFill>
                <a:latin typeface="Arial"/>
                <a:cs typeface="Arial"/>
              </a:rPr>
              <a:t>Riesgo asociado al pago y cuotas del préstamo para solventar capital de trabajo con las variaciones en el precio del dólar</a:t>
            </a:r>
            <a:endParaRPr lang="en-US" spc="-50" dirty="0">
              <a:solidFill>
                <a:schemeClr val="bg1"/>
              </a:solidFill>
              <a:latin typeface="Arial"/>
              <a:cs typeface="Arial"/>
            </a:endParaRPr>
          </a:p>
        </p:txBody>
      </p:sp>
      <p:sp>
        <p:nvSpPr>
          <p:cNvPr id="16" name="TextBox 15">
            <a:extLst>
              <a:ext uri="{FF2B5EF4-FFF2-40B4-BE49-F238E27FC236}">
                <a16:creationId xmlns:a16="http://schemas.microsoft.com/office/drawing/2014/main" id="{1164D822-ED3A-7C1C-A409-037432248F48}"/>
              </a:ext>
            </a:extLst>
          </p:cNvPr>
          <p:cNvSpPr txBox="1"/>
          <p:nvPr/>
        </p:nvSpPr>
        <p:spPr>
          <a:xfrm>
            <a:off x="962025" y="3628507"/>
            <a:ext cx="10906126" cy="2800767"/>
          </a:xfrm>
          <a:prstGeom prst="rect">
            <a:avLst/>
          </a:prstGeom>
          <a:noFill/>
        </p:spPr>
        <p:txBody>
          <a:bodyPr wrap="square" lIns="91440" tIns="45720" rIns="91440" bIns="45720" rtlCol="0" anchor="t">
            <a:spAutoFit/>
          </a:bodyPr>
          <a:lstStyle/>
          <a:p>
            <a:r>
              <a:rPr lang="en-US" b="1" spc="-50" dirty="0" err="1">
                <a:solidFill>
                  <a:srgbClr val="AADDEE"/>
                </a:solidFill>
                <a:latin typeface="Arial"/>
                <a:cs typeface="Arial"/>
              </a:rPr>
              <a:t>Propuesta</a:t>
            </a:r>
            <a:r>
              <a:rPr lang="en-US" b="1" spc="-50" dirty="0">
                <a:solidFill>
                  <a:srgbClr val="AADDEE"/>
                </a:solidFill>
                <a:latin typeface="Arial"/>
                <a:cs typeface="Arial"/>
              </a:rPr>
              <a:t> de </a:t>
            </a:r>
            <a:r>
              <a:rPr lang="en-US" b="1" spc="-50" dirty="0" err="1">
                <a:solidFill>
                  <a:srgbClr val="AADDEE"/>
                </a:solidFill>
                <a:latin typeface="Arial"/>
                <a:cs typeface="Arial"/>
              </a:rPr>
              <a:t>Estrategia</a:t>
            </a:r>
            <a:r>
              <a:rPr lang="en-US" b="1" spc="-50" dirty="0">
                <a:solidFill>
                  <a:srgbClr val="AADDEE"/>
                </a:solidFill>
                <a:latin typeface="Arial"/>
                <a:cs typeface="Arial"/>
              </a:rPr>
              <a:t> de </a:t>
            </a:r>
            <a:r>
              <a:rPr lang="en-US" b="1" spc="-50" dirty="0" err="1">
                <a:solidFill>
                  <a:srgbClr val="AADDEE"/>
                </a:solidFill>
                <a:latin typeface="Arial"/>
                <a:cs typeface="Arial"/>
              </a:rPr>
              <a:t>Cobertura</a:t>
            </a:r>
            <a:r>
              <a:rPr lang="en-US" b="1" spc="-50" dirty="0">
                <a:solidFill>
                  <a:srgbClr val="AADDEE"/>
                </a:solidFill>
                <a:latin typeface="Arial"/>
                <a:cs typeface="Arial"/>
              </a:rPr>
              <a:t> de </a:t>
            </a:r>
            <a:r>
              <a:rPr lang="en-US" b="1" spc="-50" dirty="0" err="1">
                <a:solidFill>
                  <a:srgbClr val="AADDEE"/>
                </a:solidFill>
                <a:latin typeface="Arial"/>
                <a:cs typeface="Arial"/>
              </a:rPr>
              <a:t>Riesgos</a:t>
            </a:r>
            <a:r>
              <a:rPr lang="en-US" b="1" spc="-50" dirty="0">
                <a:solidFill>
                  <a:srgbClr val="AADDEE"/>
                </a:solidFill>
                <a:latin typeface="Arial"/>
                <a:cs typeface="Arial"/>
              </a:rPr>
              <a:t>: </a:t>
            </a:r>
          </a:p>
          <a:p>
            <a:endParaRPr lang="en-US" spc="-50" dirty="0">
              <a:solidFill>
                <a:schemeClr val="bg1"/>
              </a:solidFill>
              <a:latin typeface="Arial"/>
              <a:cs typeface="Arial"/>
            </a:endParaRPr>
          </a:p>
          <a:p>
            <a:pPr marL="285750" indent="-285750">
              <a:buFont typeface="Arial" panose="020B0604020202020204" pitchFamily="34" charset="0"/>
              <a:buChar char="•"/>
            </a:pPr>
            <a:r>
              <a:rPr lang="en-US" sz="1600" b="1" spc="-50" dirty="0">
                <a:solidFill>
                  <a:srgbClr val="AADDEE"/>
                </a:solidFill>
                <a:latin typeface="Arial"/>
                <a:cs typeface="Arial"/>
              </a:rPr>
              <a:t>Pago de los Servicios </a:t>
            </a:r>
            <a:r>
              <a:rPr lang="en-US" sz="1600" b="1" spc="-50" dirty="0" err="1">
                <a:solidFill>
                  <a:srgbClr val="AADDEE"/>
                </a:solidFill>
                <a:latin typeface="Arial"/>
                <a:cs typeface="Arial"/>
              </a:rPr>
              <a:t>en</a:t>
            </a:r>
            <a:r>
              <a:rPr lang="en-US" sz="1600" b="1" spc="-50" dirty="0">
                <a:solidFill>
                  <a:srgbClr val="AADDEE"/>
                </a:solidFill>
                <a:latin typeface="Arial"/>
                <a:cs typeface="Arial"/>
              </a:rPr>
              <a:t> </a:t>
            </a:r>
            <a:r>
              <a:rPr lang="en-US" sz="1600" b="1" spc="-50" dirty="0" err="1">
                <a:solidFill>
                  <a:srgbClr val="AADDEE"/>
                </a:solidFill>
                <a:latin typeface="Arial"/>
                <a:cs typeface="Arial"/>
              </a:rPr>
              <a:t>Dolares</a:t>
            </a:r>
            <a:r>
              <a:rPr lang="en-US" sz="1600" b="1" spc="-50" dirty="0">
                <a:solidFill>
                  <a:srgbClr val="AADDEE"/>
                </a:solidFill>
                <a:latin typeface="Arial"/>
                <a:cs typeface="Arial"/>
              </a:rPr>
              <a:t>: </a:t>
            </a:r>
            <a:r>
              <a:rPr lang="en-US" sz="1600" i="1" spc="-50" dirty="0" err="1">
                <a:solidFill>
                  <a:schemeClr val="bg1"/>
                </a:solidFill>
                <a:latin typeface="Arial"/>
                <a:cs typeface="Arial"/>
              </a:rPr>
              <a:t>debido</a:t>
            </a:r>
            <a:r>
              <a:rPr lang="en-US" sz="1600" i="1" spc="-50" dirty="0">
                <a:solidFill>
                  <a:schemeClr val="bg1"/>
                </a:solidFill>
                <a:latin typeface="Arial"/>
                <a:cs typeface="Arial"/>
              </a:rPr>
              <a:t> a la </a:t>
            </a:r>
            <a:r>
              <a:rPr lang="en-US" sz="1600" i="1" spc="-50" dirty="0" err="1">
                <a:solidFill>
                  <a:schemeClr val="bg1"/>
                </a:solidFill>
                <a:latin typeface="Arial"/>
                <a:cs typeface="Arial"/>
              </a:rPr>
              <a:t>estabilidad</a:t>
            </a:r>
            <a:r>
              <a:rPr lang="en-US" sz="1600" i="1" spc="-50" dirty="0">
                <a:solidFill>
                  <a:schemeClr val="bg1"/>
                </a:solidFill>
                <a:latin typeface="Arial"/>
                <a:cs typeface="Arial"/>
              </a:rPr>
              <a:t> del </a:t>
            </a:r>
            <a:r>
              <a:rPr lang="en-US" sz="1600" i="1" spc="-50" dirty="0" err="1">
                <a:solidFill>
                  <a:schemeClr val="bg1"/>
                </a:solidFill>
                <a:latin typeface="Arial"/>
                <a:cs typeface="Arial"/>
              </a:rPr>
              <a:t>dolar</a:t>
            </a:r>
            <a:r>
              <a:rPr lang="en-US" sz="1600" i="1" spc="-50" dirty="0">
                <a:solidFill>
                  <a:schemeClr val="bg1"/>
                </a:solidFill>
                <a:latin typeface="Arial"/>
                <a:cs typeface="Arial"/>
              </a:rPr>
              <a:t> </a:t>
            </a:r>
            <a:r>
              <a:rPr lang="en-US" sz="1600" i="1" spc="-50" dirty="0" err="1">
                <a:solidFill>
                  <a:schemeClr val="bg1"/>
                </a:solidFill>
                <a:latin typeface="Arial"/>
                <a:cs typeface="Arial"/>
              </a:rPr>
              <a:t>frente</a:t>
            </a:r>
            <a:r>
              <a:rPr lang="en-US" sz="1600" i="1" spc="-50" dirty="0">
                <a:solidFill>
                  <a:schemeClr val="bg1"/>
                </a:solidFill>
                <a:latin typeface="Arial"/>
                <a:cs typeface="Arial"/>
              </a:rPr>
              <a:t> al peso </a:t>
            </a:r>
            <a:r>
              <a:rPr lang="en-US" sz="1600" i="1" spc="-50" dirty="0" err="1">
                <a:solidFill>
                  <a:schemeClr val="bg1"/>
                </a:solidFill>
                <a:latin typeface="Arial"/>
                <a:cs typeface="Arial"/>
              </a:rPr>
              <a:t>colombiano</a:t>
            </a:r>
            <a:r>
              <a:rPr lang="en-US" sz="1600" b="1" spc="-50" dirty="0">
                <a:solidFill>
                  <a:schemeClr val="bg1"/>
                </a:solidFill>
                <a:latin typeface="Arial"/>
                <a:cs typeface="Arial"/>
              </a:rPr>
              <a:t>.</a:t>
            </a:r>
          </a:p>
          <a:p>
            <a:pPr marL="285750" indent="-285750">
              <a:buFont typeface="Arial" panose="020B0604020202020204" pitchFamily="34" charset="0"/>
              <a:buChar char="•"/>
            </a:pPr>
            <a:endParaRPr lang="en-US" sz="1600" b="1" spc="-50" dirty="0">
              <a:solidFill>
                <a:srgbClr val="AADDEE"/>
              </a:solidFill>
              <a:latin typeface="Arial"/>
              <a:cs typeface="Arial"/>
            </a:endParaRPr>
          </a:p>
          <a:p>
            <a:pPr marL="285750" indent="-285750">
              <a:buFont typeface="Arial" panose="020B0604020202020204" pitchFamily="34" charset="0"/>
              <a:buChar char="•"/>
            </a:pPr>
            <a:r>
              <a:rPr lang="en-US" sz="1600" b="1" spc="-50" dirty="0" err="1">
                <a:solidFill>
                  <a:srgbClr val="AADDEE"/>
                </a:solidFill>
                <a:latin typeface="Arial"/>
                <a:cs typeface="Arial"/>
              </a:rPr>
              <a:t>Contratos</a:t>
            </a:r>
            <a:r>
              <a:rPr lang="en-US" sz="1600" b="1" spc="-50" dirty="0">
                <a:solidFill>
                  <a:srgbClr val="AADDEE"/>
                </a:solidFill>
                <a:latin typeface="Arial"/>
                <a:cs typeface="Arial"/>
              </a:rPr>
              <a:t> Forward: </a:t>
            </a:r>
            <a:r>
              <a:rPr lang="es" sz="1600" i="1" spc="-50" dirty="0">
                <a:solidFill>
                  <a:schemeClr val="bg1"/>
                </a:solidFill>
                <a:latin typeface="Arial"/>
                <a:cs typeface="Arial"/>
              </a:rPr>
              <a:t>para los acuerdos de servicios con los clientes, los cuales se establecerán a 90 días (posición corta).</a:t>
            </a:r>
          </a:p>
          <a:p>
            <a:pPr marL="285750" indent="-285750">
              <a:buFont typeface="Arial" panose="020B0604020202020204" pitchFamily="34" charset="0"/>
              <a:buChar char="•"/>
            </a:pPr>
            <a:endParaRPr lang="es" sz="1600" b="1" spc="-50" dirty="0">
              <a:solidFill>
                <a:srgbClr val="AADDEE"/>
              </a:solidFill>
              <a:latin typeface="Arial"/>
              <a:cs typeface="Arial"/>
            </a:endParaRPr>
          </a:p>
          <a:p>
            <a:pPr marL="285750" indent="-285750">
              <a:buFont typeface="Arial" panose="020B0604020202020204" pitchFamily="34" charset="0"/>
              <a:buChar char="•"/>
            </a:pPr>
            <a:r>
              <a:rPr lang="es" sz="1600" b="1" spc="-50" dirty="0">
                <a:solidFill>
                  <a:srgbClr val="AADDEE"/>
                </a:solidFill>
                <a:latin typeface="Arial"/>
                <a:cs typeface="Arial"/>
              </a:rPr>
              <a:t>Margen de Contingencia:</a:t>
            </a:r>
            <a:r>
              <a:rPr lang="es" sz="1600" spc="-50" dirty="0">
                <a:solidFill>
                  <a:srgbClr val="000000"/>
                </a:solidFill>
                <a:latin typeface="Arial"/>
                <a:cs typeface="Arial"/>
              </a:rPr>
              <a:t> </a:t>
            </a:r>
            <a:r>
              <a:rPr lang="es" sz="1600" i="1" spc="-50" dirty="0">
                <a:solidFill>
                  <a:schemeClr val="bg1"/>
                </a:solidFill>
                <a:latin typeface="Arial"/>
                <a:cs typeface="Arial"/>
              </a:rPr>
              <a:t>Se incluye un Margen de Contingencia de un 5% en el diseño de contratos</a:t>
            </a:r>
          </a:p>
          <a:p>
            <a:pPr marL="285750" indent="-285750">
              <a:buFont typeface="Arial" panose="020B0604020202020204" pitchFamily="34" charset="0"/>
              <a:buChar char="•"/>
            </a:pPr>
            <a:endParaRPr lang="es" sz="1600" b="1" spc="-50" dirty="0">
              <a:solidFill>
                <a:srgbClr val="AADDEE"/>
              </a:solidFill>
              <a:latin typeface="Arial"/>
              <a:cs typeface="Arial"/>
            </a:endParaRPr>
          </a:p>
          <a:p>
            <a:pPr marL="285750" indent="-285750">
              <a:buFont typeface="Arial" panose="020B0604020202020204" pitchFamily="34" charset="0"/>
              <a:buChar char="•"/>
            </a:pPr>
            <a:r>
              <a:rPr lang="es" sz="1600" b="1" spc="-50" dirty="0">
                <a:solidFill>
                  <a:srgbClr val="AADDEE"/>
                </a:solidFill>
                <a:latin typeface="Arial"/>
                <a:cs typeface="Arial"/>
              </a:rPr>
              <a:t>Credito Solicitado:</a:t>
            </a:r>
            <a:r>
              <a:rPr lang="es" sz="1600" b="1" spc="-50" dirty="0">
                <a:solidFill>
                  <a:schemeClr val="bg1"/>
                </a:solidFill>
                <a:latin typeface="Arial"/>
                <a:cs typeface="Arial"/>
              </a:rPr>
              <a:t> </a:t>
            </a:r>
            <a:r>
              <a:rPr lang="es" sz="1600" i="1" spc="-50" dirty="0">
                <a:solidFill>
                  <a:schemeClr val="bg1"/>
                </a:solidFill>
                <a:latin typeface="Arial"/>
                <a:cs typeface="Arial"/>
              </a:rPr>
              <a:t>tasa de interés fija anual y este pago se integra a la estrategia de cobertura indicada por el pago de servicios por parte de los clientes definidos en los contratos en Colombia (Garantia Corfo).</a:t>
            </a:r>
            <a:endParaRPr lang="es" sz="1600" b="1" i="1" spc="-50" dirty="0">
              <a:solidFill>
                <a:schemeClr val="bg1"/>
              </a:solidFill>
              <a:latin typeface="Arial"/>
              <a:cs typeface="Arial"/>
            </a:endParaRPr>
          </a:p>
          <a:p>
            <a:endParaRPr lang="es" sz="1200" spc="-50" dirty="0">
              <a:solidFill>
                <a:srgbClr val="000000"/>
              </a:solidFill>
              <a:latin typeface="Arial"/>
              <a:cs typeface="Arial"/>
            </a:endParaRPr>
          </a:p>
        </p:txBody>
      </p:sp>
      <p:sp>
        <p:nvSpPr>
          <p:cNvPr id="78" name="Freeform 49">
            <a:extLst>
              <a:ext uri="{FF2B5EF4-FFF2-40B4-BE49-F238E27FC236}">
                <a16:creationId xmlns:a16="http://schemas.microsoft.com/office/drawing/2014/main" id="{442206B5-45D7-F542-A917-E53F295B4936}"/>
              </a:ext>
            </a:extLst>
          </p:cNvPr>
          <p:cNvSpPr>
            <a:spLocks noEditPoints="1"/>
          </p:cNvSpPr>
          <p:nvPr/>
        </p:nvSpPr>
        <p:spPr bwMode="auto">
          <a:xfrm>
            <a:off x="6549317" y="1708976"/>
            <a:ext cx="457201" cy="465138"/>
          </a:xfrm>
          <a:custGeom>
            <a:avLst/>
            <a:gdLst>
              <a:gd name="T0" fmla="*/ 104 w 197"/>
              <a:gd name="T1" fmla="*/ 104 h 200"/>
              <a:gd name="T2" fmla="*/ 68 w 197"/>
              <a:gd name="T3" fmla="*/ 118 h 200"/>
              <a:gd name="T4" fmla="*/ 33 w 197"/>
              <a:gd name="T5" fmla="*/ 104 h 200"/>
              <a:gd name="T6" fmla="*/ 18 w 197"/>
              <a:gd name="T7" fmla="*/ 68 h 200"/>
              <a:gd name="T8" fmla="*/ 33 w 197"/>
              <a:gd name="T9" fmla="*/ 32 h 200"/>
              <a:gd name="T10" fmla="*/ 68 w 197"/>
              <a:gd name="T11" fmla="*/ 18 h 200"/>
              <a:gd name="T12" fmla="*/ 104 w 197"/>
              <a:gd name="T13" fmla="*/ 32 h 200"/>
              <a:gd name="T14" fmla="*/ 119 w 197"/>
              <a:gd name="T15" fmla="*/ 68 h 200"/>
              <a:gd name="T16" fmla="*/ 104 w 197"/>
              <a:gd name="T17" fmla="*/ 104 h 200"/>
              <a:gd name="T18" fmla="*/ 188 w 197"/>
              <a:gd name="T19" fmla="*/ 161 h 200"/>
              <a:gd name="T20" fmla="*/ 182 w 197"/>
              <a:gd name="T21" fmla="*/ 155 h 200"/>
              <a:gd name="T22" fmla="*/ 169 w 197"/>
              <a:gd name="T23" fmla="*/ 168 h 200"/>
              <a:gd name="T24" fmla="*/ 164 w 197"/>
              <a:gd name="T25" fmla="*/ 168 h 200"/>
              <a:gd name="T26" fmla="*/ 164 w 197"/>
              <a:gd name="T27" fmla="*/ 163 h 200"/>
              <a:gd name="T28" fmla="*/ 177 w 197"/>
              <a:gd name="T29" fmla="*/ 150 h 200"/>
              <a:gd name="T30" fmla="*/ 172 w 197"/>
              <a:gd name="T31" fmla="*/ 145 h 200"/>
              <a:gd name="T32" fmla="*/ 160 w 197"/>
              <a:gd name="T33" fmla="*/ 158 h 200"/>
              <a:gd name="T34" fmla="*/ 155 w 197"/>
              <a:gd name="T35" fmla="*/ 158 h 200"/>
              <a:gd name="T36" fmla="*/ 155 w 197"/>
              <a:gd name="T37" fmla="*/ 153 h 200"/>
              <a:gd name="T38" fmla="*/ 168 w 197"/>
              <a:gd name="T39" fmla="*/ 140 h 200"/>
              <a:gd name="T40" fmla="*/ 163 w 197"/>
              <a:gd name="T41" fmla="*/ 136 h 200"/>
              <a:gd name="T42" fmla="*/ 150 w 197"/>
              <a:gd name="T43" fmla="*/ 148 h 200"/>
              <a:gd name="T44" fmla="*/ 145 w 197"/>
              <a:gd name="T45" fmla="*/ 148 h 200"/>
              <a:gd name="T46" fmla="*/ 145 w 197"/>
              <a:gd name="T47" fmla="*/ 143 h 200"/>
              <a:gd name="T48" fmla="*/ 158 w 197"/>
              <a:gd name="T49" fmla="*/ 131 h 200"/>
              <a:gd name="T50" fmla="*/ 154 w 197"/>
              <a:gd name="T51" fmla="*/ 127 h 200"/>
              <a:gd name="T52" fmla="*/ 131 w 197"/>
              <a:gd name="T53" fmla="*/ 122 h 200"/>
              <a:gd name="T54" fmla="*/ 120 w 197"/>
              <a:gd name="T55" fmla="*/ 112 h 200"/>
              <a:gd name="T56" fmla="*/ 136 w 197"/>
              <a:gd name="T57" fmla="*/ 68 h 200"/>
              <a:gd name="T58" fmla="*/ 68 w 197"/>
              <a:gd name="T59" fmla="*/ 0 h 200"/>
              <a:gd name="T60" fmla="*/ 0 w 197"/>
              <a:gd name="T61" fmla="*/ 68 h 200"/>
              <a:gd name="T62" fmla="*/ 68 w 197"/>
              <a:gd name="T63" fmla="*/ 136 h 200"/>
              <a:gd name="T64" fmla="*/ 107 w 197"/>
              <a:gd name="T65" fmla="*/ 124 h 200"/>
              <a:gd name="T66" fmla="*/ 119 w 197"/>
              <a:gd name="T67" fmla="*/ 135 h 200"/>
              <a:gd name="T68" fmla="*/ 124 w 197"/>
              <a:gd name="T69" fmla="*/ 158 h 200"/>
              <a:gd name="T70" fmla="*/ 157 w 197"/>
              <a:gd name="T71" fmla="*/ 192 h 200"/>
              <a:gd name="T72" fmla="*/ 188 w 197"/>
              <a:gd name="T73" fmla="*/ 192 h 200"/>
              <a:gd name="T74" fmla="*/ 188 w 197"/>
              <a:gd name="T75" fmla="*/ 192 h 200"/>
              <a:gd name="T76" fmla="*/ 188 w 197"/>
              <a:gd name="T77" fmla="*/ 161 h 200"/>
              <a:gd name="T78" fmla="*/ 68 w 197"/>
              <a:gd name="T79" fmla="*/ 29 h 200"/>
              <a:gd name="T80" fmla="*/ 62 w 197"/>
              <a:gd name="T81" fmla="*/ 29 h 200"/>
              <a:gd name="T82" fmla="*/ 57 w 197"/>
              <a:gd name="T83" fmla="*/ 37 h 200"/>
              <a:gd name="T84" fmla="*/ 64 w 197"/>
              <a:gd name="T85" fmla="*/ 42 h 200"/>
              <a:gd name="T86" fmla="*/ 68 w 197"/>
              <a:gd name="T87" fmla="*/ 42 h 200"/>
              <a:gd name="T88" fmla="*/ 94 w 197"/>
              <a:gd name="T89" fmla="*/ 66 h 200"/>
              <a:gd name="T90" fmla="*/ 101 w 197"/>
              <a:gd name="T91" fmla="*/ 73 h 200"/>
              <a:gd name="T92" fmla="*/ 101 w 197"/>
              <a:gd name="T93" fmla="*/ 73 h 200"/>
              <a:gd name="T94" fmla="*/ 108 w 197"/>
              <a:gd name="T95" fmla="*/ 66 h 200"/>
              <a:gd name="T96" fmla="*/ 68 w 197"/>
              <a:gd name="T97" fmla="*/ 2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7" h="200">
                <a:moveTo>
                  <a:pt x="104" y="104"/>
                </a:moveTo>
                <a:cubicBezTo>
                  <a:pt x="95" y="113"/>
                  <a:pt x="82" y="118"/>
                  <a:pt x="68" y="118"/>
                </a:cubicBezTo>
                <a:cubicBezTo>
                  <a:pt x="54" y="118"/>
                  <a:pt x="42" y="113"/>
                  <a:pt x="33" y="104"/>
                </a:cubicBezTo>
                <a:cubicBezTo>
                  <a:pt x="24" y="94"/>
                  <a:pt x="18" y="82"/>
                  <a:pt x="18" y="68"/>
                </a:cubicBezTo>
                <a:cubicBezTo>
                  <a:pt x="18" y="54"/>
                  <a:pt x="24" y="42"/>
                  <a:pt x="33" y="32"/>
                </a:cubicBezTo>
                <a:cubicBezTo>
                  <a:pt x="42" y="23"/>
                  <a:pt x="54" y="18"/>
                  <a:pt x="68" y="18"/>
                </a:cubicBezTo>
                <a:cubicBezTo>
                  <a:pt x="82" y="18"/>
                  <a:pt x="95" y="23"/>
                  <a:pt x="104" y="32"/>
                </a:cubicBezTo>
                <a:cubicBezTo>
                  <a:pt x="113" y="42"/>
                  <a:pt x="119" y="54"/>
                  <a:pt x="119" y="68"/>
                </a:cubicBezTo>
                <a:cubicBezTo>
                  <a:pt x="119" y="82"/>
                  <a:pt x="113" y="94"/>
                  <a:pt x="104" y="104"/>
                </a:cubicBezTo>
                <a:moveTo>
                  <a:pt x="188" y="161"/>
                </a:moveTo>
                <a:cubicBezTo>
                  <a:pt x="182" y="155"/>
                  <a:pt x="182" y="155"/>
                  <a:pt x="182" y="155"/>
                </a:cubicBezTo>
                <a:cubicBezTo>
                  <a:pt x="169" y="168"/>
                  <a:pt x="169" y="168"/>
                  <a:pt x="169" y="168"/>
                </a:cubicBezTo>
                <a:cubicBezTo>
                  <a:pt x="168" y="169"/>
                  <a:pt x="166" y="169"/>
                  <a:pt x="164" y="168"/>
                </a:cubicBezTo>
                <a:cubicBezTo>
                  <a:pt x="163" y="166"/>
                  <a:pt x="163" y="164"/>
                  <a:pt x="164" y="163"/>
                </a:cubicBezTo>
                <a:cubicBezTo>
                  <a:pt x="177" y="150"/>
                  <a:pt x="177" y="150"/>
                  <a:pt x="177" y="150"/>
                </a:cubicBezTo>
                <a:cubicBezTo>
                  <a:pt x="172" y="145"/>
                  <a:pt x="172" y="145"/>
                  <a:pt x="172" y="145"/>
                </a:cubicBezTo>
                <a:cubicBezTo>
                  <a:pt x="160" y="158"/>
                  <a:pt x="160" y="158"/>
                  <a:pt x="160" y="158"/>
                </a:cubicBezTo>
                <a:cubicBezTo>
                  <a:pt x="158" y="159"/>
                  <a:pt x="156" y="159"/>
                  <a:pt x="155" y="158"/>
                </a:cubicBezTo>
                <a:cubicBezTo>
                  <a:pt x="153" y="157"/>
                  <a:pt x="153" y="155"/>
                  <a:pt x="155" y="153"/>
                </a:cubicBezTo>
                <a:cubicBezTo>
                  <a:pt x="168" y="140"/>
                  <a:pt x="168" y="140"/>
                  <a:pt x="168" y="140"/>
                </a:cubicBezTo>
                <a:cubicBezTo>
                  <a:pt x="163" y="136"/>
                  <a:pt x="163" y="136"/>
                  <a:pt x="163" y="136"/>
                </a:cubicBezTo>
                <a:cubicBezTo>
                  <a:pt x="150" y="148"/>
                  <a:pt x="150" y="148"/>
                  <a:pt x="150" y="148"/>
                </a:cubicBezTo>
                <a:cubicBezTo>
                  <a:pt x="149" y="150"/>
                  <a:pt x="146" y="150"/>
                  <a:pt x="145" y="148"/>
                </a:cubicBezTo>
                <a:cubicBezTo>
                  <a:pt x="144" y="147"/>
                  <a:pt x="144" y="145"/>
                  <a:pt x="145" y="143"/>
                </a:cubicBezTo>
                <a:cubicBezTo>
                  <a:pt x="158" y="131"/>
                  <a:pt x="158" y="131"/>
                  <a:pt x="158" y="131"/>
                </a:cubicBezTo>
                <a:cubicBezTo>
                  <a:pt x="154" y="127"/>
                  <a:pt x="154" y="127"/>
                  <a:pt x="154" y="127"/>
                </a:cubicBezTo>
                <a:cubicBezTo>
                  <a:pt x="148" y="121"/>
                  <a:pt x="139" y="119"/>
                  <a:pt x="131" y="122"/>
                </a:cubicBezTo>
                <a:cubicBezTo>
                  <a:pt x="120" y="112"/>
                  <a:pt x="120" y="112"/>
                  <a:pt x="120" y="112"/>
                </a:cubicBezTo>
                <a:cubicBezTo>
                  <a:pt x="130" y="100"/>
                  <a:pt x="136" y="85"/>
                  <a:pt x="136" y="68"/>
                </a:cubicBezTo>
                <a:cubicBezTo>
                  <a:pt x="136" y="30"/>
                  <a:pt x="106" y="0"/>
                  <a:pt x="68" y="0"/>
                </a:cubicBezTo>
                <a:cubicBezTo>
                  <a:pt x="31" y="0"/>
                  <a:pt x="0" y="30"/>
                  <a:pt x="0" y="68"/>
                </a:cubicBezTo>
                <a:cubicBezTo>
                  <a:pt x="0" y="106"/>
                  <a:pt x="31" y="136"/>
                  <a:pt x="68" y="136"/>
                </a:cubicBezTo>
                <a:cubicBezTo>
                  <a:pt x="83" y="136"/>
                  <a:pt x="96" y="131"/>
                  <a:pt x="107" y="124"/>
                </a:cubicBezTo>
                <a:cubicBezTo>
                  <a:pt x="119" y="135"/>
                  <a:pt x="119" y="135"/>
                  <a:pt x="119" y="135"/>
                </a:cubicBezTo>
                <a:cubicBezTo>
                  <a:pt x="116" y="143"/>
                  <a:pt x="117" y="152"/>
                  <a:pt x="124" y="158"/>
                </a:cubicBezTo>
                <a:cubicBezTo>
                  <a:pt x="157" y="192"/>
                  <a:pt x="157" y="192"/>
                  <a:pt x="157" y="192"/>
                </a:cubicBezTo>
                <a:cubicBezTo>
                  <a:pt x="166" y="200"/>
                  <a:pt x="179" y="200"/>
                  <a:pt x="188" y="192"/>
                </a:cubicBezTo>
                <a:cubicBezTo>
                  <a:pt x="188" y="192"/>
                  <a:pt x="188" y="192"/>
                  <a:pt x="188" y="192"/>
                </a:cubicBezTo>
                <a:cubicBezTo>
                  <a:pt x="197" y="183"/>
                  <a:pt x="197" y="169"/>
                  <a:pt x="188" y="161"/>
                </a:cubicBezTo>
                <a:moveTo>
                  <a:pt x="68" y="29"/>
                </a:moveTo>
                <a:cubicBezTo>
                  <a:pt x="66" y="29"/>
                  <a:pt x="64" y="29"/>
                  <a:pt x="62" y="29"/>
                </a:cubicBezTo>
                <a:cubicBezTo>
                  <a:pt x="59" y="30"/>
                  <a:pt x="56" y="33"/>
                  <a:pt x="57" y="37"/>
                </a:cubicBezTo>
                <a:cubicBezTo>
                  <a:pt x="57" y="40"/>
                  <a:pt x="61" y="43"/>
                  <a:pt x="64" y="42"/>
                </a:cubicBezTo>
                <a:cubicBezTo>
                  <a:pt x="66" y="42"/>
                  <a:pt x="67" y="42"/>
                  <a:pt x="68" y="42"/>
                </a:cubicBezTo>
                <a:cubicBezTo>
                  <a:pt x="82" y="42"/>
                  <a:pt x="93" y="53"/>
                  <a:pt x="94" y="66"/>
                </a:cubicBezTo>
                <a:cubicBezTo>
                  <a:pt x="94" y="70"/>
                  <a:pt x="97" y="73"/>
                  <a:pt x="101" y="73"/>
                </a:cubicBezTo>
                <a:cubicBezTo>
                  <a:pt x="101" y="73"/>
                  <a:pt x="101" y="73"/>
                  <a:pt x="101" y="73"/>
                </a:cubicBezTo>
                <a:cubicBezTo>
                  <a:pt x="105" y="72"/>
                  <a:pt x="108" y="69"/>
                  <a:pt x="108" y="66"/>
                </a:cubicBezTo>
                <a:cubicBezTo>
                  <a:pt x="106" y="45"/>
                  <a:pt x="89" y="29"/>
                  <a:pt x="68" y="29"/>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83" name="Freeform 49">
            <a:extLst>
              <a:ext uri="{FF2B5EF4-FFF2-40B4-BE49-F238E27FC236}">
                <a16:creationId xmlns:a16="http://schemas.microsoft.com/office/drawing/2014/main" id="{7933D518-5768-B008-D935-B76FEDBC92C1}"/>
              </a:ext>
            </a:extLst>
          </p:cNvPr>
          <p:cNvSpPr>
            <a:spLocks noEditPoints="1"/>
          </p:cNvSpPr>
          <p:nvPr/>
        </p:nvSpPr>
        <p:spPr bwMode="auto">
          <a:xfrm>
            <a:off x="865441" y="1739576"/>
            <a:ext cx="457201" cy="465138"/>
          </a:xfrm>
          <a:custGeom>
            <a:avLst/>
            <a:gdLst>
              <a:gd name="T0" fmla="*/ 104 w 197"/>
              <a:gd name="T1" fmla="*/ 104 h 200"/>
              <a:gd name="T2" fmla="*/ 68 w 197"/>
              <a:gd name="T3" fmla="*/ 118 h 200"/>
              <a:gd name="T4" fmla="*/ 33 w 197"/>
              <a:gd name="T5" fmla="*/ 104 h 200"/>
              <a:gd name="T6" fmla="*/ 18 w 197"/>
              <a:gd name="T7" fmla="*/ 68 h 200"/>
              <a:gd name="T8" fmla="*/ 33 w 197"/>
              <a:gd name="T9" fmla="*/ 32 h 200"/>
              <a:gd name="T10" fmla="*/ 68 w 197"/>
              <a:gd name="T11" fmla="*/ 18 h 200"/>
              <a:gd name="T12" fmla="*/ 104 w 197"/>
              <a:gd name="T13" fmla="*/ 32 h 200"/>
              <a:gd name="T14" fmla="*/ 119 w 197"/>
              <a:gd name="T15" fmla="*/ 68 h 200"/>
              <a:gd name="T16" fmla="*/ 104 w 197"/>
              <a:gd name="T17" fmla="*/ 104 h 200"/>
              <a:gd name="T18" fmla="*/ 188 w 197"/>
              <a:gd name="T19" fmla="*/ 161 h 200"/>
              <a:gd name="T20" fmla="*/ 182 w 197"/>
              <a:gd name="T21" fmla="*/ 155 h 200"/>
              <a:gd name="T22" fmla="*/ 169 w 197"/>
              <a:gd name="T23" fmla="*/ 168 h 200"/>
              <a:gd name="T24" fmla="*/ 164 w 197"/>
              <a:gd name="T25" fmla="*/ 168 h 200"/>
              <a:gd name="T26" fmla="*/ 164 w 197"/>
              <a:gd name="T27" fmla="*/ 163 h 200"/>
              <a:gd name="T28" fmla="*/ 177 w 197"/>
              <a:gd name="T29" fmla="*/ 150 h 200"/>
              <a:gd name="T30" fmla="*/ 172 w 197"/>
              <a:gd name="T31" fmla="*/ 145 h 200"/>
              <a:gd name="T32" fmla="*/ 160 w 197"/>
              <a:gd name="T33" fmla="*/ 158 h 200"/>
              <a:gd name="T34" fmla="*/ 155 w 197"/>
              <a:gd name="T35" fmla="*/ 158 h 200"/>
              <a:gd name="T36" fmla="*/ 155 w 197"/>
              <a:gd name="T37" fmla="*/ 153 h 200"/>
              <a:gd name="T38" fmla="*/ 168 w 197"/>
              <a:gd name="T39" fmla="*/ 140 h 200"/>
              <a:gd name="T40" fmla="*/ 163 w 197"/>
              <a:gd name="T41" fmla="*/ 136 h 200"/>
              <a:gd name="T42" fmla="*/ 150 w 197"/>
              <a:gd name="T43" fmla="*/ 148 h 200"/>
              <a:gd name="T44" fmla="*/ 145 w 197"/>
              <a:gd name="T45" fmla="*/ 148 h 200"/>
              <a:gd name="T46" fmla="*/ 145 w 197"/>
              <a:gd name="T47" fmla="*/ 143 h 200"/>
              <a:gd name="T48" fmla="*/ 158 w 197"/>
              <a:gd name="T49" fmla="*/ 131 h 200"/>
              <a:gd name="T50" fmla="*/ 154 w 197"/>
              <a:gd name="T51" fmla="*/ 127 h 200"/>
              <a:gd name="T52" fmla="*/ 131 w 197"/>
              <a:gd name="T53" fmla="*/ 122 h 200"/>
              <a:gd name="T54" fmla="*/ 120 w 197"/>
              <a:gd name="T55" fmla="*/ 112 h 200"/>
              <a:gd name="T56" fmla="*/ 136 w 197"/>
              <a:gd name="T57" fmla="*/ 68 h 200"/>
              <a:gd name="T58" fmla="*/ 68 w 197"/>
              <a:gd name="T59" fmla="*/ 0 h 200"/>
              <a:gd name="T60" fmla="*/ 0 w 197"/>
              <a:gd name="T61" fmla="*/ 68 h 200"/>
              <a:gd name="T62" fmla="*/ 68 w 197"/>
              <a:gd name="T63" fmla="*/ 136 h 200"/>
              <a:gd name="T64" fmla="*/ 107 w 197"/>
              <a:gd name="T65" fmla="*/ 124 h 200"/>
              <a:gd name="T66" fmla="*/ 119 w 197"/>
              <a:gd name="T67" fmla="*/ 135 h 200"/>
              <a:gd name="T68" fmla="*/ 124 w 197"/>
              <a:gd name="T69" fmla="*/ 158 h 200"/>
              <a:gd name="T70" fmla="*/ 157 w 197"/>
              <a:gd name="T71" fmla="*/ 192 h 200"/>
              <a:gd name="T72" fmla="*/ 188 w 197"/>
              <a:gd name="T73" fmla="*/ 192 h 200"/>
              <a:gd name="T74" fmla="*/ 188 w 197"/>
              <a:gd name="T75" fmla="*/ 192 h 200"/>
              <a:gd name="T76" fmla="*/ 188 w 197"/>
              <a:gd name="T77" fmla="*/ 161 h 200"/>
              <a:gd name="T78" fmla="*/ 68 w 197"/>
              <a:gd name="T79" fmla="*/ 29 h 200"/>
              <a:gd name="T80" fmla="*/ 62 w 197"/>
              <a:gd name="T81" fmla="*/ 29 h 200"/>
              <a:gd name="T82" fmla="*/ 57 w 197"/>
              <a:gd name="T83" fmla="*/ 37 h 200"/>
              <a:gd name="T84" fmla="*/ 64 w 197"/>
              <a:gd name="T85" fmla="*/ 42 h 200"/>
              <a:gd name="T86" fmla="*/ 68 w 197"/>
              <a:gd name="T87" fmla="*/ 42 h 200"/>
              <a:gd name="T88" fmla="*/ 94 w 197"/>
              <a:gd name="T89" fmla="*/ 66 h 200"/>
              <a:gd name="T90" fmla="*/ 101 w 197"/>
              <a:gd name="T91" fmla="*/ 73 h 200"/>
              <a:gd name="T92" fmla="*/ 101 w 197"/>
              <a:gd name="T93" fmla="*/ 73 h 200"/>
              <a:gd name="T94" fmla="*/ 108 w 197"/>
              <a:gd name="T95" fmla="*/ 66 h 200"/>
              <a:gd name="T96" fmla="*/ 68 w 197"/>
              <a:gd name="T97" fmla="*/ 2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7" h="200">
                <a:moveTo>
                  <a:pt x="104" y="104"/>
                </a:moveTo>
                <a:cubicBezTo>
                  <a:pt x="95" y="113"/>
                  <a:pt x="82" y="118"/>
                  <a:pt x="68" y="118"/>
                </a:cubicBezTo>
                <a:cubicBezTo>
                  <a:pt x="54" y="118"/>
                  <a:pt x="42" y="113"/>
                  <a:pt x="33" y="104"/>
                </a:cubicBezTo>
                <a:cubicBezTo>
                  <a:pt x="24" y="94"/>
                  <a:pt x="18" y="82"/>
                  <a:pt x="18" y="68"/>
                </a:cubicBezTo>
                <a:cubicBezTo>
                  <a:pt x="18" y="54"/>
                  <a:pt x="24" y="42"/>
                  <a:pt x="33" y="32"/>
                </a:cubicBezTo>
                <a:cubicBezTo>
                  <a:pt x="42" y="23"/>
                  <a:pt x="54" y="18"/>
                  <a:pt x="68" y="18"/>
                </a:cubicBezTo>
                <a:cubicBezTo>
                  <a:pt x="82" y="18"/>
                  <a:pt x="95" y="23"/>
                  <a:pt x="104" y="32"/>
                </a:cubicBezTo>
                <a:cubicBezTo>
                  <a:pt x="113" y="42"/>
                  <a:pt x="119" y="54"/>
                  <a:pt x="119" y="68"/>
                </a:cubicBezTo>
                <a:cubicBezTo>
                  <a:pt x="119" y="82"/>
                  <a:pt x="113" y="94"/>
                  <a:pt x="104" y="104"/>
                </a:cubicBezTo>
                <a:moveTo>
                  <a:pt x="188" y="161"/>
                </a:moveTo>
                <a:cubicBezTo>
                  <a:pt x="182" y="155"/>
                  <a:pt x="182" y="155"/>
                  <a:pt x="182" y="155"/>
                </a:cubicBezTo>
                <a:cubicBezTo>
                  <a:pt x="169" y="168"/>
                  <a:pt x="169" y="168"/>
                  <a:pt x="169" y="168"/>
                </a:cubicBezTo>
                <a:cubicBezTo>
                  <a:pt x="168" y="169"/>
                  <a:pt x="166" y="169"/>
                  <a:pt x="164" y="168"/>
                </a:cubicBezTo>
                <a:cubicBezTo>
                  <a:pt x="163" y="166"/>
                  <a:pt x="163" y="164"/>
                  <a:pt x="164" y="163"/>
                </a:cubicBezTo>
                <a:cubicBezTo>
                  <a:pt x="177" y="150"/>
                  <a:pt x="177" y="150"/>
                  <a:pt x="177" y="150"/>
                </a:cubicBezTo>
                <a:cubicBezTo>
                  <a:pt x="172" y="145"/>
                  <a:pt x="172" y="145"/>
                  <a:pt x="172" y="145"/>
                </a:cubicBezTo>
                <a:cubicBezTo>
                  <a:pt x="160" y="158"/>
                  <a:pt x="160" y="158"/>
                  <a:pt x="160" y="158"/>
                </a:cubicBezTo>
                <a:cubicBezTo>
                  <a:pt x="158" y="159"/>
                  <a:pt x="156" y="159"/>
                  <a:pt x="155" y="158"/>
                </a:cubicBezTo>
                <a:cubicBezTo>
                  <a:pt x="153" y="157"/>
                  <a:pt x="153" y="155"/>
                  <a:pt x="155" y="153"/>
                </a:cubicBezTo>
                <a:cubicBezTo>
                  <a:pt x="168" y="140"/>
                  <a:pt x="168" y="140"/>
                  <a:pt x="168" y="140"/>
                </a:cubicBezTo>
                <a:cubicBezTo>
                  <a:pt x="163" y="136"/>
                  <a:pt x="163" y="136"/>
                  <a:pt x="163" y="136"/>
                </a:cubicBezTo>
                <a:cubicBezTo>
                  <a:pt x="150" y="148"/>
                  <a:pt x="150" y="148"/>
                  <a:pt x="150" y="148"/>
                </a:cubicBezTo>
                <a:cubicBezTo>
                  <a:pt x="149" y="150"/>
                  <a:pt x="146" y="150"/>
                  <a:pt x="145" y="148"/>
                </a:cubicBezTo>
                <a:cubicBezTo>
                  <a:pt x="144" y="147"/>
                  <a:pt x="144" y="145"/>
                  <a:pt x="145" y="143"/>
                </a:cubicBezTo>
                <a:cubicBezTo>
                  <a:pt x="158" y="131"/>
                  <a:pt x="158" y="131"/>
                  <a:pt x="158" y="131"/>
                </a:cubicBezTo>
                <a:cubicBezTo>
                  <a:pt x="154" y="127"/>
                  <a:pt x="154" y="127"/>
                  <a:pt x="154" y="127"/>
                </a:cubicBezTo>
                <a:cubicBezTo>
                  <a:pt x="148" y="121"/>
                  <a:pt x="139" y="119"/>
                  <a:pt x="131" y="122"/>
                </a:cubicBezTo>
                <a:cubicBezTo>
                  <a:pt x="120" y="112"/>
                  <a:pt x="120" y="112"/>
                  <a:pt x="120" y="112"/>
                </a:cubicBezTo>
                <a:cubicBezTo>
                  <a:pt x="130" y="100"/>
                  <a:pt x="136" y="85"/>
                  <a:pt x="136" y="68"/>
                </a:cubicBezTo>
                <a:cubicBezTo>
                  <a:pt x="136" y="30"/>
                  <a:pt x="106" y="0"/>
                  <a:pt x="68" y="0"/>
                </a:cubicBezTo>
                <a:cubicBezTo>
                  <a:pt x="31" y="0"/>
                  <a:pt x="0" y="30"/>
                  <a:pt x="0" y="68"/>
                </a:cubicBezTo>
                <a:cubicBezTo>
                  <a:pt x="0" y="106"/>
                  <a:pt x="31" y="136"/>
                  <a:pt x="68" y="136"/>
                </a:cubicBezTo>
                <a:cubicBezTo>
                  <a:pt x="83" y="136"/>
                  <a:pt x="96" y="131"/>
                  <a:pt x="107" y="124"/>
                </a:cubicBezTo>
                <a:cubicBezTo>
                  <a:pt x="119" y="135"/>
                  <a:pt x="119" y="135"/>
                  <a:pt x="119" y="135"/>
                </a:cubicBezTo>
                <a:cubicBezTo>
                  <a:pt x="116" y="143"/>
                  <a:pt x="117" y="152"/>
                  <a:pt x="124" y="158"/>
                </a:cubicBezTo>
                <a:cubicBezTo>
                  <a:pt x="157" y="192"/>
                  <a:pt x="157" y="192"/>
                  <a:pt x="157" y="192"/>
                </a:cubicBezTo>
                <a:cubicBezTo>
                  <a:pt x="166" y="200"/>
                  <a:pt x="179" y="200"/>
                  <a:pt x="188" y="192"/>
                </a:cubicBezTo>
                <a:cubicBezTo>
                  <a:pt x="188" y="192"/>
                  <a:pt x="188" y="192"/>
                  <a:pt x="188" y="192"/>
                </a:cubicBezTo>
                <a:cubicBezTo>
                  <a:pt x="197" y="183"/>
                  <a:pt x="197" y="169"/>
                  <a:pt x="188" y="161"/>
                </a:cubicBezTo>
                <a:moveTo>
                  <a:pt x="68" y="29"/>
                </a:moveTo>
                <a:cubicBezTo>
                  <a:pt x="66" y="29"/>
                  <a:pt x="64" y="29"/>
                  <a:pt x="62" y="29"/>
                </a:cubicBezTo>
                <a:cubicBezTo>
                  <a:pt x="59" y="30"/>
                  <a:pt x="56" y="33"/>
                  <a:pt x="57" y="37"/>
                </a:cubicBezTo>
                <a:cubicBezTo>
                  <a:pt x="57" y="40"/>
                  <a:pt x="61" y="43"/>
                  <a:pt x="64" y="42"/>
                </a:cubicBezTo>
                <a:cubicBezTo>
                  <a:pt x="66" y="42"/>
                  <a:pt x="67" y="42"/>
                  <a:pt x="68" y="42"/>
                </a:cubicBezTo>
                <a:cubicBezTo>
                  <a:pt x="82" y="42"/>
                  <a:pt x="93" y="53"/>
                  <a:pt x="94" y="66"/>
                </a:cubicBezTo>
                <a:cubicBezTo>
                  <a:pt x="94" y="70"/>
                  <a:pt x="97" y="73"/>
                  <a:pt x="101" y="73"/>
                </a:cubicBezTo>
                <a:cubicBezTo>
                  <a:pt x="101" y="73"/>
                  <a:pt x="101" y="73"/>
                  <a:pt x="101" y="73"/>
                </a:cubicBezTo>
                <a:cubicBezTo>
                  <a:pt x="105" y="72"/>
                  <a:pt x="108" y="69"/>
                  <a:pt x="108" y="66"/>
                </a:cubicBezTo>
                <a:cubicBezTo>
                  <a:pt x="106" y="45"/>
                  <a:pt x="89" y="29"/>
                  <a:pt x="68" y="29"/>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E">
              <a:solidFill>
                <a:prstClr val="black"/>
              </a:solidFill>
            </a:endParaRPr>
          </a:p>
        </p:txBody>
      </p:sp>
      <p:sp>
        <p:nvSpPr>
          <p:cNvPr id="91" name="AutoShape 15">
            <a:extLst>
              <a:ext uri="{FF2B5EF4-FFF2-40B4-BE49-F238E27FC236}">
                <a16:creationId xmlns:a16="http://schemas.microsoft.com/office/drawing/2014/main" id="{0A7D7A76-D31E-A431-EFE5-EC00DA6AB3F1}"/>
              </a:ext>
            </a:extLst>
          </p:cNvPr>
          <p:cNvSpPr>
            <a:spLocks noChangeArrowheads="1"/>
          </p:cNvSpPr>
          <p:nvPr/>
        </p:nvSpPr>
        <p:spPr bwMode="auto">
          <a:xfrm rot="10800000" flipH="1">
            <a:off x="5279969" y="3376033"/>
            <a:ext cx="2538695" cy="295472"/>
          </a:xfrm>
          <a:prstGeom prst="triangle">
            <a:avLst>
              <a:gd name="adj" fmla="val 49995"/>
            </a:avLst>
          </a:prstGeom>
          <a:solidFill>
            <a:srgbClr val="640D26"/>
          </a:solidFill>
          <a:ln w="6350">
            <a:solidFill>
              <a:srgbClr val="7F0D26"/>
            </a:solidFill>
            <a:miter lim="800000"/>
            <a:headEnd/>
            <a:tailEnd/>
          </a:ln>
          <a:effectLst/>
        </p:spPr>
        <p:txBody>
          <a:bodyPr lIns="45720" rIns="45720"/>
          <a:lstStyle/>
          <a:p>
            <a:endParaRPr lang="en-US"/>
          </a:p>
        </p:txBody>
      </p:sp>
    </p:spTree>
    <p:extLst>
      <p:ext uri="{BB962C8B-B14F-4D97-AF65-F5344CB8AC3E}">
        <p14:creationId xmlns:p14="http://schemas.microsoft.com/office/powerpoint/2010/main" val="86645247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950" y="155556"/>
            <a:ext cx="11198782"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Conclusiones Generales</a:t>
            </a:r>
            <a:endParaRPr lang="en-US" sz="3500" spc="-30" dirty="0">
              <a:solidFill>
                <a:prstClr val="white"/>
              </a:solidFill>
              <a:latin typeface="Arial"/>
            </a:endParaRPr>
          </a:p>
        </p:txBody>
      </p:sp>
      <p:sp>
        <p:nvSpPr>
          <p:cNvPr id="5" name="TextBox 4">
            <a:extLst>
              <a:ext uri="{FF2B5EF4-FFF2-40B4-BE49-F238E27FC236}">
                <a16:creationId xmlns:a16="http://schemas.microsoft.com/office/drawing/2014/main" id="{2CDCEA0F-7610-E9BD-7CDA-A28C5E0BED3C}"/>
              </a:ext>
            </a:extLst>
          </p:cNvPr>
          <p:cNvSpPr txBox="1"/>
          <p:nvPr/>
        </p:nvSpPr>
        <p:spPr>
          <a:xfrm>
            <a:off x="218771" y="1060926"/>
            <a:ext cx="11749695" cy="4801314"/>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s-CL" b="0" i="0" u="none" strike="noStrike" dirty="0">
                <a:solidFill>
                  <a:schemeClr val="bg1"/>
                </a:solidFill>
                <a:effectLst/>
                <a:latin typeface="Arial"/>
                <a:cs typeface="Arial"/>
              </a:rPr>
              <a:t>La estrategia definida por IT-Trail </a:t>
            </a:r>
            <a:r>
              <a:rPr lang="es-CL" b="0" i="0" u="none" strike="noStrike" dirty="0" err="1">
                <a:solidFill>
                  <a:schemeClr val="bg1"/>
                </a:solidFill>
                <a:effectLst/>
                <a:latin typeface="Arial"/>
                <a:cs typeface="Arial"/>
              </a:rPr>
              <a:t>Services</a:t>
            </a:r>
            <a:r>
              <a:rPr lang="es-CL" b="0" i="0" u="none" strike="noStrike" dirty="0">
                <a:solidFill>
                  <a:schemeClr val="bg1"/>
                </a:solidFill>
                <a:effectLst/>
                <a:latin typeface="Arial"/>
                <a:cs typeface="Arial"/>
              </a:rPr>
              <a:t> en su Plan de Negocio respalda un escenario favorable para el crecimiento del mercado de Ciberseguridad en Colombia, lo que ofrece oportunidades para aumentar ingresos y rentabilidad en su portafolio de servicios.</a:t>
            </a:r>
            <a:endParaRPr lang="en-US" dirty="0">
              <a:solidFill>
                <a:schemeClr val="bg1"/>
              </a:solidFill>
            </a:endParaRPr>
          </a:p>
          <a:p>
            <a:pPr marL="285750" indent="-285750" algn="just">
              <a:buFont typeface="Arial" panose="020B0604020202020204" pitchFamily="34" charset="0"/>
              <a:buChar char="•"/>
            </a:pPr>
            <a:endParaRPr lang="es-CL" b="0" i="0" u="none" strike="noStrike" dirty="0">
              <a:solidFill>
                <a:schemeClr val="bg1"/>
              </a:solidFill>
              <a:effectLst/>
              <a:latin typeface="Arial"/>
            </a:endParaRPr>
          </a:p>
          <a:p>
            <a:pPr marL="285750" indent="-285750" algn="just">
              <a:buFont typeface="Arial" panose="020B0604020202020204" pitchFamily="34" charset="0"/>
              <a:buChar char="•"/>
            </a:pPr>
            <a:r>
              <a:rPr lang="es-CL" b="0" i="0" u="none" strike="noStrike" dirty="0">
                <a:solidFill>
                  <a:schemeClr val="bg1"/>
                </a:solidFill>
                <a:effectLst/>
                <a:latin typeface="Arial"/>
                <a:cs typeface="Arial"/>
              </a:rPr>
              <a:t>El diagnóstico de la propuesta de valor destaca que las capacidades existentes están posicionadas en un lugar especializado.</a:t>
            </a:r>
            <a:r>
              <a:rPr lang="es-CL" dirty="0">
                <a:solidFill>
                  <a:schemeClr val="bg1"/>
                </a:solidFill>
                <a:latin typeface="Arial"/>
                <a:cs typeface="Arial"/>
              </a:rPr>
              <a:t> </a:t>
            </a:r>
            <a:endParaRPr lang="es-CL" b="0" i="0" u="none" strike="noStrike" dirty="0">
              <a:solidFill>
                <a:schemeClr val="bg1"/>
              </a:solidFill>
              <a:effectLst/>
              <a:latin typeface="Arial"/>
            </a:endParaRPr>
          </a:p>
          <a:p>
            <a:pPr algn="just"/>
            <a:endParaRPr lang="es-CL" dirty="0">
              <a:solidFill>
                <a:schemeClr val="bg1"/>
              </a:solidFill>
              <a:latin typeface="Arial"/>
              <a:cs typeface="Arial"/>
            </a:endParaRPr>
          </a:p>
          <a:p>
            <a:pPr marL="285750" indent="-285750" algn="just">
              <a:buFont typeface="Arial" panose="020B0604020202020204" pitchFamily="34" charset="0"/>
              <a:buChar char="•"/>
            </a:pPr>
            <a:r>
              <a:rPr lang="es-CL" b="0" i="0" u="none" strike="noStrike" dirty="0">
                <a:solidFill>
                  <a:schemeClr val="bg1"/>
                </a:solidFill>
                <a:effectLst/>
                <a:latin typeface="Arial"/>
                <a:cs typeface="Arial"/>
              </a:rPr>
              <a:t>La introducción de los servicios en Colombia se enfocará en procesos de venta consultiva y generación de asesoría</a:t>
            </a:r>
            <a:r>
              <a:rPr lang="es-CL" dirty="0">
                <a:solidFill>
                  <a:schemeClr val="bg1"/>
                </a:solidFill>
                <a:latin typeface="Arial"/>
                <a:cs typeface="Arial"/>
              </a:rPr>
              <a:t>.</a:t>
            </a:r>
            <a:endParaRPr lang="es-CL" b="0" i="0" u="none" strike="noStrike" dirty="0">
              <a:solidFill>
                <a:schemeClr val="bg1"/>
              </a:solidFill>
              <a:effectLst/>
              <a:latin typeface="Arial"/>
              <a:cs typeface="Arial"/>
            </a:endParaRPr>
          </a:p>
          <a:p>
            <a:pPr marL="285750" indent="-285750" algn="just">
              <a:buFont typeface="Arial" panose="020B0604020202020204" pitchFamily="34" charset="0"/>
              <a:buChar char="•"/>
            </a:pPr>
            <a:endParaRPr lang="es-CL" b="0" i="0" u="none" strike="noStrike" dirty="0">
              <a:solidFill>
                <a:schemeClr val="bg1"/>
              </a:solidFill>
              <a:effectLst/>
              <a:latin typeface="Arial"/>
            </a:endParaRPr>
          </a:p>
          <a:p>
            <a:pPr marL="285750" indent="-285750" algn="just">
              <a:buFont typeface="Arial" panose="020B0604020202020204" pitchFamily="34" charset="0"/>
              <a:buChar char="•"/>
            </a:pPr>
            <a:r>
              <a:rPr lang="es-CL" b="0" i="0" u="none" strike="noStrike" dirty="0">
                <a:solidFill>
                  <a:schemeClr val="bg1"/>
                </a:solidFill>
                <a:effectLst/>
                <a:latin typeface="Arial"/>
                <a:cs typeface="Arial"/>
              </a:rPr>
              <a:t>La evaluación comercial muestra resultados positivos, como un Valor Actual Neto (VAN) de USD 598.566, una Tasa Interna de Retorno (TIR) del 78%</a:t>
            </a:r>
            <a:r>
              <a:rPr lang="es-CL" dirty="0">
                <a:solidFill>
                  <a:schemeClr val="bg1"/>
                </a:solidFill>
                <a:latin typeface="Arial"/>
                <a:cs typeface="Arial"/>
              </a:rPr>
              <a:t> </a:t>
            </a:r>
            <a:r>
              <a:rPr lang="es-CL" b="0" i="0" u="none" strike="noStrike" dirty="0">
                <a:solidFill>
                  <a:schemeClr val="bg1"/>
                </a:solidFill>
                <a:effectLst/>
                <a:latin typeface="Arial"/>
                <a:cs typeface="Arial"/>
              </a:rPr>
              <a:t>.</a:t>
            </a:r>
            <a:r>
              <a:rPr lang="es-CL" dirty="0">
                <a:solidFill>
                  <a:schemeClr val="bg1"/>
                </a:solidFill>
                <a:latin typeface="Arial"/>
                <a:cs typeface="Arial"/>
              </a:rPr>
              <a:t> </a:t>
            </a:r>
            <a:endParaRPr lang="es-CL" b="0" i="0" u="none" strike="noStrike" dirty="0">
              <a:solidFill>
                <a:schemeClr val="bg1"/>
              </a:solidFill>
              <a:effectLst/>
              <a:latin typeface="Arial"/>
              <a:cs typeface="Arial"/>
            </a:endParaRPr>
          </a:p>
          <a:p>
            <a:pPr algn="just"/>
            <a:endParaRPr lang="es-CL" b="0" i="0" u="none" strike="noStrike" dirty="0">
              <a:solidFill>
                <a:schemeClr val="bg1"/>
              </a:solidFill>
              <a:effectLst/>
              <a:latin typeface="Arial"/>
            </a:endParaRPr>
          </a:p>
          <a:p>
            <a:pPr algn="just"/>
            <a:r>
              <a:rPr lang="es-CL" b="0" i="0" u="none" strike="noStrike" dirty="0">
                <a:solidFill>
                  <a:schemeClr val="bg1"/>
                </a:solidFill>
                <a:effectLst/>
                <a:latin typeface="Arial"/>
                <a:cs typeface="Arial"/>
              </a:rPr>
              <a:t>IT-Trail </a:t>
            </a:r>
            <a:r>
              <a:rPr lang="es-CL" b="0" i="0" u="none" strike="noStrike" dirty="0" err="1">
                <a:solidFill>
                  <a:schemeClr val="bg1"/>
                </a:solidFill>
                <a:effectLst/>
                <a:latin typeface="Arial"/>
                <a:cs typeface="Arial"/>
              </a:rPr>
              <a:t>Services</a:t>
            </a:r>
            <a:r>
              <a:rPr lang="es-CL" b="0" i="0" u="none" strike="noStrike" dirty="0">
                <a:solidFill>
                  <a:schemeClr val="bg1"/>
                </a:solidFill>
                <a:effectLst/>
                <a:latin typeface="Arial"/>
                <a:cs typeface="Arial"/>
              </a:rPr>
              <a:t> cuenta con una sólida estrategia para aprovechar el crecimiento del mercado de Ciberseguridad en Colombia, mediante una propuesta de valor especializada y en línea con las tendencias tecnológicas. La viabilidad del proyecto de Internacionalización se sustenta en </a:t>
            </a:r>
            <a:r>
              <a:rPr lang="es-CL" dirty="0">
                <a:solidFill>
                  <a:schemeClr val="bg1"/>
                </a:solidFill>
                <a:latin typeface="Arial"/>
                <a:cs typeface="Arial"/>
              </a:rPr>
              <a:t>la</a:t>
            </a:r>
            <a:r>
              <a:rPr lang="es-CL" b="0" i="0" u="none" strike="noStrike" dirty="0">
                <a:solidFill>
                  <a:schemeClr val="bg1"/>
                </a:solidFill>
                <a:effectLst/>
                <a:latin typeface="Arial"/>
                <a:cs typeface="Arial"/>
              </a:rPr>
              <a:t> </a:t>
            </a:r>
            <a:r>
              <a:rPr lang="es-CL" dirty="0">
                <a:solidFill>
                  <a:schemeClr val="bg1"/>
                </a:solidFill>
                <a:latin typeface="Arial"/>
                <a:cs typeface="Arial"/>
              </a:rPr>
              <a:t>propuesta de valor, plan de negocio, evaluación</a:t>
            </a:r>
            <a:r>
              <a:rPr lang="es-CL" b="0" i="0" u="none" strike="noStrike" dirty="0">
                <a:solidFill>
                  <a:schemeClr val="bg1"/>
                </a:solidFill>
                <a:effectLst/>
                <a:latin typeface="Arial"/>
                <a:cs typeface="Arial"/>
              </a:rPr>
              <a:t> comercial positiva, lo que augura un futuro prometedor para la empresa en el mercado colombiano.</a:t>
            </a:r>
          </a:p>
        </p:txBody>
      </p:sp>
    </p:spTree>
    <p:extLst>
      <p:ext uri="{BB962C8B-B14F-4D97-AF65-F5344CB8AC3E}">
        <p14:creationId xmlns:p14="http://schemas.microsoft.com/office/powerpoint/2010/main" val="334791233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67400" y="2727306"/>
            <a:ext cx="7176800" cy="630942"/>
          </a:xfrm>
          <a:prstGeom prst="rect">
            <a:avLst/>
          </a:prstGeom>
          <a:noFill/>
        </p:spPr>
        <p:txBody>
          <a:bodyPr wrap="squar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s-CL" sz="3500" spc="-30" dirty="0">
                <a:solidFill>
                  <a:prstClr val="white"/>
                </a:solidFill>
                <a:latin typeface="Arial"/>
              </a:rPr>
              <a:t> Muchas gracias</a:t>
            </a:r>
            <a:endParaRPr lang="en-US" sz="3500" spc="-30" dirty="0">
              <a:solidFill>
                <a:prstClr val="white"/>
              </a:solidFill>
              <a:latin typeface="Arial"/>
            </a:endParaRPr>
          </a:p>
        </p:txBody>
      </p:sp>
    </p:spTree>
    <p:extLst>
      <p:ext uri="{BB962C8B-B14F-4D97-AF65-F5344CB8AC3E}">
        <p14:creationId xmlns:p14="http://schemas.microsoft.com/office/powerpoint/2010/main" val="314447851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da7249ff9137735267271cf6681d731abd3c386"/>
  <p:tag name="ISPRING_RESOURCE_PATHS_HASH_PRESENTER" val="82532151e9c97188e16f22f45bdf5aa2725d34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jKDhzG2cd0e9QfdNiTKW9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kx6pmu6KqUuXsLuKxkMYw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W3czJ59uGEOvmNGD1jdXd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5uKPXnvepEOtv5i5WgHlC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IJMlPwnrOUmhmphRilH8c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p5osDzlD0yXn4TXgjP26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p5osDzlD0yXn4TXgjP26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p5osDzlD0yXn4TXgjP26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5uKPXnvepEOtv5i5WgHlC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kx6pmu6KqUuXsLuKxkMYw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IJMlPwnrOUmhmphRilH8c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p5osDzlD0yXn4TXgjP26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_x5pKCIQx0OMIe0t7VcrS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_x5pKCIQx0OMIe0t7VcrS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_x5pKCIQx0OMIe0t7VcrS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_x5pKCIQx0OMIe0t7VcrS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_x5pKCIQx0OMIe0t7VcrS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jKDhzG2cd0e9QfdNiTKW9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kx6pmu6KqUuXsLuKxkMYw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W3czJ59uGEOvmNGD1jdXd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kx6pmu6KqUuXsLuKxkMYw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kx6pmu6KqUuXsLuKxkMYw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kx6pmu6KqUuXsLuKxkMYw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qxPcxg5rgEW0AGd5ZFWCO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lSQ5jpFKuUWUoQ8KJ2ND2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qxPcxg5rgEW0AGd5ZFWCOg"/>
</p:tagLst>
</file>

<file path=ppt/theme/theme1.xml><?xml version="1.0" encoding="utf-8"?>
<a:theme xmlns:a="http://schemas.openxmlformats.org/drawingml/2006/main" name="Accenture_Color_Top_16-9">
  <a:themeElements>
    <a:clrScheme name="External Operations 2014">
      <a:dk1>
        <a:srgbClr val="000000"/>
      </a:dk1>
      <a:lt1>
        <a:srgbClr val="FFFFFF"/>
      </a:lt1>
      <a:dk2>
        <a:srgbClr val="666666"/>
      </a:dk2>
      <a:lt2>
        <a:srgbClr val="778888"/>
      </a:lt2>
      <a:accent1>
        <a:srgbClr val="00BBEE"/>
      </a:accent1>
      <a:accent2>
        <a:srgbClr val="003344"/>
      </a:accent2>
      <a:accent3>
        <a:srgbClr val="FFDD00"/>
      </a:accent3>
      <a:accent4>
        <a:srgbClr val="551155"/>
      </a:accent4>
      <a:accent5>
        <a:srgbClr val="00AA99"/>
      </a:accent5>
      <a:accent6>
        <a:srgbClr val="FF3366"/>
      </a:accent6>
      <a:hlink>
        <a:srgbClr val="993399"/>
      </a:hlink>
      <a:folHlink>
        <a:srgbClr val="99339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a:ln>
      </a:spPr>
      <a:bodyPr lIns="180000" rIns="54000" rtlCol="0" anchor="t"/>
      <a:lstStyle>
        <a:defPPr algn="ctr">
          <a:defRPr sz="1100" b="1" dirty="0" smtClean="0"/>
        </a:defPPr>
      </a:lstStyle>
      <a:style>
        <a:lnRef idx="2">
          <a:schemeClr val="accent2"/>
        </a:lnRef>
        <a:fillRef idx="1">
          <a:schemeClr val="lt1"/>
        </a:fillRef>
        <a:effectRef idx="0">
          <a:schemeClr val="accent2"/>
        </a:effectRef>
        <a:fontRef idx="minor">
          <a:schemeClr val="dk1"/>
        </a:fontRef>
      </a:style>
    </a:spDef>
    <a:txDef>
      <a:spPr bwMode="auto">
        <a:noFill/>
        <a:ln w="9525">
          <a:noFill/>
          <a:miter lim="800000"/>
          <a:headEnd/>
          <a:tailEnd/>
        </a:ln>
      </a:spPr>
      <a:bodyPr wrap="square" rtlCol="0" anchor="t">
        <a:spAutoFit/>
      </a:bodyPr>
      <a:lstStyle>
        <a:defPPr algn="l">
          <a:defRPr sz="1400" b="1" dirty="0" smtClean="0">
            <a:solidFill>
              <a:schemeClr val="accent1"/>
            </a:solidFill>
          </a:defRPr>
        </a:defPPr>
      </a:lstStyle>
    </a:txDef>
  </a:objectDefaults>
  <a:extraClrSchemeLst/>
</a:theme>
</file>

<file path=ppt/theme/theme2.xml><?xml version="1.0" encoding="utf-8"?>
<a:theme xmlns:a="http://schemas.openxmlformats.org/drawingml/2006/main" name="Color_Top_16-9_03_2013">
  <a:themeElements>
    <a:clrScheme name="Intelligent Infrastructure">
      <a:dk1>
        <a:srgbClr val="000000"/>
      </a:dk1>
      <a:lt1>
        <a:sysClr val="window" lastClr="FFFFFF"/>
      </a:lt1>
      <a:dk2>
        <a:srgbClr val="666666"/>
      </a:dk2>
      <a:lt2>
        <a:srgbClr val="FFFFFF"/>
      </a:lt2>
      <a:accent1>
        <a:srgbClr val="AA1133"/>
      </a:accent1>
      <a:accent2>
        <a:srgbClr val="AADDEE"/>
      </a:accent2>
      <a:accent3>
        <a:srgbClr val="408FCD"/>
      </a:accent3>
      <a:accent4>
        <a:srgbClr val="CBCCCC"/>
      </a:accent4>
      <a:accent5>
        <a:srgbClr val="666666"/>
      </a:accent5>
      <a:accent6>
        <a:srgbClr val="551155"/>
      </a:accent6>
      <a:hlink>
        <a:srgbClr val="FFFFFF"/>
      </a:hlink>
      <a:folHlink>
        <a:srgbClr val="AADDEE"/>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ArchiveDate xmlns="http://schemas.microsoft.com/sharepoint/v3">2017-11-02T05:00:00+00:00</ArchiveDate>
    <EngagementLink xmlns="http://schemas.microsoft.com/sharepoint/v3" xsi:nil="true"/>
    <PertinentToCountry xmlns="http://schemas.microsoft.com/sharepoint/v3" xsi:nil="true"/>
    <Client xmlns="http://schemas.microsoft.com/sharepoint/v3" xsi:nil="true"/>
    <flagVVID xmlns="http://schemas.microsoft.com/sharepoint/v3" xsi:nil="true"/>
    <RelatedContent xmlns="http://schemas.microsoft.com/sharepoint/v3">|Industry Rollout of Intelligent Infrastructure Collection~https://collections.accenture.com/collection.aspx?b=95127f1c-d356-e511-8e5b-0050568605fe|Accenture #CloudCredentials Collection~https://collections.accenture.com/collection.aspx?b=9a7bddc6-1f5d-e511-8e5b-0050568605fe|Accenture Cloud credentials deck: KX links~https://kx.accenture.com/Repositories/ContributionForm.aspx?path=C21/55/60&amp;mode=Read</RelatedContent>
    <Abstract xmlns="http://schemas.microsoft.com/sharepoint/v3">&lt;p&gt;&lt;span style="font-family: helvetica; font-size: 12pt;" data-mce-style="font-family: helvetica; font-size: 12pt;"&gt;The Accenture &lt;strong&gt;Intelligent Infrastructure Blueprint&lt;/strong&gt; is a "&lt;strong&gt;Functional Domain Architecture&lt;/strong&gt;" which is supporting our &lt;strong&gt;Digital Strategy&lt;/strong&gt; supporting our customers to drive agility, speed or time to market while driving a &lt;strong&gt;Cloud Journey&lt;/strong&gt;.&lt;/span&gt;&lt;/p&gt;&lt;p&gt;&lt;span style="font-family: helvetica; font-size: 12pt;" data-mce-style="font-family: helvetica; font-size: 12pt;"&gt;Accenture Business Cloud is taken to drive our core initiatives like Automation, Security, Workload Migration, and other topics while extending the view into the application perspective enabling customers for DevOps and Lightweight architectures with Containers.&lt;/span&gt;&lt;/p&gt;&lt;p&gt;&lt;span style="font-family: helvetica; font-size: 12pt;" data-mce-style="font-family: helvetica; font-size: 12pt;"&gt;The package includes a description of the Intelligent Infrastructure as well as detailed information what is being covered within the functional domains. By harvesting all relevant information from our Joint Initiative teams we will setup vendor related&amp;nbsp;mappings on where products and solutions meet our expectation of content coverage.&lt;/span&gt;&lt;/p&gt;&lt;p&gt;&lt;span style="font-family: helvetica; font-size: 12pt;" data-mce-style="font-family: helvetica; font-size: 12pt;"&gt;In &lt;strong&gt;version 2.8.1&lt;/strong&gt; we added additional Partners like NetApp, while creating updates to Microsoft, Cisco, and AWS&lt;strong&gt;.&lt;/strong&gt;&amp;nbsp;More details will be available in the next version. Based on your feedback we were also able to fix some spelling errors. There are some additional notes for guidance too.&lt;/span&gt;&lt;/p&gt;&lt;p&gt;&lt;span style="font-family: helvetica; font-size: 12pt;" data-mce-style="font-family: helvetica; font-size: 12pt;"&gt;In version 2.1 to 2.8 additional partner mapping updates have been integrated. Some updates have been made to functional domains. The &lt;strong&gt;V&lt;/strong&gt;&lt;strong&gt;endor Mapping&lt;/strong&gt; now includes Cisco, HP, Microsoft, EMC, VMware, Red Hat, Huawei&amp;nbsp;and an Open Source version. IBM, Dell, NetApp, Azure and Google&amp;nbsp;to come.&lt;/span&gt;&lt;/p&gt;&lt;p&gt;&lt;span style="font-family: helvetica; font-size: 12pt;" data-mce-style="font-family: helvetica; font-size: 12pt;"&gt;&lt;strong&gt;Version 2.9&lt;/strong&gt; will start to look more into the data center, to private resource based on the latest technology and associated tasks.&lt;/span&gt;&lt;/p&gt;&lt;p&gt;&lt;span style="font-family: helvetica; font-size: 12pt;" data-mce-style="font-family: helvetica; font-size: 12pt;"&gt;While the deck size already crossed the 100 slide mark the document might be split starting from version 3. &lt;/span&gt;&lt;/p&gt;&lt;p&gt;&lt;span style="font-family: helvetica; font-size: 12pt;" data-mce-style="font-family: helvetica; font-size: 12pt;"&gt;We received requests to give more information's about how the blueprints are used in origination and sales workshops and meetings. This information will come in an additional sales approach deck.&lt;/span&gt;&lt;/p&gt;&lt;p&gt;&lt;span style="font-family: helvetica; font-size: 12pt;" data-mce-style="font-family: helvetica; font-size: 12pt;"&gt;Next update(s) will include additional Partner Mappings as well as&amp;nbsp;updates to&amp;nbsp;functional domains and holistic use cases, as well as new &lt;strong&gt;Solution Architectures&lt;/strong&gt;. Based on the information's we got from you we will develop, update an II Express Assessment Toolkit which might arrive already next week in a first version.&lt;/span&gt;&lt;/p&gt;&lt;p&gt;&lt;span style="font-family: helvetica; font-size: 12pt;" data-mce-style="font-family: helvetica; font-size: 12pt;"&gt;Feedback and client requirements are always welcome.&lt;/span&gt;&lt;/p&gt;</Abstract>
    <ContentCurrentDate xmlns="http://schemas.microsoft.com/sharepoint/v3">2016-04-28T05:00:00+00:00</ContentCurrentDate>
    <DateCreated xmlns="http://schemas.microsoft.com/sharepoint/v3">2015-11-02T07:22:00+00:00</DateCreated>
    <OfficialAsset xmlns="http://schemas.microsoft.com/sharepoint/v3">Yes</OfficialAsset>
    <ArchiveStatus xmlns="http://schemas.microsoft.com/sharepoint/v3">Active</ArchiveStatus>
    <IndustryKeywords xmlns="http://schemas.microsoft.com/sharepoint/v3">;#318;~Banking;#515;~Building Materials;#329;~Chemicals;#330;~Communications Industry;#335;~Consumer Goods and Services;#12206;~Consumer Healthcare;#13489;~Cross Industry;#343;~Electronics and High Tech;#353;~Energy;#357;~Forest Products;#377;~Health;#14983;~Industrial;#14985;~                         Construction and Infrastructure;#389;~Insurance;#9729;~Life Sciences;#400;~Media and Entertainment;#410;~Metals;#506;~Mining;#361;~Public Service;#14980;~Travel;#439;~Utilities</IndustryKeywords>
    <VendorProductKeywords xmlns="http://schemas.microsoft.com/sharepoint/v3">;#14874;~Accenture Software for SAP HCM;#14886;~                           Accenture Clone and Test for Cloud;#13324;~Cloudera;#14629;~CloudFoundry;#7752;~Oracle;#7766;~                           Oracle - Infrastructure;#7862;~Portal - Infranet;#7995;~Salesforce.com;#14781;~                           Cloudcraze;#7877;~SAP;#14754;~                           SAP Architecture Infrastructure;#14755;~                           SAP Cloud</VendorProductKeywords>
    <RevisionTime xmlns="http://schemas.microsoft.com/sharepoint/v3">5/27/2016 7:27:35 AM&lt;br&gt;5/26/2016 2:51:35 AM&lt;br&gt;5/17/2016 6:06:51 PM&lt;br&gt;5/17/2016 12:06:11 PM&lt;br&gt;5/12/2016 7:47:19 AM&lt;br&gt;5/9/2016 10:12:22 PM&lt;br&gt;4/28/2016 3:34:12 PM&lt;br&gt;4/28/2016 3:16:30 PM&lt;br&gt;4/7/2016 8:51:34 PM&lt;br&gt;4/1/2016 12:31:12 AM&lt;br&gt;3/14/2016 6:36:19 AM&lt;br&gt;3/14/2016 6:32:15 AM&lt;br&gt;3/10/2016 9:00:18 AM&lt;br&gt;2/25/2016 5:20:50 AM&lt;br&gt;2/15/2016 8:42:53 AM&lt;br&gt;2/11/2016 10:09:07 PM&lt;br&gt;2/11/2016 9:52:25 PM&lt;br&gt;2/11/2016 8:46:37 PM&lt;br&gt;2/4/2016 11:02:56 PM&lt;br&gt;1/20/2016 11:10:51 AM&lt;br&gt;1/14/2016 6:44:40 AM&lt;br&gt;12/30/2015 12:34:59 AM&lt;br&gt;12/18/2015 6:07:49 AM&lt;br&gt;12/16/2015 6:02:15 PM&lt;br&gt;12/4/2015 3:05:56 AM&lt;br&gt;11/29/2015 8:29:54 PM&lt;br&gt;11/27/2015 9:32:14 AM&lt;br&gt;11/27/2015 9:30:54 AM</RevisionTime>
    <Contacts xmlns="http://schemas.microsoft.com/sharepoint/v3">dir\michael.malke</Contacts>
    <KXThumbnailURL xmlns="http://schemas.microsoft.com/sharepoint/v3">https://kx.accenture.com/KXServices/KXHandler.ashx?s=g&amp;tn=Repositories/C32/96/71&amp;isActual=false</KXThumbnailURL>
    <ItemType xmlns="http://schemas.microsoft.com/sharepoint/v3">;#13989;~Accenture Internal Material</ItemType>
    <Offerings xmlns="http://schemas.microsoft.com/sharepoint/v3">;#5772;~Accenture Operations;#14747;~Accenture Strategy - Digital Strategy;#11414;~Accenture Technology;#11415;~                    OF-000179 - IC - Data Center Optimization;#11522;~                    OF-000180 - IC - Data Center;#14270;~                    OF-002497 -Accenture Application Services for Mainframe;#14274;~                    OF-002502 - IO - Service Management;#14272;~                  OF-002500 - IO - Managed Data Center Services;#13066;~             OF-002238 - Intelligent Infrastructure Implementation;#4655;~Communications Media and Technology;#13220;~                    OF-002317 - Cloud Offering for Media and Entertainment;#4843;~Financial Services;#12367;~ OF-002106 - Technology Advisory Services</Offerings>
    <ApprovedForUseBy xmlns="http://schemas.microsoft.com/sharepoint/v3">;#29;~Communications Media and Technology;#15188;~LS Industry;#15185;~Products-CGS;#15281;~Products-Industrial;#15186;~Products-Retail;#15282;~Products-Travel;#15145;~Technology Strategy</ApprovedForUseBy>
    <SubmittedBy xmlns="http://schemas.microsoft.com/sharepoint/v3">dir\michael.malke</SubmittedBy>
    <HasAttachment xmlns="http://schemas.microsoft.com/sharepoint/v3">No</HasAttachment>
    <SourceType xmlns="http://schemas.microsoft.com/sharepoint/v3">ContributionForm</SourceType>
    <OpportunityCharacteristics xmlns="http://schemas.microsoft.com/sharepoint/v3" xsi:nil="true"/>
    <ArchivalDate xmlns="http://schemas.microsoft.com/sharepoint/v3" xsi:nil="true"/>
    <DeliveryCenter xmlns="http://schemas.microsoft.com/sharepoint/v3" xsi:nil="true"/>
    <ContribKeywords xmlns="http://schemas.microsoft.com/sharepoint/v3">;#14997;~Technology Strategy;#14998;~   Enterprise Technology Strategy;#14999;~   Repositioning IT</ContribKeywords>
    <StorageType xmlns="http://schemas.microsoft.com/sharepoint/v3">File</StorageType>
    <RevisionBy xmlns="http://schemas.microsoft.com/sharepoint/v3">dir\nikhil.j.ramesh&lt;br&gt;kx.massupdate&lt;br&gt;kx.massupdate&lt;br&gt;kx.massupdate&lt;br&gt;dir\kx.webapp.id&lt;br&gt;kx.massupdate&lt;br&gt;dir\michael.malke&lt;br&gt;dir\michael.malke&lt;br&gt;kx.massupdate&lt;br&gt;kx.massupdate&lt;br&gt;dir\divya.ravikanth&lt;br&gt;dir\divya.ravikanth&lt;br&gt;dir\michael.malke&lt;br&gt;dir\navya.rn&lt;br&gt;dir\michael.malke&lt;br&gt;kx.massupdate&lt;br&gt;kx.massupdate&lt;br&gt;kx.massupdate&lt;br&gt;kx.massupdate&lt;br&gt;dir\michael.malke&lt;br&gt;dir\michael.malke&lt;br&gt;dir\b.a.rangaraju&lt;br&gt;dir\nithya.ng&lt;br&gt;kx.massupdate&lt;br&gt;dir\pallavi.c.prabhu&lt;br&gt;dir\shibu.p.thomas&lt;br&gt;dir\michael.malke&lt;br&gt;dir\michael.malke</RevisionBy>
    <VisibleToAsset xmlns="http://schemas.microsoft.com/sharepoint/v3" xsi:nil="true"/>
    <BusinessFunctionKeywords xmlns="http://schemas.microsoft.com/sharepoint/v3">;#10058;~Analytics;#75;~Business Operations;#14899;~Business Process Outsourcing - BPO;#80;~Business Strategy;#291;~Enterprise Resource Planning - ERP;#13655;~             Cloud;#14187;~Infrastructure Delivery Capabilities;#14860;~Infrastructure Outsourcing;#12850;~Innovation;#146;~IT Service Management;#14867;~Modernization;#185;~Network and Service Management;#216;~Program and Project Management;#228;~Quality Management;#233;~Research and Development - R and D;#14861;~Systems Integration;#15157;~Technology Strategy;#271;~Testing;#292;~User Experience</BusinessFunctionKeywords>
    <ConditionsforUse xmlns="http://schemas.microsoft.com/sharepoint/v3">Accenture Internal Use Only</ConditionsforUse>
    <DetailsPageURL2 xmlns="http://schemas.microsoft.com/sharepoint/v3">https://kx.accenture.com/repositories/DownloadForm.aspx?path=C32/96/71/Accenture%20%20Intelligent%20Infrastructure%20Version%202.8.1.pptx</DetailsPageURL2>
    <RestrictedClient xmlns="http://schemas.microsoft.com/sharepoint/v3" xsi:nil="true"/>
    <KXGeography xmlns="http://schemas.microsoft.com/sharepoint/v3">;#9046;~Asia Pacific;#9051;~EALA;#9494;~Global;#9059;~North America</KXGeography>
    <ConditionsforUseComments xmlns="http://schemas.microsoft.com/sharepoint/v3">Please review and use the material according to client requests. Do not share the whole deck. If shared with customers use a PDF format </ConditionsforUseComments>
    <TechnologyKeywords xmlns="http://schemas.microsoft.com/sharepoint/v3">;#13122;~Agile;#7361;~Application Development;#9180;~Application Renewal;#7371;~Architectures;#13067;~Big Data;#7387;~Business Intelligence;#7395;~Certification Models;#7397;~ IT Infrastructure Library - ITIL;#9601;~Cloud Computing;#14138;~ Accenture Cloud Platform - ACP;#9602;~ Infrastructure Cloud;#9604;~ Platform Cloud;#9603;~ Process Cloud;#7401;~Component Architecture;#7576;~Data Center;#7578;~ Infrastructure Virtualization;#7446;~Hardware;#9421;~Information Management Architecture;#7547;~Mobile Technologies;#7460;~Network Technologies;#14624;~Open Source;#7471;~Operating Systems;#7476;~Operations Management;#13071;~Performance Engineering;#7492;~Security Technologies;#13656;~ Cloud Security;#13052;~ Infrastructure Security;#7494;~ Infrastructure Security Controls;#7570;~Server Platforms;#7509;~Storage;#8709;~Technology Architecture;#8710;~ Infrastructure Architecture;#7520;~User Device Technologies;#7530;~User Experience;#7538;~Voice Data Convergence;#11670;~Workplace Collaboration Tools</TechnologyKeywords>
    <PertinentToOrgUnit xmlns="http://schemas.microsoft.com/sharepoint/v3">;#9947;~Accenture Operations;#14440;~                           Infrastructure Services;#6793;~Accenture Strategy;#15143;~     Technology Strategy;#11116;~Accenture Technology - Accenture Technology Services;#14855;~Accenture Technology - Advanced Technology and Architecture;#11138;~Accenture Technology - Technology Ecosystem and Platforms;#11131;~Accenture Technology - Technology Research and Development;#6799;~Operating Groups;#6803;~       Products</PertinentToOrgUnit>
    <DetailsPageURL xmlns="http://schemas.microsoft.com/sharepoint/v3">https://kx.accenture.com/repositories/ContributionForm.aspx?path=C32/96/71&amp;mode=Read</DetailsPageURL>
    <ContribLanguage xmlns="http://schemas.microsoft.com/sharepoint/v3">;#4628;~English</ContribLanguage>
  </documentManagement>
</p:properties>
</file>

<file path=customXml/item2.xml><?xml version="1.0" encoding="utf-8"?>
<ct:contentTypeSchema xmlns:ct="http://schemas.microsoft.com/office/2006/metadata/contentType" xmlns:ma="http://schemas.microsoft.com/office/2006/metadata/properties/metaAttributes" ct:_="" ma:_="" ma:contentTypeName="General Contribution" ma:contentTypeID="0x012000FD200C85A7BB46D2B974A85017C5AC2B010064C715B8F48BE144A3D3DAD0A982F91D" ma:contentTypeVersion="0" ma:contentTypeDescription="General Contribution" ma:contentTypeScope="" ma:versionID="a47f92b2dc560f52703bbe9e6031ba95">
  <xsd:schema xmlns:xsd="http://www.w3.org/2001/XMLSchema" xmlns:p="http://schemas.microsoft.com/office/2006/metadata/properties" xmlns:ns1="http://schemas.microsoft.com/sharepoint/v3" targetNamespace="http://schemas.microsoft.com/office/2006/metadata/properties" ma:root="true" ma:fieldsID="acd3325a35efd330db3b7805d8075000" ns1:_="">
    <xsd:import namespace="http://schemas.microsoft.com/sharepoint/v3"/>
    <xsd:element name="properties">
      <xsd:complexType>
        <xsd:sequence>
          <xsd:element name="documentManagement">
            <xsd:complexType>
              <xsd:all>
                <xsd:element ref="ns1:Abstract" minOccurs="0"/>
                <xsd:element ref="ns1:ItemType" minOccurs="0"/>
                <xsd:element ref="ns1:ContentCurrentDate" minOccurs="0"/>
                <xsd:element ref="ns1:Contacts" minOccurs="0"/>
                <xsd:element ref="ns1:ArchiveDate" minOccurs="0"/>
                <xsd:element ref="ns1:ArchivalDate" minOccurs="0"/>
                <xsd:element ref="ns1:ApprovedForUseBy" minOccurs="0"/>
                <xsd:element ref="ns1:ArchiveStatus" minOccurs="0"/>
                <xsd:element ref="ns1:BusinessFunctionKeywords" minOccurs="0"/>
                <xsd:element ref="ns1:Client" minOccurs="0"/>
                <xsd:element ref="ns1:EngagementLink" minOccurs="0"/>
                <xsd:element ref="ns1:ConditionsforUse" minOccurs="0"/>
                <xsd:element ref="ns1:ConditionsforUseComments" minOccurs="0"/>
                <xsd:element ref="ns1:DeliveryCenter" minOccurs="0"/>
                <xsd:element ref="ns1:DetailsPageURL" minOccurs="0"/>
                <xsd:element ref="ns1:DetailsPageURL2" minOccurs="0"/>
                <xsd:element ref="ns1:IndustryKeywords" minOccurs="0"/>
                <xsd:element ref="ns1:ContribKeywords" minOccurs="0"/>
                <xsd:element ref="ns1:ContribLanguage" minOccurs="0"/>
                <xsd:element ref="ns1:TechnologyKeywords" minOccurs="0"/>
                <xsd:element ref="ns1:StorageType" minOccurs="0"/>
                <xsd:element ref="ns1:VendorProductKeywords" minOccurs="0"/>
                <xsd:element ref="ns1:Offerings" minOccurs="0"/>
                <xsd:element ref="ns1:PertinentToOrgUnit" minOccurs="0"/>
                <xsd:element ref="ns1:PertinentToCountry" minOccurs="0"/>
                <xsd:element ref="ns1:RevisionTime" minOccurs="0"/>
                <xsd:element ref="ns1:RevisionBy" minOccurs="0"/>
                <xsd:element ref="ns1:flagVVID" minOccurs="0"/>
                <xsd:element ref="ns1:DateCreated" minOccurs="0"/>
                <xsd:element ref="ns1:SubmittedBy" minOccurs="0"/>
                <xsd:element ref="ns1:KXGeography" minOccurs="0"/>
                <xsd:element ref="ns1:HasAttachment" minOccurs="0"/>
                <xsd:element ref="ns1:VisibleToAsset" minOccurs="0"/>
                <xsd:element ref="ns1:OfficialAsset" minOccurs="0"/>
                <xsd:element ref="ns1:SourceType" minOccurs="0"/>
                <xsd:element ref="ns1:RestrictedClient" minOccurs="0"/>
                <xsd:element ref="ns1:KXThumbnailURL" minOccurs="0"/>
                <xsd:element ref="ns1:OpportunityCharacteristics" minOccurs="0"/>
                <xsd:element ref="ns1:RelatedContent" minOccurs="0"/>
              </xsd:all>
            </xsd:complexType>
          </xsd:element>
        </xsd:sequence>
      </xsd:complexType>
    </xsd:element>
  </xsd:schema>
  <xsd:schema xmlns:xsd="http://www.w3.org/2001/XMLSchema" xmlns:dms="http://schemas.microsoft.com/office/2006/documentManagement/types" targetNamespace="http://schemas.microsoft.com/sharepoint/v3" elementFormDefault="qualified">
    <xsd:import namespace="http://schemas.microsoft.com/office/2006/documentManagement/types"/>
    <xsd:element name="Abstract" ma:index="3" nillable="true" ma:displayName="Description" ma:internalName="Abstract">
      <xsd:simpleType>
        <xsd:restriction base="dms:Note">
          <xsd:maxLength value="6"/>
        </xsd:restriction>
      </xsd:simpleType>
    </xsd:element>
    <xsd:element name="ItemType" ma:index="4" nillable="true" ma:displayName="Item Type" ma:internalName="ItemType">
      <xsd:simpleType>
        <xsd:restriction base="dms:Note"/>
      </xsd:simpleType>
    </xsd:element>
    <xsd:element name="ContentCurrentDate" ma:index="5" nillable="true" ma:displayName="Content Current Date" ma:default="[today]" ma:format="DateOnly" ma:internalName="ContentCurrentDate">
      <xsd:simpleType>
        <xsd:restriction base="dms:DateTime"/>
      </xsd:simpleType>
    </xsd:element>
    <xsd:element name="Contacts" ma:index="6" nillable="true" ma:displayName="Contacts" ma:internalName="Contacts">
      <xsd:simpleType>
        <xsd:restriction base="dms:Note"/>
      </xsd:simpleType>
    </xsd:element>
    <xsd:element name="ArchiveDate" ma:index="7" nillable="true" ma:displayName="Expiration Date" ma:format="DateOnly" ma:internalName="ArchiveDate">
      <xsd:simpleType>
        <xsd:restriction base="dms:DateTime"/>
      </xsd:simpleType>
    </xsd:element>
    <xsd:element name="ArchivalDate" ma:index="8" nillable="true" ma:displayName="Archival Date" ma:description="Check if contribution has expired." ma:format="DateOnly" ma:internalName="ArchivalDate">
      <xsd:simpleType>
        <xsd:restriction base="dms:DateTime"/>
      </xsd:simpleType>
    </xsd:element>
    <xsd:element name="ApprovedForUseBy" ma:index="9" nillable="true" ma:displayName="Reviewing Groups" ma:internalName="ApprovedForUseBy">
      <xsd:simpleType>
        <xsd:restriction base="dms:Note"/>
      </xsd:simpleType>
    </xsd:element>
    <xsd:element name="ArchiveStatus" ma:index="10" nillable="true" ma:displayName="Status" ma:internalName="ArchiveStatus">
      <xsd:simpleType>
        <xsd:restriction base="dms:Text"/>
      </xsd:simpleType>
    </xsd:element>
    <xsd:element name="BusinessFunctionKeywords" ma:index="11" nillable="true" ma:displayName="Business Processes &amp; Services" ma:internalName="BusinessFunctionKeywords">
      <xsd:simpleType>
        <xsd:restriction base="dms:Note"/>
      </xsd:simpleType>
    </xsd:element>
    <xsd:element name="Client" ma:index="12" nillable="true" ma:displayName="Client" ma:internalName="Client">
      <xsd:simpleType>
        <xsd:restriction base="dms:Note"/>
      </xsd:simpleType>
    </xsd:element>
    <xsd:element name="EngagementLink" ma:index="13" nillable="true" ma:displayName="Engagement Link" ma:internalName="EngagementLink">
      <xsd:simpleType>
        <xsd:restriction base="dms:Note"/>
      </xsd:simpleType>
    </xsd:element>
    <xsd:element name="ConditionsforUse" ma:index="14" nillable="true" ma:displayName="Usage Restriction" ma:internalName="ConditionsforUse">
      <xsd:simpleType>
        <xsd:restriction base="dms:Text"/>
      </xsd:simpleType>
    </xsd:element>
    <xsd:element name="ConditionsforUseComments" ma:index="15" nillable="true" ma:displayName="Usage Restriction Comments" ma:internalName="ConditionsforUseComments">
      <xsd:simpleType>
        <xsd:restriction base="dms:Note"/>
      </xsd:simpleType>
    </xsd:element>
    <xsd:element name="DeliveryCenter" ma:index="16" nillable="true" ma:displayName="Delivery Center" ma:internalName="DeliveryCenter">
      <xsd:simpleType>
        <xsd:restriction base="dms:Note"/>
      </xsd:simpleType>
    </xsd:element>
    <xsd:element name="DetailsPageURL" ma:index="17" nillable="true" ma:displayName="Details Page URL" ma:internalName="DetailsPageURL">
      <xsd:simpleType>
        <xsd:restriction base="dms:Note"/>
      </xsd:simpleType>
    </xsd:element>
    <xsd:element name="DetailsPageURL2" ma:index="18" nillable="true" ma:displayName="Details Page URL2" ma:internalName="DetailsPageURL2">
      <xsd:simpleType>
        <xsd:restriction base="dms:Text"/>
      </xsd:simpleType>
    </xsd:element>
    <xsd:element name="IndustryKeywords" ma:index="19" nillable="true" ma:displayName="Business &amp; Industries" ma:internalName="IndustryKeywords">
      <xsd:simpleType>
        <xsd:restriction base="dms:Note"/>
      </xsd:simpleType>
    </xsd:element>
    <xsd:element name="ContribKeywords" ma:index="20" nillable="true" ma:displayName="Content Manager Keywords" ma:internalName="ContribKeywords">
      <xsd:simpleType>
        <xsd:restriction base="dms:Note"/>
      </xsd:simpleType>
    </xsd:element>
    <xsd:element name="ContribLanguage" ma:index="21" nillable="true" ma:displayName="Language" ma:internalName="ContribLanguage">
      <xsd:simpleType>
        <xsd:restriction base="dms:Note"/>
      </xsd:simpleType>
    </xsd:element>
    <xsd:element name="TechnologyKeywords" ma:index="22" nillable="true" ma:displayName="Technologies" ma:internalName="TechnologyKeywords">
      <xsd:simpleType>
        <xsd:restriction base="dms:Note"/>
      </xsd:simpleType>
    </xsd:element>
    <xsd:element name="StorageType" ma:index="23" nillable="true" ma:displayName="Storage Type" ma:internalName="StorageType">
      <xsd:simpleType>
        <xsd:restriction base="dms:Text"/>
      </xsd:simpleType>
    </xsd:element>
    <xsd:element name="VendorProductKeywords" ma:index="24" nillable="true" ma:displayName="Vendors" ma:internalName="VendorProductKeywords">
      <xsd:simpleType>
        <xsd:restriction base="dms:Note"/>
      </xsd:simpleType>
    </xsd:element>
    <xsd:element name="Offerings" ma:index="25" nillable="true" ma:displayName="Offerings" ma:internalName="Offerings">
      <xsd:simpleType>
        <xsd:restriction base="dms:Note"/>
      </xsd:simpleType>
    </xsd:element>
    <xsd:element name="PertinentToOrgUnit" ma:index="26" nillable="true" ma:displayName="Accenture Organizations" ma:internalName="PertinentToOrgUnit">
      <xsd:simpleType>
        <xsd:restriction base="dms:Note"/>
      </xsd:simpleType>
    </xsd:element>
    <xsd:element name="PertinentToCountry" ma:index="27" nillable="true" ma:displayName="Countries" ma:internalName="PertinentToCountry">
      <xsd:simpleType>
        <xsd:restriction base="dms:Note"/>
      </xsd:simpleType>
    </xsd:element>
    <xsd:element name="RevisionTime" ma:index="28" nillable="true" ma:displayName="Revision Time" ma:internalName="RevisionTime">
      <xsd:simpleType>
        <xsd:restriction base="dms:Note"/>
      </xsd:simpleType>
    </xsd:element>
    <xsd:element name="RevisionBy" ma:index="29" nillable="true" ma:displayName="Revision By" ma:internalName="RevisionBy">
      <xsd:simpleType>
        <xsd:restriction base="dms:Note"/>
      </xsd:simpleType>
    </xsd:element>
    <xsd:element name="flagVVID" ma:index="30" nillable="true" ma:displayName="flagVVID" ma:internalName="flagVVID">
      <xsd:simpleType>
        <xsd:restriction base="dms:Text"/>
      </xsd:simpleType>
    </xsd:element>
    <xsd:element name="DateCreated" ma:index="31" nillable="true" ma:displayName="Date Created" ma:internalName="DateCreated">
      <xsd:simpleType>
        <xsd:restriction base="dms:DateTime"/>
      </xsd:simpleType>
    </xsd:element>
    <xsd:element name="SubmittedBy" ma:index="32" nillable="true" ma:displayName="Submitted By" ma:internalName="SubmittedBy">
      <xsd:simpleType>
        <xsd:restriction base="dms:Text"/>
      </xsd:simpleType>
    </xsd:element>
    <xsd:element name="KXGeography" ma:index="33" nillable="true" ma:displayName="KXGeography" ma:internalName="KXGeography">
      <xsd:simpleType>
        <xsd:restriction base="dms:Note"/>
      </xsd:simpleType>
    </xsd:element>
    <xsd:element name="HasAttachment" ma:index="34" nillable="true" ma:displayName="Has Attachment" ma:description="Check if contribution has attachment." ma:internalName="HasAttachment">
      <xsd:simpleType>
        <xsd:restriction base="dms:Text"/>
      </xsd:simpleType>
    </xsd:element>
    <xsd:element name="VisibleToAsset" ma:index="35" nillable="true" ma:displayName="Visible To Asset" ma:internalName="VisibleToAsset">
      <xsd:simpleType>
        <xsd:restriction base="dms:Text"/>
      </xsd:simpleType>
    </xsd:element>
    <xsd:element name="OfficialAsset" ma:index="36" nillable="true" ma:displayName="Official Asset" ma:internalName="OfficialAsset">
      <xsd:simpleType>
        <xsd:restriction base="dms:Text"/>
      </xsd:simpleType>
    </xsd:element>
    <xsd:element name="SourceType" ma:index="37" nillable="true" ma:displayName="SourceType" ma:internalName="SourceType">
      <xsd:simpleType>
        <xsd:restriction base="dms:Text"/>
      </xsd:simpleType>
    </xsd:element>
    <xsd:element name="RestrictedClient" ma:index="38" nillable="true" ma:displayName="Confidential Client" ma:internalName="RestrictedClient">
      <xsd:simpleType>
        <xsd:restriction base="dms:Text"/>
      </xsd:simpleType>
    </xsd:element>
    <xsd:element name="KXThumbnailURL" ma:index="39" nillable="true" ma:displayName="KX Thumbnail URL" ma:internalName="KXThumbnailURL">
      <xsd:simpleType>
        <xsd:restriction base="dms:Note"/>
      </xsd:simpleType>
    </xsd:element>
    <xsd:element name="OpportunityCharacteristics" ma:index="40" nillable="true" ma:displayName="Opportunity Characteristics" ma:internalName="OpportunityCharacteristics">
      <xsd:simpleType>
        <xsd:restriction base="dms:Note"/>
      </xsd:simpleType>
    </xsd:element>
    <xsd:element name="RelatedContent" ma:index="41" nillable="true" ma:displayName="Related Content" ma:internalName="RelatedContent">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2"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mso-contentType ?>
<FormTemplates xmlns="http://schemas.microsoft.com/sharepoint/v3/contenttype/forms">
  <Display>ListForm</Display>
  <Edit>ListForm</Edit>
  <New>ListForm</New>
</FormTemplates>
</file>

<file path=customXml/itemProps1.xml><?xml version="1.0" encoding="utf-8"?>
<ds:datastoreItem xmlns:ds="http://schemas.openxmlformats.org/officeDocument/2006/customXml" ds:itemID="{8CC1E059-A236-45DA-9398-1F2A3C506CE8}">
  <ds:schemaRefs>
    <ds:schemaRef ds:uri="http://schemas.openxmlformats.org/package/2006/metadata/core-properties"/>
    <ds:schemaRef ds:uri="http://schemas.microsoft.com/office/2006/documentManagement/types"/>
    <ds:schemaRef ds:uri="http://purl.org/dc/dcmitype/"/>
    <ds:schemaRef ds:uri="http://schemas.microsoft.com/office/2006/metadata/properties"/>
    <ds:schemaRef ds:uri="http://schemas.microsoft.com/sharepoint/v3"/>
    <ds:schemaRef ds:uri="http://www.w3.org/XML/1998/namespace"/>
    <ds:schemaRef ds:uri="http://purl.org/dc/terms/"/>
    <ds:schemaRef ds:uri="http://purl.org/dc/elements/1.1/"/>
  </ds:schemaRefs>
</ds:datastoreItem>
</file>

<file path=customXml/itemProps2.xml><?xml version="1.0" encoding="utf-8"?>
<ds:datastoreItem xmlns:ds="http://schemas.openxmlformats.org/officeDocument/2006/customXml" ds:itemID="{1487DE76-3069-4FEA-938C-CA5EABE47D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29A633FE-3A9C-44FA-B0EC-EA54058CB33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Accenture_Color_Top_16-9.potx</Template>
  <TotalTime>0</TotalTime>
  <Words>4156</Words>
  <Application>Microsoft Office PowerPoint</Application>
  <PresentationFormat>Custom</PresentationFormat>
  <Paragraphs>489</Paragraphs>
  <Slides>25</Slides>
  <Notes>24</Notes>
  <HiddenSlides>1</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36" baseType="lpstr">
      <vt:lpstr>Segoe UI Semibold</vt:lpstr>
      <vt:lpstr>Cambria</vt:lpstr>
      <vt:lpstr>MS Mincho</vt:lpstr>
      <vt:lpstr>Arial</vt:lpstr>
      <vt:lpstr>Segoe UI</vt:lpstr>
      <vt:lpstr>Calibri</vt:lpstr>
      <vt:lpstr>Times New Roman</vt:lpstr>
      <vt:lpstr>Wingdings</vt:lpstr>
      <vt:lpstr>Accenture_Color_Top_16-9</vt:lpstr>
      <vt:lpstr>Color_Top_16-9_03_2013</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Infrastructure Blueprint - FY16, v2.8.1</dc:title>
  <dc:creator/>
  <cp:lastModifiedBy/>
  <cp:revision>94</cp:revision>
  <dcterms:created xsi:type="dcterms:W3CDTF">2014-05-08T14:17:10Z</dcterms:created>
  <dcterms:modified xsi:type="dcterms:W3CDTF">2024-08-22T13:41:37Z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0x012000FD200C85A7BB46D2B974A85017C5AC2B010064C715B8F48BE144A3D3DAD0A982F91D</vt:lpwstr>
  </property>
</Properties>
</file>